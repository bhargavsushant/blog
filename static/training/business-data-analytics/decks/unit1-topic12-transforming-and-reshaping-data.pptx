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0.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2: Transforming and Reshaping Data" id="{eb28d1a9-1d2c-5efe-1da7-296e8145a358}">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Orders</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Sheet1!$B$2:$B$4</c:f>
              <c:numCache>
                <c:formatCode>General</c:formatCode>
                <c:ptCount val="3"/>
                <c:pt idx="0">
                  <c:v>4</c:v>
                </c:pt>
                <c:pt idx="1">
                  <c:v>4</c:v>
                </c:pt>
                <c:pt idx="2">
                  <c:v>2</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Number of orders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data is not always ready data. This session covers how to create new columns, change a table from wide to long, rescale numbers and group them into bins.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question: a manager sends you sales as one column per month. Can you draw a chart by month and store? Today we see why the answer depends on the shape of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Derived columns are the most common transformation. Keep the formula in the sheet so the new column updates when the source changes. Ask: which columns in your own college timetable could be 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analysis tools expect long data, often called tidy data: one variable per column, one observation per row. Humans prefer wide tables, so we pivot back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cells: 2 × 3 = 6 numbers in the wide table and 6 rows in the long table. The values did not change, only the layout. Check that the totals agree after every reshape.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tip on the slide is a real edge case. If you select the month columns and use plain Unpivot Columns, a new April column next month will be ignored. Selecting the ID column and unpivoting the others avoids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students: Text to Columns writes over the neighbouring columns without asking. Insert empty columns first. The leading zero is a classic trap, since Excel treats 0415 as the number 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rescale? A store with sales in lakhs and a rating out of 5 cannot be compared directly. Min-max is sensitive to a single outlier because the minimum and maximum define the scale. Z-scores are better when outliers are mild.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LOOKUP trick uses approximate matching. The first list must be sorted in ascending order. A value of exactly 200 falls into Medium, because each limit is the lower bound of its 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check that bin counts add up to the total. Ask students what happens to an order of exactly 200 or exactly 400, and tie it to the rule that the lower limit is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 counts are a categorical summary, so a bar chart is correct. The choice of bin limits is a judgement call. A different choice, for example limits of 100 and 300, would tell a different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reverse of the unpivot. Insert &gt; PivotTable on the long data, drag Store to Rows, Month to Columns, Sales to Values. Check that 705 matches the total of the long table. Remind students that months sort alphabetically unless they are real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check, reconciling totals, is the single best habit. Make students say the total out loud before and after. Ask which bin an order of exactly 400 falls into under the lower limit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For question 2 ask students to also compute the z-score if there is time. The answer to question 4 is a very common interview question.
ANSWERS
1. 5 × 4 = 20 rows, with columns Product, Quarter and Sales.
2. (350 - 200) / (800 - 200) = 150 / 600 = 0.25.
3. 199 is Low, 200 is Medium, 400 is High. Each bin includes its lower limit.
4. It keeps working when new columns such as April are added later, because it unpivots everything except the selected ID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  ·  TOPIC 12</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Transforming and Reshaping Data</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Introduction to Data Analysis</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Create </a:t>
            </a:r>
            <a:pPr indent="0" marL="0">
              <a:buNone/>
            </a:pPr>
            <a:r>
              <a:rPr lang="en-US" sz="2400" dirty="0">
                <a:solidFill>
                  <a:srgbClr val="2B3A4F"/>
                </a:solidFill>
                <a:latin typeface="Calibri" pitchFamily="34" charset="0"/>
                <a:ea typeface="Calibri" pitchFamily="34" charset="-122"/>
                <a:cs typeface="Calibri" pitchFamily="34" charset="-120"/>
              </a:rPr>
              <a:t>new columns from existing ones, including splitting text with Text to Columns.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Explain </a:t>
            </a:r>
            <a:pPr indent="0" marL="0">
              <a:buNone/>
            </a:pPr>
            <a:r>
              <a:rPr lang="en-US" sz="2400" dirty="0">
                <a:solidFill>
                  <a:srgbClr val="2B3A4F"/>
                </a:solidFill>
                <a:latin typeface="Calibri" pitchFamily="34" charset="0"/>
                <a:ea typeface="Calibri" pitchFamily="34" charset="-122"/>
                <a:cs typeface="Calibri" pitchFamily="34" charset="-120"/>
              </a:rPr>
              <a:t>the difference between wide and long tables and when each is used.</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Unpivot and pivot </a:t>
            </a:r>
            <a:pPr indent="0" marL="0">
              <a:buNone/>
            </a:pPr>
            <a:r>
              <a:rPr lang="en-US" sz="2400" dirty="0">
                <a:solidFill>
                  <a:srgbClr val="2B3A4F"/>
                </a:solidFill>
                <a:latin typeface="Calibri" pitchFamily="34" charset="0"/>
                <a:ea typeface="Calibri" pitchFamily="34" charset="-122"/>
                <a:cs typeface="Calibri" pitchFamily="34" charset="-120"/>
              </a:rPr>
              <a:t>data using Power Query and a PivotTable.</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Rescale </a:t>
            </a:r>
            <a:pPr indent="0" marL="0">
              <a:buNone/>
            </a:pPr>
            <a:r>
              <a:rPr lang="en-US" sz="2400" dirty="0">
                <a:solidFill>
                  <a:srgbClr val="2B3A4F"/>
                </a:solidFill>
                <a:latin typeface="Calibri" pitchFamily="34" charset="0"/>
                <a:ea typeface="Calibri" pitchFamily="34" charset="-122"/>
                <a:cs typeface="Calibri" pitchFamily="34" charset="-120"/>
              </a:rPr>
              <a:t>values with min-max and z-score normalisation.</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Group </a:t>
            </a:r>
            <a:pPr indent="0" marL="0">
              <a:buNone/>
            </a:pPr>
            <a:r>
              <a:rPr lang="en-US" sz="2400" dirty="0">
                <a:solidFill>
                  <a:srgbClr val="2B3A4F"/>
                </a:solidFill>
                <a:latin typeface="Calibri" pitchFamily="34" charset="0"/>
                <a:ea typeface="Calibri" pitchFamily="34" charset="-122"/>
                <a:cs typeface="Calibri" pitchFamily="34" charset="-120"/>
              </a:rPr>
              <a:t>numbers into bins such as Low, Medium and High.</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Transforming changes the shape or form of data, not the facts in it. The totals must match before and after.</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transformation means and why we do it</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Transformation </a:t>
            </a:r>
            <a:pPr indent="0" marL="0">
              <a:buNone/>
            </a:pPr>
            <a:r>
              <a:rPr lang="en-US" sz="2400" dirty="0">
                <a:solidFill>
                  <a:srgbClr val="2B3A4F"/>
                </a:solidFill>
                <a:latin typeface="Calibri" pitchFamily="34" charset="0"/>
                <a:ea typeface="Calibri" pitchFamily="34" charset="-122"/>
                <a:cs typeface="Calibri" pitchFamily="34" charset="-120"/>
              </a:rPr>
              <a:t>means changing data into a form that suits the analysis.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New columns: </a:t>
            </a:r>
            <a:pPr indent="0" marL="0">
              <a:buNone/>
            </a:pPr>
            <a:r>
              <a:rPr lang="en-US" sz="2400" dirty="0">
                <a:solidFill>
                  <a:srgbClr val="2B3A4F"/>
                </a:solidFill>
                <a:latin typeface="Calibri" pitchFamily="34" charset="0"/>
                <a:ea typeface="Calibri" pitchFamily="34" charset="-122"/>
                <a:cs typeface="Calibri" pitchFamily="34" charset="-120"/>
              </a:rPr>
              <a:t>unit price × quantity, GST, profit margin, month from a date.</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Split or join text: </a:t>
            </a:r>
            <a:pPr indent="0" marL="0">
              <a:buNone/>
            </a:pPr>
            <a:r>
              <a:rPr lang="en-US" sz="2400" dirty="0">
                <a:solidFill>
                  <a:srgbClr val="2B3A4F"/>
                </a:solidFill>
                <a:latin typeface="Calibri" pitchFamily="34" charset="0"/>
                <a:ea typeface="Calibri" pitchFamily="34" charset="-122"/>
                <a:cs typeface="Calibri" pitchFamily="34" charset="-120"/>
              </a:rPr>
              <a:t>full name into first and last, or an order code into city and year.</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Reshape: </a:t>
            </a:r>
            <a:pPr indent="0" marL="0">
              <a:buNone/>
            </a:pPr>
            <a:r>
              <a:rPr lang="en-US" sz="2400" dirty="0">
                <a:solidFill>
                  <a:srgbClr val="2B3A4F"/>
                </a:solidFill>
                <a:latin typeface="Calibri" pitchFamily="34" charset="0"/>
                <a:ea typeface="Calibri" pitchFamily="34" charset="-122"/>
                <a:cs typeface="Calibri" pitchFamily="34" charset="-120"/>
              </a:rPr>
              <a:t>switch between wide and long layouts for pivots and charts.</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Rescale and bin: </a:t>
            </a:r>
            <a:pPr indent="0" marL="0">
              <a:buNone/>
            </a:pPr>
            <a:r>
              <a:rPr lang="en-US" sz="2400" dirty="0">
                <a:solidFill>
                  <a:srgbClr val="2B3A4F"/>
                </a:solidFill>
                <a:latin typeface="Calibri" pitchFamily="34" charset="0"/>
                <a:ea typeface="Calibri" pitchFamily="34" charset="-122"/>
                <a:cs typeface="Calibri" pitchFamily="34" charset="-120"/>
              </a:rPr>
              <a:t>compare different units fairly and simplify continuous numbers.</a:t>
            </a:r>
            <a:endParaRPr lang="en-US" sz="24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EXAMPLE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Order value = quantity × price. 3 items at ₹250 gives 750. Add 18% GST (135) for a bill of ₹885.</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Wide format and long format</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Wide: one column per period</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Each month or category has its own column.</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Easy for people to read and to type.</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Good for: </a:t>
            </a:r>
            <a:pPr indent="0" marL="0">
              <a:buNone/>
            </a:pPr>
            <a:r>
              <a:rPr lang="en-US" sz="2100" dirty="0">
                <a:solidFill>
                  <a:srgbClr val="2B3A4F"/>
                </a:solidFill>
                <a:latin typeface="Calibri" pitchFamily="34" charset="0"/>
                <a:ea typeface="Calibri" pitchFamily="34" charset="-122"/>
                <a:cs typeface="Calibri" pitchFamily="34" charset="-120"/>
              </a:rPr>
              <a:t>reports, small summaries, quick totals.</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Weak for: </a:t>
            </a:r>
            <a:pPr indent="0" marL="0">
              <a:buNone/>
            </a:pPr>
            <a:r>
              <a:rPr lang="en-US" sz="2100" dirty="0">
                <a:solidFill>
                  <a:srgbClr val="2B3A4F"/>
                </a:solidFill>
                <a:latin typeface="Calibri" pitchFamily="34" charset="0"/>
                <a:ea typeface="Calibri" pitchFamily="34" charset="-122"/>
                <a:cs typeface="Calibri" pitchFamily="34" charset="-120"/>
              </a:rPr>
              <a:t>filters, pivots and charts by month.</a:t>
            </a:r>
            <a:endParaRPr lang="en-US" sz="21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Long: one row per observation</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Columns are variables, rows are records.</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Needs a Month column and a Sales column.</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Good for: </a:t>
            </a:r>
            <a:pPr indent="0" marL="0">
              <a:buNone/>
            </a:pPr>
            <a:r>
              <a:rPr lang="en-US" sz="2100" dirty="0">
                <a:solidFill>
                  <a:srgbClr val="2B3A4F"/>
                </a:solidFill>
                <a:latin typeface="Calibri" pitchFamily="34" charset="0"/>
                <a:ea typeface="Calibri" pitchFamily="34" charset="-122"/>
                <a:cs typeface="Calibri" pitchFamily="34" charset="-120"/>
              </a:rPr>
              <a:t>PivotTables, Power BI, Tableau, pandas.</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Cost: </a:t>
            </a:r>
            <a:pPr indent="0" marL="0">
              <a:buNone/>
            </a:pPr>
            <a:r>
              <a:rPr lang="en-US" sz="2100" dirty="0">
                <a:solidFill>
                  <a:srgbClr val="2B3A4F"/>
                </a:solidFill>
                <a:latin typeface="Calibri" pitchFamily="34" charset="0"/>
                <a:ea typeface="Calibri" pitchFamily="34" charset="-122"/>
                <a:cs typeface="Calibri" pitchFamily="34" charset="-120"/>
              </a:rPr>
              <a:t>more rows and repeated store names.</a:t>
            </a:r>
            <a:endParaRPr lang="en-US" sz="21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Rule of thumb: store and analyse in long format, present in wide format.</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Wide to long: sales by store and month</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Wide: 2 rows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1346454"/>
                <a:gridCol w="1346454"/>
                <a:gridCol w="1346454"/>
                <a:gridCol w="1346454"/>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Store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Jan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Feb</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120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135</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150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90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110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Long: 6 rows</a:t>
            </a:r>
            <a:endParaRPr lang="en-US" sz="16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1795272"/>
                <a:gridCol w="1795272"/>
                <a:gridCol w="1795272"/>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Store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Month</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Sales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Jan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120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Feb</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135</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Mar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150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Jan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90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Feb</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Mar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110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Sales in ₹ thousand (illustrative). Rows = 2 stores × 3 months = 6. The total is 705 in both tables.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Unpivot in Power Query</a:t>
            </a:r>
            <a:endParaRPr lang="en-US" sz="2800" dirty="0"/>
          </a:p>
        </p:txBody>
      </p:sp>
      <p:sp>
        <p:nvSpPr>
          <p:cNvPr id="3" name="Shape 1"/>
          <p:cNvSpPr/>
          <p:nvPr/>
        </p:nvSpPr>
        <p:spPr>
          <a:xfrm>
            <a:off x="548640" y="1417320"/>
            <a:ext cx="269062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Load the table</a:t>
            </a:r>
            <a:endParaRPr lang="en-US" sz="1700" dirty="0"/>
          </a:p>
        </p:txBody>
      </p:sp>
      <p:sp>
        <p:nvSpPr>
          <p:cNvPr id="5" name="Shape 3"/>
          <p:cNvSpPr/>
          <p:nvPr/>
        </p:nvSpPr>
        <p:spPr>
          <a:xfrm>
            <a:off x="548640" y="2331720"/>
            <a:ext cx="264490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Select the data and choose Data &gt; From Table/Range.</a:t>
            </a:r>
            <a:endParaRPr lang="en-US" sz="2000" dirty="0"/>
          </a:p>
        </p:txBody>
      </p:sp>
      <p:sp>
        <p:nvSpPr>
          <p:cNvPr id="7" name="Shape 5"/>
          <p:cNvSpPr/>
          <p:nvPr/>
        </p:nvSpPr>
        <p:spPr>
          <a:xfrm>
            <a:off x="3348990" y="1417320"/>
            <a:ext cx="2690622" cy="777240"/>
          </a:xfrm>
          <a:prstGeom prst="homePlate">
            <a:avLst/>
          </a:prstGeom>
          <a:solidFill>
            <a:srgbClr val="F29E4C"/>
          </a:solidFill>
          <a:ln w="12700">
            <a:solidFill>
              <a:srgbClr val="F29E4C"/>
            </a:solidFill>
            <a:prstDash val="solid"/>
          </a:ln>
        </p:spPr>
      </p:sp>
      <p:sp>
        <p:nvSpPr>
          <p:cNvPr id="8" name="Text 6"/>
          <p:cNvSpPr txBox="1"/>
          <p:nvPr/>
        </p:nvSpPr>
        <p:spPr>
          <a:xfrm>
            <a:off x="35318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Select ID columns</a:t>
            </a:r>
            <a:endParaRPr lang="en-US" sz="1700" dirty="0"/>
          </a:p>
        </p:txBody>
      </p:sp>
      <p:sp>
        <p:nvSpPr>
          <p:cNvPr id="9" name="Shape 7"/>
          <p:cNvSpPr/>
          <p:nvPr/>
        </p:nvSpPr>
        <p:spPr>
          <a:xfrm>
            <a:off x="3348990" y="2331720"/>
            <a:ext cx="264490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35318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Click the Store column. This is the column to keep fixed.</a:t>
            </a:r>
            <a:endParaRPr lang="en-US" sz="2000" dirty="0"/>
          </a:p>
        </p:txBody>
      </p:sp>
      <p:sp>
        <p:nvSpPr>
          <p:cNvPr id="11" name="Shape 9"/>
          <p:cNvSpPr/>
          <p:nvPr/>
        </p:nvSpPr>
        <p:spPr>
          <a:xfrm>
            <a:off x="6149340" y="1417320"/>
            <a:ext cx="2690622" cy="777240"/>
          </a:xfrm>
          <a:prstGeom prst="homePlate">
            <a:avLst/>
          </a:prstGeom>
          <a:solidFill>
            <a:srgbClr val="3A5BA0"/>
          </a:solidFill>
          <a:ln w="12700">
            <a:solidFill>
              <a:srgbClr val="3A5BA0"/>
            </a:solidFill>
            <a:prstDash val="solid"/>
          </a:ln>
        </p:spPr>
      </p:sp>
      <p:sp>
        <p:nvSpPr>
          <p:cNvPr id="12" name="Text 10"/>
          <p:cNvSpPr txBox="1"/>
          <p:nvPr/>
        </p:nvSpPr>
        <p:spPr>
          <a:xfrm>
            <a:off x="63322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Unpivot Other Columns</a:t>
            </a:r>
            <a:endParaRPr lang="en-US" sz="1700" dirty="0"/>
          </a:p>
        </p:txBody>
      </p:sp>
      <p:sp>
        <p:nvSpPr>
          <p:cNvPr id="13" name="Shape 11"/>
          <p:cNvSpPr/>
          <p:nvPr/>
        </p:nvSpPr>
        <p:spPr>
          <a:xfrm>
            <a:off x="6149340" y="2331720"/>
            <a:ext cx="264490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63322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Right-click the header, choose Unpivot Other Columns.</a:t>
            </a:r>
            <a:endParaRPr lang="en-US" sz="2000" dirty="0"/>
          </a:p>
        </p:txBody>
      </p:sp>
      <p:sp>
        <p:nvSpPr>
          <p:cNvPr id="15" name="Shape 13"/>
          <p:cNvSpPr/>
          <p:nvPr/>
        </p:nvSpPr>
        <p:spPr>
          <a:xfrm>
            <a:off x="8949690" y="1417320"/>
            <a:ext cx="2690622" cy="777240"/>
          </a:xfrm>
          <a:prstGeom prst="homePlate">
            <a:avLst/>
          </a:prstGeom>
          <a:solidFill>
            <a:srgbClr val="C8553D"/>
          </a:solidFill>
          <a:ln w="12700">
            <a:solidFill>
              <a:srgbClr val="C8553D"/>
            </a:solidFill>
            <a:prstDash val="solid"/>
          </a:ln>
        </p:spPr>
      </p:sp>
      <p:sp>
        <p:nvSpPr>
          <p:cNvPr id="16" name="Text 14"/>
          <p:cNvSpPr txBox="1"/>
          <p:nvPr/>
        </p:nvSpPr>
        <p:spPr>
          <a:xfrm>
            <a:off x="91325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Rename and load</a:t>
            </a:r>
            <a:endParaRPr lang="en-US" sz="1700" dirty="0"/>
          </a:p>
        </p:txBody>
      </p:sp>
      <p:sp>
        <p:nvSpPr>
          <p:cNvPr id="17" name="Shape 15"/>
          <p:cNvSpPr/>
          <p:nvPr/>
        </p:nvSpPr>
        <p:spPr>
          <a:xfrm>
            <a:off x="8949690" y="2331720"/>
            <a:ext cx="264490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91325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Rename Attribute to Month and Value to Sales. Close and Load.</a:t>
            </a:r>
            <a:endParaRPr lang="en-US" sz="2000" dirty="0"/>
          </a:p>
        </p:txBody>
      </p:sp>
      <p:sp>
        <p:nvSpPr>
          <p:cNvPr id="19" name="Shape 17"/>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0" name="Text 18"/>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Use "Unpivot Other Columns", not "Unpivot Columns", so new months added later are included.</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split an order code into columns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Order codes look like BPL-2026-0415. Split into city code, year and serial number.</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Select the column: </a:t>
            </a:r>
            <a:pPr indent="0" marL="0">
              <a:buNone/>
            </a:pPr>
            <a:r>
              <a:rPr lang="en-US" sz="2200" dirty="0">
                <a:solidFill>
                  <a:srgbClr val="2B3A4F"/>
                </a:solidFill>
                <a:latin typeface="Calibri" pitchFamily="34" charset="0"/>
                <a:ea typeface="Calibri" pitchFamily="34" charset="-122"/>
                <a:cs typeface="Calibri" pitchFamily="34" charset="-120"/>
              </a:rPr>
              <a:t>Data &gt; Text to Columns &gt; Delimited &gt; tick "Other" and type -.</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Set data formats: </a:t>
            </a:r>
            <a:pPr indent="0" marL="0">
              <a:buNone/>
            </a:pPr>
            <a:r>
              <a:rPr lang="en-US" sz="2200" dirty="0">
                <a:solidFill>
                  <a:srgbClr val="2B3A4F"/>
                </a:solidFill>
                <a:latin typeface="Calibri" pitchFamily="34" charset="0"/>
                <a:ea typeface="Calibri" pitchFamily="34" charset="-122"/>
                <a:cs typeface="Calibri" pitchFamily="34" charset="-120"/>
              </a:rPr>
              <a:t>make the third column Text, or 0415 becomes 415.</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Result columns: </a:t>
            </a:r>
            <a:pPr indent="0" marL="0">
              <a:buNone/>
            </a:pPr>
            <a:r>
              <a:rPr lang="en-US" sz="2200" dirty="0">
                <a:solidFill>
                  <a:srgbClr val="2B3A4F"/>
                </a:solidFill>
                <a:latin typeface="Calibri" pitchFamily="34" charset="0"/>
                <a:ea typeface="Calibri" pitchFamily="34" charset="-122"/>
                <a:cs typeface="Calibri" pitchFamily="34" charset="-120"/>
              </a:rPr>
              <a:t>BPL, 2026 and 0415, now in three separate cells.</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Formula alternative: </a:t>
            </a:r>
            <a:pPr indent="0" marL="0">
              <a:buNone/>
            </a:pPr>
            <a:r>
              <a:rPr lang="en-US" sz="2200" dirty="0">
                <a:solidFill>
                  <a:srgbClr val="2B3A4F"/>
                </a:solidFill>
                <a:latin typeface="Calibri" pitchFamily="34" charset="0"/>
                <a:ea typeface="Calibri" pitchFamily="34" charset="-122"/>
                <a:cs typeface="Calibri" pitchFamily="34" charset="-120"/>
              </a:rPr>
              <a:t>=TEXTBEFORE(A2,"-") gives BPL. =TEXTAFTER(A2,"-",2) gives 0415.</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Now you can count orders by city code or by year with a PivotTable. Text to Columns overwrites cells to its right, so leave space.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rescale values two ways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Four stores have monthly sales of ₹200, 350, 500 and 800 thousand. Rescale them to compare on a common scale.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Min-max: </a:t>
            </a:r>
            <a:pPr indent="0" marL="0">
              <a:buNone/>
            </a:pPr>
            <a:r>
              <a:rPr lang="en-US" sz="2200" dirty="0">
                <a:solidFill>
                  <a:srgbClr val="2B3A4F"/>
                </a:solidFill>
                <a:latin typeface="Calibri" pitchFamily="34" charset="0"/>
                <a:ea typeface="Calibri" pitchFamily="34" charset="-122"/>
                <a:cs typeface="Calibri" pitchFamily="34" charset="-120"/>
              </a:rPr>
              <a:t>(x - 200) / (800 - 200). Gives 0, 0.25, 0.50 and 1.00.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Mean and SD: </a:t>
            </a:r>
            <a:pPr indent="0" marL="0">
              <a:buNone/>
            </a:pPr>
            <a:r>
              <a:rPr lang="en-US" sz="2200" dirty="0">
                <a:solidFill>
                  <a:srgbClr val="2B3A4F"/>
                </a:solidFill>
                <a:latin typeface="Calibri" pitchFamily="34" charset="0"/>
                <a:ea typeface="Calibri" pitchFamily="34" charset="-122"/>
                <a:cs typeface="Calibri" pitchFamily="34" charset="-120"/>
              </a:rPr>
              <a:t>mean = 462.5 and sample SD = 256.17 (STDEV.S).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Z-score: </a:t>
            </a:r>
            <a:pPr indent="0" marL="0">
              <a:buNone/>
            </a:pPr>
            <a:r>
              <a:rPr lang="en-US" sz="2200" dirty="0">
                <a:solidFill>
                  <a:srgbClr val="2B3A4F"/>
                </a:solidFill>
                <a:latin typeface="Calibri" pitchFamily="34" charset="0"/>
                <a:ea typeface="Calibri" pitchFamily="34" charset="-122"/>
                <a:cs typeface="Calibri" pitchFamily="34" charset="-120"/>
              </a:rPr>
              <a:t>(x - mean) / SD. Gives -1.02, -0.44, 0.15 and 1.32.</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Excel: </a:t>
            </a:r>
            <a:pPr indent="0" marL="0">
              <a:buNone/>
            </a:pPr>
            <a:r>
              <a:rPr lang="en-US" sz="2200" dirty="0">
                <a:solidFill>
                  <a:srgbClr val="2B3A4F"/>
                </a:solidFill>
                <a:latin typeface="Calibri" pitchFamily="34" charset="0"/>
                <a:ea typeface="Calibri" pitchFamily="34" charset="-122"/>
                <a:cs typeface="Calibri" pitchFamily="34" charset="-120"/>
              </a:rPr>
              <a:t>=STANDARDIZE(B2,mean,sd) does the z-score in one step.</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TAKEAWAY</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Min-max forces values into 0 to 1. Z-scores show distance from the mean in standard deviations. Ranking stays the same.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Excel formulas for new columns and bins</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=B2*C2</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=B2*C2*1.18</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=TEXT(A2,"mmm")</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=(B2-MIN(B:B))/(MAX(B:B)-MIN(B:B))</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=LOOKUP(B2,{0,200,400},{"Low","Medium","High"})</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Order value and bill </a:t>
            </a:r>
            <a:pPr indent="0" marL="0">
              <a:buNone/>
            </a:pPr>
            <a:r>
              <a:rPr lang="en-US" sz="2200" dirty="0">
                <a:solidFill>
                  <a:srgbClr val="2B3A4F"/>
                </a:solidFill>
                <a:latin typeface="Calibri" pitchFamily="34" charset="0"/>
                <a:ea typeface="Calibri" pitchFamily="34" charset="-122"/>
                <a:cs typeface="Calibri" pitchFamily="34" charset="-120"/>
              </a:rPr>
              <a:t>with 18% GST in the first two lines.</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TEXT: </a:t>
            </a:r>
            <a:pPr indent="0" marL="0">
              <a:buNone/>
            </a:pPr>
            <a:r>
              <a:rPr lang="en-US" sz="2200" dirty="0">
                <a:solidFill>
                  <a:srgbClr val="2B3A4F"/>
                </a:solidFill>
                <a:latin typeface="Calibri" pitchFamily="34" charset="0"/>
                <a:ea typeface="Calibri" pitchFamily="34" charset="-122"/>
                <a:cs typeface="Calibri" pitchFamily="34" charset="-120"/>
              </a:rPr>
              <a:t>pulls the month name from a real date.</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Min-max: </a:t>
            </a:r>
            <a:pPr indent="0" marL="0">
              <a:buNone/>
            </a:pPr>
            <a:r>
              <a:rPr lang="en-US" sz="2200" dirty="0">
                <a:solidFill>
                  <a:srgbClr val="2B3A4F"/>
                </a:solidFill>
                <a:latin typeface="Calibri" pitchFamily="34" charset="0"/>
                <a:ea typeface="Calibri" pitchFamily="34" charset="-122"/>
                <a:cs typeface="Calibri" pitchFamily="34" charset="-120"/>
              </a:rPr>
              <a:t>one formula, fill down the column.</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LOOKUP bins: </a:t>
            </a:r>
            <a:pPr indent="0" marL="0">
              <a:buNone/>
            </a:pPr>
            <a:r>
              <a:rPr lang="en-US" sz="2200" dirty="0">
                <a:solidFill>
                  <a:srgbClr val="2B3A4F"/>
                </a:solidFill>
                <a:latin typeface="Calibri" pitchFamily="34" charset="0"/>
                <a:ea typeface="Calibri" pitchFamily="34" charset="-122"/>
                <a:cs typeface="Calibri" pitchFamily="34" charset="-120"/>
              </a:rPr>
              <a:t>the first list holds lower limits, the second the labels.</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Lock ranges with $ when you fill down.</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group order values into bins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Ten orders (₹): 80, 150, 220, 340, 410, 95, 260, 500, 180, 390. Bins: Low under 200, Medium 200 to 399, High 400 and above.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Low: </a:t>
            </a:r>
            <a:pPr indent="0" marL="0">
              <a:buNone/>
            </a:pPr>
            <a:r>
              <a:rPr lang="en-US" sz="2200" dirty="0">
                <a:solidFill>
                  <a:srgbClr val="2B3A4F"/>
                </a:solidFill>
                <a:latin typeface="Calibri" pitchFamily="34" charset="0"/>
                <a:ea typeface="Calibri" pitchFamily="34" charset="-122"/>
                <a:cs typeface="Calibri" pitchFamily="34" charset="-120"/>
              </a:rPr>
              <a:t>80, 150, 95 and 180. That is 4 orders.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Medium: </a:t>
            </a:r>
            <a:pPr indent="0" marL="0">
              <a:buNone/>
            </a:pPr>
            <a:r>
              <a:rPr lang="en-US" sz="2200" dirty="0">
                <a:solidFill>
                  <a:srgbClr val="2B3A4F"/>
                </a:solidFill>
                <a:latin typeface="Calibri" pitchFamily="34" charset="0"/>
                <a:ea typeface="Calibri" pitchFamily="34" charset="-122"/>
                <a:cs typeface="Calibri" pitchFamily="34" charset="-120"/>
              </a:rPr>
              <a:t>220, 340, 260 and 390. That is 4 orders.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High: </a:t>
            </a:r>
            <a:pPr indent="0" marL="0">
              <a:buNone/>
            </a:pPr>
            <a:r>
              <a:rPr lang="en-US" sz="2200" dirty="0">
                <a:solidFill>
                  <a:srgbClr val="2B3A4F"/>
                </a:solidFill>
                <a:latin typeface="Calibri" pitchFamily="34" charset="0"/>
                <a:ea typeface="Calibri" pitchFamily="34" charset="-122"/>
                <a:cs typeface="Calibri" pitchFamily="34" charset="-120"/>
              </a:rPr>
              <a:t>410 and 500. That is 2 orders.</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Check: </a:t>
            </a:r>
            <a:pPr indent="0" marL="0">
              <a:buNone/>
            </a:pPr>
            <a:r>
              <a:rPr lang="en-US" sz="2200" dirty="0">
                <a:solidFill>
                  <a:srgbClr val="2B3A4F"/>
                </a:solidFill>
                <a:latin typeface="Calibri" pitchFamily="34" charset="0"/>
                <a:ea typeface="Calibri" pitchFamily="34" charset="-122"/>
                <a:cs typeface="Calibri" pitchFamily="34" charset="-120"/>
              </a:rPr>
              <a:t>4 + 4 + 2 = 10, so no order is lost or counted twice.</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Bins turn 10 different numbers into 3 groups, which makes the pattern easy to see. Detail is lost: 410 and 500 now look alike.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orders by bin</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8 of 10 orders are below ₹400.</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Only 2 orders are High, so the shop depends on small baskets.</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Change the bin limits and the picture changes, so state them clearly.</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PivotTable: from long back to wide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361113"/>
                <a:gridCol w="1680556"/>
                <a:gridCol w="1680556"/>
                <a:gridCol w="1680556"/>
                <a:gridCol w="2688890"/>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Sum of Sales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Jan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Feb</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Mar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Grand total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Bhopal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120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135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150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405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Indore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90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110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300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Grand total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210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235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260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705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450336"/>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Built from the long table: Rows = Store, Columns = Month, Values = Sum of Sales.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Totals that do not match</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After reshaping, compare the grand total with the original. A mismatch means rows were lost or doubled.</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Leading zeros lost</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Codes like 0415 and PIN codes become numbers unless set to Text before splitting.</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Outliers and min-max</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One huge value squeezes all other values near 0. Use z-scores or fix the outlier first.</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Bins with gaps or overlaps</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Limits like 0-200 and 200-400 overlap at 200. Define each bin with one clear lower limit.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wide table has 5 products and 4 quarters. How many rows does the long table have?</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Min-max scale the value 350 in the set 200, 350, 500, 800.</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Using bins Low under 200, Medium 200 to 399, High 400 and above, classify 199, 200 and 400.</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choose "Unpivot Other Columns" instead of "Unpivot Columns"?</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Transform </a:t>
            </a:r>
            <a:pPr indent="0" marL="0">
              <a:buNone/>
            </a:pPr>
            <a:r>
              <a:rPr lang="en-US" sz="2000" dirty="0">
                <a:solidFill>
                  <a:srgbClr val="FFFFFF"/>
                </a:solidFill>
                <a:latin typeface="Calibri" pitchFamily="34" charset="0"/>
                <a:ea typeface="Calibri" pitchFamily="34" charset="-122"/>
                <a:cs typeface="Calibri" pitchFamily="34" charset="-120"/>
              </a:rPr>
              <a:t>to change the shape or form of data, not its facts.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Wide vs long: </a:t>
            </a:r>
            <a:pPr indent="0" marL="0">
              <a:buNone/>
            </a:pPr>
            <a:r>
              <a:rPr lang="en-US" sz="2000" dirty="0">
                <a:solidFill>
                  <a:srgbClr val="FFFFFF"/>
                </a:solidFill>
                <a:latin typeface="Calibri" pitchFamily="34" charset="0"/>
                <a:ea typeface="Calibri" pitchFamily="34" charset="-122"/>
                <a:cs typeface="Calibri" pitchFamily="34" charset="-120"/>
              </a:rPr>
              <a:t>long format suits pivots and charts. Wide suits reports.</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Power Query: </a:t>
            </a:r>
            <a:pPr indent="0" marL="0">
              <a:buNone/>
            </a:pPr>
            <a:r>
              <a:rPr lang="en-US" sz="2000" dirty="0">
                <a:solidFill>
                  <a:srgbClr val="FFFFFF"/>
                </a:solidFill>
                <a:latin typeface="Calibri" pitchFamily="34" charset="0"/>
                <a:ea typeface="Calibri" pitchFamily="34" charset="-122"/>
                <a:cs typeface="Calibri" pitchFamily="34" charset="-120"/>
              </a:rPr>
              <a:t>Unpivot Other Columns. PivotTable turns long back into wide.</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Scaling: </a:t>
            </a:r>
            <a:pPr indent="0" marL="0">
              <a:buNone/>
            </a:pPr>
            <a:r>
              <a:rPr lang="en-US" sz="2000" dirty="0">
                <a:solidFill>
                  <a:srgbClr val="FFFFFF"/>
                </a:solidFill>
                <a:latin typeface="Calibri" pitchFamily="34" charset="0"/>
                <a:ea typeface="Calibri" pitchFamily="34" charset="-122"/>
                <a:cs typeface="Calibri" pitchFamily="34" charset="-120"/>
              </a:rPr>
              <a:t>min-max gives 0 to 1. Z-score gives distance from the mean.</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Always reconcile totals and row counts before and after.</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Merging and Joining Datasets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Transforming and Reshaping Data</dc:title>
  <dc:subject>Business Management Tools I</dc:subject>
  <dc:creator>Sushant Bhargav</dc:creator>
  <cp:lastModifiedBy>Sushant Bhargav</cp:lastModifiedBy>
  <cp:revision>1</cp:revision>
  <dcterms:created xsi:type="dcterms:W3CDTF">2026-10-07T01:36:14Z</dcterms:created>
  <dcterms:modified xsi:type="dcterms:W3CDTF">2026-10-07T01:36:14Z</dcterms:modified>
</cp:coreProperties>
</file>