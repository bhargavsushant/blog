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1: Importance of Data Visualization" id="{8a41b791-c52b-7c01-5323-3810da2223b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 I</c:v>
                </c:pt>
              </c:strCache>
            </c:strRef>
          </c:tx>
          <c:spPr>
            <a:solidFill>
              <a:srgbClr val="0F8B8D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8.04</c:v>
                </c:pt>
                <c:pt idx="1">
                  <c:v>6.95</c:v>
                </c:pt>
                <c:pt idx="2">
                  <c:v>7.58</c:v>
                </c:pt>
                <c:pt idx="3">
                  <c:v>8.81</c:v>
                </c:pt>
                <c:pt idx="4">
                  <c:v>8.33</c:v>
                </c:pt>
                <c:pt idx="5">
                  <c:v>9.96</c:v>
                </c:pt>
                <c:pt idx="6">
                  <c:v>7.24</c:v>
                </c:pt>
                <c:pt idx="7">
                  <c:v>4.26</c:v>
                </c:pt>
                <c:pt idx="8">
                  <c:v>10.84</c:v>
                </c:pt>
                <c:pt idx="9">
                  <c:v>4.82</c:v>
                </c:pt>
                <c:pt idx="10">
                  <c:v>5.68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"/>
      </c:valAx>
      <c:valAx>
        <c:axId val="2094734552"/>
        <c:scaling>
          <c:orientation val="minMax"/>
          <c:max val="14"/>
          <c:min val="2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 II</c:v>
                </c:pt>
              </c:strCache>
            </c:strRef>
          </c:tx>
          <c:spPr>
            <a:solidFill>
              <a:srgbClr val="F29E4C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F29E4C"/>
              </a:solidFill>
              <a:ln w="9525" cap="flat">
                <a:solidFill>
                  <a:srgbClr val="F29E4C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9.14</c:v>
                </c:pt>
                <c:pt idx="1">
                  <c:v>8.14</c:v>
                </c:pt>
                <c:pt idx="2">
                  <c:v>8.74</c:v>
                </c:pt>
                <c:pt idx="3">
                  <c:v>8.77</c:v>
                </c:pt>
                <c:pt idx="4">
                  <c:v>9.26</c:v>
                </c:pt>
                <c:pt idx="5">
                  <c:v>8.1</c:v>
                </c:pt>
                <c:pt idx="6">
                  <c:v>6.13</c:v>
                </c:pt>
                <c:pt idx="7">
                  <c:v>3.1</c:v>
                </c:pt>
                <c:pt idx="8">
                  <c:v>9.13</c:v>
                </c:pt>
                <c:pt idx="9">
                  <c:v>7.26</c:v>
                </c:pt>
                <c:pt idx="10">
                  <c:v>4.74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"/>
      </c:valAx>
      <c:valAx>
        <c:axId val="2094734552"/>
        <c:scaling>
          <c:orientation val="minMax"/>
          <c:max val="14"/>
          <c:min val="2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 III</c:v>
                </c:pt>
              </c:strCache>
            </c:strRef>
          </c:tx>
          <c:spPr>
            <a:solidFill>
              <a:srgbClr val="3A5BA0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3A5BA0"/>
              </a:solidFill>
              <a:ln w="9525" cap="flat">
                <a:solidFill>
                  <a:srgbClr val="3A5BA0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7.46</c:v>
                </c:pt>
                <c:pt idx="1">
                  <c:v>6.77</c:v>
                </c:pt>
                <c:pt idx="2">
                  <c:v>12.74</c:v>
                </c:pt>
                <c:pt idx="3">
                  <c:v>7.11</c:v>
                </c:pt>
                <c:pt idx="4">
                  <c:v>7.81</c:v>
                </c:pt>
                <c:pt idx="5">
                  <c:v>8.84</c:v>
                </c:pt>
                <c:pt idx="6">
                  <c:v>6.08</c:v>
                </c:pt>
                <c:pt idx="7">
                  <c:v>5.39</c:v>
                </c:pt>
                <c:pt idx="8">
                  <c:v>8.15</c:v>
                </c:pt>
                <c:pt idx="9">
                  <c:v>6.42</c:v>
                </c:pt>
                <c:pt idx="10">
                  <c:v>5.73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"/>
      </c:valAx>
      <c:valAx>
        <c:axId val="2094734552"/>
        <c:scaling>
          <c:orientation val="minMax"/>
          <c:max val="14"/>
          <c:min val="2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 IV</c:v>
                </c:pt>
              </c:strCache>
            </c:strRef>
          </c:tx>
          <c:spPr>
            <a:solidFill>
              <a:srgbClr val="C8553D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19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6.58</c:v>
                </c:pt>
                <c:pt idx="1">
                  <c:v>5.76</c:v>
                </c:pt>
                <c:pt idx="2">
                  <c:v>7.71</c:v>
                </c:pt>
                <c:pt idx="3">
                  <c:v>8.84</c:v>
                </c:pt>
                <c:pt idx="4">
                  <c:v>8.47</c:v>
                </c:pt>
                <c:pt idx="5">
                  <c:v>7.04</c:v>
                </c:pt>
                <c:pt idx="6">
                  <c:v>5.25</c:v>
                </c:pt>
                <c:pt idx="7">
                  <c:v>12.5</c:v>
                </c:pt>
                <c:pt idx="8">
                  <c:v>5.56</c:v>
                </c:pt>
                <c:pt idx="9">
                  <c:v>7.91</c:v>
                </c:pt>
                <c:pt idx="10">
                  <c:v>6.89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"/>
      </c:valAx>
      <c:valAx>
        <c:axId val="2094734552"/>
        <c:scaling>
          <c:orientation val="minMax"/>
          <c:max val="14"/>
          <c:min val="2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220</c:v>
                </c:pt>
                <c:pt idx="1">
                  <c:v>235</c:v>
                </c:pt>
                <c:pt idx="2">
                  <c:v>250</c:v>
                </c:pt>
                <c:pt idx="3">
                  <c:v>180</c:v>
                </c:pt>
                <c:pt idx="4">
                  <c:v>150</c:v>
                </c:pt>
                <c:pt idx="5">
                  <c:v>140</c:v>
                </c:pt>
                <c:pt idx="6">
                  <c:v>170</c:v>
                </c:pt>
                <c:pt idx="7">
                  <c:v>210</c:v>
                </c:pt>
                <c:pt idx="8">
                  <c:v>260</c:v>
                </c:pt>
                <c:pt idx="9">
                  <c:v>300</c:v>
                </c:pt>
                <c:pt idx="10">
                  <c:v>310</c:v>
                </c:pt>
                <c:pt idx="11">
                  <c:v>340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₹ thousand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shows why we draw charts before we trust numbers. The star example is Anscombe's quartet: four datasets with the same summary statistics and four very different pictures.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question: if two shops have the same average monthly sales, are they the same shop? Let students argue, then promise to prove the answer with real numbers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Visualization has two jobs. One is exploring, where the analyst looks for surprises. The other is explaining, where you show the finding to someone else. Today we focus on exploring.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Statistician Francis Anscombe built these four datasets in 1973 to make exactly this point. Ask the class: based on this table, are the four datasets alike? Most will say yes. Do not reveal the charts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I is the well-behaved case. The correlation of 0.816 and the line y = 3 + 0.5x describe it honestly. Use it as the baseline for the other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numbers on the table, but now the pattern is a hill. A manager using the straight line would predict wrongly at both ends. Ask: what kind of business relationship could look like this? Think of discounts, where deeper cuts help sales up to a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and ask students to predict what the next two charts look like. Then reveal. The idea of one outlier controlling a regression line is exactly the kind of risk a business analyst faces with a single huge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outlier the relationship is almost perfect. The right action is to investigate the odd point. It could be a typing error, a bulk order or a genuine event. Never delete it without finding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extreme case. Imagine ten shops with the same size and one giant mall outlet. Any "size versus sales" line would be built by the mall alone. A chart makes this obvious in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each card back to something from the quartet. Ask students which benefit matters most for their own future role, for example marketing, finance or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the 143% live: (340 - 140) / 140 = 1.43. The mean says the cafe sells about 230 a month, but no single month is near 230 in the summer or the winter. Ask the class what they would change in the cafe.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twelve numbers from the example, now as a line. This also previews next session on choosing chart types: time on the x axis means a line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visualization is not magic. The same tool that exposes an outlier can also hide a fact if the chart is badly built. Ask students whether they have ever misread a news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three minutes. For question 3, the sum 220 + 235 + 250 + 180 + 150 + 140 is 1,175 and divided by 6 is 195.83.
ANSWERS
1. No. Anscombe's quartet has four datasets with the same means, variances and correlation but different shapes: a line, a curve and two with outliers.
2. One outlier distorted the relationship. Plot first, then investigate the odd point before deciding to keep or remove it.
3. A line chart (time on the x axis). Mean = 1,175 / 6 ≈ ₹195.8 thousand, which hides the fall from 250 to 140.
4. Benefits: spotting patterns or outliers, faster communication and decisions. Risk: a badly built chart (for example a cut axis) can mislead.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II: Data Visualization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II: Data Visualization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·  TOPIC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of Data Visualization</a:t>
            </a:r>
            <a:endParaRPr lang="en-US" sz="4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(AE25UCBM001)  ·  SAGE University, Bhopal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and say what a chart can do that a table cannot.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summary statistics alone can mislead, using Anscombe's quartet.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outliers and patterns by looking at a chart first.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benefits of visualization for business decisions.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charts and the mistakes that weaken them.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315468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one set of summary numbers, four completely different stories. Always plot the data.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visualization and why use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showing data as pictures such as bars, lines and dots.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 is fast: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see a rising line or an odd bar in a second. Reading 200 cells takes minutes.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summarise,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reveal. A mean or a total cannot show shape, gaps or outliers.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persuade: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picture helps managers agree on a decision faster.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with charts first, then confirm with numbers, then present the chart that proves the point.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Anscombe's quartet: the numbers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6864"/>
                <a:gridCol w="1696373"/>
                <a:gridCol w="1696373"/>
                <a:gridCol w="1957354"/>
                <a:gridCol w="1957354"/>
                <a:gridCol w="1957354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of 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of 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II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III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IV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01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set has 11 (x, y) pairs. All four give the same best-fit line: y = 3.00 + 0.50x. Computed with Python.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I: a straight-line trend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scatter loosely around a rising line.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is a fair summary here.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picture most people imagine from the table.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II: a curve, not a line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rises, peaks near x = 11, then falls.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is curved, so a straight line fits badly.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of 0.816 hides the curve.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Test: delete one point and refit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III and IV look alike in the table. Remove the one point that looks odd in each and recompute. Values computed in Python.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III, all 11 points: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3.00 + 0.50x with r = 0.816.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III without (13, 12.74):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4.01 + 0.35x with r ≈ 1.000, a near-perfect line.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IV, all 11 points: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points share x = 8, one point sits at x = 19.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IV without (19, 12.50):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x equals 8, so no line can be fitted at all.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sets, one point out of 11 controls the answer. The summary numbers never warned us. The charts on the next slides show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III: one outlier bends the line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points lie almost exactly on one line.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at x = 13 sits far above it.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point tilts the fitted line and lowers r to 0.816.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IV: one point makes the whole trend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points are stacked at x = 8 with y between 5 and 9.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lone point at x = 19 creates the entire slope.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real trend in the other ten points.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visualization gives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patterns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seasons, clusters and curves become visible. Anscombe's Set II is a curve that no table row shows.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outliers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values and data-entry errors jump out. Sets III and IV each hide one point that controls the result.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chart carries one message to a manager in seconds, with no maths background needed.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1636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4596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faster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agree sooner when they look at the same picture, so planning, pricing and stocking decisions speed up.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Cafe sales: the table versus the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cafe in Bhopal records monthly sales in ₹ thousand (illustrative data), January to December: 220, 235, 250, 180, 150, 140, 170, 210, 260, 300, 310, 340.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view: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₹230.4k, median ₹227.5k, total ₹2,765k. Nothing stands out.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view: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fall from April to June, then climb to a December peak.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and high: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is ₹140k and December is ₹340k. December is 143% above June.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averages: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Mar ₹235k. Apr to Jun ₹156.7k. Oct to Dec ₹316.7k.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880360"/>
            <a:ext cx="4142232" cy="3383280"/>
          </a:xfrm>
          <a:prstGeom prst="roundRect">
            <a:avLst>
              <a:gd name="adj" fmla="val 324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31089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520440"/>
            <a:ext cx="35935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dip is a pattern the average hid. Plan lighter staffing, summer promotions and cold-drink stock for April to June.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Cafe monthly sales as a line chart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is the right chart for change over time.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dip in April to June is visible at a glance.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let you read exact values without a gridline.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edge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can lie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 axis, 3D or odd colours can make a small change look huge. Topic 4 covers these mistakes.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is not proof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in a chart is a lead, not a conclusion. Test it with numbers and ask what else could explain it.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data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overlapping points turn into a blob. Aggregate, sample or filter before plotting.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1636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4596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audience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for analysts can confuse managers. Say who it is for and what they should do after seeing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2593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have the same mean and variance. Does that mean they look alike? Give a reason.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746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8323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746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Set III, removing one point changes r from 0.816 to about 1.000. What does this tell you?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4053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9319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are 220, 235, 250, 180, 150, 140. Which chart shows the dip best, and what is the mean?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51892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9783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892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benefits of visualization and one risk.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61795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17320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first: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summary numbers can hide very different data.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35962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914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Anscombe's quartet: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line, a curve and two outlier cases, all with r ≈ 0.816.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65653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show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outliers and patterns that averages hide.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184294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039819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visuals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communication and decisions.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058461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9139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is a lead to test, and a bad chart can mislead.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Principles of Effective Visualization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MT Data">
  <a:themeElements>
    <a:clrScheme name="BMT Data">
      <a:dk1>
        <a:srgbClr val="14213D"/>
      </a:dk1>
      <a:lt1>
        <a:srgbClr val="FFFFFF"/>
      </a:lt1>
      <a:dk2>
        <a:srgbClr val="0B6E6E"/>
      </a:dk2>
      <a:lt2>
        <a:srgbClr val="EEF3F6"/>
      </a:lt2>
      <a:accent1>
        <a:srgbClr val="0F8B8D"/>
      </a:accent1>
      <a:accent2>
        <a:srgbClr val="F29E4C"/>
      </a:accent2>
      <a:accent3>
        <a:srgbClr val="3A5BA0"/>
      </a:accent3>
      <a:accent4>
        <a:srgbClr val="C8553D"/>
      </a:accent4>
      <a:accent5>
        <a:srgbClr val="6E9B2F"/>
      </a:accent5>
      <a:accent6>
        <a:srgbClr val="8E6BBF"/>
      </a:accent6>
      <a:hlink>
        <a:srgbClr val="0F8B8D"/>
      </a:hlink>
      <a:folHlink>
        <a:srgbClr val="8E6BBF"/>
      </a:folHlink>
    </a:clrScheme>
    <a:fontScheme name="BMT 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SAGE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of Data Visualization</dc:title>
  <dc:subject>Business Management Tools I</dc:subject>
  <dc:creator>Sushant Bhargav</dc:creator>
  <cp:lastModifiedBy>Sushant Bhargav</cp:lastModifiedBy>
  <cp:revision>1</cp:revision>
  <dcterms:created xsi:type="dcterms:W3CDTF">2026-10-07T01:36:15Z</dcterms:created>
  <dcterms:modified xsi:type="dcterms:W3CDTF">2026-10-07T01:36:15Z</dcterms:modified>
</cp:coreProperties>
</file>