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46.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4: Basics of Creating Visualizations in Excel" id="{858106df-66b5-f910-6a28-28674aff66f7}">
          <p14:sldIdLst>
            <p14:sldId id="256"/>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Jan</c:v>
                </c:pt>
              </c:strCache>
            </c:strRef>
          </c:tx>
          <c:spPr>
            <a:solidFill>
              <a:srgbClr val="0F8B8D"/>
            </a:solidFill>
            <a:effectLst/>
          </c:spPr>
          <c:invertIfNegative val="0"/>
          <c:dLbls>
            <c:numFmt formatCode="#,##0"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Sheet1!$A$2:$A$3</c:f>
              <c:multiLvlStrCache>
                <c:ptCount val="2"/>
                <c:lvl>
                  <c:pt idx="0">
                    <c:v>Bhopal</c:v>
                  </c:pt>
                  <c:pt idx="1">
                    <c:v>Indore</c:v>
                  </c:pt>
                </c:lvl>
              </c:multiLvlStrCache>
            </c:multiLvlStrRef>
          </c:cat>
          <c:val>
            <c:numRef>
              <c:f>Sheet1!$B$2:$B$3</c:f>
              <c:numCache>
                <c:formatCode>General</c:formatCode>
                <c:ptCount val="2"/>
                <c:pt idx="0">
                  <c:v>68000</c:v>
                </c:pt>
                <c:pt idx="1">
                  <c:v>59000</c:v>
                </c:pt>
              </c:numCache>
            </c:numRef>
          </c:val>
        </c:ser>
        <c:ser>
          <c:idx val="1"/>
          <c:order val="1"/>
          <c:tx>
            <c:strRef>
              <c:f>Sheet1!$C$1</c:f>
              <c:strCache>
                <c:ptCount val="1"/>
                <c:pt idx="0">
                  <c:v>Feb</c:v>
                </c:pt>
              </c:strCache>
            </c:strRef>
          </c:tx>
          <c:spPr>
            <a:solidFill>
              <a:srgbClr val="F29E4C"/>
            </a:solidFill>
            <a:effectLst/>
          </c:spPr>
          <c:invertIfNegative val="0"/>
          <c:dLbls>
            <c:numFmt formatCode="#,##0"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Sheet1!$A$2:$A$3</c:f>
              <c:multiLvlStrCache>
                <c:ptCount val="2"/>
                <c:lvl>
                  <c:pt idx="0">
                    <c:v>Bhopal</c:v>
                  </c:pt>
                  <c:pt idx="1">
                    <c:v>Indore</c:v>
                  </c:pt>
                </c:lvl>
              </c:multiLvlStrCache>
            </c:multiLvlStrRef>
          </c:cat>
          <c:val>
            <c:numRef>
              <c:f>Sheet1!$C$2:$C$3</c:f>
              <c:numCache>
                <c:formatCode>General</c:formatCode>
                <c:ptCount val="2"/>
                <c:pt idx="0">
                  <c:v>73000</c:v>
                </c:pt>
                <c:pt idx="1">
                  <c:v>60000</c:v>
                </c:pt>
              </c:numCache>
            </c:numRef>
          </c:val>
        </c:ser>
        <c:dLbls>
          <c:numFmt formatCode="#,##0"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Sales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6667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walks through building a chart in Excel from tidy data to a finished, formatted chart, then adds PivotCharts, sparklines and conditional formatting.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80 percent is a rule of thumb, not a measured statistic. Say so. The point is that students spend time fixing data, not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on screen during the demo and tick off each step as you do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layouts hold the same four numbers. When a March column arrives, the wide table needs a new column and a new chart series, while the tidy table just gets two more rows. Convert with Power Query unpivot or by retyping.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Recommended Charts on the tidy example. Excel may suggest a pie for something that is not a whole. Ask the class why that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5,000 divided by 68,000 is 0.0735 and 1,000 divided by 59,000 is 0.0169. This is what Excel would draw from the wide table. Ask which city is growing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live before and after: start with Excel default chart and clean it in a minute. Students are often surprised how much better it looks with fewer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81,000 + 52,000 = 133,000 and 81,000 divided by 133,000 is 0.609. All data are illustrative. Students can repeat the build in their own workbook with SUMIFS.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8-row data, the first formula returns 81,000 and the second returns 141,000 for Bhopal over both months. Show F9 evaluate or just type them live. Mistake to watch for: whole-column references with headers in the range work for SUMIFS but not for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Bhopal is 87,000 plus 54,000 and Indore is 74,000 plus 45,000. The pivot total is 2,60,000. Warn about the refresh step, because forgetting it is the most common PivotChart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Sparklines are mini charts without axes, so they show shape, not exact values. Show a 12-month row for 5 products with one sparkline each. Conditional formatting rules update automatically when values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open any messy export they have and check alignment. Left aligned numbers are a quick warning sign. Also point out merged header cells that break PivotTables.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five minutes in pairs. Ask a pair to demonstrate the formula on screen.
ANSWERS
1. Each row is one record and each column one variable, so PivotTables can group and sum freely and new months need only new rows.
2. The numbers are stored as text. Convert them to numbers, for example with Text to Columns or VALUE, then refresh the chart.
3. =SUMIFS(D:D, C:C, "Snacks", A:A, "Feb"). With the example data it returns 52,000.
4. Use Data &gt; Refresh All. PivotTables do not update automatically when the source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II: Data Visualization</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II  ·  TOPIC 14</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Basics of Creating Visualizations in Excel</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Data Visualization</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Prepare </a:t>
            </a:r>
            <a:pPr indent="0" marL="0">
              <a:buNone/>
            </a:pPr>
            <a:r>
              <a:rPr lang="en-US" sz="2400" dirty="0">
                <a:solidFill>
                  <a:srgbClr val="2B3A4F"/>
                </a:solidFill>
                <a:latin typeface="Calibri" pitchFamily="34" charset="0"/>
                <a:ea typeface="Calibri" pitchFamily="34" charset="-122"/>
                <a:cs typeface="Calibri" pitchFamily="34" charset="-120"/>
              </a:rPr>
              <a:t>data in a tidy layout that Excel charts can read.</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Insert </a:t>
            </a:r>
            <a:pPr indent="0" marL="0">
              <a:buNone/>
            </a:pPr>
            <a:r>
              <a:rPr lang="en-US" sz="2400" dirty="0">
                <a:solidFill>
                  <a:srgbClr val="2B3A4F"/>
                </a:solidFill>
                <a:latin typeface="Calibri" pitchFamily="34" charset="0"/>
                <a:ea typeface="Calibri" pitchFamily="34" charset="-122"/>
                <a:cs typeface="Calibri" pitchFamily="34" charset="-120"/>
              </a:rPr>
              <a:t>a chart with Insert &gt; Charts and Recommended Charts.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Edit </a:t>
            </a:r>
            <a:pPr indent="0" marL="0">
              <a:buNone/>
            </a:pPr>
            <a:r>
              <a:rPr lang="en-US" sz="2400" dirty="0">
                <a:solidFill>
                  <a:srgbClr val="2B3A4F"/>
                </a:solidFill>
                <a:latin typeface="Calibri" pitchFamily="34" charset="0"/>
                <a:ea typeface="Calibri" pitchFamily="34" charset="-122"/>
                <a:cs typeface="Calibri" pitchFamily="34" charset="-120"/>
              </a:rPr>
              <a:t>chart elements: title, axes, labels, legend and gridlines.</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Build </a:t>
            </a:r>
            <a:pPr indent="0" marL="0">
              <a:buNone/>
            </a:pPr>
            <a:r>
              <a:rPr lang="en-US" sz="2400" dirty="0">
                <a:solidFill>
                  <a:srgbClr val="2B3A4F"/>
                </a:solidFill>
                <a:latin typeface="Calibri" pitchFamily="34" charset="0"/>
                <a:ea typeface="Calibri" pitchFamily="34" charset="-122"/>
                <a:cs typeface="Calibri" pitchFamily="34" charset="-120"/>
              </a:rPr>
              <a:t>a PivotChart, sparklines and conditional formatting.</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Spot </a:t>
            </a:r>
            <a:pPr indent="0" marL="0">
              <a:buNone/>
            </a:pPr>
            <a:r>
              <a:rPr lang="en-US" sz="2400" dirty="0">
                <a:solidFill>
                  <a:srgbClr val="2B3A4F"/>
                </a:solidFill>
                <a:latin typeface="Calibri" pitchFamily="34" charset="0"/>
                <a:ea typeface="Calibri" pitchFamily="34" charset="-122"/>
                <a:cs typeface="Calibri" pitchFamily="34" charset="-120"/>
              </a:rPr>
              <a:t>mistakes such as blank rows, merged cells and numbers stored as text.</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80%</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of a good chart is the data layout and the choice of chart type. Formatting is the finishing touch.</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The Excel charting workflow</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Tidy the data</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One header row, one row per record, one column per variable, no blanks.</a:t>
            </a:r>
            <a:endParaRPr lang="en-US" sz="19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Select and insert</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Click a cell in the data, then Insert &gt; Recommended Charts or a chart type.</a:t>
            </a:r>
            <a:endParaRPr lang="en-US" sz="19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Add chart elements</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Title, axis titles, data labels. Remove clutter such as heavy gridlines.</a:t>
            </a:r>
            <a:endParaRPr lang="en-US" sz="18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Format and check</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Colours, fonts, axis from zero for bars. Read it as a stranger would.</a:t>
            </a:r>
            <a:endParaRPr lang="en-US" sz="19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Share</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Copy to Word or PowerPoint, or export as an image.</a:t>
            </a:r>
            <a:endParaRPr lang="en-US" sz="20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Always finish by asking: can someone understand this chart in five seconds?</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1: tidy the data first</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Untidy (wide, merged)</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795272"/>
                <a:gridCol w="1795272"/>
                <a:gridCol w="1795272"/>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Jan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Feb</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68,000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73,000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59,000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60,000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Tidy (one row per record)</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723461"/>
                <a:gridCol w="1723461"/>
                <a:gridCol w="193889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Month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Sales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Jan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68,000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Jan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59,000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Feb</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73,000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Feb</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60,000</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Wide tables chart fine for a quick look. Tidy tables work with PivotTables and grow without redesign.</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2: Insert, Charts and Recommended Charts</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Click one cell </a:t>
            </a:r>
            <a:pPr indent="0" marL="0">
              <a:buNone/>
            </a:pPr>
            <a:r>
              <a:rPr lang="en-US" sz="2300" dirty="0">
                <a:solidFill>
                  <a:srgbClr val="2B3A4F"/>
                </a:solidFill>
                <a:latin typeface="Calibri" pitchFamily="34" charset="0"/>
                <a:ea typeface="Calibri" pitchFamily="34" charset="-122"/>
                <a:cs typeface="Calibri" pitchFamily="34" charset="-120"/>
              </a:rPr>
              <a:t>inside the data, not an empty one. Excel finds the whole block.</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Insert &gt; Recommended Charts </a:t>
            </a:r>
            <a:pPr indent="0" marL="0">
              <a:buNone/>
            </a:pPr>
            <a:r>
              <a:rPr lang="en-US" sz="2300" dirty="0">
                <a:solidFill>
                  <a:srgbClr val="2B3A4F"/>
                </a:solidFill>
                <a:latin typeface="Calibri" pitchFamily="34" charset="0"/>
                <a:ea typeface="Calibri" pitchFamily="34" charset="-122"/>
                <a:cs typeface="Calibri" pitchFamily="34" charset="-120"/>
              </a:rPr>
              <a:t>shows previews that Excel thinks fit your data.</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Insert &gt; Charts group </a:t>
            </a:r>
            <a:pPr indent="0" marL="0">
              <a:buNone/>
            </a:pPr>
            <a:r>
              <a:rPr lang="en-US" sz="2300" dirty="0">
                <a:solidFill>
                  <a:srgbClr val="2B3A4F"/>
                </a:solidFill>
                <a:latin typeface="Calibri" pitchFamily="34" charset="0"/>
                <a:ea typeface="Calibri" pitchFamily="34" charset="-122"/>
                <a:cs typeface="Calibri" pitchFamily="34" charset="-120"/>
              </a:rPr>
              <a:t>lets you pick column, line, pie, bar or scatter yourself.</a:t>
            </a:r>
            <a:endParaRPr lang="en-US" sz="2300" dirty="0"/>
          </a:p>
          <a:p>
            <a:pPr marL="228600" indent="-228600">
              <a:spcAft>
                <a:spcPts val="1000"/>
              </a:spcAft>
              <a:buSzPct val="100000"/>
              <a:buChar char="•"/>
            </a:pPr>
            <a:r>
              <a:rPr lang="en-US" sz="2300" b="1" dirty="0">
                <a:solidFill>
                  <a:srgbClr val="14213D"/>
                </a:solidFill>
                <a:latin typeface="Calibri" pitchFamily="34" charset="0"/>
                <a:ea typeface="Calibri" pitchFamily="34" charset="-122"/>
                <a:cs typeface="Calibri" pitchFamily="34" charset="-120"/>
              </a:rPr>
              <a:t>Shortcut: </a:t>
            </a:r>
            <a:pPr indent="0" marL="0">
              <a:buNone/>
            </a:pPr>
            <a:r>
              <a:rPr lang="en-US" sz="2300" dirty="0">
                <a:solidFill>
                  <a:srgbClr val="2B3A4F"/>
                </a:solidFill>
                <a:latin typeface="Calibri" pitchFamily="34" charset="0"/>
                <a:ea typeface="Calibri" pitchFamily="34" charset="-122"/>
                <a:cs typeface="Calibri" pitchFamily="34" charset="-120"/>
              </a:rPr>
              <a:t>select the data and press Alt + F1 for a quick column chart on the same sheet.</a:t>
            </a:r>
            <a:endParaRPr lang="en-US" sz="2300" dirty="0"/>
          </a:p>
          <a:p>
            <a:pPr marL="228600" indent="-228600">
              <a:buSzPct val="100000"/>
              <a:buChar char="•"/>
            </a:pPr>
            <a:r>
              <a:rPr lang="en-US" sz="2300" b="1" dirty="0">
                <a:solidFill>
                  <a:srgbClr val="14213D"/>
                </a:solidFill>
                <a:latin typeface="Calibri" pitchFamily="34" charset="0"/>
                <a:ea typeface="Calibri" pitchFamily="34" charset="-122"/>
                <a:cs typeface="Calibri" pitchFamily="34" charset="-120"/>
              </a:rPr>
              <a:t>Recommended is a start, </a:t>
            </a:r>
            <a:pPr indent="0" marL="0">
              <a:buNone/>
            </a:pPr>
            <a:r>
              <a:rPr lang="en-US" sz="2300" dirty="0">
                <a:solidFill>
                  <a:srgbClr val="2B3A4F"/>
                </a:solidFill>
                <a:latin typeface="Calibri" pitchFamily="34" charset="0"/>
                <a:ea typeface="Calibri" pitchFamily="34" charset="-122"/>
                <a:cs typeface="Calibri" pitchFamily="34" charset="-120"/>
              </a:rPr>
              <a:t>not an answer. Always check that the chart type matches your question.</a:t>
            </a:r>
            <a:endParaRPr lang="en-US" sz="2300" dirty="0"/>
          </a:p>
        </p:txBody>
      </p:sp>
      <p:sp>
        <p:nvSpPr>
          <p:cNvPr id="4" name="Shape 2"/>
          <p:cNvSpPr/>
          <p:nvPr/>
        </p:nvSpPr>
        <p:spPr>
          <a:xfrm>
            <a:off x="7680960" y="1417320"/>
            <a:ext cx="3959352" cy="4846320"/>
          </a:xfrm>
          <a:prstGeom prst="roundRect">
            <a:avLst>
              <a:gd name="adj" fmla="val 2771"/>
            </a:avLst>
          </a:prstGeom>
          <a:solidFill>
            <a:srgbClr val="FDEBD6"/>
          </a:solidFill>
          <a:ln w="12700">
            <a:solidFill>
              <a:srgbClr val="FDEBD6"/>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RULE OF THUMB</a:t>
            </a:r>
            <a:endParaRPr lang="en-US" sz="1200" dirty="0"/>
          </a:p>
        </p:txBody>
      </p:sp>
      <p:sp>
        <p:nvSpPr>
          <p:cNvPr id="6" name="Text 4"/>
          <p:cNvSpPr txBox="1"/>
          <p:nvPr/>
        </p:nvSpPr>
        <p:spPr>
          <a:xfrm>
            <a:off x="7955280" y="2148840"/>
            <a:ext cx="3410712" cy="384048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Comparing categories: column or bar. Trend over time: line. Parts of a whole: pie, only if 5 or fewer parts.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sales by city, Jan and Feb</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Bhopal sold ₹68,000 in January and ₹73,000 in February, up ₹5,000 or 7.4%.</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Indore went from ₹59,000 to ₹60,000, up only 1.7%.</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Hypothetical cafe data. Clustered columns suit comparing cities side by side.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Step 3: chart elements and formatting</a:t>
            </a:r>
            <a:endParaRPr lang="en-US" sz="2800" dirty="0"/>
          </a:p>
        </p:txBody>
      </p:sp>
      <p:sp>
        <p:nvSpPr>
          <p:cNvPr id="3" name="Shape 1"/>
          <p:cNvSpPr/>
          <p:nvPr/>
        </p:nvSpPr>
        <p:spPr>
          <a:xfrm>
            <a:off x="548640" y="1417320"/>
            <a:ext cx="3514344"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Chart title</a:t>
            </a:r>
            <a:endParaRPr lang="en-US" sz="2000" dirty="0"/>
          </a:p>
        </p:txBody>
      </p:sp>
      <p:sp>
        <p:nvSpPr>
          <p:cNvPr id="6" name="Text 4"/>
          <p:cNvSpPr txBox="1"/>
          <p:nvPr/>
        </p:nvSpPr>
        <p:spPr>
          <a:xfrm>
            <a:off x="777240" y="233172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Say what the chart shows with the unit, such as "Monthly sales (₹)". Avoid the default "Chart Title".</a:t>
            </a:r>
            <a:endParaRPr lang="en-US" sz="1800" dirty="0"/>
          </a:p>
        </p:txBody>
      </p:sp>
      <p:sp>
        <p:nvSpPr>
          <p:cNvPr id="7" name="Shape 5"/>
          <p:cNvSpPr/>
          <p:nvPr/>
        </p:nvSpPr>
        <p:spPr>
          <a:xfrm>
            <a:off x="4337304" y="1417320"/>
            <a:ext cx="3514344"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4565904"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5160264"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Axis titles and scale</a:t>
            </a:r>
            <a:endParaRPr lang="en-US" sz="2000" dirty="0"/>
          </a:p>
        </p:txBody>
      </p:sp>
      <p:sp>
        <p:nvSpPr>
          <p:cNvPr id="10" name="Text 8"/>
          <p:cNvSpPr txBox="1"/>
          <p:nvPr/>
        </p:nvSpPr>
        <p:spPr>
          <a:xfrm>
            <a:off x="4565904"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Label both axes. For column charts keep the value axis starting at zero.</a:t>
            </a:r>
            <a:endParaRPr lang="en-US" sz="2000" dirty="0"/>
          </a:p>
        </p:txBody>
      </p:sp>
      <p:sp>
        <p:nvSpPr>
          <p:cNvPr id="11" name="Shape 9"/>
          <p:cNvSpPr/>
          <p:nvPr/>
        </p:nvSpPr>
        <p:spPr>
          <a:xfrm>
            <a:off x="8125968" y="1417320"/>
            <a:ext cx="3514344"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8354568" y="164592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8948928" y="155448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Data labels, legend</a:t>
            </a:r>
            <a:endParaRPr lang="en-US" sz="2000" dirty="0"/>
          </a:p>
        </p:txBody>
      </p:sp>
      <p:sp>
        <p:nvSpPr>
          <p:cNvPr id="14" name="Text 12"/>
          <p:cNvSpPr txBox="1"/>
          <p:nvPr/>
        </p:nvSpPr>
        <p:spPr>
          <a:xfrm>
            <a:off x="8354568" y="233172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Labels help with few bars. Remove the legend if there is one series.</a:t>
            </a:r>
            <a:endParaRPr lang="en-US" sz="2000" dirty="0"/>
          </a:p>
        </p:txBody>
      </p:sp>
      <p:sp>
        <p:nvSpPr>
          <p:cNvPr id="15" name="Shape 13"/>
          <p:cNvSpPr/>
          <p:nvPr/>
        </p:nvSpPr>
        <p:spPr>
          <a:xfrm>
            <a:off x="548640" y="3977640"/>
            <a:ext cx="3514344"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777240"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1371600"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Colour and clutter</a:t>
            </a:r>
            <a:endParaRPr lang="en-US" sz="2000" dirty="0"/>
          </a:p>
        </p:txBody>
      </p:sp>
      <p:sp>
        <p:nvSpPr>
          <p:cNvPr id="18" name="Text 16"/>
          <p:cNvSpPr txBox="1"/>
          <p:nvPr/>
        </p:nvSpPr>
        <p:spPr>
          <a:xfrm>
            <a:off x="777240" y="4892040"/>
            <a:ext cx="3057144"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Use one or two colours with meaning. Delete 3D effects, heavy borders and dense gridlines.</a:t>
            </a:r>
            <a:endParaRPr lang="en-US" sz="2000" dirty="0"/>
          </a:p>
        </p:txBody>
      </p:sp>
      <p:sp>
        <p:nvSpPr>
          <p:cNvPr id="19" name="Shape 17"/>
          <p:cNvSpPr/>
          <p:nvPr/>
        </p:nvSpPr>
        <p:spPr>
          <a:xfrm>
            <a:off x="4337304" y="3977640"/>
            <a:ext cx="3514344" cy="2286000"/>
          </a:xfrm>
          <a:prstGeom prst="roundRect">
            <a:avLst>
              <a:gd name="adj" fmla="val 4800"/>
            </a:avLst>
          </a:prstGeom>
          <a:solidFill>
            <a:srgbClr val="EEF3F6"/>
          </a:solidFill>
          <a:ln w="12700">
            <a:solidFill>
              <a:srgbClr val="EEF3F6"/>
            </a:solidFill>
            <a:prstDash val="solid"/>
          </a:ln>
        </p:spPr>
      </p:sp>
      <p:sp>
        <p:nvSpPr>
          <p:cNvPr id="20" name="Text 18"/>
          <p:cNvSpPr/>
          <p:nvPr/>
        </p:nvSpPr>
        <p:spPr>
          <a:xfrm>
            <a:off x="4565904" y="4206240"/>
            <a:ext cx="457200" cy="457200"/>
          </a:xfrm>
          <a:prstGeom prst="ellipse">
            <a:avLst/>
          </a:prstGeom>
          <a:solidFill>
            <a:srgbClr val="6E9B2F"/>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1" name="Text 19"/>
          <p:cNvSpPr txBox="1"/>
          <p:nvPr/>
        </p:nvSpPr>
        <p:spPr>
          <a:xfrm>
            <a:off x="5160264" y="4114800"/>
            <a:ext cx="2508504"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Quick access</a:t>
            </a:r>
            <a:endParaRPr lang="en-US" sz="2000" dirty="0"/>
          </a:p>
        </p:txBody>
      </p:sp>
      <p:sp>
        <p:nvSpPr>
          <p:cNvPr id="22" name="Text 20"/>
          <p:cNvSpPr txBox="1"/>
          <p:nvPr/>
        </p:nvSpPr>
        <p:spPr>
          <a:xfrm>
            <a:off x="4565904" y="4892040"/>
            <a:ext cx="3057144" cy="123444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Click the chart, then use the + button for elements and the brush for styles. Chart Design tab has more.</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Worked example: build a column chart</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cafe has Feb sales by product in Bhopal and Indore (₹): Coffee 36,000 and 45,000, Snacks 24,000 and 28,000. Build a chart of total sales by product.</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Enter tidy data: </a:t>
            </a:r>
            <a:pPr indent="0" marL="0">
              <a:buNone/>
            </a:pPr>
            <a:r>
              <a:rPr lang="en-US" sz="2200" dirty="0">
                <a:solidFill>
                  <a:srgbClr val="2B3A4F"/>
                </a:solidFill>
                <a:latin typeface="Calibri" pitchFamily="34" charset="0"/>
                <a:ea typeface="Calibri" pitchFamily="34" charset="-122"/>
                <a:cs typeface="Calibri" pitchFamily="34" charset="-120"/>
              </a:rPr>
              <a:t>columns Month, City, Product, Sales with 8 rows.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Total Coffee for February: </a:t>
            </a:r>
            <a:pPr indent="0" marL="0">
              <a:buNone/>
            </a:pPr>
            <a:r>
              <a:rPr lang="en-US" sz="2200" dirty="0">
                <a:solidFill>
                  <a:srgbClr val="2B3A4F"/>
                </a:solidFill>
                <a:latin typeface="Calibri" pitchFamily="34" charset="0"/>
                <a:ea typeface="Calibri" pitchFamily="34" charset="-122"/>
                <a:cs typeface="Calibri" pitchFamily="34" charset="-120"/>
              </a:rPr>
              <a:t>45,000 + 36,000 = ₹81,000.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Total Snacks for February: </a:t>
            </a:r>
            <a:pPr indent="0" marL="0">
              <a:buNone/>
            </a:pPr>
            <a:r>
              <a:rPr lang="en-US" sz="2200" dirty="0">
                <a:solidFill>
                  <a:srgbClr val="2B3A4F"/>
                </a:solidFill>
                <a:latin typeface="Calibri" pitchFamily="34" charset="0"/>
                <a:ea typeface="Calibri" pitchFamily="34" charset="-122"/>
                <a:cs typeface="Calibri" pitchFamily="34" charset="-120"/>
              </a:rPr>
              <a:t>28,000 + 24,000 = ₹52,000.</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Insert &gt; Column chart </a:t>
            </a:r>
            <a:pPr indent="0" marL="0">
              <a:buNone/>
            </a:pPr>
            <a:r>
              <a:rPr lang="en-US" sz="2200" dirty="0">
                <a:solidFill>
                  <a:srgbClr val="2B3A4F"/>
                </a:solidFill>
                <a:latin typeface="Calibri" pitchFamily="34" charset="0"/>
                <a:ea typeface="Calibri" pitchFamily="34" charset="-122"/>
                <a:cs typeface="Calibri" pitchFamily="34" charset="-120"/>
              </a:rPr>
              <a:t>on those two totals. Add title and axis title.</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Coffee earns ₹81,000, which is 61% of the ₹1,33,000 total. The chart makes the gap obvious in two bars.</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Formulas that feed your charts</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=SUMIFS(D:D, C:C, "Coffee", A:A, "Feb")</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=SUMIFS(D:D, B:B, "Bhopal")</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=SUM(D2:D9)</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=D2/SUM($D$2:$D$9)</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=TEXT(D2, "#,##0")</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SUMIFS: </a:t>
            </a:r>
            <a:pPr indent="0" marL="0">
              <a:buNone/>
            </a:pPr>
            <a:r>
              <a:rPr lang="en-US" sz="2200" dirty="0">
                <a:solidFill>
                  <a:srgbClr val="2B3A4F"/>
                </a:solidFill>
                <a:latin typeface="Calibri" pitchFamily="34" charset="0"/>
                <a:ea typeface="Calibri" pitchFamily="34" charset="-122"/>
                <a:cs typeface="Calibri" pitchFamily="34" charset="-120"/>
              </a:rPr>
              <a:t>adds Sales (column D) where the conditions match.</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Dollar signs </a:t>
            </a:r>
            <a:pPr indent="0" marL="0">
              <a:buNone/>
            </a:pPr>
            <a:r>
              <a:rPr lang="en-US" sz="2200" dirty="0">
                <a:solidFill>
                  <a:srgbClr val="2B3A4F"/>
                </a:solidFill>
                <a:latin typeface="Calibri" pitchFamily="34" charset="0"/>
                <a:ea typeface="Calibri" pitchFamily="34" charset="-122"/>
                <a:cs typeface="Calibri" pitchFamily="34" charset="-120"/>
              </a:rPr>
              <a:t>lock the total cell so the share formula copies down.</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Format as % </a:t>
            </a:r>
            <a:pPr indent="0" marL="0">
              <a:buNone/>
            </a:pPr>
            <a:r>
              <a:rPr lang="en-US" sz="2200" dirty="0">
                <a:solidFill>
                  <a:srgbClr val="2B3A4F"/>
                </a:solidFill>
                <a:latin typeface="Calibri" pitchFamily="34" charset="0"/>
                <a:ea typeface="Calibri" pitchFamily="34" charset="-122"/>
                <a:cs typeface="Calibri" pitchFamily="34" charset="-120"/>
              </a:rPr>
              <a:t>for the share column before charting it.</a:t>
            </a:r>
            <a:endParaRPr lang="en-US" sz="2200" dirty="0"/>
          </a:p>
          <a:p>
            <a:pPr marL="228600" indent="-228600">
              <a:buSzPct val="100000"/>
              <a:buChar char="•"/>
            </a:pPr>
            <a:r>
              <a:rPr lang="en-US" sz="2200" dirty="0">
                <a:solidFill>
                  <a:srgbClr val="2B3A4F"/>
                </a:solidFill>
                <a:latin typeface="Calibri" pitchFamily="34" charset="0"/>
                <a:ea typeface="Calibri" pitchFamily="34" charset="-122"/>
                <a:cs typeface="Calibri" pitchFamily="34" charset="-120"/>
              </a:rPr>
              <a:t>Chart the summary cells, not thousands of raw rows.</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PivotChart: charts that summarise for you</a:t>
            </a:r>
            <a:endParaRPr lang="en-US" sz="2800" dirty="0"/>
          </a:p>
        </p:txBody>
      </p:sp>
      <p:sp>
        <p:nvSpPr>
          <p:cNvPr id="3" name="Shape 1"/>
          <p:cNvSpPr/>
          <p:nvPr/>
        </p:nvSpPr>
        <p:spPr>
          <a:xfrm>
            <a:off x="548640" y="1417320"/>
            <a:ext cx="269062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Insert &gt; PivotChart</a:t>
            </a:r>
            <a:endParaRPr lang="en-US" sz="1700" dirty="0"/>
          </a:p>
        </p:txBody>
      </p:sp>
      <p:sp>
        <p:nvSpPr>
          <p:cNvPr id="5" name="Shape 3"/>
          <p:cNvSpPr/>
          <p:nvPr/>
        </p:nvSpPr>
        <p:spPr>
          <a:xfrm>
            <a:off x="548640" y="2331720"/>
            <a:ext cx="264490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Click inside the tidy data first. Excel makes a PivotTable and a chart together.</a:t>
            </a:r>
            <a:endParaRPr lang="en-US" sz="2000" dirty="0"/>
          </a:p>
        </p:txBody>
      </p:sp>
      <p:sp>
        <p:nvSpPr>
          <p:cNvPr id="7" name="Shape 5"/>
          <p:cNvSpPr/>
          <p:nvPr/>
        </p:nvSpPr>
        <p:spPr>
          <a:xfrm>
            <a:off x="3348990" y="1417320"/>
            <a:ext cx="2690622" cy="777240"/>
          </a:xfrm>
          <a:prstGeom prst="homePlate">
            <a:avLst/>
          </a:prstGeom>
          <a:solidFill>
            <a:srgbClr val="F29E4C"/>
          </a:solidFill>
          <a:ln w="12700">
            <a:solidFill>
              <a:srgbClr val="F29E4C"/>
            </a:solidFill>
            <a:prstDash val="solid"/>
          </a:ln>
        </p:spPr>
      </p:sp>
      <p:sp>
        <p:nvSpPr>
          <p:cNvPr id="8" name="Text 6"/>
          <p:cNvSpPr txBox="1"/>
          <p:nvPr/>
        </p:nvSpPr>
        <p:spPr>
          <a:xfrm>
            <a:off x="35318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Drag fields</a:t>
            </a:r>
            <a:endParaRPr lang="en-US" sz="1700" dirty="0"/>
          </a:p>
        </p:txBody>
      </p:sp>
      <p:sp>
        <p:nvSpPr>
          <p:cNvPr id="9" name="Shape 7"/>
          <p:cNvSpPr/>
          <p:nvPr/>
        </p:nvSpPr>
        <p:spPr>
          <a:xfrm>
            <a:off x="3348990" y="2331720"/>
            <a:ext cx="264490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35318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City to Axis, Product to Legend, Sales to Values (Sum).</a:t>
            </a:r>
            <a:endParaRPr lang="en-US" sz="2000" dirty="0"/>
          </a:p>
        </p:txBody>
      </p:sp>
      <p:sp>
        <p:nvSpPr>
          <p:cNvPr id="11" name="Shape 9"/>
          <p:cNvSpPr/>
          <p:nvPr/>
        </p:nvSpPr>
        <p:spPr>
          <a:xfrm>
            <a:off x="6149340" y="1417320"/>
            <a:ext cx="2690622" cy="777240"/>
          </a:xfrm>
          <a:prstGeom prst="homePlate">
            <a:avLst/>
          </a:prstGeom>
          <a:solidFill>
            <a:srgbClr val="3A5BA0"/>
          </a:solidFill>
          <a:ln w="12700">
            <a:solidFill>
              <a:srgbClr val="3A5BA0"/>
            </a:solidFill>
            <a:prstDash val="solid"/>
          </a:ln>
        </p:spPr>
      </p:sp>
      <p:sp>
        <p:nvSpPr>
          <p:cNvPr id="12" name="Text 10"/>
          <p:cNvSpPr txBox="1"/>
          <p:nvPr/>
        </p:nvSpPr>
        <p:spPr>
          <a:xfrm>
            <a:off x="633222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Filter and slice</a:t>
            </a:r>
            <a:endParaRPr lang="en-US" sz="1700" dirty="0"/>
          </a:p>
        </p:txBody>
      </p:sp>
      <p:sp>
        <p:nvSpPr>
          <p:cNvPr id="13" name="Shape 11"/>
          <p:cNvSpPr/>
          <p:nvPr/>
        </p:nvSpPr>
        <p:spPr>
          <a:xfrm>
            <a:off x="6149340" y="2331720"/>
            <a:ext cx="264490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633222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Use a slicer on Month to flip between January and February.</a:t>
            </a:r>
            <a:endParaRPr lang="en-US" sz="2000" dirty="0"/>
          </a:p>
        </p:txBody>
      </p:sp>
      <p:sp>
        <p:nvSpPr>
          <p:cNvPr id="15" name="Shape 13"/>
          <p:cNvSpPr/>
          <p:nvPr/>
        </p:nvSpPr>
        <p:spPr>
          <a:xfrm>
            <a:off x="8949690" y="1417320"/>
            <a:ext cx="2690622" cy="777240"/>
          </a:xfrm>
          <a:prstGeom prst="homePlate">
            <a:avLst/>
          </a:prstGeom>
          <a:solidFill>
            <a:srgbClr val="C8553D"/>
          </a:solidFill>
          <a:ln w="12700">
            <a:solidFill>
              <a:srgbClr val="C8553D"/>
            </a:solidFill>
            <a:prstDash val="solid"/>
          </a:ln>
        </p:spPr>
      </p:sp>
      <p:sp>
        <p:nvSpPr>
          <p:cNvPr id="16" name="Text 14"/>
          <p:cNvSpPr txBox="1"/>
          <p:nvPr/>
        </p:nvSpPr>
        <p:spPr>
          <a:xfrm>
            <a:off x="9132570" y="1417320"/>
            <a:ext cx="214198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Refresh</a:t>
            </a:r>
            <a:endParaRPr lang="en-US" sz="1700" dirty="0"/>
          </a:p>
        </p:txBody>
      </p:sp>
      <p:sp>
        <p:nvSpPr>
          <p:cNvPr id="17" name="Shape 15"/>
          <p:cNvSpPr/>
          <p:nvPr/>
        </p:nvSpPr>
        <p:spPr>
          <a:xfrm>
            <a:off x="8949690" y="2331720"/>
            <a:ext cx="264490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9132570" y="2468880"/>
            <a:ext cx="227914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After editing data, use Data &gt; Refresh All. It does not update by itself.</a:t>
            </a:r>
            <a:endParaRPr lang="en-US" sz="2000" dirty="0"/>
          </a:p>
        </p:txBody>
      </p:sp>
      <p:sp>
        <p:nvSpPr>
          <p:cNvPr id="19" name="Shape 17"/>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0" name="Text 18"/>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With our 8 rows the pivot gives Bhopal 1,41,000 and Indore 1,19,000 for the two months.</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Sparklines and conditional formatting</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64229"/>
                <a:gridCol w="3246343"/>
                <a:gridCol w="3246343"/>
                <a:gridCol w="2434757"/>
              </a:tblGrid>
              <a:tr h="435864">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Feature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Where to find it</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it does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Use it for</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Line sparkline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Insert &gt; Sparklines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Tiny trend line in one cell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Trend per row</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Column sparkline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Insert &gt; Sparklines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Tiny bars in one cell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Compare few periods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Colour scale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Home &gt; Conditional Formatting</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Shades cells low to high</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Spot highs and lows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Data bars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Home &gt; Conditional Formatting</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Bar inside each cell</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Quick ranking</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725424">
                <a:tc>
                  <a:txBody>
                    <a:bodyPr/>
                    <a:lstStyle/>
                    <a:p>
                      <a:pPr algn="l" indent="0" marL="0">
                        <a:buNone/>
                      </a:pPr>
                      <a:r>
                        <a:rPr lang="en-US" sz="1900" b="1" dirty="0">
                          <a:solidFill>
                            <a:srgbClr val="0B6E6E"/>
                          </a:solidFill>
                          <a:latin typeface="Calibri" pitchFamily="34" charset="0"/>
                          <a:ea typeface="Calibri" pitchFamily="34" charset="-122"/>
                          <a:cs typeface="Calibri" pitchFamily="34" charset="-120"/>
                        </a:rPr>
                        <a:t>Icon sets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Home &gt; Conditional Formatting</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Arrows or traffic lights</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900" dirty="0">
                          <a:solidFill>
                            <a:srgbClr val="2B3A4F"/>
                          </a:solidFill>
                          <a:latin typeface="Calibri" pitchFamily="34" charset="0"/>
                          <a:ea typeface="Calibri" pitchFamily="34" charset="-122"/>
                          <a:cs typeface="Calibri" pitchFamily="34" charset="-120"/>
                        </a:rPr>
                        <a:t>Status at a glance</a:t>
                      </a:r>
                      <a:endParaRPr lang="en-US" sz="19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08904"/>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These add visual cues inside a table without building a separate chart.</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Blank rows and columns</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A blank row splits your data, so Excel charts only the first block. Delete blanks before inserting.</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Numbers stored as text</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Left-aligned numbers with a green corner are text. The chart shows zero. Convert with Data &gt; Text to Columns.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Dates as text</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If dates are text, the axis shows each one as a label with uneven gaps. Convert to real dates first.</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Pie with many slices</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More than 5 slices cannot be compared by eye. Use a bar chart sorted from high to low.</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is a tidy layout better than a wide table for PivotCharts?</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column chart shows all values as zero. What is the likely cause and fix?</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Write a formula for total Snacks sales in February from columns A (Month), C (Product) and D (Sales).</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You edited the source data but the PivotChart did not change. What do you do?</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Tidy first: </a:t>
            </a:r>
            <a:pPr indent="0" marL="0">
              <a:buNone/>
            </a:pPr>
            <a:r>
              <a:rPr lang="en-US" sz="2000" dirty="0">
                <a:solidFill>
                  <a:srgbClr val="FFFFFF"/>
                </a:solidFill>
                <a:latin typeface="Calibri" pitchFamily="34" charset="0"/>
                <a:ea typeface="Calibri" pitchFamily="34" charset="-122"/>
                <a:cs typeface="Calibri" pitchFamily="34" charset="-120"/>
              </a:rPr>
              <a:t>one header row, one row per record, no blanks.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Insert &gt; Recommended Charts </a:t>
            </a:r>
            <a:pPr indent="0" marL="0">
              <a:buNone/>
            </a:pPr>
            <a:r>
              <a:rPr lang="en-US" sz="2000" dirty="0">
                <a:solidFill>
                  <a:srgbClr val="FFFFFF"/>
                </a:solidFill>
                <a:latin typeface="Calibri" pitchFamily="34" charset="0"/>
                <a:ea typeface="Calibri" pitchFamily="34" charset="-122"/>
                <a:cs typeface="Calibri" pitchFamily="34" charset="-120"/>
              </a:rPr>
              <a:t>is a starting point. You choose the type.</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Chart elements: </a:t>
            </a:r>
            <a:pPr indent="0" marL="0">
              <a:buNone/>
            </a:pPr>
            <a:r>
              <a:rPr lang="en-US" sz="2000" dirty="0">
                <a:solidFill>
                  <a:srgbClr val="FFFFFF"/>
                </a:solidFill>
                <a:latin typeface="Calibri" pitchFamily="34" charset="0"/>
                <a:ea typeface="Calibri" pitchFamily="34" charset="-122"/>
                <a:cs typeface="Calibri" pitchFamily="34" charset="-120"/>
              </a:rPr>
              <a:t>clear title, labelled axes, no clutter, zero baseline for columns.</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PivotChart </a:t>
            </a:r>
            <a:pPr indent="0" marL="0">
              <a:buNone/>
            </a:pPr>
            <a:r>
              <a:rPr lang="en-US" sz="2000" dirty="0">
                <a:solidFill>
                  <a:srgbClr val="FFFFFF"/>
                </a:solidFill>
                <a:latin typeface="Calibri" pitchFamily="34" charset="0"/>
                <a:ea typeface="Calibri" pitchFamily="34" charset="-122"/>
                <a:cs typeface="Calibri" pitchFamily="34" charset="-120"/>
              </a:rPr>
              <a:t>summarises data and needs a refresh after edits.</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Sparklines and conditional formatting add cues inside tables.</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Exporting and Sharing Visualizations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Basics of Creating Visualizations in Excel</dc:title>
  <dc:subject>Business Management Tools I</dc:subject>
  <dc:creator>Sushant Bhargav</dc:creator>
  <cp:lastModifiedBy>Sushant Bhargav</cp:lastModifiedBy>
  <cp:revision>1</cp:revision>
  <dcterms:created xsi:type="dcterms:W3CDTF">2026-10-07T01:36:21Z</dcterms:created>
  <dcterms:modified xsi:type="dcterms:W3CDTF">2026-10-07T01:36:21Z</dcterms:modified>
</cp:coreProperties>
</file>