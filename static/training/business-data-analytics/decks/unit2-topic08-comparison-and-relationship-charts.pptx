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5.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8: Comparison and Relationship Charts" id="{5aab8119-892c-5e6e-6695-29b58d7ec390}">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Weeks</c:v>
                </c:pt>
              </c:strCache>
            </c:strRef>
          </c:tx>
          <c:spPr>
            <a:solidFill>
              <a:srgbClr val="0F8B8D"/>
            </a:solidFill>
            <a:ln>
              <a:noFill/>
            </a:ln>
            <a:effectLst/>
          </c:spPr>
          <c:marker>
            <c:symbol val="circle"/>
            <c:size val="10"/>
            <c:spPr>
              <a:solidFill>
                <a:srgbClr val="0F8B8D"/>
              </a:solidFill>
              <a:ln w="9525" cap="flat">
                <a:solidFill>
                  <a:srgbClr val="0F8B8D"/>
                </a:solidFill>
                <a:prstDash val="solid"/>
                <a:round/>
              </a:ln>
              <a:effectLst/>
            </c:spPr>
          </c:marker>
          <c:xVal>
            <c:numRef>
              <c:f>Sheet1!$A$2:$A$11</c:f>
              <c:numCache>
                <c:formatCode>General</c:formatCode>
                <c:ptCount val="10"/>
                <c:pt idx="0">
                  <c:v>10</c:v>
                </c:pt>
                <c:pt idx="1">
                  <c:v>12</c:v>
                </c:pt>
                <c:pt idx="2">
                  <c:v>15</c:v>
                </c:pt>
                <c:pt idx="3">
                  <c:v>18</c:v>
                </c:pt>
                <c:pt idx="4">
                  <c:v>20</c:v>
                </c:pt>
                <c:pt idx="5">
                  <c:v>22</c:v>
                </c:pt>
                <c:pt idx="6">
                  <c:v>25</c:v>
                </c:pt>
                <c:pt idx="7">
                  <c:v>28</c:v>
                </c:pt>
                <c:pt idx="8">
                  <c:v>30</c:v>
                </c:pt>
                <c:pt idx="9">
                  <c:v>35</c:v>
                </c:pt>
              </c:numCache>
            </c:numRef>
          </c:xVal>
          <c:yVal>
            <c:numRef>
              <c:f>Sheet1!$B$2:$B$11</c:f>
              <c:numCache>
                <c:formatCode>General</c:formatCode>
                <c:ptCount val="10"/>
                <c:pt idx="0">
                  <c:v>110</c:v>
                </c:pt>
                <c:pt idx="1">
                  <c:v>125</c:v>
                </c:pt>
                <c:pt idx="2">
                  <c:v>128</c:v>
                </c:pt>
                <c:pt idx="3">
                  <c:v>150</c:v>
                </c:pt>
                <c:pt idx="4">
                  <c:v>148</c:v>
                </c:pt>
                <c:pt idx="5">
                  <c:v>170</c:v>
                </c:pt>
                <c:pt idx="6">
                  <c:v>165</c:v>
                </c:pt>
                <c:pt idx="7">
                  <c:v>190</c:v>
                </c:pt>
                <c:pt idx="8">
                  <c:v>185</c:v>
                </c:pt>
                <c:pt idx="9">
                  <c:v>214</c:v>
                </c:pt>
              </c:numCache>
            </c:numRef>
          </c:yVal>
          <c:smooth val="0"/>
        </c:ser>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in val="0"/>
        </c:scaling>
        <c:delete val="0"/>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Weekly ad spend (₹ thousand)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valAx>
      <c:valAx>
        <c:axId val="2094734552"/>
        <c:scaling>
          <c:orientation val="minMax"/>
          <c:min val="8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Weekly sales (₹ thousand)</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Weeks</c:v>
                </c:pt>
              </c:strCache>
            </c:strRef>
          </c:tx>
          <c:spPr>
            <a:solidFill>
              <a:srgbClr val="C8553D"/>
            </a:solidFill>
            <a:ln>
              <a:noFill/>
            </a:ln>
            <a:effectLst/>
          </c:spPr>
          <c:marker>
            <c:symbol val="circle"/>
            <c:size val="10"/>
            <c:spPr>
              <a:solidFill>
                <a:srgbClr val="C8553D"/>
              </a:solidFill>
              <a:ln w="9525" cap="flat">
                <a:solidFill>
                  <a:srgbClr val="C8553D"/>
                </a:solidFill>
                <a:prstDash val="solid"/>
                <a:round/>
              </a:ln>
              <a:effectLst/>
            </c:spPr>
          </c:marker>
          <c:xVal>
            <c:numRef>
              <c:f>Sheet1!$A$2:$A$12</c:f>
              <c:numCache>
                <c:formatCode>General</c:formatCode>
                <c:ptCount val="11"/>
                <c:pt idx="0">
                  <c:v>10</c:v>
                </c:pt>
                <c:pt idx="1">
                  <c:v>12</c:v>
                </c:pt>
                <c:pt idx="2">
                  <c:v>15</c:v>
                </c:pt>
                <c:pt idx="3">
                  <c:v>18</c:v>
                </c:pt>
                <c:pt idx="4">
                  <c:v>20</c:v>
                </c:pt>
                <c:pt idx="5">
                  <c:v>22</c:v>
                </c:pt>
                <c:pt idx="6">
                  <c:v>25</c:v>
                </c:pt>
                <c:pt idx="7">
                  <c:v>28</c:v>
                </c:pt>
                <c:pt idx="8">
                  <c:v>30</c:v>
                </c:pt>
                <c:pt idx="9">
                  <c:v>35</c:v>
                </c:pt>
                <c:pt idx="10">
                  <c:v>32</c:v>
                </c:pt>
              </c:numCache>
            </c:numRef>
          </c:xVal>
          <c:yVal>
            <c:numRef>
              <c:f>Sheet1!$B$2:$B$12</c:f>
              <c:numCache>
                <c:formatCode>General</c:formatCode>
                <c:ptCount val="11"/>
                <c:pt idx="0">
                  <c:v>110</c:v>
                </c:pt>
                <c:pt idx="1">
                  <c:v>125</c:v>
                </c:pt>
                <c:pt idx="2">
                  <c:v>128</c:v>
                </c:pt>
                <c:pt idx="3">
                  <c:v>150</c:v>
                </c:pt>
                <c:pt idx="4">
                  <c:v>148</c:v>
                </c:pt>
                <c:pt idx="5">
                  <c:v>170</c:v>
                </c:pt>
                <c:pt idx="6">
                  <c:v>165</c:v>
                </c:pt>
                <c:pt idx="7">
                  <c:v>190</c:v>
                </c:pt>
                <c:pt idx="8">
                  <c:v>185</c:v>
                </c:pt>
                <c:pt idx="9">
                  <c:v>214</c:v>
                </c:pt>
                <c:pt idx="10">
                  <c:v>95</c:v>
                </c:pt>
              </c:numCache>
            </c:numRef>
          </c:yVal>
          <c:smooth val="0"/>
        </c:ser>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dLbls>
        <c:axId val="2094734554"/>
        <c:axId val="2094734552"/>
      </c:scatterChart>
      <c:valAx>
        <c:axId val="2094734554"/>
        <c:scaling>
          <c:orientation val="minMax"/>
          <c:min val="0"/>
        </c:scaling>
        <c:delete val="0"/>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Weekly ad spend (₹ thousand)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valAx>
      <c:valAx>
        <c:axId val="2094734552"/>
        <c:scaling>
          <c:orientation val="minMax"/>
          <c:min val="8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Weekly sales (₹ thousand)</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ubbleChart>
        <c:varyColors val="0"/>
        <c:ser>
          <c:idx val="0"/>
          <c:order val="0"/>
          <c:tx>
            <c:strRef>
              <c:f>Sheet1!$B$1</c:f>
              <c:strCache>
                <c:ptCount val="1"/>
                <c:pt idx="0">
                  <c:v>Cities</c:v>
                </c:pt>
              </c:strCache>
            </c:strRef>
          </c:tx>
          <c:spPr>
            <a:solidFill>
              <a:srgbClr val="3A5BA0"/>
            </a:solidFill>
            <a:ln w="25400" cap="flat">
              <a:solidFill>
                <a:srgbClr val="3A5BA0"/>
              </a:solidFill>
              <a:prstDash val="solid"/>
              <a:round/>
            </a:ln>
            <a:effectLst/>
          </c:spPr>
          <c:xVal>
            <c:numRef>
              <c:f>Sheet1!$A$2:$A$6</c:f>
              <c:numCache>
                <c:formatCode>General</c:formatCode>
                <c:ptCount val="5"/>
                <c:pt idx="0">
                  <c:v>8</c:v>
                </c:pt>
                <c:pt idx="1">
                  <c:v>12</c:v>
                </c:pt>
                <c:pt idx="2">
                  <c:v>15</c:v>
                </c:pt>
                <c:pt idx="3">
                  <c:v>20</c:v>
                </c:pt>
                <c:pt idx="4">
                  <c:v>26</c:v>
                </c:pt>
              </c:numCache>
            </c:numRef>
          </c:xVal>
          <c:yVal>
            <c:numRef>
              <c:f>Sheet1!$B$2:$B$6</c:f>
              <c:numCache>
                <c:formatCode>General</c:formatCode>
                <c:ptCount val="5"/>
                <c:pt idx="0">
                  <c:v>90</c:v>
                </c:pt>
                <c:pt idx="1">
                  <c:v>125</c:v>
                </c:pt>
                <c:pt idx="2">
                  <c:v>150</c:v>
                </c:pt>
                <c:pt idx="3">
                  <c:v>170</c:v>
                </c:pt>
                <c:pt idx="4">
                  <c:v>230</c:v>
                </c:pt>
              </c:numCache>
            </c:numRef>
          </c:yVal>
          <c:bubbleSize>
            <c:numRef>
              <c:f>Sheet1!$C$2:$C$6</c:f>
              <c:numCache>
                <c:formatCode>General</c:formatCode>
                <c:ptCount val="5"/>
                <c:pt idx="0">
                  <c:v>2</c:v>
                </c:pt>
                <c:pt idx="1">
                  <c:v>3</c:v>
                </c:pt>
                <c:pt idx="2">
                  <c:v>4</c:v>
                </c:pt>
                <c:pt idx="3">
                  <c:v>5</c:v>
                </c:pt>
                <c:pt idx="4">
                  <c:v>8</c:v>
                </c:pt>
              </c:numCache>
            </c:numRef>
          </c:bubbleSize>
          <c:bubble3D val="0"/>
        </c:ser>
        <c:dLbls>
          <c:numFmt formatCode="General" sourceLinked="0"/>
          <c:txPr>
            <a:bodyPr/>
            <a:lstStyle/>
            <a:p>
              <a:pPr>
                <a:defRPr b="0" i="0" strike="noStrike" sz="1200" u="none">
                  <a:solidFill>
                    <a:srgbClr val="14213D"/>
                  </a:solidFill>
                  <a:latin typeface="Calibri"/>
                </a:defRPr>
              </a:pPr>
            </a:p>
          </c:txPr>
          <c:showLegendKey val="0"/>
          <c:showVal val="0"/>
          <c:showCatName val="0"/>
          <c:showSerName val="0"/>
          <c:showPercent val="0"/>
          <c:showBubbleSize val="0"/>
          <c:extLst>
            <c:ext xmlns:c15="http://schemas.microsoft.com/office/drawing/2012/chart" uri="{CE6537A1-D6FC-4f65-9D91-7224C49458BB}">
              <c15:showLeaderLines val="0"/>
            </c:ext>
          </c:extLst>
        </c:dLbls>
        <c:axId val="2094734554"/>
        <c:axId val="2094734552"/>
      </c:bubbleChart>
      <c:valAx>
        <c:axId val="2094734554"/>
        <c:scaling>
          <c:orientation val="minMax"/>
          <c:min val="0"/>
        </c:scaling>
        <c:delete val="0"/>
        <c:axPos val="b"/>
        <c:title>
          <c:tx>
            <c:rich>
              <a:bodyPr/>
              <a:lstStyle/>
              <a:p>
                <a:pPr>
                  <a:defRPr sz="1200" b="0" i="0" u="none" strike="noStrike">
                    <a:solidFill>
                      <a:srgbClr val="56667A"/>
                    </a:solidFill>
                    <a:latin typeface="Arial"/>
                  </a:defRPr>
                </a:pPr>
                <a:r>
                  <a:rPr sz="1200" b="0" i="0" u="none" strike="noStrike">
                    <a:solidFill>
                      <a:srgbClr val="56667A"/>
                    </a:solidFill>
                    <a:latin typeface="Arial"/>
                  </a:rPr>
                  <a:t>Monthly ad spend (₹ thousand)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valAx>
      <c:valAx>
        <c:axId val="2094734552"/>
        <c:scaling>
          <c:orientation val="minMax"/>
          <c:min val="50"/>
        </c:scaling>
        <c:delete val="0"/>
        <c:axPos val="l"/>
        <c:majorGridlines>
          <c:spPr>
            <a:ln w="6350" cap="flat">
              <a:solidFill>
                <a:srgbClr val="E3E9EE"/>
              </a:solidFill>
              <a:prstDash val="solid"/>
              <a:round/>
            </a:ln>
          </c:spPr>
        </c:majorGridlines>
        <c:title>
          <c:tx>
            <c:rich>
              <a:bodyPr/>
              <a:lstStyle/>
              <a:p>
                <a:pPr>
                  <a:defRPr sz="1200" b="0" i="0" u="none" strike="noStrike">
                    <a:solidFill>
                      <a:srgbClr val="56667A"/>
                    </a:solidFill>
                    <a:latin typeface="Arial"/>
                  </a:defRPr>
                </a:pPr>
                <a:r>
                  <a:rPr sz="1200" b="0" i="0" u="none" strike="noStrike">
                    <a:solidFill>
                      <a:srgbClr val="56667A"/>
                    </a:solidFill>
                    <a:latin typeface="Arial"/>
                  </a:rPr>
                  <a:t>Monthly sales (₹ thousand)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scatter plots and bubble charts, the standard tools for showing how two or three numerical variables relate. Students compute the correlation coefficient, learn why correlation is not causation, and see how outliers can change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more advertising mean more sales? Collect a few opinions, then tell the class we will test it with data, and also test how far that kind of claim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 axis is the variable you think explains the other, here ad spend. The y axis is the one you want to explain, here sales. This is a convention, not a rule of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 axis starts at 80 to spread the points, which is acceptable for a scatter plot because we read position, not bar length. Ask students to describe the relationship in words before showing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is the correlation coefficient. The slope 3.95 is the average change in y for one unit of x. Note the careful wording: goes with, not causes. We deal with that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first row is calculated from our data. The other examples are typical patterns to discuss, not measured numbers. The sign of r gives direction, and the size gives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 spend and sales might be correlated because ads work, or because the owner spends more in good weeks when sales are already high. Data alone cannot tell the two stories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believes that drinking cold drinks makes people buy air conditioners. Real business cases are less obvious, such as store size driving both staff count and sales. Ask students for a similar example from their own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week sits far below the line. Ask students what they would do. Check the record: was the shop shut for a week? If so, it is a special case and should be reported separately, not silently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bubble chart is a scatter plot with a third number shown as bubble size. Ask: does the biggest city sell more per store? Compare 230 / 8 with 90 / 2: the small city sells more per store (45 against about 29). The bubbles alone would not show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card is explained on the next slide with a worked example. The restricted range problem appears when you only survey customers of one type, for example only college students when studying income and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 of y is 9 + 4 + 1 + 0 + 1 + 4 + 9 = 28, so the mean is 4. The deviations of x are symmetric around zero, so the products cancel exactly. A real example is temperature and electricity use: both very hot and very cold days raise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pandas world the same numbers come from df.corr(). Remind students to select the x column first when making a scatter chart in Excel, otherwise Excel may treat the first column as a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four minutes. For question 3 ask whether students notice that the answer is a description of the sample and not a prediction guarantee. Question 2 recalls the worked example with y = x squared.
ANSWERS
1. No. Hot sunny weather is a third factor that raises both. Correlation does not prove causation.
2. Yes, a strong curved one. r only measures straight-line links, so a plot is essential.
3. 0.982 squared is about 0.965. Roughly 96.5% of the variation in sales goes with ad spend.
4. When you need to show a third numerical variable, such as number of stores, as bubble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8</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Comparison and Relationship Charts</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Draw </a:t>
            </a:r>
            <a:pPr indent="0" marL="0">
              <a:buNone/>
            </a:pPr>
            <a:r>
              <a:rPr lang="en-US" sz="2400" dirty="0">
                <a:solidFill>
                  <a:srgbClr val="2B3A4F"/>
                </a:solidFill>
                <a:latin typeface="Calibri" pitchFamily="34" charset="0"/>
                <a:ea typeface="Calibri" pitchFamily="34" charset="-122"/>
                <a:cs typeface="Calibri" pitchFamily="34" charset="-120"/>
              </a:rPr>
              <a:t>a scatter plot and a bubble chart.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Describe </a:t>
            </a:r>
            <a:pPr indent="0" marL="0">
              <a:buNone/>
            </a:pPr>
            <a:r>
              <a:rPr lang="en-US" sz="2400" dirty="0">
                <a:solidFill>
                  <a:srgbClr val="2B3A4F"/>
                </a:solidFill>
                <a:latin typeface="Calibri" pitchFamily="34" charset="0"/>
                <a:ea typeface="Calibri" pitchFamily="34" charset="-122"/>
                <a:cs typeface="Calibri" pitchFamily="34" charset="-120"/>
              </a:rPr>
              <a:t>a relationship by direction, form and strength.</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Compute </a:t>
            </a:r>
            <a:pPr indent="0" marL="0">
              <a:buNone/>
            </a:pPr>
            <a:r>
              <a:rPr lang="en-US" sz="2400" dirty="0">
                <a:solidFill>
                  <a:srgbClr val="2B3A4F"/>
                </a:solidFill>
                <a:latin typeface="Calibri" pitchFamily="34" charset="0"/>
                <a:ea typeface="Calibri" pitchFamily="34" charset="-122"/>
                <a:cs typeface="Calibri" pitchFamily="34" charset="-120"/>
              </a:rPr>
              <a:t>the correlation coefficient r with CORREL.</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why correlation is not causation.</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Detect </a:t>
            </a:r>
            <a:pPr indent="0" marL="0">
              <a:buNone/>
            </a:pPr>
            <a:r>
              <a:rPr lang="en-US" sz="2400" dirty="0">
                <a:solidFill>
                  <a:srgbClr val="2B3A4F"/>
                </a:solidFill>
                <a:latin typeface="Calibri" pitchFamily="34" charset="0"/>
                <a:ea typeface="Calibri" pitchFamily="34" charset="-122"/>
                <a:cs typeface="Calibri" pitchFamily="34" charset="-120"/>
              </a:rPr>
              <a:t>the effect of an outlier or a curved pattern on r.</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r</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is one number from -1 to +1 that measures how closely points follow a straight line.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Scatter plots: two numbers, one point each</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Each point </a:t>
            </a:r>
            <a:pPr indent="0" marL="0">
              <a:buNone/>
            </a:pPr>
            <a:r>
              <a:rPr lang="en-US" sz="2400" dirty="0">
                <a:solidFill>
                  <a:srgbClr val="2B3A4F"/>
                </a:solidFill>
                <a:latin typeface="Calibri" pitchFamily="34" charset="0"/>
                <a:ea typeface="Calibri" pitchFamily="34" charset="-122"/>
                <a:cs typeface="Calibri" pitchFamily="34" charset="-120"/>
              </a:rPr>
              <a:t>is one record: x is one variable, y is another.</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Direction: </a:t>
            </a:r>
            <a:pPr indent="0" marL="0">
              <a:buNone/>
            </a:pPr>
            <a:r>
              <a:rPr lang="en-US" sz="2400" dirty="0">
                <a:solidFill>
                  <a:srgbClr val="2B3A4F"/>
                </a:solidFill>
                <a:latin typeface="Calibri" pitchFamily="34" charset="0"/>
                <a:ea typeface="Calibri" pitchFamily="34" charset="-122"/>
                <a:cs typeface="Calibri" pitchFamily="34" charset="-120"/>
              </a:rPr>
              <a:t>points rise (positive), fall (negative) or show no tilt.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Form: </a:t>
            </a:r>
            <a:pPr indent="0" marL="0">
              <a:buNone/>
            </a:pPr>
            <a:r>
              <a:rPr lang="en-US" sz="2400" dirty="0">
                <a:solidFill>
                  <a:srgbClr val="2B3A4F"/>
                </a:solidFill>
                <a:latin typeface="Calibri" pitchFamily="34" charset="0"/>
                <a:ea typeface="Calibri" pitchFamily="34" charset="-122"/>
                <a:cs typeface="Calibri" pitchFamily="34" charset="-120"/>
              </a:rPr>
              <a:t>a straight line, a curve, or no pattern.</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Strength: </a:t>
            </a:r>
            <a:pPr indent="0" marL="0">
              <a:buNone/>
            </a:pPr>
            <a:r>
              <a:rPr lang="en-US" sz="2400" dirty="0">
                <a:solidFill>
                  <a:srgbClr val="2B3A4F"/>
                </a:solidFill>
                <a:latin typeface="Calibri" pitchFamily="34" charset="0"/>
                <a:ea typeface="Calibri" pitchFamily="34" charset="-122"/>
                <a:cs typeface="Calibri" pitchFamily="34" charset="-120"/>
              </a:rPr>
              <a:t>tight around a line (strong) or spread out (weak).</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Outliers: </a:t>
            </a:r>
            <a:pPr indent="0" marL="0">
              <a:buNone/>
            </a:pPr>
            <a:r>
              <a:rPr lang="en-US" sz="2400" dirty="0">
                <a:solidFill>
                  <a:srgbClr val="2B3A4F"/>
                </a:solidFill>
                <a:latin typeface="Calibri" pitchFamily="34" charset="0"/>
                <a:ea typeface="Calibri" pitchFamily="34" charset="-122"/>
                <a:cs typeface="Calibri" pitchFamily="34" charset="-120"/>
              </a:rPr>
              <a:t>points far from the cloud. Always look for them.</a:t>
            </a:r>
            <a:endParaRPr lang="en-US" sz="24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DATA USED TODAY</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Weekly ad spend and sales for 10 weeks of a Bhopal shop, both in ₹ thousand. Illustrative data.</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Scatter plot: ad spend and sales</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Points rise from left to right: a positive relationship.</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They sit close to a straight line: a strong relationship.</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No point is far from the cloud, so there is no obvious outlier.</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Computing r and the line of best fit</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Use the 10 weeks of data. Spend: 10, 12, 15, 18, 20, 22, 25, 28, 30, 35. Sales: 110, 125, 128, 150, 148, 170, 165, 190, 185, 214.</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Means: </a:t>
            </a:r>
            <a:pPr indent="0" marL="0">
              <a:buNone/>
            </a:pPr>
            <a:r>
              <a:rPr lang="en-US" sz="2200" dirty="0">
                <a:solidFill>
                  <a:srgbClr val="2B3A4F"/>
                </a:solidFill>
                <a:latin typeface="Calibri" pitchFamily="34" charset="0"/>
                <a:ea typeface="Calibri" pitchFamily="34" charset="-122"/>
                <a:cs typeface="Calibri" pitchFamily="34" charset="-120"/>
              </a:rPr>
              <a:t>average spend 21.5, average sales 158.5 (₹ thousand).</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 Excel: </a:t>
            </a:r>
            <a:pPr indent="0" marL="0">
              <a:buNone/>
            </a:pPr>
            <a:r>
              <a:rPr lang="en-US" sz="2200" dirty="0">
                <a:solidFill>
                  <a:srgbClr val="2B3A4F"/>
                </a:solidFill>
                <a:latin typeface="Calibri" pitchFamily="34" charset="0"/>
                <a:ea typeface="Calibri" pitchFamily="34" charset="-122"/>
                <a:cs typeface="Calibri" pitchFamily="34" charset="-120"/>
              </a:rPr>
              <a:t>=CORREL(A2:A11,B2:B11) gives r = 0.982.</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Strength: </a:t>
            </a:r>
            <a:pPr indent="0" marL="0">
              <a:buNone/>
            </a:pPr>
            <a:r>
              <a:rPr lang="en-US" sz="2200" dirty="0">
                <a:solidFill>
                  <a:srgbClr val="2B3A4F"/>
                </a:solidFill>
                <a:latin typeface="Calibri" pitchFamily="34" charset="0"/>
                <a:ea typeface="Calibri" pitchFamily="34" charset="-122"/>
                <a:cs typeface="Calibri" pitchFamily="34" charset="-120"/>
              </a:rPr>
              <a:t>r squared = 0.965. About 96.5% of the variation in sales moves with ad spend.</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Line: </a:t>
            </a:r>
            <a:pPr indent="0" marL="0">
              <a:buNone/>
            </a:pPr>
            <a:r>
              <a:rPr lang="en-US" sz="2200" dirty="0">
                <a:solidFill>
                  <a:srgbClr val="2B3A4F"/>
                </a:solidFill>
                <a:latin typeface="Calibri" pitchFamily="34" charset="0"/>
                <a:ea typeface="Calibri" pitchFamily="34" charset="-122"/>
                <a:cs typeface="Calibri" pitchFamily="34" charset="-120"/>
              </a:rPr>
              <a:t>sales ≈ 73.5 + 3.95 x spend, from SLOPE and INTERCEPT.</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READING IT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Each extra ₹1 thousand of weekly ad spend goes with about ₹3.95 thousand more sales on average. This describes the pattern, not a guarantee.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How to read the size of r</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68751"/>
                <a:gridCol w="3781252"/>
                <a:gridCol w="5041669"/>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Value of 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Rough meaning</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Example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0.9 to 1.0</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Very strong positive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Ad spend and sales above (0.98)</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0.3 to 0.9</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Weak to strong positive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Study hours and marks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7559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-0.3 to 0.3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Little or no straight-line link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Shoe size and salary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-0.9 to -0.3</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Weak to strong negative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Price and units sold</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-1.0 to -0.9</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Very strong negative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Age of a car and its resale value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657344"/>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These cut-offs are rough guides. Judge strength together with the scatter plot, never from r alone.</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Correlation is not causation</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What correlation tells you</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Two variables move together in the data.</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The direction and strength of the straight-line link.</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A useful basis for prediction when the pattern is stable.</a:t>
            </a:r>
            <a:endParaRPr lang="en-US" sz="22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What it cannot tell you</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Whether X causes Y, Y causes X, or neither.</a:t>
            </a:r>
            <a:endParaRPr lang="en-US" sz="2200" dirty="0"/>
          </a:p>
          <a:p>
            <a:pPr marL="228600" indent="-228600">
              <a:spcAft>
                <a:spcPts val="800"/>
              </a:spcAft>
              <a:buSzPct val="100000"/>
              <a:buChar char="•"/>
            </a:pPr>
            <a:r>
              <a:rPr lang="en-US" sz="2200" dirty="0">
                <a:solidFill>
                  <a:srgbClr val="2B3A4F"/>
                </a:solidFill>
                <a:latin typeface="Calibri" pitchFamily="34" charset="0"/>
                <a:ea typeface="Calibri" pitchFamily="34" charset="-122"/>
                <a:cs typeface="Calibri" pitchFamily="34" charset="-120"/>
              </a:rPr>
              <a:t>Whether a third factor drives both.</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What will happen if you change X on purpose.</a:t>
            </a:r>
            <a:endParaRPr lang="en-US" sz="22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To show cause you need a controlled test, such as running ads in some areas and not in others.</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hidden third factor: cold drinks and ACs</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mall in Bhopal tracks monthly cold drink sales and AC sales (units, hypothetical) over 8 months. Do cold drinks sell ACs?</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Cold drinks: </a:t>
            </a:r>
            <a:pPr indent="0" marL="0">
              <a:buNone/>
            </a:pPr>
            <a:r>
              <a:rPr lang="en-US" sz="2200" dirty="0">
                <a:solidFill>
                  <a:srgbClr val="2B3A4F"/>
                </a:solidFill>
                <a:latin typeface="Calibri" pitchFamily="34" charset="0"/>
                <a:ea typeface="Calibri" pitchFamily="34" charset="-122"/>
                <a:cs typeface="Calibri" pitchFamily="34" charset="-120"/>
              </a:rPr>
              <a:t>20, 25, 40, 55, 60, 45, 30, 22 units (in hundreds).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AC sales: </a:t>
            </a:r>
            <a:pPr indent="0" marL="0">
              <a:buNone/>
            </a:pPr>
            <a:r>
              <a:rPr lang="en-US" sz="2200" dirty="0">
                <a:solidFill>
                  <a:srgbClr val="2B3A4F"/>
                </a:solidFill>
                <a:latin typeface="Calibri" pitchFamily="34" charset="0"/>
                <a:ea typeface="Calibri" pitchFamily="34" charset="-122"/>
                <a:cs typeface="Calibri" pitchFamily="34" charset="-120"/>
              </a:rPr>
              <a:t>12, 18, 30, 48, 52, 38, 20, 14 units.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Result: </a:t>
            </a:r>
            <a:pPr indent="0" marL="0">
              <a:buNone/>
            </a:pPr>
            <a:r>
              <a:rPr lang="en-US" sz="2200" dirty="0">
                <a:solidFill>
                  <a:srgbClr val="2B3A4F"/>
                </a:solidFill>
                <a:latin typeface="Calibri" pitchFamily="34" charset="0"/>
                <a:ea typeface="Calibri" pitchFamily="34" charset="-122"/>
                <a:cs typeface="Calibri" pitchFamily="34" charset="-120"/>
              </a:rPr>
              <a:t>CORREL gives r = 0.997. Almost a perfect straight line.</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Third factor: </a:t>
            </a:r>
            <a:pPr indent="0" marL="0">
              <a:buNone/>
            </a:pPr>
            <a:r>
              <a:rPr lang="en-US" sz="2200" dirty="0">
                <a:solidFill>
                  <a:srgbClr val="2B3A4F"/>
                </a:solidFill>
                <a:latin typeface="Calibri" pitchFamily="34" charset="0"/>
                <a:ea typeface="Calibri" pitchFamily="34" charset="-122"/>
                <a:cs typeface="Calibri" pitchFamily="34" charset="-120"/>
              </a:rPr>
              <a:t>hot weather raises both. Remove the heat and the link disappears.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 very high r does not prove that one thing causes the other. Ask what else could move both variables before you act on a correlation.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One outlier changes the picture</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An 11th week: spend 32, sales only 95. Perhaps a shop closure.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With it, r falls from 0.982 to 0.571.</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One point out of 11 destroyed the apparent strength.</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Investigate first: error, one-off event, or a real signal.</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Bubble chart: a third variable as size</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HOW TO READ IT</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x is ad spend, y is sales, and bubble size is the number of stores.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The largest bubble (8 stores) has the highest spend and sales.</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Size is read by area, so use it for rough comparison only.</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Illustrative data for five cities.</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 = 0 does not mean no link</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 measures straight-line links only. A U-shaped pattern can have r = 0 and still be perfectly predictable.</a:t>
            </a:r>
            <a:endParaRPr lang="en-US" sz="16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Outliers move r</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One extreme point can raise or lower r a lot. Always look at the scatter plot before quoting r.</a:t>
            </a:r>
            <a:endParaRPr lang="en-US" sz="18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Small samples</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With 4 or 5 points, a high r can occur by chance. Collect more data before drawing conclusions.</a:t>
            </a:r>
            <a:endParaRPr lang="en-US" sz="18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Restricted range</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Looking only at ad spend between 10 and 20 may hide the pattern that appears over the full range.</a:t>
            </a:r>
            <a:endParaRPr lang="en-US" sz="18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Overlapping points</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With thousands of points the plot becomes a blob. Use transparency, smaller dots or a sample.</a:t>
            </a:r>
            <a:endParaRPr lang="en-US" sz="1900" dirty="0"/>
          </a:p>
        </p:txBody>
      </p:sp>
      <p:sp>
        <p:nvSpPr>
          <p:cNvPr id="23" name="Shape 21"/>
          <p:cNvSpPr/>
          <p:nvPr/>
        </p:nvSpPr>
        <p:spPr>
          <a:xfrm>
            <a:off x="8125968" y="3977640"/>
            <a:ext cx="3514344" cy="2286000"/>
          </a:xfrm>
          <a:prstGeom prst="roundRect">
            <a:avLst>
              <a:gd name="adj" fmla="val 4800"/>
            </a:avLst>
          </a:prstGeom>
          <a:solidFill>
            <a:srgbClr val="EEF3F6"/>
          </a:solidFill>
          <a:ln w="12700">
            <a:solidFill>
              <a:srgbClr val="EEF3F6"/>
            </a:solidFill>
            <a:prstDash val="solid"/>
          </a:ln>
        </p:spPr>
      </p:sp>
      <p:sp>
        <p:nvSpPr>
          <p:cNvPr id="24" name="Text 22"/>
          <p:cNvSpPr/>
          <p:nvPr/>
        </p:nvSpPr>
        <p:spPr>
          <a:xfrm>
            <a:off x="8354568" y="4206240"/>
            <a:ext cx="457200" cy="457200"/>
          </a:xfrm>
          <a:prstGeom prst="ellipse">
            <a:avLst/>
          </a:prstGeom>
          <a:solidFill>
            <a:srgbClr val="8E6BB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5" name="Text 23"/>
          <p:cNvSpPr txBox="1"/>
          <p:nvPr/>
        </p:nvSpPr>
        <p:spPr>
          <a:xfrm>
            <a:off x="8948928"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Bubble size misread</a:t>
            </a:r>
            <a:endParaRPr lang="en-US" sz="2000" dirty="0"/>
          </a:p>
        </p:txBody>
      </p:sp>
      <p:sp>
        <p:nvSpPr>
          <p:cNvPr id="26" name="Text 24"/>
          <p:cNvSpPr txBox="1"/>
          <p:nvPr/>
        </p:nvSpPr>
        <p:spPr>
          <a:xfrm>
            <a:off x="8354568"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Readers compare bubble area poorly. Label the sizes, or keep the chart to 5 to 10 bubbles.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Edge case: a perfect pattern with r = 0</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Let y = x squared for x = -3, -2, -1, 0, 1, 2, 3. Every y is exactly determined by x.</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Pairs: </a:t>
            </a:r>
            <a:pPr indent="0" marL="0">
              <a:buNone/>
            </a:pPr>
            <a:r>
              <a:rPr lang="en-US" sz="2200" dirty="0">
                <a:solidFill>
                  <a:srgbClr val="2B3A4F"/>
                </a:solidFill>
                <a:latin typeface="Calibri" pitchFamily="34" charset="0"/>
                <a:ea typeface="Calibri" pitchFamily="34" charset="-122"/>
                <a:cs typeface="Calibri" pitchFamily="34" charset="-120"/>
              </a:rPr>
              <a:t>(-3, 9), (-2, 4), (-1, 1), (0, 0), (1, 1), (2, 4), (3, 9).</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Means: </a:t>
            </a:r>
            <a:pPr indent="0" marL="0">
              <a:buNone/>
            </a:pPr>
            <a:r>
              <a:rPr lang="en-US" sz="2200" dirty="0">
                <a:solidFill>
                  <a:srgbClr val="2B3A4F"/>
                </a:solidFill>
                <a:latin typeface="Calibri" pitchFamily="34" charset="0"/>
                <a:ea typeface="Calibri" pitchFamily="34" charset="-122"/>
                <a:cs typeface="Calibri" pitchFamily="34" charset="-120"/>
              </a:rPr>
              <a:t>average x is 0, average y is 28 / 7 = 4.</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CORREL: </a:t>
            </a:r>
            <a:pPr indent="0" marL="0">
              <a:buNone/>
            </a:pPr>
            <a:r>
              <a:rPr lang="en-US" sz="2200" dirty="0">
                <a:solidFill>
                  <a:srgbClr val="2B3A4F"/>
                </a:solidFill>
                <a:latin typeface="Calibri" pitchFamily="34" charset="0"/>
                <a:ea typeface="Calibri" pitchFamily="34" charset="-122"/>
                <a:cs typeface="Calibri" pitchFamily="34" charset="-120"/>
              </a:rPr>
              <a:t>the left side falls, the right side rises, and they cancel. r = 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Plot it: </a:t>
            </a:r>
            <a:pPr indent="0" marL="0">
              <a:buNone/>
            </a:pPr>
            <a:r>
              <a:rPr lang="en-US" sz="2200" dirty="0">
                <a:solidFill>
                  <a:srgbClr val="2B3A4F"/>
                </a:solidFill>
                <a:latin typeface="Calibri" pitchFamily="34" charset="0"/>
                <a:ea typeface="Calibri" pitchFamily="34" charset="-122"/>
                <a:cs typeface="Calibri" pitchFamily="34" charset="-120"/>
              </a:rPr>
              <a:t>the points form a clear U curve, a perfect relationship.</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TAKEAWAY</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r only measures straight-line association. Always draw the scatter plot, because r = 0 can hide a strong curved pattern.</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Scatter plots and correlation in Excel</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=CORREL(A2:A11,B2:B11)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=RSQ(B2:B11,A2:A11)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=SLOPE(B2:B11,A2:A11)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=INTERCEPT(B2:B11,A2:A11)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Insert &gt; Charts &gt; Scatter</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CORREL: </a:t>
            </a:r>
            <a:pPr indent="0" marL="0">
              <a:buNone/>
            </a:pPr>
            <a:r>
              <a:rPr lang="en-US" sz="2200" dirty="0">
                <a:solidFill>
                  <a:srgbClr val="2B3A4F"/>
                </a:solidFill>
                <a:latin typeface="Calibri" pitchFamily="34" charset="0"/>
                <a:ea typeface="Calibri" pitchFamily="34" charset="-122"/>
                <a:cs typeface="Calibri" pitchFamily="34" charset="-120"/>
              </a:rPr>
              <a:t>r, the straight-line correlation, from -1 to +1.</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RSQ: </a:t>
            </a:r>
            <a:pPr indent="0" marL="0">
              <a:buNone/>
            </a:pPr>
            <a:r>
              <a:rPr lang="en-US" sz="2200" dirty="0">
                <a:solidFill>
                  <a:srgbClr val="2B3A4F"/>
                </a:solidFill>
                <a:latin typeface="Calibri" pitchFamily="34" charset="0"/>
                <a:ea typeface="Calibri" pitchFamily="34" charset="-122"/>
                <a:cs typeface="Calibri" pitchFamily="34" charset="-120"/>
              </a:rPr>
              <a:t>r squared, the share of variation explained.</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SLOPE and INTERCEPT: </a:t>
            </a:r>
            <a:pPr indent="0" marL="0">
              <a:buNone/>
            </a:pPr>
            <a:r>
              <a:rPr lang="en-US" sz="2200" dirty="0">
                <a:solidFill>
                  <a:srgbClr val="2B3A4F"/>
                </a:solidFill>
                <a:latin typeface="Calibri" pitchFamily="34" charset="0"/>
                <a:ea typeface="Calibri" pitchFamily="34" charset="-122"/>
                <a:cs typeface="Calibri" pitchFamily="34" charset="-120"/>
              </a:rPr>
              <a:t>the line of best fit, y = a + b x.</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Chart tip: </a:t>
            </a:r>
            <a:pPr indent="0" marL="0">
              <a:buNone/>
            </a:pPr>
            <a:r>
              <a:rPr lang="en-US" sz="2200" dirty="0">
                <a:solidFill>
                  <a:srgbClr val="2B3A4F"/>
                </a:solidFill>
                <a:latin typeface="Calibri" pitchFamily="34" charset="0"/>
                <a:ea typeface="Calibri" pitchFamily="34" charset="-122"/>
                <a:cs typeface="Calibri" pitchFamily="34" charset="-120"/>
              </a:rPr>
              <a:t>Chart Elements &gt; Trendline &gt; Linear. Tick Display R-squared on chart.</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Ice-cream sales and sunburn cases have r = 0.9. Does ice cream cause sunburn?</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scatter plot shows a clear U shape and CORREL gives 0.02. Is there a relationship?</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With r = 0.982, what is r squared and what does it mean?</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When should you choose a bubble chart over a scatter plot?</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Scatter plot: </a:t>
            </a:r>
            <a:pPr indent="0" marL="0">
              <a:buNone/>
            </a:pPr>
            <a:r>
              <a:rPr lang="en-US" sz="2000" dirty="0">
                <a:solidFill>
                  <a:srgbClr val="FFFFFF"/>
                </a:solidFill>
                <a:latin typeface="Calibri" pitchFamily="34" charset="0"/>
                <a:ea typeface="Calibri" pitchFamily="34" charset="-122"/>
                <a:cs typeface="Calibri" pitchFamily="34" charset="-120"/>
              </a:rPr>
              <a:t>two numbers per point. Describe direction, form, strength and outliers.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r </a:t>
            </a:r>
            <a:pPr indent="0" marL="0">
              <a:buNone/>
            </a:pPr>
            <a:r>
              <a:rPr lang="en-US" sz="2000" dirty="0">
                <a:solidFill>
                  <a:srgbClr val="FFFFFF"/>
                </a:solidFill>
                <a:latin typeface="Calibri" pitchFamily="34" charset="0"/>
                <a:ea typeface="Calibri" pitchFamily="34" charset="-122"/>
                <a:cs typeface="Calibri" pitchFamily="34" charset="-120"/>
              </a:rPr>
              <a:t>runs from -1 to +1 and measures straight-line links only.</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Correlation is not causation. </a:t>
            </a:r>
            <a:pPr indent="0" marL="0">
              <a:buNone/>
            </a:pPr>
            <a:r>
              <a:rPr lang="en-US" sz="2000" dirty="0">
                <a:solidFill>
                  <a:srgbClr val="FFFFFF"/>
                </a:solidFill>
                <a:latin typeface="Calibri" pitchFamily="34" charset="0"/>
                <a:ea typeface="Calibri" pitchFamily="34" charset="-122"/>
                <a:cs typeface="Calibri" pitchFamily="34" charset="-120"/>
              </a:rPr>
              <a:t>Look for a hidden third factor.</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Outliers and curves </a:t>
            </a:r>
            <a:pPr indent="0" marL="0">
              <a:buNone/>
            </a:pPr>
            <a:r>
              <a:rPr lang="en-US" sz="2000" dirty="0">
                <a:solidFill>
                  <a:srgbClr val="FFFFFF"/>
                </a:solidFill>
                <a:latin typeface="Calibri" pitchFamily="34" charset="0"/>
                <a:ea typeface="Calibri" pitchFamily="34" charset="-122"/>
                <a:cs typeface="Calibri" pitchFamily="34" charset="-120"/>
              </a:rPr>
              <a:t>can fool r, so always plot the data first.</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Bubble chart: a scatter plot with a third variable as bubble size.</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Use of Color, Shape, and Size in Visuals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Comparison and Relationship Charts</dc:title>
  <dc:subject>Business Management Tools I</dc:subject>
  <dc:creator>Sushant Bhargav</dc:creator>
  <cp:lastModifiedBy>Sushant Bhargav</cp:lastModifiedBy>
  <cp:revision>1</cp:revision>
  <dcterms:created xsi:type="dcterms:W3CDTF">2026-10-07T01:36:18Z</dcterms:created>
  <dcterms:modified xsi:type="dcterms:W3CDTF">2026-10-07T01:36:18Z</dcterms:modified>
</cp:coreProperties>
</file>