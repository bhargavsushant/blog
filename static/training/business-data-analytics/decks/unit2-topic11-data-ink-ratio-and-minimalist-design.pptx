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4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4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opic 11: Data-Ink Ratio and Minimalist Design" id="{556d8560-8f55-5005-008c-35e9453a8fd8}">
          <p14:sldIdLst>
            <p14:sldId id="256"/>
            <p14:sldId id="257"/>
            <p14:sldId id="258"/>
            <p14:sldId id="259"/>
            <p14:sldId id="260"/>
            <p14:sldId id="261"/>
            <p14:sldId id="262"/>
            <p14:sldId id="263"/>
            <p14:sldId id="264"/>
            <p14:sldId id="265"/>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42.xml.rels><?xml version="1.0" encoding="UTF-8" standalone="yes"?><Relationships xmlns="http://schemas.openxmlformats.org/package/2006/relationships"><Relationship Id="rId1" Type="http://schemas.openxmlformats.org/officeDocument/2006/relationships/package" Target="../embeddings/Microsoft_Excel_Worksheet42.xlsx"/></Relationships>
</file>

<file path=ppt/charts/_rels/chart43.xml.rels><?xml version="1.0" encoding="UTF-8" standalone="yes"?><Relationships xmlns="http://schemas.openxmlformats.org/package/2006/relationships"><Relationship Id="rId1" Type="http://schemas.openxmlformats.org/officeDocument/2006/relationships/package" Target="../embeddings/Microsoft_Excel_Worksheet43.xlsx"/></Relationships>
</file>

<file path=ppt/charts/chart4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13D"/>
                </a:solidFill>
                <a:latin typeface="Calibri"/>
              </a:defRPr>
            </a:pPr>
            <a:r>
              <a:rPr sz="1400" b="0" i="0" u="none" strike="noStrike">
                <a:solidFill>
                  <a:srgbClr val="14213D"/>
                </a:solidFill>
                <a:latin typeface="Calibri"/>
              </a:rPr>
              <a:t>SALES BY ITEM</a:t>
            </a:r>
          </a:p>
        </c:rich>
      </c:tx>
      <c:layout/>
      <c:overlay val="0"/>
    </c:title>
    <c:autoTitleDeleted val="0"/>
    <c:plotArea>
      <c:layout/>
      <c:barChart>
        <c:barDir val="col"/>
        <c:grouping val="clustered"/>
        <c:varyColors val="0"/>
        <c:ser>
          <c:idx val="0"/>
          <c:order val="0"/>
          <c:tx>
            <c:strRef>
              <c:f>Sheet1!$B$1</c:f>
              <c:strCache>
                <c:ptCount val="1"/>
                <c:pt idx="0">
                  <c:v>Sales (₹ thousand)</c:v>
                </c:pt>
              </c:strCache>
            </c:strRef>
          </c:tx>
          <c:spPr>
            <a:solidFill>
              <a:srgbClr val="C00000"/>
            </a:solidFill>
            <a:effectLst/>
          </c:spPr>
          <c:invertIfNegative val="0"/>
          <c:dLbls>
            <c:numFmt formatCode="General" sourceLinked="0"/>
            <c:txPr>
              <a:bodyPr/>
              <a:lstStyle/>
              <a:p>
                <a:pPr>
                  <a:defRPr b="0" i="0" strike="noStrike" sz="1200" u="none">
                    <a:solidFill>
                      <a:srgbClr val="14213D"/>
                    </a:solidFill>
                    <a:latin typeface="Calibri"/>
                  </a:defRPr>
                </a:pPr>
              </a:p>
            </c:txPr>
            <c:showLegendKey val="0"/>
            <c:showVal val="0"/>
            <c:showCatName val="0"/>
            <c:showSerName val="0"/>
            <c:showPercent val="0"/>
            <c:showBubbleSize val="0"/>
            <c:showLeaderLines val="0"/>
          </c:dLbls>
          <c:dPt>
            <c:idx val="0"/>
            <c:invertIfNegative val="0"/>
            <c:bubble3D val="0"/>
            <c:spPr>
              <a:solidFill>
                <a:srgbClr val="C00000"/>
              </a:solidFill>
              <a:effectLst/>
            </c:spPr>
          </c:dPt>
          <c:dPt>
            <c:idx val="1"/>
            <c:invertIfNegative val="0"/>
            <c:bubble3D val="0"/>
            <c:spPr>
              <a:solidFill>
                <a:srgbClr val="00B050"/>
              </a:solidFill>
              <a:effectLst/>
            </c:spPr>
          </c:dPt>
          <c:dPt>
            <c:idx val="2"/>
            <c:invertIfNegative val="0"/>
            <c:bubble3D val="0"/>
            <c:spPr>
              <a:solidFill>
                <a:srgbClr val="FFC000"/>
              </a:solidFill>
              <a:effectLst/>
            </c:spPr>
          </c:dPt>
          <c:dPt>
            <c:idx val="3"/>
            <c:invertIfNegative val="0"/>
            <c:bubble3D val="0"/>
            <c:spPr>
              <a:solidFill>
                <a:srgbClr val="7030A0"/>
              </a:solidFill>
              <a:effectLst/>
            </c:spPr>
          </c:dPt>
          <c:dPt>
            <c:idx val="4"/>
            <c:invertIfNegative val="0"/>
            <c:bubble3D val="0"/>
            <c:spPr>
              <a:solidFill>
                <a:srgbClr val="00B0F0"/>
              </a:solidFill>
              <a:effectLst/>
            </c:spPr>
          </c:dPt>
          <c:cat>
            <c:multiLvlStrRef>
              <c:f>Sheet1!$A$2:$A$6</c:f>
              <c:multiLvlStrCache>
                <c:ptCount val="5"/>
                <c:lvl>
                  <c:pt idx="0">
                    <c:v>Coffee</c:v>
                  </c:pt>
                  <c:pt idx="1">
                    <c:v>Sandwich</c:v>
                  </c:pt>
                  <c:pt idx="2">
                    <c:v>Cold drinks</c:v>
                  </c:pt>
                  <c:pt idx="3">
                    <c:v>Pastry</c:v>
                  </c:pt>
                  <c:pt idx="4">
                    <c:v>Snacks</c:v>
                  </c:pt>
                </c:lvl>
              </c:multiLvlStrCache>
            </c:multiLvlStrRef>
          </c:cat>
          <c:val>
            <c:numRef>
              <c:f>Sheet1!$B$2:$B$6</c:f>
              <c:numCache>
                <c:formatCode>General</c:formatCode>
                <c:ptCount val="5"/>
                <c:pt idx="0">
                  <c:v>48</c:v>
                </c:pt>
                <c:pt idx="1">
                  <c:v>36</c:v>
                </c:pt>
                <c:pt idx="2">
                  <c:v>30</c:v>
                </c:pt>
                <c:pt idx="3">
                  <c:v>22</c:v>
                </c:pt>
                <c:pt idx="4">
                  <c:v>14</c:v>
                </c:pt>
              </c:numCache>
            </c:numRef>
          </c:val>
        </c:ser>
        <c:dLbls>
          <c:numFmt formatCode="General" sourceLinked="0"/>
          <c:txPr>
            <a:bodyPr/>
            <a:lstStyle/>
            <a:p>
              <a:pPr>
                <a:defRPr b="0" i="0" strike="noStrike" sz="1200" u="none">
                  <a:solidFill>
                    <a:srgbClr val="14213D"/>
                  </a:solidFill>
                  <a:latin typeface="Calibri"/>
                </a:defRPr>
              </a:pPr>
            </a:p>
          </c:txPr>
          <c:showLegendKey val="0"/>
          <c:showVal val="0"/>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majorGridlines>
          <c:spPr>
            <a:ln w="12700" cap="flat">
              <a:solidFill>
                <a:srgbClr val="777777"/>
              </a:solidFill>
              <a:prstDash val="solid"/>
              <a:round/>
            </a:ln>
          </c:spPr>
        </c:majorGridlines>
        <c:title>
          <c:tx>
            <c:rich>
              <a:bodyPr/>
              <a:lstStyle/>
              <a:p>
                <a:pPr>
                  <a:defRPr sz="1200" b="0" i="0" u="none" strike="noStrike">
                    <a:solidFill>
                      <a:srgbClr val="56667A"/>
                    </a:solidFill>
                    <a:latin typeface="Arial"/>
                  </a:defRPr>
                </a:pPr>
                <a:r>
                  <a:rPr sz="1200" b="0" i="0" u="none" strike="noStrike">
                    <a:solidFill>
                      <a:srgbClr val="56667A"/>
                    </a:solidFill>
                    <a:latin typeface="Arial"/>
                  </a:rPr>
                  <a:t>Item</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6667A"/>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19050" cap="flat">
              <a:solidFill>
                <a:srgbClr val="555555"/>
              </a:solidFill>
              <a:prstDash val="solid"/>
              <a:round/>
            </a:ln>
          </c:spPr>
        </c:majorGridlines>
        <c:title>
          <c:tx>
            <c:rich>
              <a:bodyPr/>
              <a:lstStyle/>
              <a:p>
                <a:pPr>
                  <a:defRPr sz="1200" b="0" i="0" u="none" strike="noStrike">
                    <a:solidFill>
                      <a:srgbClr val="56667A"/>
                    </a:solidFill>
                    <a:latin typeface="Arial"/>
                  </a:defRPr>
                </a:pPr>
                <a:r>
                  <a:rPr sz="1200" b="0" i="0" u="none" strike="noStrike">
                    <a:solidFill>
                      <a:srgbClr val="56667A"/>
                    </a:solidFill>
                    <a:latin typeface="Arial"/>
                  </a:rPr>
                  <a:t>Sales (₹ thousand)</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6667A"/>
                </a:solidFill>
                <a:latin typeface="Calibri"/>
              </a:defRPr>
            </a:pPr>
            <a:endParaRPr lang="en-US"/>
          </a:p>
        </c:txPr>
        <c:crossAx val="2094734554"/>
        <c:crosses val="autoZero"/>
        <c:crossBetween val="between"/>
      </c:valAx>
      <c:spPr>
        <a:solidFill>
          <a:srgbClr val="FFF2CC"/>
        </a:solidFill>
        <a:ln>
          <a:noFill/>
        </a:ln>
        <a:effectLst/>
      </c:spPr>
    </c:plotArea>
    <c:legend>
      <c:legendPos val="b"/>
      <c:overlay val="0"/>
      <c:txPr>
        <a:bodyPr/>
        <a:lstStyle/>
        <a:p>
          <a:pPr>
            <a:defRPr sz="1200">
              <a:solidFill>
                <a:srgbClr val="56667A"/>
              </a:solidFill>
              <a:latin typeface="Calibri"/>
              <a:cs typeface="Calibri"/>
            </a:defRPr>
          </a:pPr>
          <a:endParaRPr lang="en-US"/>
        </a:p>
      </c:txPr>
    </c:legend>
    <c:plotVisOnly val="1"/>
    <c:dispBlanksAs val="span"/>
  </c:chart>
  <c:spPr>
    <a:solidFill>
      <a:srgbClr val="DDEBF7"/>
    </a:solidFill>
    <a:ln w="38100" cap="flat">
      <a:solidFill>
        <a:srgbClr val="000000"/>
      </a:solidFill>
    </a:ln>
    <a:effectLst/>
  </c:spPr>
  <c:externalData r:id="rId1">
    <c:autoUpdate val="0"/>
  </c:externalData>
</c:chartSpace>
</file>

<file path=ppt/charts/chart4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13D"/>
                </a:solidFill>
                <a:latin typeface="Calibri"/>
              </a:defRPr>
            </a:pPr>
            <a:r>
              <a:rPr sz="1400" b="0" i="0" u="none" strike="noStrike">
                <a:solidFill>
                  <a:srgbClr val="14213D"/>
                </a:solidFill>
                <a:latin typeface="Calibri"/>
              </a:rPr>
              <a:t>Coffee brings in 32% of monthly sales (₹ thousand)</a:t>
            </a:r>
          </a:p>
        </c:rich>
      </c:tx>
      <c:layout/>
      <c:overlay val="0"/>
    </c:title>
    <c:autoTitleDeleted val="0"/>
    <c:plotArea>
      <c:layout/>
      <c:barChart>
        <c:barDir val="col"/>
        <c:grouping val="clustered"/>
        <c:varyColors val="0"/>
        <c:ser>
          <c:idx val="0"/>
          <c:order val="0"/>
          <c:tx>
            <c:strRef>
              <c:f>Sheet1!$B$1</c:f>
              <c:strCache>
                <c:ptCount val="1"/>
                <c:pt idx="0">
                  <c:v>Sales (₹ thousand)</c:v>
                </c:pt>
              </c:strCache>
            </c:strRef>
          </c:tx>
          <c:spPr>
            <a:solidFill>
              <a:srgbClr val="0F8B8D"/>
            </a:solidFill>
            <a:effectLst/>
          </c:spPr>
          <c:invertIfNegative val="0"/>
          <c:dLbls>
            <c:numFmt formatCode="General" sourceLinked="0"/>
            <c:txPr>
              <a:bodyPr/>
              <a:lstStyle/>
              <a:p>
                <a:pPr>
                  <a:defRPr b="0" i="0" strike="noStrike" sz="1200" u="none">
                    <a:solidFill>
                      <a:srgbClr val="14213D"/>
                    </a:solidFill>
                    <a:latin typeface="Calibri"/>
                  </a:defRPr>
                </a:pPr>
              </a:p>
            </c:txPr>
            <c:showLegendKey val="0"/>
            <c:showVal val="1"/>
            <c:showCatName val="0"/>
            <c:showSerName val="0"/>
            <c:showPercent val="0"/>
            <c:showBubbleSize val="0"/>
            <c:showLeaderLines val="0"/>
          </c:dLbls>
          <c:dPt>
            <c:idx val="0"/>
            <c:invertIfNegative val="0"/>
            <c:bubble3D val="0"/>
            <c:spPr>
              <a:solidFill>
                <a:srgbClr val="0F8B8D"/>
              </a:solidFill>
              <a:effectLst/>
            </c:spPr>
          </c:dPt>
          <c:dPt>
            <c:idx val="1"/>
            <c:invertIfNegative val="0"/>
            <c:bubble3D val="0"/>
            <c:spPr>
              <a:solidFill>
                <a:srgbClr val="B8BFC9"/>
              </a:solidFill>
              <a:effectLst/>
            </c:spPr>
          </c:dPt>
          <c:dPt>
            <c:idx val="2"/>
            <c:invertIfNegative val="0"/>
            <c:bubble3D val="0"/>
            <c:spPr>
              <a:solidFill>
                <a:srgbClr val="B8BFC9"/>
              </a:solidFill>
              <a:effectLst/>
            </c:spPr>
          </c:dPt>
          <c:dPt>
            <c:idx val="3"/>
            <c:invertIfNegative val="0"/>
            <c:bubble3D val="0"/>
            <c:spPr>
              <a:solidFill>
                <a:srgbClr val="B8BFC9"/>
              </a:solidFill>
              <a:effectLst/>
            </c:spPr>
          </c:dPt>
          <c:dPt>
            <c:idx val="4"/>
            <c:invertIfNegative val="0"/>
            <c:bubble3D val="0"/>
            <c:spPr>
              <a:solidFill>
                <a:srgbClr val="B8BFC9"/>
              </a:solidFill>
              <a:effectLst/>
            </c:spPr>
          </c:dPt>
          <c:cat>
            <c:multiLvlStrRef>
              <c:f>Sheet1!$A$2:$A$6</c:f>
              <c:multiLvlStrCache>
                <c:ptCount val="5"/>
                <c:lvl>
                  <c:pt idx="0">
                    <c:v>Coffee</c:v>
                  </c:pt>
                  <c:pt idx="1">
                    <c:v>Sandwich</c:v>
                  </c:pt>
                  <c:pt idx="2">
                    <c:v>Cold drinks</c:v>
                  </c:pt>
                  <c:pt idx="3">
                    <c:v>Pastry</c:v>
                  </c:pt>
                  <c:pt idx="4">
                    <c:v>Snacks</c:v>
                  </c:pt>
                </c:lvl>
              </c:multiLvlStrCache>
            </c:multiLvlStrRef>
          </c:cat>
          <c:val>
            <c:numRef>
              <c:f>Sheet1!$B$2:$B$6</c:f>
              <c:numCache>
                <c:formatCode>General</c:formatCode>
                <c:ptCount val="5"/>
                <c:pt idx="0">
                  <c:v>48</c:v>
                </c:pt>
                <c:pt idx="1">
                  <c:v>36</c:v>
                </c:pt>
                <c:pt idx="2">
                  <c:v>30</c:v>
                </c:pt>
                <c:pt idx="3">
                  <c:v>22</c:v>
                </c:pt>
                <c:pt idx="4">
                  <c:v>14</c:v>
                </c:pt>
              </c:numCache>
            </c:numRef>
          </c:val>
        </c:ser>
        <c:dLbls>
          <c:numFmt formatCode="General" sourceLinked="0"/>
          <c:txPr>
            <a:bodyPr/>
            <a:lstStyle/>
            <a:p>
              <a:pPr>
                <a:defRPr b="0" i="0" strike="noStrike" sz="1200" u="none">
                  <a:solidFill>
                    <a:srgbClr val="14213D"/>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6667A"/>
                </a:solidFill>
                <a:latin typeface="Calibri"/>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6667A"/>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session is about removing what does not help. Edward Tufte, a statistician and writer on information design, gave us the data-ink ratio as a way to judge what to keep and what to cut.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a chart that has a 3D effect, a coloured background and a legend for one series. Ask students how many things on it actually carry data. Usually the answer is: just the bars.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word reasonable matters. Tufte did not say to delete everything. Axis names, units and titles are non-data ink in a strict sense, yet we keep them because the reader needs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Chartjunk is Tufte's name for these. Ask which of these students have seen in default Excel charts from older versions. Most will name gridlines and 3D.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that this is a classroom proxy: real ink depends on thickness and area. The aim is to make students look at every element and count it. Ask: which of the 15 would you keep first if you could keep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built with native chart settings, so you can open the file and see how each option was set. Ask students to count the elements that carry data. Only the bar heights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order is from most to least harmful. The frame and background are pure decoration, so they go first. Labels come last because removing the value axis is only safe once data labels are in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48 + 36 + 30 + 22 + 14 = 150, and 48 / 150 = 32%. The ink count on the earlier slide used this same chart. Same data, the message is now visible in two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guards against over-cleaning. A pure minimalist chart with no units is as bad as a cluttered one. Minimalism is about removing the unneeded, not removing the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live if possible. Right-click the chart and choose Save as Template, so the style can be applied to any new chart. Power BI has the same switches under Format.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on research is true: studies are mixed on whether decoration hurts. A safe classroom rule is that decoration must never compete with the data. Ask students for a case where a thin grid would help.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four minutes. Check question 2: 12 + 8 = 20, 12 / 20 = 0.60. After removing 6: 12 + 2 = 14, 12 / 14 = 0.857.
ANSWERS
1. The share of a chart's ink that shows data: data-ink divided by total ink. Higher is better, within reason.
2. Before: 12 / 20 = 60%. After: 12 / 14 ≈ 86%.
3. Gridlines, 3D, backgrounds, redundant legends. 3D is worst because it distorts bar heights.
4. Removing the unit or the axis title, or the value axis when there are no data labels. The reader loses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4213D"/>
        </a:solidFill>
      </p:bgPr>
    </p:bg>
    <p:spTree>
      <p:nvGrpSpPr>
        <p:cNvPr id="1" name=""/>
        <p:cNvGrpSpPr/>
        <p:nvPr/>
      </p:nvGrpSpPr>
      <p:grpSpPr>
        <a:xfrm>
          <a:off x="0" y="0"/>
          <a:ext cx="0" cy="0"/>
          <a:chOff x="0" y="0"/>
          <a:chExt cx="0" cy="0"/>
        </a:xfrm>
      </p:grpSpPr>
      <p:sp>
        <p:nvSpPr>
          <p:cNvPr id="2" name="Text 0"/>
          <p:cNvSpPr/>
          <p:nvPr>
            <p:ph idx="103" type="title" hasCustomPrompt="1"/>
          </p:nvPr>
        </p:nvSpPr>
        <p:spPr>
          <a:xfrm>
            <a:off x="731520" y="2103120"/>
            <a:ext cx="7863840" cy="1828800"/>
          </a:xfrm>
          <a:prstGeom prst="rect">
            <a:avLst/>
          </a:prstGeom>
          <a:noFill/>
          <a:ln/>
        </p:spPr>
        <p:txBody>
          <a:bodyPr wrap="square" rtlCol="0"/>
          <a:lstStyle>
            <a:lvl1pPr algn="l" indent="0" marL="0">
              <a:buNone/>
              <a:defRPr lang="en-US" sz="42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200" dirty="0"/>
          </a:p>
        </p:txBody>
      </p:sp>
      <p:sp>
        <p:nvSpPr>
          <p:cNvPr id="3" name="Text 0"/>
          <p:cNvSpPr/>
          <p:nvPr>
            <p:ph idx="104" type="body" hasCustomPrompt="1"/>
          </p:nvPr>
        </p:nvSpPr>
        <p:spPr>
          <a:xfrm>
            <a:off x="731520" y="4114800"/>
            <a:ext cx="7680960" cy="914400"/>
          </a:xfrm>
          <a:prstGeom prst="rect">
            <a:avLst/>
          </a:prstGeom>
          <a:noFill/>
          <a:ln/>
        </p:spPr>
        <p:txBody>
          <a:bodyPr wrap="square" rtlCol="0"/>
          <a:lstStyle>
            <a:lvl1pPr algn="l" indent="0" marL="0">
              <a:buNone/>
              <a:defRPr lang="en-US" sz="2000" dirty="0">
                <a:solidFill>
                  <a:srgbClr val="C9D6E6"/>
                </a:solidFill>
                <a:latin typeface="Calibri" pitchFamily="34" charset="0"/>
                <a:ea typeface="Calibri" pitchFamily="34" charset="-122"/>
                <a:cs typeface="Calibri" pitchFamily="34" charset="-120"/>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9601200" cy="274320"/>
          </a:xfrm>
          <a:prstGeom prst="rect">
            <a:avLst/>
          </a:prstGeom>
          <a:noFill/>
          <a:ln/>
        </p:spPr>
        <p:txBody>
          <a:bodyPr wrap="square" lIns="0" tIns="0" rIns="0" bIns="0" rtlCol="0" anchor="ctr"/>
          <a:lstStyle/>
          <a:p>
            <a:pPr indent="0" marL="0">
              <a:buNone/>
            </a:pPr>
            <a:r>
              <a:rPr lang="en-US" sz="1000" dirty="0">
                <a:solidFill>
                  <a:srgbClr val="56667A"/>
                </a:solidFill>
                <a:latin typeface="Calibri" pitchFamily="34" charset="0"/>
                <a:ea typeface="Calibri" pitchFamily="34" charset="-122"/>
                <a:cs typeface="Calibri" pitchFamily="34" charset="-120"/>
              </a:rPr>
              <a:t>Business Management Tools I · AE25UCBM001  |  Unit II: Data Visualization</a:t>
            </a:r>
            <a:endParaRPr lang="en-US" sz="1000" dirty="0"/>
          </a:p>
        </p:txBody>
      </p:sp>
      <p:sp>
        <p:nvSpPr>
          <p:cNvPr id="3" name="Text 1"/>
          <p:cNvSpPr/>
          <p:nvPr>
            <p:ph idx="104" type="title" hasCustomPrompt="1"/>
          </p:nvPr>
        </p:nvSpPr>
        <p:spPr>
          <a:xfrm>
            <a:off x="548640" y="365760"/>
            <a:ext cx="10241280" cy="822960"/>
          </a:xfrm>
          <a:prstGeom prst="rect">
            <a:avLst/>
          </a:prstGeom>
          <a:noFill/>
          <a:ln/>
        </p:spPr>
        <p:txBody>
          <a:bodyPr wrap="square" rtlCol="0"/>
          <a:lstStyle>
            <a:lvl1pPr algn="l" indent="0" marL="0">
              <a:buNone/>
              <a:defRPr lang="en-US" sz="2800" b="1" dirty="0">
                <a:solidFill>
                  <a:srgbClr val="14213D"/>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548640" y="6446520"/>
            <a:ext cx="9601200" cy="274320"/>
          </a:xfrm>
          <a:prstGeom prst="rect">
            <a:avLst/>
          </a:prstGeom>
          <a:noFill/>
          <a:ln/>
        </p:spPr>
        <p:txBody>
          <a:bodyPr wrap="square" lIns="0" tIns="0" rIns="0" bIns="0" rtlCol="0" anchor="ctr"/>
          <a:lstStyle/>
          <a:p>
            <a:pPr indent="0" marL="0">
              <a:buNone/>
            </a:pPr>
            <a:r>
              <a:rPr lang="en-US" sz="1000" dirty="0">
                <a:solidFill>
                  <a:srgbClr val="9FB1C8"/>
                </a:solidFill>
                <a:latin typeface="Calibri" pitchFamily="34" charset="0"/>
                <a:ea typeface="Calibri" pitchFamily="34" charset="-122"/>
                <a:cs typeface="Calibri" pitchFamily="34" charset="-120"/>
              </a:rPr>
              <a:t>Business Management Tools I · AE25UCBM001  |  Unit II: Data Visualization</a:t>
            </a:r>
            <a:endParaRPr lang="en-US" sz="1000" dirty="0"/>
          </a:p>
        </p:txBody>
      </p:sp>
      <p:sp>
        <p:nvSpPr>
          <p:cNvPr id="3" name="Text 1"/>
          <p:cNvSpPr/>
          <p:nvPr>
            <p:ph idx="104" type="title" hasCustomPrompt="1"/>
          </p:nvPr>
        </p:nvSpPr>
        <p:spPr>
          <a:xfrm>
            <a:off x="548640" y="365760"/>
            <a:ext cx="10241280" cy="822960"/>
          </a:xfrm>
          <a:prstGeom prst="rect">
            <a:avLst/>
          </a:prstGeom>
          <a:noFill/>
          <a:ln/>
        </p:spPr>
        <p:txBody>
          <a:bodyPr wrap="square" rtlCol="0"/>
          <a:lstStyle>
            <a:lvl1pPr algn="l" indent="0" marL="0">
              <a:buNone/>
              <a:defRPr lang="en-US" sz="28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1C8"/>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42.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43.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554480"/>
            <a:ext cx="7863840" cy="365760"/>
          </a:xfrm>
          <a:prstGeom prst="rect">
            <a:avLst/>
          </a:prstGeom>
          <a:noFill/>
          <a:ln/>
        </p:spPr>
        <p:txBody>
          <a:bodyPr wrap="square" lIns="0" tIns="0" rIns="0" bIns="0" rtlCol="0" anchor="ctr"/>
          <a:lstStyle/>
          <a:p>
            <a:pPr indent="0" marL="0">
              <a:buNone/>
            </a:pPr>
            <a:r>
              <a:rPr lang="en-US" sz="1400" b="1" spc="300" kern="0" dirty="0">
                <a:solidFill>
                  <a:srgbClr val="F29E4C"/>
                </a:solidFill>
                <a:latin typeface="Calibri" pitchFamily="34" charset="0"/>
                <a:ea typeface="Calibri" pitchFamily="34" charset="-122"/>
                <a:cs typeface="Calibri" pitchFamily="34" charset="-120"/>
              </a:rPr>
              <a:t>UNIT II  ·  TOPIC 11</a:t>
            </a:r>
            <a:endParaRPr lang="en-US" sz="1400" dirty="0"/>
          </a:p>
        </p:txBody>
      </p:sp>
      <p:sp>
        <p:nvSpPr>
          <p:cNvPr id="3" name="Text 0"/>
          <p:cNvSpPr/>
          <p:nvPr>
            <p:ph idx="103" type="title" hasCustomPrompt="1"/>
          </p:nvPr>
        </p:nvSpPr>
        <p:spPr>
          <a:xfrm>
            <a:off x="731520" y="2103120"/>
            <a:ext cx="7863840" cy="1828800"/>
          </a:xfrm>
          <a:prstGeom prst="rect">
            <a:avLst/>
          </a:prstGeom>
          <a:noFill/>
          <a:ln/>
        </p:spPr>
        <p:txBody>
          <a:bodyPr wrap="square" lIns="0" tIns="0" rIns="0" bIns="0" rtlCol="0" anchor="t"/>
          <a:lstStyle/>
          <a:p>
            <a:pPr algn="l" indent="0" marL="0">
              <a:buNone/>
            </a:pPr>
            <a:r>
              <a:rPr lang="en-US" sz="4200" b="1" dirty="0">
                <a:solidFill>
                  <a:srgbClr val="FFFFFF"/>
                </a:solidFill>
                <a:latin typeface="Cambria" pitchFamily="34" charset="0"/>
                <a:ea typeface="Cambria" pitchFamily="34" charset="-122"/>
                <a:cs typeface="Cambria" pitchFamily="34" charset="-120"/>
              </a:rPr>
              <a:t>Data-Ink Ratio and Minimalist Design</a:t>
            </a:r>
            <a:endParaRPr lang="en-US" sz="4200" dirty="0"/>
          </a:p>
        </p:txBody>
      </p:sp>
      <p:sp>
        <p:nvSpPr>
          <p:cNvPr id="4" name="Text 0"/>
          <p:cNvSpPr/>
          <p:nvPr>
            <p:ph idx="104" type="body" hasCustomPrompt="1"/>
          </p:nvPr>
        </p:nvSpPr>
        <p:spPr>
          <a:xfrm>
            <a:off x="731520" y="4114800"/>
            <a:ext cx="7680960" cy="914400"/>
          </a:xfrm>
          <a:prstGeom prst="rect">
            <a:avLst/>
          </a:prstGeom>
          <a:noFill/>
          <a:ln/>
        </p:spPr>
        <p:txBody>
          <a:bodyPr wrap="square" lIns="0" tIns="0" rIns="0" bIns="0" rtlCol="0" anchor="t"/>
          <a:lstStyle/>
          <a:p>
            <a:pPr algn="l" indent="0" marL="0">
              <a:buNone/>
            </a:pPr>
            <a:r>
              <a:rPr lang="en-US" sz="2000" dirty="0">
                <a:solidFill>
                  <a:srgbClr val="C9D6E6"/>
                </a:solidFill>
                <a:latin typeface="Calibri" pitchFamily="34" charset="0"/>
                <a:ea typeface="Calibri" pitchFamily="34" charset="-122"/>
                <a:cs typeface="Calibri" pitchFamily="34" charset="-120"/>
              </a:rPr>
              <a:t>Data Visualization</a:t>
            </a:r>
            <a:endParaRPr lang="en-US" sz="2000" dirty="0"/>
          </a:p>
          <a:p>
            <a:pPr algn="l" indent="0" marL="0">
              <a:buNone/>
            </a:pPr>
            <a:r>
              <a:rPr lang="en-US" sz="2000" dirty="0">
                <a:solidFill>
                  <a:srgbClr val="C9D6E6"/>
                </a:solidFill>
                <a:latin typeface="Calibri" pitchFamily="34" charset="0"/>
                <a:ea typeface="Calibri" pitchFamily="34" charset="-122"/>
                <a:cs typeface="Calibri" pitchFamily="34" charset="-120"/>
              </a:rPr>
              <a:t>Business Management Tools I (AE25UCBM001)  ·  SAGE University, Bhopal</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What you will learn</a:t>
            </a:r>
            <a:endParaRPr lang="en-US" sz="2800" dirty="0"/>
          </a:p>
        </p:txBody>
      </p:sp>
      <p:sp>
        <p:nvSpPr>
          <p:cNvPr id="3" name="Text 1"/>
          <p:cNvSpPr txBox="1"/>
          <p:nvPr/>
        </p:nvSpPr>
        <p:spPr>
          <a:xfrm>
            <a:off x="548640" y="1463040"/>
            <a:ext cx="6766560" cy="4754880"/>
          </a:xfrm>
          <a:prstGeom prst="rect">
            <a:avLst/>
          </a:prstGeom>
          <a:noFill/>
          <a:ln/>
        </p:spPr>
        <p:txBody>
          <a:bodyPr wrap="square" lIns="0" tIns="0" rIns="0" bIns="0" rtlCol="0" anchor="t"/>
          <a:lstStyle/>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Define </a:t>
            </a:r>
            <a:pPr indent="0" marL="0">
              <a:buNone/>
            </a:pPr>
            <a:r>
              <a:rPr lang="en-US" sz="2400" dirty="0">
                <a:solidFill>
                  <a:srgbClr val="2B3A4F"/>
                </a:solidFill>
                <a:latin typeface="Calibri" pitchFamily="34" charset="0"/>
                <a:ea typeface="Calibri" pitchFamily="34" charset="-122"/>
                <a:cs typeface="Calibri" pitchFamily="34" charset="-120"/>
              </a:rPr>
              <a:t>the data-ink ratio and explain Tufte's idea in plain words.</a:t>
            </a:r>
            <a:endParaRPr lang="en-US" sz="2400" dirty="0"/>
          </a:p>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Spot </a:t>
            </a:r>
            <a:pPr indent="0" marL="0">
              <a:buNone/>
            </a:pPr>
            <a:r>
              <a:rPr lang="en-US" sz="2400" dirty="0">
                <a:solidFill>
                  <a:srgbClr val="2B3A4F"/>
                </a:solidFill>
                <a:latin typeface="Calibri" pitchFamily="34" charset="0"/>
                <a:ea typeface="Calibri" pitchFamily="34" charset="-122"/>
                <a:cs typeface="Calibri" pitchFamily="34" charset="-120"/>
              </a:rPr>
              <a:t>chartjunk: gridlines, 3D effects, backgrounds and extra legends.</a:t>
            </a:r>
            <a:endParaRPr lang="en-US" sz="2400" dirty="0"/>
          </a:p>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Declutter </a:t>
            </a:r>
            <a:pPr indent="0" marL="0">
              <a:buNone/>
            </a:pPr>
            <a:r>
              <a:rPr lang="en-US" sz="2400" dirty="0">
                <a:solidFill>
                  <a:srgbClr val="2B3A4F"/>
                </a:solidFill>
                <a:latin typeface="Calibri" pitchFamily="34" charset="0"/>
                <a:ea typeface="Calibri" pitchFamily="34" charset="-122"/>
                <a:cs typeface="Calibri" pitchFamily="34" charset="-120"/>
              </a:rPr>
              <a:t>a chart in four steps using native Excel or PowerPoint tools.</a:t>
            </a:r>
            <a:endParaRPr lang="en-US" sz="2400" dirty="0"/>
          </a:p>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Judge </a:t>
            </a:r>
            <a:pPr indent="0" marL="0">
              <a:buNone/>
            </a:pPr>
            <a:r>
              <a:rPr lang="en-US" sz="2400" dirty="0">
                <a:solidFill>
                  <a:srgbClr val="2B3A4F"/>
                </a:solidFill>
                <a:latin typeface="Calibri" pitchFamily="34" charset="0"/>
                <a:ea typeface="Calibri" pitchFamily="34" charset="-122"/>
                <a:cs typeface="Calibri" pitchFamily="34" charset="-120"/>
              </a:rPr>
              <a:t>what to keep, so you do not remove information the reader needs.</a:t>
            </a:r>
            <a:endParaRPr lang="en-US" sz="2400" dirty="0"/>
          </a:p>
          <a:p>
            <a:pPr marL="228600" indent="-228600">
              <a:buSzPct val="100000"/>
              <a:buChar char="•"/>
            </a:pPr>
            <a:r>
              <a:rPr lang="en-US" sz="2400" b="1" dirty="0">
                <a:solidFill>
                  <a:srgbClr val="14213D"/>
                </a:solidFill>
                <a:latin typeface="Calibri" pitchFamily="34" charset="0"/>
                <a:ea typeface="Calibri" pitchFamily="34" charset="-122"/>
                <a:cs typeface="Calibri" pitchFamily="34" charset="-120"/>
              </a:rPr>
              <a:t>Avoid </a:t>
            </a:r>
            <a:pPr indent="0" marL="0">
              <a:buNone/>
            </a:pPr>
            <a:r>
              <a:rPr lang="en-US" sz="2400" dirty="0">
                <a:solidFill>
                  <a:srgbClr val="2B3A4F"/>
                </a:solidFill>
                <a:latin typeface="Calibri" pitchFamily="34" charset="0"/>
                <a:ea typeface="Calibri" pitchFamily="34" charset="-122"/>
                <a:cs typeface="Calibri" pitchFamily="34" charset="-120"/>
              </a:rPr>
              <a:t>the traps of over-minimising and of faint, unreadable greys.</a:t>
            </a:r>
            <a:endParaRPr lang="en-US" sz="2400" dirty="0"/>
          </a:p>
        </p:txBody>
      </p:sp>
      <p:sp>
        <p:nvSpPr>
          <p:cNvPr id="4" name="Shape 2"/>
          <p:cNvSpPr/>
          <p:nvPr/>
        </p:nvSpPr>
        <p:spPr>
          <a:xfrm>
            <a:off x="7680960" y="1417320"/>
            <a:ext cx="3959352" cy="4846320"/>
          </a:xfrm>
          <a:prstGeom prst="roundRect">
            <a:avLst>
              <a:gd name="adj" fmla="val 2771"/>
            </a:avLst>
          </a:prstGeom>
          <a:solidFill>
            <a:srgbClr val="DDF0F0"/>
          </a:solidFill>
          <a:ln w="12700">
            <a:solidFill>
              <a:srgbClr val="DDF0F0"/>
            </a:solidFill>
            <a:prstDash val="solid"/>
          </a:ln>
        </p:spPr>
      </p:sp>
      <p:sp>
        <p:nvSpPr>
          <p:cNvPr id="5" name="Text 3"/>
          <p:cNvSpPr txBox="1"/>
          <p:nvPr/>
        </p:nvSpPr>
        <p:spPr>
          <a:xfrm>
            <a:off x="7955280" y="1691640"/>
            <a:ext cx="3410712" cy="274320"/>
          </a:xfrm>
          <a:prstGeom prst="rect">
            <a:avLst/>
          </a:prstGeom>
          <a:noFill/>
          <a:ln/>
        </p:spPr>
        <p:txBody>
          <a:bodyPr wrap="square" lIns="0" tIns="0" rIns="0" bIns="0" rtlCol="0" anchor="ctr"/>
          <a:lstStyle/>
          <a:p>
            <a:pPr indent="0" marL="0">
              <a:buNone/>
            </a:pPr>
            <a:r>
              <a:rPr lang="en-US" sz="1200" b="1" spc="200" kern="0" dirty="0">
                <a:solidFill>
                  <a:srgbClr val="0B6E6E"/>
                </a:solidFill>
                <a:latin typeface="Calibri" pitchFamily="34" charset="0"/>
                <a:ea typeface="Calibri" pitchFamily="34" charset="-122"/>
                <a:cs typeface="Calibri" pitchFamily="34" charset="-120"/>
              </a:rPr>
              <a:t>BIG IDEA</a:t>
            </a:r>
            <a:endParaRPr lang="en-US" sz="1200" dirty="0"/>
          </a:p>
        </p:txBody>
      </p:sp>
      <p:sp>
        <p:nvSpPr>
          <p:cNvPr id="6" name="Text 4"/>
          <p:cNvSpPr txBox="1"/>
          <p:nvPr/>
        </p:nvSpPr>
        <p:spPr>
          <a:xfrm>
            <a:off x="7955280" y="2148840"/>
            <a:ext cx="3410712" cy="914400"/>
          </a:xfrm>
          <a:prstGeom prst="rect">
            <a:avLst/>
          </a:prstGeom>
          <a:noFill/>
          <a:ln/>
        </p:spPr>
        <p:txBody>
          <a:bodyPr wrap="square" lIns="0" tIns="0" rIns="0" bIns="0" rtlCol="0" anchor="ctr"/>
          <a:lstStyle/>
          <a:p>
            <a:pPr indent="0" marL="0">
              <a:buNone/>
            </a:pPr>
            <a:r>
              <a:rPr lang="en-US" sz="4800" b="1" dirty="0">
                <a:solidFill>
                  <a:srgbClr val="14213D"/>
                </a:solidFill>
                <a:latin typeface="Cambria" pitchFamily="34" charset="0"/>
                <a:ea typeface="Cambria" pitchFamily="34" charset="-122"/>
                <a:cs typeface="Cambria" pitchFamily="34" charset="-120"/>
              </a:rPr>
              <a:t>Less</a:t>
            </a:r>
            <a:endParaRPr lang="en-US" sz="4800" dirty="0"/>
          </a:p>
        </p:txBody>
      </p:sp>
      <p:sp>
        <p:nvSpPr>
          <p:cNvPr id="7" name="Text 5"/>
          <p:cNvSpPr txBox="1"/>
          <p:nvPr/>
        </p:nvSpPr>
        <p:spPr>
          <a:xfrm>
            <a:off x="7955280" y="3154680"/>
            <a:ext cx="3410712" cy="2834640"/>
          </a:xfrm>
          <a:prstGeom prst="rect">
            <a:avLst/>
          </a:prstGeom>
          <a:noFill/>
          <a:ln/>
        </p:spPr>
        <p:txBody>
          <a:bodyPr wrap="square" lIns="0" tIns="0" rIns="0" bIns="0" rtlCol="0" anchor="t"/>
          <a:lstStyle/>
          <a:p>
            <a:pPr indent="0" marL="0">
              <a:buNone/>
            </a:pPr>
            <a:r>
              <a:rPr lang="en-US" sz="2000" dirty="0">
                <a:solidFill>
                  <a:srgbClr val="14213D"/>
                </a:solidFill>
                <a:latin typeface="Calibri" pitchFamily="34" charset="0"/>
                <a:ea typeface="Calibri" pitchFamily="34" charset="-122"/>
                <a:cs typeface="Calibri" pitchFamily="34" charset="-120"/>
              </a:rPr>
              <a:t>Every mark on a chart should earn its place. If it carries no information, remove it.</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Tufte's data-ink ratio</a:t>
            </a:r>
            <a:endParaRPr lang="en-US" sz="2800" dirty="0"/>
          </a:p>
        </p:txBody>
      </p:sp>
      <p:sp>
        <p:nvSpPr>
          <p:cNvPr id="3" name="Text 1"/>
          <p:cNvSpPr txBox="1"/>
          <p:nvPr/>
        </p:nvSpPr>
        <p:spPr>
          <a:xfrm>
            <a:off x="548640" y="1463040"/>
            <a:ext cx="6766560" cy="4754880"/>
          </a:xfrm>
          <a:prstGeom prst="rect">
            <a:avLst/>
          </a:prstGeom>
          <a:noFill/>
          <a:ln/>
        </p:spPr>
        <p:txBody>
          <a:bodyPr wrap="square" lIns="0" tIns="0" rIns="0" bIns="0" rtlCol="0" anchor="t"/>
          <a:lstStyle/>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Data-ink </a:t>
            </a:r>
            <a:pPr indent="0" marL="0">
              <a:buNone/>
            </a:pPr>
            <a:r>
              <a:rPr lang="en-US" sz="2400" dirty="0">
                <a:solidFill>
                  <a:srgbClr val="2B3A4F"/>
                </a:solidFill>
                <a:latin typeface="Calibri" pitchFamily="34" charset="0"/>
                <a:ea typeface="Calibri" pitchFamily="34" charset="-122"/>
                <a:cs typeface="Calibri" pitchFamily="34" charset="-120"/>
              </a:rPr>
              <a:t>is the ink (or pixels) that shows the numbers: bars, lines, points and their labels.</a:t>
            </a:r>
            <a:endParaRPr lang="en-US" sz="2400" dirty="0"/>
          </a:p>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Data-ink ratio </a:t>
            </a:r>
            <a:pPr indent="0" marL="0">
              <a:buNone/>
            </a:pPr>
            <a:r>
              <a:rPr lang="en-US" sz="2400" dirty="0">
                <a:solidFill>
                  <a:srgbClr val="2B3A4F"/>
                </a:solidFill>
                <a:latin typeface="Calibri" pitchFamily="34" charset="0"/>
                <a:ea typeface="Calibri" pitchFamily="34" charset="-122"/>
                <a:cs typeface="Calibri" pitchFamily="34" charset="-120"/>
              </a:rPr>
              <a:t>= data-ink ÷ total ink used to print the chart.</a:t>
            </a:r>
            <a:endParaRPr lang="en-US" sz="2400" dirty="0"/>
          </a:p>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The principle: </a:t>
            </a:r>
            <a:pPr indent="0" marL="0">
              <a:buNone/>
            </a:pPr>
            <a:r>
              <a:rPr lang="en-US" sz="2400" dirty="0">
                <a:solidFill>
                  <a:srgbClr val="2B3A4F"/>
                </a:solidFill>
                <a:latin typeface="Calibri" pitchFamily="34" charset="0"/>
                <a:ea typeface="Calibri" pitchFamily="34" charset="-122"/>
                <a:cs typeface="Calibri" pitchFamily="34" charset="-120"/>
              </a:rPr>
              <a:t>make the ratio as high as is reasonable, without losing information.</a:t>
            </a:r>
            <a:endParaRPr lang="en-US" sz="2400" dirty="0"/>
          </a:p>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Erase </a:t>
            </a:r>
            <a:pPr indent="0" marL="0">
              <a:buNone/>
            </a:pPr>
            <a:r>
              <a:rPr lang="en-US" sz="2400" dirty="0">
                <a:solidFill>
                  <a:srgbClr val="2B3A4F"/>
                </a:solidFill>
                <a:latin typeface="Calibri" pitchFamily="34" charset="0"/>
                <a:ea typeface="Calibri" pitchFamily="34" charset="-122"/>
                <a:cs typeface="Calibri" pitchFamily="34" charset="-120"/>
              </a:rPr>
              <a:t>non-data ink and redundant data-ink, such as a repeated value.</a:t>
            </a:r>
            <a:endParaRPr lang="en-US" sz="2400" dirty="0"/>
          </a:p>
          <a:p>
            <a:pPr marL="228600" indent="-228600">
              <a:buSzPct val="100000"/>
              <a:buChar char="•"/>
            </a:pPr>
            <a:r>
              <a:rPr lang="en-US" sz="2400" b="1" dirty="0">
                <a:solidFill>
                  <a:srgbClr val="14213D"/>
                </a:solidFill>
                <a:latin typeface="Calibri" pitchFamily="34" charset="0"/>
                <a:ea typeface="Calibri" pitchFamily="34" charset="-122"/>
                <a:cs typeface="Calibri" pitchFamily="34" charset="-120"/>
              </a:rPr>
              <a:t>In practice </a:t>
            </a:r>
            <a:pPr indent="0" marL="0">
              <a:buNone/>
            </a:pPr>
            <a:r>
              <a:rPr lang="en-US" sz="2400" dirty="0">
                <a:solidFill>
                  <a:srgbClr val="2B3A4F"/>
                </a:solidFill>
                <a:latin typeface="Calibri" pitchFamily="34" charset="0"/>
                <a:ea typeface="Calibri" pitchFamily="34" charset="-122"/>
                <a:cs typeface="Calibri" pitchFamily="34" charset="-120"/>
              </a:rPr>
              <a:t>we do not measure ink. We ask of each element: does it help the reader?</a:t>
            </a:r>
            <a:endParaRPr lang="en-US" sz="2400" dirty="0"/>
          </a:p>
        </p:txBody>
      </p:sp>
      <p:sp>
        <p:nvSpPr>
          <p:cNvPr id="4" name="Shape 2"/>
          <p:cNvSpPr/>
          <p:nvPr/>
        </p:nvSpPr>
        <p:spPr>
          <a:xfrm>
            <a:off x="7680960" y="1417320"/>
            <a:ext cx="3959352" cy="4846320"/>
          </a:xfrm>
          <a:prstGeom prst="roundRect">
            <a:avLst>
              <a:gd name="adj" fmla="val 2771"/>
            </a:avLst>
          </a:prstGeom>
          <a:solidFill>
            <a:srgbClr val="DDF0F0"/>
          </a:solidFill>
          <a:ln w="12700">
            <a:solidFill>
              <a:srgbClr val="DDF0F0"/>
            </a:solidFill>
            <a:prstDash val="solid"/>
          </a:ln>
        </p:spPr>
      </p:sp>
      <p:sp>
        <p:nvSpPr>
          <p:cNvPr id="5" name="Text 3"/>
          <p:cNvSpPr txBox="1"/>
          <p:nvPr/>
        </p:nvSpPr>
        <p:spPr>
          <a:xfrm>
            <a:off x="7955280" y="1691640"/>
            <a:ext cx="3410712" cy="274320"/>
          </a:xfrm>
          <a:prstGeom prst="rect">
            <a:avLst/>
          </a:prstGeom>
          <a:noFill/>
          <a:ln/>
        </p:spPr>
        <p:txBody>
          <a:bodyPr wrap="square" lIns="0" tIns="0" rIns="0" bIns="0" rtlCol="0" anchor="ctr"/>
          <a:lstStyle/>
          <a:p>
            <a:pPr indent="0" marL="0">
              <a:buNone/>
            </a:pPr>
            <a:r>
              <a:rPr lang="en-US" sz="1200" b="1" spc="200" kern="0" dirty="0">
                <a:solidFill>
                  <a:srgbClr val="0B6E6E"/>
                </a:solidFill>
                <a:latin typeface="Calibri" pitchFamily="34" charset="0"/>
                <a:ea typeface="Calibri" pitchFamily="34" charset="-122"/>
                <a:cs typeface="Calibri" pitchFamily="34" charset="-120"/>
              </a:rPr>
              <a:t>FORMULA</a:t>
            </a:r>
            <a:endParaRPr lang="en-US" sz="1200" dirty="0"/>
          </a:p>
        </p:txBody>
      </p:sp>
      <p:sp>
        <p:nvSpPr>
          <p:cNvPr id="6" name="Text 4"/>
          <p:cNvSpPr txBox="1"/>
          <p:nvPr/>
        </p:nvSpPr>
        <p:spPr>
          <a:xfrm>
            <a:off x="7955280" y="2148840"/>
            <a:ext cx="3410712" cy="914400"/>
          </a:xfrm>
          <a:prstGeom prst="rect">
            <a:avLst/>
          </a:prstGeom>
          <a:noFill/>
          <a:ln/>
        </p:spPr>
        <p:txBody>
          <a:bodyPr wrap="square" lIns="0" tIns="0" rIns="0" bIns="0" rtlCol="0" anchor="ctr"/>
          <a:lstStyle/>
          <a:p>
            <a:pPr indent="0" marL="0">
              <a:buNone/>
            </a:pPr>
            <a:r>
              <a:rPr lang="en-US" sz="4800" b="1" dirty="0">
                <a:solidFill>
                  <a:srgbClr val="14213D"/>
                </a:solidFill>
                <a:latin typeface="Cambria" pitchFamily="34" charset="0"/>
                <a:ea typeface="Cambria" pitchFamily="34" charset="-122"/>
                <a:cs typeface="Cambria" pitchFamily="34" charset="-120"/>
              </a:rPr>
              <a:t>→ 1</a:t>
            </a:r>
            <a:endParaRPr lang="en-US" sz="4800" dirty="0"/>
          </a:p>
        </p:txBody>
      </p:sp>
      <p:sp>
        <p:nvSpPr>
          <p:cNvPr id="7" name="Text 5"/>
          <p:cNvSpPr txBox="1"/>
          <p:nvPr/>
        </p:nvSpPr>
        <p:spPr>
          <a:xfrm>
            <a:off x="7955280" y="3154680"/>
            <a:ext cx="3410712" cy="2834640"/>
          </a:xfrm>
          <a:prstGeom prst="rect">
            <a:avLst/>
          </a:prstGeom>
          <a:noFill/>
          <a:ln/>
        </p:spPr>
        <p:txBody>
          <a:bodyPr wrap="square" lIns="0" tIns="0" rIns="0" bIns="0" rtlCol="0" anchor="t"/>
          <a:lstStyle/>
          <a:p>
            <a:pPr indent="0" marL="0">
              <a:buNone/>
            </a:pPr>
            <a:r>
              <a:rPr lang="en-US" sz="2000" dirty="0">
                <a:solidFill>
                  <a:srgbClr val="14213D"/>
                </a:solidFill>
                <a:latin typeface="Calibri" pitchFamily="34" charset="0"/>
                <a:ea typeface="Calibri" pitchFamily="34" charset="-122"/>
                <a:cs typeface="Calibri" pitchFamily="34" charset="-120"/>
              </a:rPr>
              <a:t>A ratio near 1 means almost every mark carries data. Near 0 means mostly decoration.</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What counts as chartjunk</a:t>
            </a:r>
            <a:endParaRPr lang="en-US" sz="2800" dirty="0"/>
          </a:p>
        </p:txBody>
      </p:sp>
      <p:sp>
        <p:nvSpPr>
          <p:cNvPr id="3" name="Shape 1"/>
          <p:cNvSpPr/>
          <p:nvPr/>
        </p:nvSpPr>
        <p:spPr>
          <a:xfrm>
            <a:off x="548640" y="1417320"/>
            <a:ext cx="5408676" cy="2286000"/>
          </a:xfrm>
          <a:prstGeom prst="roundRect">
            <a:avLst>
              <a:gd name="adj" fmla="val 4800"/>
            </a:avLst>
          </a:prstGeom>
          <a:solidFill>
            <a:srgbClr val="EEF3F6"/>
          </a:solidFill>
          <a:ln w="12700">
            <a:solidFill>
              <a:srgbClr val="EEF3F6"/>
            </a:solidFill>
            <a:prstDash val="solid"/>
          </a:ln>
        </p:spPr>
      </p:sp>
      <p:sp>
        <p:nvSpPr>
          <p:cNvPr id="4" name="Text 2"/>
          <p:cNvSpPr/>
          <p:nvPr/>
        </p:nvSpPr>
        <p:spPr>
          <a:xfrm>
            <a:off x="777240" y="1645920"/>
            <a:ext cx="457200" cy="457200"/>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5" name="Text 3"/>
          <p:cNvSpPr txBox="1"/>
          <p:nvPr/>
        </p:nvSpPr>
        <p:spPr>
          <a:xfrm>
            <a:off x="1371600" y="155448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Heavy gridlines</a:t>
            </a:r>
            <a:endParaRPr lang="en-US" sz="2000" dirty="0"/>
          </a:p>
        </p:txBody>
      </p:sp>
      <p:sp>
        <p:nvSpPr>
          <p:cNvPr id="6" name="Text 4"/>
          <p:cNvSpPr txBox="1"/>
          <p:nvPr/>
        </p:nvSpPr>
        <p:spPr>
          <a:xfrm>
            <a:off x="777240" y="233172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Dark, dense lines behind the data. A few light grey lines are fine. Dark ones fight the bars.</a:t>
            </a:r>
            <a:endParaRPr lang="en-US" sz="2000" dirty="0"/>
          </a:p>
        </p:txBody>
      </p:sp>
      <p:sp>
        <p:nvSpPr>
          <p:cNvPr id="7" name="Shape 5"/>
          <p:cNvSpPr/>
          <p:nvPr/>
        </p:nvSpPr>
        <p:spPr>
          <a:xfrm>
            <a:off x="6231636" y="1417320"/>
            <a:ext cx="5408676" cy="2286000"/>
          </a:xfrm>
          <a:prstGeom prst="roundRect">
            <a:avLst>
              <a:gd name="adj" fmla="val 4800"/>
            </a:avLst>
          </a:prstGeom>
          <a:solidFill>
            <a:srgbClr val="EEF3F6"/>
          </a:solidFill>
          <a:ln w="12700">
            <a:solidFill>
              <a:srgbClr val="EEF3F6"/>
            </a:solidFill>
            <a:prstDash val="solid"/>
          </a:ln>
        </p:spPr>
      </p:sp>
      <p:sp>
        <p:nvSpPr>
          <p:cNvPr id="8" name="Text 6"/>
          <p:cNvSpPr/>
          <p:nvPr/>
        </p:nvSpPr>
        <p:spPr>
          <a:xfrm>
            <a:off x="6460236" y="1645920"/>
            <a:ext cx="457200" cy="457200"/>
          </a:xfrm>
          <a:prstGeom prst="ellipse">
            <a:avLst/>
          </a:prstGeom>
          <a:solidFill>
            <a:srgbClr val="F29E4C"/>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9" name="Text 7"/>
          <p:cNvSpPr txBox="1"/>
          <p:nvPr/>
        </p:nvSpPr>
        <p:spPr>
          <a:xfrm>
            <a:off x="7054596" y="155448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3D and shadows</a:t>
            </a:r>
            <a:endParaRPr lang="en-US" sz="2000" dirty="0"/>
          </a:p>
        </p:txBody>
      </p:sp>
      <p:sp>
        <p:nvSpPr>
          <p:cNvPr id="10" name="Text 8"/>
          <p:cNvSpPr txBox="1"/>
          <p:nvPr/>
        </p:nvSpPr>
        <p:spPr>
          <a:xfrm>
            <a:off x="6460236" y="233172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3D bars distort heights and hide values behind other bars. Shadows and bevels add ink and no data.</a:t>
            </a:r>
            <a:endParaRPr lang="en-US" sz="2000" dirty="0"/>
          </a:p>
        </p:txBody>
      </p:sp>
      <p:sp>
        <p:nvSpPr>
          <p:cNvPr id="11" name="Shape 9"/>
          <p:cNvSpPr/>
          <p:nvPr/>
        </p:nvSpPr>
        <p:spPr>
          <a:xfrm>
            <a:off x="548640" y="3977640"/>
            <a:ext cx="5408676" cy="2286000"/>
          </a:xfrm>
          <a:prstGeom prst="roundRect">
            <a:avLst>
              <a:gd name="adj" fmla="val 4800"/>
            </a:avLst>
          </a:prstGeom>
          <a:solidFill>
            <a:srgbClr val="EEF3F6"/>
          </a:solidFill>
          <a:ln w="12700">
            <a:solidFill>
              <a:srgbClr val="EEF3F6"/>
            </a:solidFill>
            <a:prstDash val="solid"/>
          </a:ln>
        </p:spPr>
      </p:sp>
      <p:sp>
        <p:nvSpPr>
          <p:cNvPr id="12" name="Text 10"/>
          <p:cNvSpPr/>
          <p:nvPr/>
        </p:nvSpPr>
        <p:spPr>
          <a:xfrm>
            <a:off x="777240" y="4206240"/>
            <a:ext cx="457200" cy="457200"/>
          </a:xfrm>
          <a:prstGeom prst="ellipse">
            <a:avLst/>
          </a:prstGeom>
          <a:solidFill>
            <a:srgbClr val="3A5BA0"/>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3" name="Text 11"/>
          <p:cNvSpPr txBox="1"/>
          <p:nvPr/>
        </p:nvSpPr>
        <p:spPr>
          <a:xfrm>
            <a:off x="1371600" y="411480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Decorative backgrounds</a:t>
            </a:r>
            <a:endParaRPr lang="en-US" sz="2000" dirty="0"/>
          </a:p>
        </p:txBody>
      </p:sp>
      <p:sp>
        <p:nvSpPr>
          <p:cNvPr id="14" name="Text 12"/>
          <p:cNvSpPr txBox="1"/>
          <p:nvPr/>
        </p:nvSpPr>
        <p:spPr>
          <a:xfrm>
            <a:off x="777240" y="489204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Filled plot areas, clip-art, gradients and borders around the chart add ink but no information.</a:t>
            </a:r>
            <a:endParaRPr lang="en-US" sz="2000" dirty="0"/>
          </a:p>
        </p:txBody>
      </p:sp>
      <p:sp>
        <p:nvSpPr>
          <p:cNvPr id="15" name="Shape 13"/>
          <p:cNvSpPr/>
          <p:nvPr/>
        </p:nvSpPr>
        <p:spPr>
          <a:xfrm>
            <a:off x="6231636" y="3977640"/>
            <a:ext cx="5408676" cy="2286000"/>
          </a:xfrm>
          <a:prstGeom prst="roundRect">
            <a:avLst>
              <a:gd name="adj" fmla="val 4800"/>
            </a:avLst>
          </a:prstGeom>
          <a:solidFill>
            <a:srgbClr val="EEF3F6"/>
          </a:solidFill>
          <a:ln w="12700">
            <a:solidFill>
              <a:srgbClr val="EEF3F6"/>
            </a:solidFill>
            <a:prstDash val="solid"/>
          </a:ln>
        </p:spPr>
      </p:sp>
      <p:sp>
        <p:nvSpPr>
          <p:cNvPr id="16" name="Text 14"/>
          <p:cNvSpPr/>
          <p:nvPr/>
        </p:nvSpPr>
        <p:spPr>
          <a:xfrm>
            <a:off x="6460236" y="4206240"/>
            <a:ext cx="457200" cy="457200"/>
          </a:xfrm>
          <a:prstGeom prst="ellipse">
            <a:avLst/>
          </a:prstGeom>
          <a:solidFill>
            <a:srgbClr val="C8553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7" name="Text 15"/>
          <p:cNvSpPr txBox="1"/>
          <p:nvPr/>
        </p:nvSpPr>
        <p:spPr>
          <a:xfrm>
            <a:off x="7054596" y="411480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Redundant elements</a:t>
            </a:r>
            <a:endParaRPr lang="en-US" sz="2000" dirty="0"/>
          </a:p>
        </p:txBody>
      </p:sp>
      <p:sp>
        <p:nvSpPr>
          <p:cNvPr id="18" name="Text 16"/>
          <p:cNvSpPr txBox="1"/>
          <p:nvPr/>
        </p:nvSpPr>
        <p:spPr>
          <a:xfrm>
            <a:off x="6460236" y="489204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A legend for one series, a title repeated in the axis, and both value labels and a full value axis.</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Count the ink: before and after</a:t>
            </a:r>
            <a:endParaRPr lang="en-US" sz="2800" dirty="0"/>
          </a:p>
        </p:txBody>
      </p:sp>
      <p:sp>
        <p:nvSpPr>
          <p:cNvPr id="3" name="Shape 1"/>
          <p:cNvSpPr/>
          <p:nvPr/>
        </p:nvSpPr>
        <p:spPr>
          <a:xfrm>
            <a:off x="548640" y="1417320"/>
            <a:ext cx="11091672" cy="914400"/>
          </a:xfrm>
          <a:prstGeom prst="roundRect">
            <a:avLst>
              <a:gd name="adj" fmla="val 12000"/>
            </a:avLst>
          </a:prstGeom>
          <a:solidFill>
            <a:srgbClr val="FDEBD6"/>
          </a:solidFill>
          <a:ln w="12700">
            <a:solidFill>
              <a:srgbClr val="FDEBD6"/>
            </a:solidFill>
            <a:prstDash val="solid"/>
          </a:ln>
        </p:spPr>
      </p:sp>
      <p:sp>
        <p:nvSpPr>
          <p:cNvPr id="4" name="Text 2"/>
          <p:cNvSpPr txBox="1"/>
          <p:nvPr/>
        </p:nvSpPr>
        <p:spPr>
          <a:xfrm>
            <a:off x="777240" y="1417320"/>
            <a:ext cx="1554480" cy="914400"/>
          </a:xfrm>
          <a:prstGeom prst="rect">
            <a:avLst/>
          </a:prstGeom>
          <a:noFill/>
          <a:ln/>
        </p:spPr>
        <p:txBody>
          <a:bodyPr wrap="square" lIns="0" tIns="0" rIns="0" bIns="0" rtlCol="0" anchor="ctr"/>
          <a:lstStyle/>
          <a:p>
            <a:pPr indent="0" marL="0">
              <a:buNone/>
            </a:pPr>
            <a:r>
              <a:rPr lang="en-US" sz="1200" b="1" spc="200" kern="0" dirty="0">
                <a:solidFill>
                  <a:srgbClr val="A55A0A"/>
                </a:solidFill>
                <a:latin typeface="Calibri" pitchFamily="34" charset="0"/>
                <a:ea typeface="Calibri" pitchFamily="34" charset="-122"/>
                <a:cs typeface="Calibri" pitchFamily="34" charset="-120"/>
              </a:rPr>
              <a:t>WORKED EXAMPLE</a:t>
            </a:r>
            <a:endParaRPr lang="en-US" sz="1200" dirty="0"/>
          </a:p>
        </p:txBody>
      </p:sp>
      <p:sp>
        <p:nvSpPr>
          <p:cNvPr id="5" name="Text 3"/>
          <p:cNvSpPr txBox="1"/>
          <p:nvPr/>
        </p:nvSpPr>
        <p:spPr>
          <a:xfrm>
            <a:off x="2468880" y="1417320"/>
            <a:ext cx="8988552" cy="914400"/>
          </a:xfrm>
          <a:prstGeom prst="rect">
            <a:avLst/>
          </a:prstGeom>
          <a:noFill/>
          <a:ln/>
        </p:spPr>
        <p:txBody>
          <a:bodyPr wrap="square" lIns="0" tIns="0" rIns="0" bIns="0" rtlCol="0" anchor="ctr"/>
          <a:lstStyle/>
          <a:p>
            <a:pPr indent="0" marL="0">
              <a:buNone/>
            </a:pPr>
            <a:r>
              <a:rPr lang="en-US" sz="1800" dirty="0">
                <a:solidFill>
                  <a:srgbClr val="14213D"/>
                </a:solidFill>
                <a:latin typeface="Calibri" pitchFamily="34" charset="0"/>
                <a:ea typeface="Calibri" pitchFamily="34" charset="-122"/>
                <a:cs typeface="Calibri" pitchFamily="34" charset="-120"/>
              </a:rPr>
              <a:t>A bar chart of 5 cafe items. Count marks as a rough stand-in for ink. Data marks: 5 bars + 5 category names = 10.</a:t>
            </a:r>
            <a:endParaRPr lang="en-US" sz="1800" dirty="0"/>
          </a:p>
        </p:txBody>
      </p:sp>
      <p:sp>
        <p:nvSpPr>
          <p:cNvPr id="6" name="Text 4"/>
          <p:cNvSpPr txBox="1"/>
          <p:nvPr/>
        </p:nvSpPr>
        <p:spPr>
          <a:xfrm>
            <a:off x="548640" y="2606040"/>
            <a:ext cx="6675120" cy="3657600"/>
          </a:xfrm>
          <a:prstGeom prst="rect">
            <a:avLst/>
          </a:prstGeom>
          <a:noFill/>
          <a:ln/>
        </p:spPr>
        <p:txBody>
          <a:bodyPr wrap="square" lIns="0" tIns="0" rIns="0" bIns="0" rtlCol="0" anchor="t"/>
          <a:lstStyle/>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Before, non-data marks: </a:t>
            </a:r>
            <a:pPr indent="0" marL="0">
              <a:buNone/>
            </a:pPr>
            <a:r>
              <a:rPr lang="en-US" sz="2200" dirty="0">
                <a:solidFill>
                  <a:srgbClr val="2B3A4F"/>
                </a:solidFill>
                <a:latin typeface="Calibri" pitchFamily="34" charset="0"/>
                <a:ea typeface="Calibri" pitchFamily="34" charset="-122"/>
                <a:cs typeface="Calibri" pitchFamily="34" charset="-120"/>
              </a:rPr>
              <a:t>6 gridlines + 6 axis numbers + 1 border + 1 legend + 1 background = 15.</a:t>
            </a:r>
            <a:endParaRPr lang="en-US" sz="2200" dirty="0"/>
          </a:p>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Before ratio: </a:t>
            </a:r>
            <a:pPr indent="0" marL="0">
              <a:buNone/>
            </a:pPr>
            <a:r>
              <a:rPr lang="en-US" sz="2200" dirty="0">
                <a:solidFill>
                  <a:srgbClr val="2B3A4F"/>
                </a:solidFill>
                <a:latin typeface="Calibri" pitchFamily="34" charset="0"/>
                <a:ea typeface="Calibri" pitchFamily="34" charset="-122"/>
                <a:cs typeface="Calibri" pitchFamily="34" charset="-120"/>
              </a:rPr>
              <a:t>10 / (10 + 15) = 10 / 25 = 40%.</a:t>
            </a:r>
            <a:endParaRPr lang="en-US" sz="2200" dirty="0"/>
          </a:p>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After: </a:t>
            </a:r>
            <a:pPr indent="0" marL="0">
              <a:buNone/>
            </a:pPr>
            <a:r>
              <a:rPr lang="en-US" sz="2200" dirty="0">
                <a:solidFill>
                  <a:srgbClr val="2B3A4F"/>
                </a:solidFill>
                <a:latin typeface="Calibri" pitchFamily="34" charset="0"/>
                <a:ea typeface="Calibri" pitchFamily="34" charset="-122"/>
                <a:cs typeface="Calibri" pitchFamily="34" charset="-120"/>
              </a:rPr>
              <a:t>Remove all 15. Add 5 value labels (data marks) and keep 1 baseline: data = 15, non-data = 1.</a:t>
            </a:r>
            <a:endParaRPr lang="en-US" sz="2200" dirty="0"/>
          </a:p>
          <a:p>
            <a:pPr marL="304800" indent="-304800">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After ratio: </a:t>
            </a:r>
            <a:pPr indent="0" marL="0">
              <a:buNone/>
            </a:pPr>
            <a:r>
              <a:rPr lang="en-US" sz="2200" dirty="0">
                <a:solidFill>
                  <a:srgbClr val="2B3A4F"/>
                </a:solidFill>
                <a:latin typeface="Calibri" pitchFamily="34" charset="0"/>
                <a:ea typeface="Calibri" pitchFamily="34" charset="-122"/>
                <a:cs typeface="Calibri" pitchFamily="34" charset="-120"/>
              </a:rPr>
              <a:t>15 / (15 + 1) = 15 / 16 ≈ 94%.</a:t>
            </a:r>
            <a:endParaRPr lang="en-US" sz="2200" dirty="0"/>
          </a:p>
        </p:txBody>
      </p:sp>
      <p:sp>
        <p:nvSpPr>
          <p:cNvPr id="7" name="Shape 5"/>
          <p:cNvSpPr/>
          <p:nvPr/>
        </p:nvSpPr>
        <p:spPr>
          <a:xfrm>
            <a:off x="7498080" y="2606040"/>
            <a:ext cx="4142232" cy="3657600"/>
          </a:xfrm>
          <a:prstGeom prst="roundRect">
            <a:avLst>
              <a:gd name="adj" fmla="val 3000"/>
            </a:avLst>
          </a:prstGeom>
          <a:solidFill>
            <a:srgbClr val="14213D"/>
          </a:solidFill>
          <a:ln w="12700">
            <a:solidFill>
              <a:srgbClr val="14213D"/>
            </a:solidFill>
            <a:prstDash val="solid"/>
          </a:ln>
        </p:spPr>
      </p:sp>
      <p:sp>
        <p:nvSpPr>
          <p:cNvPr id="8" name="Text 6"/>
          <p:cNvSpPr txBox="1"/>
          <p:nvPr/>
        </p:nvSpPr>
        <p:spPr>
          <a:xfrm>
            <a:off x="7772400" y="2834640"/>
            <a:ext cx="3593592" cy="274320"/>
          </a:xfrm>
          <a:prstGeom prst="rect">
            <a:avLst/>
          </a:prstGeom>
          <a:noFill/>
          <a:ln/>
        </p:spPr>
        <p:txBody>
          <a:bodyPr wrap="square" lIns="0" tIns="0" rIns="0" bIns="0" rtlCol="0" anchor="ctr"/>
          <a:lstStyle/>
          <a:p>
            <a:pPr indent="0" marL="0">
              <a:buNone/>
            </a:pPr>
            <a:r>
              <a:rPr lang="en-US" sz="1200" b="1" spc="200" kern="0" dirty="0">
                <a:solidFill>
                  <a:srgbClr val="F29E4C"/>
                </a:solidFill>
                <a:latin typeface="Calibri" pitchFamily="34" charset="0"/>
                <a:ea typeface="Calibri" pitchFamily="34" charset="-122"/>
                <a:cs typeface="Calibri" pitchFamily="34" charset="-120"/>
              </a:rPr>
              <a:t>RESULT</a:t>
            </a:r>
            <a:endParaRPr lang="en-US" sz="1200" dirty="0"/>
          </a:p>
        </p:txBody>
      </p:sp>
      <p:sp>
        <p:nvSpPr>
          <p:cNvPr id="9" name="Text 7"/>
          <p:cNvSpPr txBox="1"/>
          <p:nvPr/>
        </p:nvSpPr>
        <p:spPr>
          <a:xfrm>
            <a:off x="7772400" y="3246120"/>
            <a:ext cx="3593592" cy="283464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Ratio rose from 40% to about 94%. This is a counting trick for class, not Tufte's exact measure.</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Before: a cluttered chart</a:t>
            </a:r>
            <a:endParaRPr lang="en-US" sz="2800" dirty="0"/>
          </a:p>
        </p:txBody>
      </p:sp>
      <p:graphicFrame>
        <p:nvGraphicFramePr>
          <p:cNvPr id="3" name="Chart 0" descr=""/>
          <p:cNvGraphicFramePr/>
          <p:nvPr/>
        </p:nvGraphicFramePr>
        <p:xfrm>
          <a:off x="548640" y="1417320"/>
          <a:ext cx="7040880" cy="484632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7863840" y="1417320"/>
            <a:ext cx="3776472" cy="4846320"/>
          </a:xfrm>
          <a:prstGeom prst="roundRect">
            <a:avLst>
              <a:gd name="adj" fmla="val 2906"/>
            </a:avLst>
          </a:prstGeom>
          <a:solidFill>
            <a:srgbClr val="EEF3F6"/>
          </a:solidFill>
          <a:ln w="12700">
            <a:solidFill>
              <a:srgbClr val="EEF3F6"/>
            </a:solidFill>
            <a:prstDash val="solid"/>
          </a:ln>
        </p:spPr>
      </p:sp>
      <p:sp>
        <p:nvSpPr>
          <p:cNvPr id="5" name="Text 2"/>
          <p:cNvSpPr txBox="1"/>
          <p:nvPr/>
        </p:nvSpPr>
        <p:spPr>
          <a:xfrm>
            <a:off x="8138160" y="1691640"/>
            <a:ext cx="3227832" cy="274320"/>
          </a:xfrm>
          <a:prstGeom prst="rect">
            <a:avLst/>
          </a:prstGeom>
          <a:noFill/>
          <a:ln/>
        </p:spPr>
        <p:txBody>
          <a:bodyPr wrap="square" lIns="0" tIns="0" rIns="0" bIns="0" rtlCol="0" anchor="ctr"/>
          <a:lstStyle/>
          <a:p>
            <a:pPr indent="0" marL="0">
              <a:buNone/>
            </a:pPr>
            <a:r>
              <a:rPr lang="en-US" sz="1200" b="1" spc="200" kern="0" dirty="0">
                <a:solidFill>
                  <a:srgbClr val="0B6E6E"/>
                </a:solidFill>
                <a:latin typeface="Calibri" pitchFamily="34" charset="0"/>
                <a:ea typeface="Calibri" pitchFamily="34" charset="-122"/>
                <a:cs typeface="Calibri" pitchFamily="34" charset="-120"/>
              </a:rPr>
              <a:t>WHAT IS WRONG</a:t>
            </a:r>
            <a:endParaRPr lang="en-US" sz="1200" dirty="0"/>
          </a:p>
        </p:txBody>
      </p:sp>
      <p:sp>
        <p:nvSpPr>
          <p:cNvPr id="6" name="Text 3"/>
          <p:cNvSpPr txBox="1"/>
          <p:nvPr/>
        </p:nvSpPr>
        <p:spPr>
          <a:xfrm>
            <a:off x="8138160" y="2148840"/>
            <a:ext cx="3227832" cy="3886200"/>
          </a:xfrm>
          <a:prstGeom prst="rect">
            <a:avLst/>
          </a:prstGeom>
          <a:noFill/>
          <a:ln/>
        </p:spPr>
        <p:txBody>
          <a:bodyPr wrap="square" lIns="0" tIns="0" rIns="0" bIns="0" rtlCol="0" anchor="t"/>
          <a:lstStyle/>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Five colours for one measure: colour carries no meaning.</a:t>
            </a:r>
            <a:endParaRPr lang="en-US" sz="1800" dirty="0"/>
          </a:p>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Dark grid lines and a yellow plot area compete with the bars.</a:t>
            </a:r>
            <a:endParaRPr lang="en-US" sz="1800" dirty="0"/>
          </a:p>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Thick border and blue background add ink without data.</a:t>
            </a:r>
            <a:endParaRPr lang="en-US" sz="1800" dirty="0"/>
          </a:p>
          <a:p>
            <a:pPr marL="228600" indent="-228600">
              <a:buSzPct val="100000"/>
              <a:buChar char="•"/>
            </a:pPr>
            <a:r>
              <a:rPr lang="en-US" sz="1800" dirty="0">
                <a:solidFill>
                  <a:srgbClr val="2B3A4F"/>
                </a:solidFill>
                <a:latin typeface="Calibri" pitchFamily="34" charset="0"/>
                <a:ea typeface="Calibri" pitchFamily="34" charset="-122"/>
                <a:cs typeface="Calibri" pitchFamily="34" charset="-120"/>
              </a:rPr>
              <a:t>A legend, an axis title and an item title all say the same thing.</a:t>
            </a:r>
            <a:endParaRPr lang="en-US" sz="1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Declutter in four steps</a:t>
            </a:r>
            <a:endParaRPr lang="en-US" sz="2800" dirty="0"/>
          </a:p>
        </p:txBody>
      </p:sp>
      <p:sp>
        <p:nvSpPr>
          <p:cNvPr id="3" name="Shape 1"/>
          <p:cNvSpPr/>
          <p:nvPr/>
        </p:nvSpPr>
        <p:spPr>
          <a:xfrm>
            <a:off x="548640" y="1417320"/>
            <a:ext cx="2690622" cy="777240"/>
          </a:xfrm>
          <a:prstGeom prst="homePlate">
            <a:avLst/>
          </a:prstGeom>
          <a:solidFill>
            <a:srgbClr val="0F8B8D"/>
          </a:solidFill>
          <a:ln w="12700">
            <a:solidFill>
              <a:srgbClr val="0F8B8D"/>
            </a:solidFill>
            <a:prstDash val="solid"/>
          </a:ln>
        </p:spPr>
      </p:sp>
      <p:sp>
        <p:nvSpPr>
          <p:cNvPr id="4" name="Text 2"/>
          <p:cNvSpPr txBox="1"/>
          <p:nvPr/>
        </p:nvSpPr>
        <p:spPr>
          <a:xfrm>
            <a:off x="731520" y="1417320"/>
            <a:ext cx="2141982" cy="777240"/>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1  Remove the frame</a:t>
            </a:r>
            <a:endParaRPr lang="en-US" sz="1700" dirty="0"/>
          </a:p>
        </p:txBody>
      </p:sp>
      <p:sp>
        <p:nvSpPr>
          <p:cNvPr id="5" name="Shape 3"/>
          <p:cNvSpPr/>
          <p:nvPr/>
        </p:nvSpPr>
        <p:spPr>
          <a:xfrm>
            <a:off x="548640" y="2331720"/>
            <a:ext cx="2644902" cy="2011680"/>
          </a:xfrm>
          <a:prstGeom prst="roundRect">
            <a:avLst>
              <a:gd name="adj" fmla="val 5455"/>
            </a:avLst>
          </a:prstGeom>
          <a:solidFill>
            <a:srgbClr val="EEF3F6"/>
          </a:solidFill>
          <a:ln w="12700">
            <a:solidFill>
              <a:srgbClr val="EEF3F6"/>
            </a:solidFill>
            <a:prstDash val="solid"/>
          </a:ln>
        </p:spPr>
      </p:sp>
      <p:sp>
        <p:nvSpPr>
          <p:cNvPr id="6" name="Text 4"/>
          <p:cNvSpPr txBox="1"/>
          <p:nvPr/>
        </p:nvSpPr>
        <p:spPr>
          <a:xfrm>
            <a:off x="731520" y="2468880"/>
            <a:ext cx="2279142" cy="173736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Delete the chart border, fill and background colours.</a:t>
            </a:r>
            <a:endParaRPr lang="en-US" sz="2000" dirty="0"/>
          </a:p>
        </p:txBody>
      </p:sp>
      <p:sp>
        <p:nvSpPr>
          <p:cNvPr id="7" name="Shape 5"/>
          <p:cNvSpPr/>
          <p:nvPr/>
        </p:nvSpPr>
        <p:spPr>
          <a:xfrm>
            <a:off x="3348990" y="1417320"/>
            <a:ext cx="2690622" cy="777240"/>
          </a:xfrm>
          <a:prstGeom prst="homePlate">
            <a:avLst/>
          </a:prstGeom>
          <a:solidFill>
            <a:srgbClr val="F29E4C"/>
          </a:solidFill>
          <a:ln w="12700">
            <a:solidFill>
              <a:srgbClr val="F29E4C"/>
            </a:solidFill>
            <a:prstDash val="solid"/>
          </a:ln>
        </p:spPr>
      </p:sp>
      <p:sp>
        <p:nvSpPr>
          <p:cNvPr id="8" name="Text 6"/>
          <p:cNvSpPr txBox="1"/>
          <p:nvPr/>
        </p:nvSpPr>
        <p:spPr>
          <a:xfrm>
            <a:off x="3531870" y="1417320"/>
            <a:ext cx="2141982" cy="777240"/>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2  Quiet the grid</a:t>
            </a:r>
            <a:endParaRPr lang="en-US" sz="1700" dirty="0"/>
          </a:p>
        </p:txBody>
      </p:sp>
      <p:sp>
        <p:nvSpPr>
          <p:cNvPr id="9" name="Shape 7"/>
          <p:cNvSpPr/>
          <p:nvPr/>
        </p:nvSpPr>
        <p:spPr>
          <a:xfrm>
            <a:off x="3348990" y="2331720"/>
            <a:ext cx="2644902" cy="2011680"/>
          </a:xfrm>
          <a:prstGeom prst="roundRect">
            <a:avLst>
              <a:gd name="adj" fmla="val 5455"/>
            </a:avLst>
          </a:prstGeom>
          <a:solidFill>
            <a:srgbClr val="EEF3F6"/>
          </a:solidFill>
          <a:ln w="12700">
            <a:solidFill>
              <a:srgbClr val="EEF3F6"/>
            </a:solidFill>
            <a:prstDash val="solid"/>
          </a:ln>
        </p:spPr>
      </p:sp>
      <p:sp>
        <p:nvSpPr>
          <p:cNvPr id="10" name="Text 8"/>
          <p:cNvSpPr txBox="1"/>
          <p:nvPr/>
        </p:nvSpPr>
        <p:spPr>
          <a:xfrm>
            <a:off x="3531870" y="2468880"/>
            <a:ext cx="2279142" cy="173736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Delete gridlines, or make them thin and light grey.</a:t>
            </a:r>
            <a:endParaRPr lang="en-US" sz="2000" dirty="0"/>
          </a:p>
        </p:txBody>
      </p:sp>
      <p:sp>
        <p:nvSpPr>
          <p:cNvPr id="11" name="Shape 9"/>
          <p:cNvSpPr/>
          <p:nvPr/>
        </p:nvSpPr>
        <p:spPr>
          <a:xfrm>
            <a:off x="6149340" y="1417320"/>
            <a:ext cx="2690622" cy="777240"/>
          </a:xfrm>
          <a:prstGeom prst="homePlate">
            <a:avLst/>
          </a:prstGeom>
          <a:solidFill>
            <a:srgbClr val="3A5BA0"/>
          </a:solidFill>
          <a:ln w="12700">
            <a:solidFill>
              <a:srgbClr val="3A5BA0"/>
            </a:solidFill>
            <a:prstDash val="solid"/>
          </a:ln>
        </p:spPr>
      </p:sp>
      <p:sp>
        <p:nvSpPr>
          <p:cNvPr id="12" name="Text 10"/>
          <p:cNvSpPr txBox="1"/>
          <p:nvPr/>
        </p:nvSpPr>
        <p:spPr>
          <a:xfrm>
            <a:off x="6332220" y="1417320"/>
            <a:ext cx="2141982" cy="777240"/>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3  One colour</a:t>
            </a:r>
            <a:endParaRPr lang="en-US" sz="1700" dirty="0"/>
          </a:p>
        </p:txBody>
      </p:sp>
      <p:sp>
        <p:nvSpPr>
          <p:cNvPr id="13" name="Shape 11"/>
          <p:cNvSpPr/>
          <p:nvPr/>
        </p:nvSpPr>
        <p:spPr>
          <a:xfrm>
            <a:off x="6149340" y="2331720"/>
            <a:ext cx="2644902" cy="2011680"/>
          </a:xfrm>
          <a:prstGeom prst="roundRect">
            <a:avLst>
              <a:gd name="adj" fmla="val 5455"/>
            </a:avLst>
          </a:prstGeom>
          <a:solidFill>
            <a:srgbClr val="EEF3F6"/>
          </a:solidFill>
          <a:ln w="12700">
            <a:solidFill>
              <a:srgbClr val="EEF3F6"/>
            </a:solidFill>
            <a:prstDash val="solid"/>
          </a:ln>
        </p:spPr>
      </p:sp>
      <p:sp>
        <p:nvSpPr>
          <p:cNvPr id="14" name="Text 12"/>
          <p:cNvSpPr txBox="1"/>
          <p:nvPr/>
        </p:nvSpPr>
        <p:spPr>
          <a:xfrm>
            <a:off x="6332220" y="2468880"/>
            <a:ext cx="2279142" cy="173736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Use grey for bars and one colour for the key bar.</a:t>
            </a:r>
            <a:endParaRPr lang="en-US" sz="2000" dirty="0"/>
          </a:p>
        </p:txBody>
      </p:sp>
      <p:sp>
        <p:nvSpPr>
          <p:cNvPr id="15" name="Shape 13"/>
          <p:cNvSpPr/>
          <p:nvPr/>
        </p:nvSpPr>
        <p:spPr>
          <a:xfrm>
            <a:off x="8949690" y="1417320"/>
            <a:ext cx="2690622" cy="777240"/>
          </a:xfrm>
          <a:prstGeom prst="homePlate">
            <a:avLst/>
          </a:prstGeom>
          <a:solidFill>
            <a:srgbClr val="C8553D"/>
          </a:solidFill>
          <a:ln w="12700">
            <a:solidFill>
              <a:srgbClr val="C8553D"/>
            </a:solidFill>
            <a:prstDash val="solid"/>
          </a:ln>
        </p:spPr>
      </p:sp>
      <p:sp>
        <p:nvSpPr>
          <p:cNvPr id="16" name="Text 14"/>
          <p:cNvSpPr txBox="1"/>
          <p:nvPr/>
        </p:nvSpPr>
        <p:spPr>
          <a:xfrm>
            <a:off x="9132570" y="1417320"/>
            <a:ext cx="2141982" cy="777240"/>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4  Label directly</a:t>
            </a:r>
            <a:endParaRPr lang="en-US" sz="1700" dirty="0"/>
          </a:p>
        </p:txBody>
      </p:sp>
      <p:sp>
        <p:nvSpPr>
          <p:cNvPr id="17" name="Shape 15"/>
          <p:cNvSpPr/>
          <p:nvPr/>
        </p:nvSpPr>
        <p:spPr>
          <a:xfrm>
            <a:off x="8949690" y="2331720"/>
            <a:ext cx="2644902" cy="2011680"/>
          </a:xfrm>
          <a:prstGeom prst="roundRect">
            <a:avLst>
              <a:gd name="adj" fmla="val 5455"/>
            </a:avLst>
          </a:prstGeom>
          <a:solidFill>
            <a:srgbClr val="EEF3F6"/>
          </a:solidFill>
          <a:ln w="12700">
            <a:solidFill>
              <a:srgbClr val="EEF3F6"/>
            </a:solidFill>
            <a:prstDash val="solid"/>
          </a:ln>
        </p:spPr>
      </p:sp>
      <p:sp>
        <p:nvSpPr>
          <p:cNvPr id="18" name="Text 16"/>
          <p:cNvSpPr txBox="1"/>
          <p:nvPr/>
        </p:nvSpPr>
        <p:spPr>
          <a:xfrm>
            <a:off x="9132570" y="2468880"/>
            <a:ext cx="2279142" cy="173736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Show values on bars. Then delete the axis and the legend.</a:t>
            </a:r>
            <a:endParaRPr lang="en-US" sz="2000" dirty="0"/>
          </a:p>
        </p:txBody>
      </p:sp>
      <p:sp>
        <p:nvSpPr>
          <p:cNvPr id="19" name="Shape 17"/>
          <p:cNvSpPr/>
          <p:nvPr/>
        </p:nvSpPr>
        <p:spPr>
          <a:xfrm>
            <a:off x="548640" y="4617720"/>
            <a:ext cx="11091672" cy="777240"/>
          </a:xfrm>
          <a:prstGeom prst="roundRect">
            <a:avLst>
              <a:gd name="adj" fmla="val 14118"/>
            </a:avLst>
          </a:prstGeom>
          <a:solidFill>
            <a:srgbClr val="DDF0F0"/>
          </a:solidFill>
          <a:ln w="12700">
            <a:solidFill>
              <a:srgbClr val="DDF0F0"/>
            </a:solidFill>
            <a:prstDash val="solid"/>
          </a:ln>
        </p:spPr>
      </p:sp>
      <p:sp>
        <p:nvSpPr>
          <p:cNvPr id="20" name="Text 18"/>
          <p:cNvSpPr txBox="1"/>
          <p:nvPr/>
        </p:nvSpPr>
        <p:spPr>
          <a:xfrm>
            <a:off x="822960" y="4617720"/>
            <a:ext cx="10543032" cy="777240"/>
          </a:xfrm>
          <a:prstGeom prst="rect">
            <a:avLst/>
          </a:prstGeom>
          <a:noFill/>
          <a:ln/>
        </p:spPr>
        <p:txBody>
          <a:bodyPr wrap="square" lIns="0" tIns="0" rIns="0" bIns="0" rtlCol="0" anchor="ctr"/>
          <a:lstStyle/>
          <a:p>
            <a:pPr indent="0" marL="0">
              <a:buNone/>
            </a:pPr>
            <a:r>
              <a:rPr lang="en-US" sz="1700" dirty="0">
                <a:solidFill>
                  <a:srgbClr val="14213D"/>
                </a:solidFill>
                <a:latin typeface="Calibri" pitchFamily="34" charset="0"/>
                <a:ea typeface="Calibri" pitchFamily="34" charset="-122"/>
                <a:cs typeface="Calibri" pitchFamily="34" charset="-120"/>
              </a:rPr>
              <a:t>After each step, ask: can the reader still understand the chart? If yes, keep going. If no, put the last item back.</a:t>
            </a:r>
            <a:endParaRPr lang="en-US" sz="17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After: the decluttered chart</a:t>
            </a:r>
            <a:endParaRPr lang="en-US" sz="2800" dirty="0"/>
          </a:p>
        </p:txBody>
      </p:sp>
      <p:graphicFrame>
        <p:nvGraphicFramePr>
          <p:cNvPr id="3" name="Chart 0" descr=""/>
          <p:cNvGraphicFramePr/>
          <p:nvPr/>
        </p:nvGraphicFramePr>
        <p:xfrm>
          <a:off x="548640" y="1417320"/>
          <a:ext cx="7040880" cy="484632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7863840" y="1417320"/>
            <a:ext cx="3776472" cy="4846320"/>
          </a:xfrm>
          <a:prstGeom prst="roundRect">
            <a:avLst>
              <a:gd name="adj" fmla="val 2906"/>
            </a:avLst>
          </a:prstGeom>
          <a:solidFill>
            <a:srgbClr val="EEF3F6"/>
          </a:solidFill>
          <a:ln w="12700">
            <a:solidFill>
              <a:srgbClr val="EEF3F6"/>
            </a:solidFill>
            <a:prstDash val="solid"/>
          </a:ln>
        </p:spPr>
      </p:sp>
      <p:sp>
        <p:nvSpPr>
          <p:cNvPr id="5" name="Text 2"/>
          <p:cNvSpPr txBox="1"/>
          <p:nvPr/>
        </p:nvSpPr>
        <p:spPr>
          <a:xfrm>
            <a:off x="8138160" y="1691640"/>
            <a:ext cx="3227832" cy="274320"/>
          </a:xfrm>
          <a:prstGeom prst="rect">
            <a:avLst/>
          </a:prstGeom>
          <a:noFill/>
          <a:ln/>
        </p:spPr>
        <p:txBody>
          <a:bodyPr wrap="square" lIns="0" tIns="0" rIns="0" bIns="0" rtlCol="0" anchor="ctr"/>
          <a:lstStyle/>
          <a:p>
            <a:pPr indent="0" marL="0">
              <a:buNone/>
            </a:pPr>
            <a:r>
              <a:rPr lang="en-US" sz="1200" b="1" spc="200" kern="0" dirty="0">
                <a:solidFill>
                  <a:srgbClr val="0B6E6E"/>
                </a:solidFill>
                <a:latin typeface="Calibri" pitchFamily="34" charset="0"/>
                <a:ea typeface="Calibri" pitchFamily="34" charset="-122"/>
                <a:cs typeface="Calibri" pitchFamily="34" charset="-120"/>
              </a:rPr>
              <a:t>WHAT CHANGED</a:t>
            </a:r>
            <a:endParaRPr lang="en-US" sz="1200" dirty="0"/>
          </a:p>
        </p:txBody>
      </p:sp>
      <p:sp>
        <p:nvSpPr>
          <p:cNvPr id="6" name="Text 3"/>
          <p:cNvSpPr txBox="1"/>
          <p:nvPr/>
        </p:nvSpPr>
        <p:spPr>
          <a:xfrm>
            <a:off x="8138160" y="2148840"/>
            <a:ext cx="3227832" cy="3886200"/>
          </a:xfrm>
          <a:prstGeom prst="rect">
            <a:avLst/>
          </a:prstGeom>
          <a:noFill/>
          <a:ln/>
        </p:spPr>
        <p:txBody>
          <a:bodyPr wrap="square" lIns="0" tIns="0" rIns="0" bIns="0" rtlCol="0" anchor="t"/>
          <a:lstStyle/>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No border, fill, gridlines, legend or value axis.</a:t>
            </a:r>
            <a:endParaRPr lang="en-US" sz="1800" dirty="0"/>
          </a:p>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Values sit on the bars, so nobody reads off a scale.</a:t>
            </a:r>
            <a:endParaRPr lang="en-US" sz="1800" dirty="0"/>
          </a:p>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Grey bars plus one teal bar give a clear focus.</a:t>
            </a:r>
            <a:endParaRPr lang="en-US" sz="1800" dirty="0"/>
          </a:p>
          <a:p>
            <a:pPr marL="228600" indent="-228600">
              <a:buSzPct val="100000"/>
              <a:buChar char="•"/>
            </a:pPr>
            <a:r>
              <a:rPr lang="en-US" sz="1800" dirty="0">
                <a:solidFill>
                  <a:srgbClr val="2B3A4F"/>
                </a:solidFill>
                <a:latin typeface="Calibri" pitchFamily="34" charset="0"/>
                <a:ea typeface="Calibri" pitchFamily="34" charset="-122"/>
                <a:cs typeface="Calibri" pitchFamily="34" charset="-120"/>
              </a:rPr>
              <a:t>Title states the finding: 48 of 150 is 32%.</a:t>
            </a:r>
            <a:endParaRPr lang="en-US" sz="1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Remove vs keep</a:t>
            </a:r>
            <a:endParaRPr lang="en-US" sz="2800" dirty="0"/>
          </a:p>
        </p:txBody>
      </p:sp>
      <p:sp>
        <p:nvSpPr>
          <p:cNvPr id="3" name="Shape 1"/>
          <p:cNvSpPr/>
          <p:nvPr/>
        </p:nvSpPr>
        <p:spPr>
          <a:xfrm>
            <a:off x="548640" y="1417320"/>
            <a:ext cx="5385816" cy="3886200"/>
          </a:xfrm>
          <a:prstGeom prst="roundRect">
            <a:avLst>
              <a:gd name="adj" fmla="val 2824"/>
            </a:avLst>
          </a:prstGeom>
          <a:solidFill>
            <a:srgbClr val="EEF3F6"/>
          </a:solidFill>
          <a:ln w="12700">
            <a:solidFill>
              <a:srgbClr val="EEF3F6"/>
            </a:solidFill>
            <a:prstDash val="solid"/>
          </a:ln>
        </p:spPr>
      </p:sp>
      <p:sp>
        <p:nvSpPr>
          <p:cNvPr id="4" name="Shape 2"/>
          <p:cNvSpPr/>
          <p:nvPr/>
        </p:nvSpPr>
        <p:spPr>
          <a:xfrm>
            <a:off x="548640" y="1417320"/>
            <a:ext cx="5385816" cy="640080"/>
          </a:xfrm>
          <a:prstGeom prst="roundRect">
            <a:avLst>
              <a:gd name="adj" fmla="val 17143"/>
            </a:avLst>
          </a:prstGeom>
          <a:solidFill>
            <a:srgbClr val="0F8B8D"/>
          </a:solidFill>
          <a:ln w="12700">
            <a:solidFill>
              <a:srgbClr val="0F8B8D"/>
            </a:solidFill>
            <a:prstDash val="solid"/>
          </a:ln>
        </p:spPr>
      </p:sp>
      <p:sp>
        <p:nvSpPr>
          <p:cNvPr id="5" name="Text 3"/>
          <p:cNvSpPr txBox="1"/>
          <p:nvPr/>
        </p:nvSpPr>
        <p:spPr>
          <a:xfrm>
            <a:off x="822960" y="1417320"/>
            <a:ext cx="4837176" cy="640080"/>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Usually remove</a:t>
            </a:r>
            <a:endParaRPr lang="en-US" sz="2000" dirty="0"/>
          </a:p>
        </p:txBody>
      </p:sp>
      <p:sp>
        <p:nvSpPr>
          <p:cNvPr id="6" name="Text 4"/>
          <p:cNvSpPr txBox="1"/>
          <p:nvPr/>
        </p:nvSpPr>
        <p:spPr>
          <a:xfrm>
            <a:off x="822960" y="2240280"/>
            <a:ext cx="4837176" cy="2926080"/>
          </a:xfrm>
          <a:prstGeom prst="rect">
            <a:avLst/>
          </a:prstGeom>
          <a:noFill/>
          <a:ln/>
        </p:spPr>
        <p:txBody>
          <a:bodyPr wrap="square" lIns="0" tIns="0" rIns="0" bIns="0" rtlCol="0" anchor="t"/>
          <a:lstStyle/>
          <a:p>
            <a:pPr marL="228600" indent="-228600">
              <a:spcAft>
                <a:spcPts val="800"/>
              </a:spcAft>
              <a:buSzPct val="100000"/>
              <a:buChar char="•"/>
            </a:pPr>
            <a:r>
              <a:rPr lang="en-US" sz="2000" dirty="0">
                <a:solidFill>
                  <a:srgbClr val="2B3A4F"/>
                </a:solidFill>
                <a:latin typeface="Calibri" pitchFamily="34" charset="0"/>
                <a:ea typeface="Calibri" pitchFamily="34" charset="-122"/>
                <a:cs typeface="Calibri" pitchFamily="34" charset="-120"/>
              </a:rPr>
              <a:t>Chart borders, shadows, gradients and 3D.</a:t>
            </a:r>
            <a:endParaRPr lang="en-US" sz="2000" dirty="0"/>
          </a:p>
          <a:p>
            <a:pPr marL="228600" indent="-228600">
              <a:spcAft>
                <a:spcPts val="800"/>
              </a:spcAft>
              <a:buSzPct val="100000"/>
              <a:buChar char="•"/>
            </a:pPr>
            <a:r>
              <a:rPr lang="en-US" sz="2000" dirty="0">
                <a:solidFill>
                  <a:srgbClr val="2B3A4F"/>
                </a:solidFill>
                <a:latin typeface="Calibri" pitchFamily="34" charset="0"/>
                <a:ea typeface="Calibri" pitchFamily="34" charset="-122"/>
                <a:cs typeface="Calibri" pitchFamily="34" charset="-120"/>
              </a:rPr>
              <a:t>Dark gridlines and extra tick marks.</a:t>
            </a:r>
            <a:endParaRPr lang="en-US" sz="2000" dirty="0"/>
          </a:p>
          <a:p>
            <a:pPr marL="228600" indent="-228600">
              <a:spcAft>
                <a:spcPts val="800"/>
              </a:spcAft>
              <a:buSzPct val="100000"/>
              <a:buChar char="•"/>
            </a:pPr>
            <a:r>
              <a:rPr lang="en-US" sz="2000" dirty="0">
                <a:solidFill>
                  <a:srgbClr val="2B3A4F"/>
                </a:solidFill>
                <a:latin typeface="Calibri" pitchFamily="34" charset="0"/>
                <a:ea typeface="Calibri" pitchFamily="34" charset="-122"/>
                <a:cs typeface="Calibri" pitchFamily="34" charset="-120"/>
              </a:rPr>
              <a:t>Legends for a single series.</a:t>
            </a:r>
            <a:endParaRPr lang="en-US" sz="2000" dirty="0"/>
          </a:p>
          <a:p>
            <a:pPr marL="228600" indent="-228600">
              <a:spcAft>
                <a:spcPts val="800"/>
              </a:spcAft>
              <a:buSzPct val="100000"/>
              <a:buChar char="•"/>
            </a:pPr>
            <a:r>
              <a:rPr lang="en-US" sz="2000" dirty="0">
                <a:solidFill>
                  <a:srgbClr val="2B3A4F"/>
                </a:solidFill>
                <a:latin typeface="Calibri" pitchFamily="34" charset="0"/>
                <a:ea typeface="Calibri" pitchFamily="34" charset="-122"/>
                <a:cs typeface="Calibri" pitchFamily="34" charset="-120"/>
              </a:rPr>
              <a:t>Value axis when every bar has a data label.</a:t>
            </a:r>
            <a:endParaRPr lang="en-US" sz="2000" dirty="0"/>
          </a:p>
          <a:p>
            <a:pPr marL="228600" indent="-228600">
              <a:buSzPct val="100000"/>
              <a:buChar char="•"/>
            </a:pPr>
            <a:r>
              <a:rPr lang="en-US" sz="2000" dirty="0">
                <a:solidFill>
                  <a:srgbClr val="2B3A4F"/>
                </a:solidFill>
                <a:latin typeface="Calibri" pitchFamily="34" charset="0"/>
                <a:ea typeface="Calibri" pitchFamily="34" charset="-122"/>
                <a:cs typeface="Calibri" pitchFamily="34" charset="-120"/>
              </a:rPr>
              <a:t>Rainbow colours with no meaning.</a:t>
            </a:r>
            <a:endParaRPr lang="en-US" sz="2000" dirty="0"/>
          </a:p>
        </p:txBody>
      </p:sp>
      <p:sp>
        <p:nvSpPr>
          <p:cNvPr id="7" name="Shape 5"/>
          <p:cNvSpPr/>
          <p:nvPr/>
        </p:nvSpPr>
        <p:spPr>
          <a:xfrm>
            <a:off x="6254496" y="1417320"/>
            <a:ext cx="5385816" cy="3886200"/>
          </a:xfrm>
          <a:prstGeom prst="roundRect">
            <a:avLst>
              <a:gd name="adj" fmla="val 2824"/>
            </a:avLst>
          </a:prstGeom>
          <a:solidFill>
            <a:srgbClr val="EEF3F6"/>
          </a:solidFill>
          <a:ln w="12700">
            <a:solidFill>
              <a:srgbClr val="EEF3F6"/>
            </a:solidFill>
            <a:prstDash val="solid"/>
          </a:ln>
        </p:spPr>
      </p:sp>
      <p:sp>
        <p:nvSpPr>
          <p:cNvPr id="8" name="Shape 6"/>
          <p:cNvSpPr/>
          <p:nvPr/>
        </p:nvSpPr>
        <p:spPr>
          <a:xfrm>
            <a:off x="6254496" y="1417320"/>
            <a:ext cx="5385816" cy="640080"/>
          </a:xfrm>
          <a:prstGeom prst="roundRect">
            <a:avLst>
              <a:gd name="adj" fmla="val 17143"/>
            </a:avLst>
          </a:prstGeom>
          <a:solidFill>
            <a:srgbClr val="3A5BA0"/>
          </a:solidFill>
          <a:ln w="12700">
            <a:solidFill>
              <a:srgbClr val="3A5BA0"/>
            </a:solidFill>
            <a:prstDash val="solid"/>
          </a:ln>
        </p:spPr>
      </p:sp>
      <p:sp>
        <p:nvSpPr>
          <p:cNvPr id="9" name="Text 7"/>
          <p:cNvSpPr txBox="1"/>
          <p:nvPr/>
        </p:nvSpPr>
        <p:spPr>
          <a:xfrm>
            <a:off x="6528816" y="1417320"/>
            <a:ext cx="4837176" cy="640080"/>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Always keep</a:t>
            </a:r>
            <a:endParaRPr lang="en-US" sz="2000" dirty="0"/>
          </a:p>
        </p:txBody>
      </p:sp>
      <p:sp>
        <p:nvSpPr>
          <p:cNvPr id="10" name="Text 8"/>
          <p:cNvSpPr txBox="1"/>
          <p:nvPr/>
        </p:nvSpPr>
        <p:spPr>
          <a:xfrm>
            <a:off x="6528816" y="2240280"/>
            <a:ext cx="4837176" cy="2926080"/>
          </a:xfrm>
          <a:prstGeom prst="rect">
            <a:avLst/>
          </a:prstGeom>
          <a:noFill/>
          <a:ln/>
        </p:spPr>
        <p:txBody>
          <a:bodyPr wrap="square" lIns="0" tIns="0" rIns="0" bIns="0" rtlCol="0" anchor="t"/>
          <a:lstStyle/>
          <a:p>
            <a:pPr marL="228600" indent="-228600">
              <a:spcAft>
                <a:spcPts val="800"/>
              </a:spcAft>
              <a:buSzPct val="100000"/>
              <a:buChar char="•"/>
            </a:pPr>
            <a:r>
              <a:rPr lang="en-US" sz="2000" dirty="0">
                <a:solidFill>
                  <a:srgbClr val="2B3A4F"/>
                </a:solidFill>
                <a:latin typeface="Calibri" pitchFamily="34" charset="0"/>
                <a:ea typeface="Calibri" pitchFamily="34" charset="-122"/>
                <a:cs typeface="Calibri" pitchFamily="34" charset="-120"/>
              </a:rPr>
              <a:t>Title that states the finding.</a:t>
            </a:r>
            <a:endParaRPr lang="en-US" sz="2000" dirty="0"/>
          </a:p>
          <a:p>
            <a:pPr marL="228600" indent="-228600">
              <a:spcAft>
                <a:spcPts val="800"/>
              </a:spcAft>
              <a:buSzPct val="100000"/>
              <a:buChar char="•"/>
            </a:pPr>
            <a:r>
              <a:rPr lang="en-US" sz="2000" dirty="0">
                <a:solidFill>
                  <a:srgbClr val="2B3A4F"/>
                </a:solidFill>
                <a:latin typeface="Calibri" pitchFamily="34" charset="0"/>
                <a:ea typeface="Calibri" pitchFamily="34" charset="-122"/>
                <a:cs typeface="Calibri" pitchFamily="34" charset="-120"/>
              </a:rPr>
              <a:t>Units and period (₹ lakh, Apr to Sep).</a:t>
            </a:r>
            <a:endParaRPr lang="en-US" sz="2000" dirty="0"/>
          </a:p>
          <a:p>
            <a:pPr marL="228600" indent="-228600">
              <a:spcAft>
                <a:spcPts val="800"/>
              </a:spcAft>
              <a:buSzPct val="100000"/>
              <a:buChar char="•"/>
            </a:pPr>
            <a:r>
              <a:rPr lang="en-US" sz="2000" dirty="0">
                <a:solidFill>
                  <a:srgbClr val="2B3A4F"/>
                </a:solidFill>
                <a:latin typeface="Calibri" pitchFamily="34" charset="0"/>
                <a:ea typeface="Calibri" pitchFamily="34" charset="-122"/>
                <a:cs typeface="Calibri" pitchFamily="34" charset="-120"/>
              </a:rPr>
              <a:t>Axis start at zero for bars.</a:t>
            </a:r>
            <a:endParaRPr lang="en-US" sz="2000" dirty="0"/>
          </a:p>
          <a:p>
            <a:pPr marL="228600" indent="-228600">
              <a:spcAft>
                <a:spcPts val="800"/>
              </a:spcAft>
              <a:buSzPct val="100000"/>
              <a:buChar char="•"/>
            </a:pPr>
            <a:r>
              <a:rPr lang="en-US" sz="2000" dirty="0">
                <a:solidFill>
                  <a:srgbClr val="2B3A4F"/>
                </a:solidFill>
                <a:latin typeface="Calibri" pitchFamily="34" charset="0"/>
                <a:ea typeface="Calibri" pitchFamily="34" charset="-122"/>
                <a:cs typeface="Calibri" pitchFamily="34" charset="-120"/>
              </a:rPr>
              <a:t>Source and any note on how data was handled.</a:t>
            </a:r>
            <a:endParaRPr lang="en-US" sz="2000" dirty="0"/>
          </a:p>
          <a:p>
            <a:pPr marL="228600" indent="-228600">
              <a:buSzPct val="100000"/>
              <a:buChar char="•"/>
            </a:pPr>
            <a:r>
              <a:rPr lang="en-US" sz="2000" dirty="0">
                <a:solidFill>
                  <a:srgbClr val="2B3A4F"/>
                </a:solidFill>
                <a:latin typeface="Calibri" pitchFamily="34" charset="0"/>
                <a:ea typeface="Calibri" pitchFamily="34" charset="-122"/>
                <a:cs typeface="Calibri" pitchFamily="34" charset="-120"/>
              </a:rPr>
              <a:t>Light reference lines, if readers need to compare.</a:t>
            </a:r>
            <a:endParaRPr lang="en-US" sz="2000" dirty="0"/>
          </a:p>
        </p:txBody>
      </p:sp>
      <p:sp>
        <p:nvSpPr>
          <p:cNvPr id="11" name="Shape 9"/>
          <p:cNvSpPr/>
          <p:nvPr/>
        </p:nvSpPr>
        <p:spPr>
          <a:xfrm>
            <a:off x="548640" y="5532120"/>
            <a:ext cx="11091672" cy="731520"/>
          </a:xfrm>
          <a:prstGeom prst="roundRect">
            <a:avLst>
              <a:gd name="adj" fmla="val 15000"/>
            </a:avLst>
          </a:prstGeom>
          <a:solidFill>
            <a:srgbClr val="FDEBD6"/>
          </a:solidFill>
          <a:ln w="12700">
            <a:solidFill>
              <a:srgbClr val="FDEBD6"/>
            </a:solidFill>
            <a:prstDash val="solid"/>
          </a:ln>
        </p:spPr>
      </p:sp>
      <p:sp>
        <p:nvSpPr>
          <p:cNvPr id="12" name="Text 10"/>
          <p:cNvSpPr txBox="1"/>
          <p:nvPr/>
        </p:nvSpPr>
        <p:spPr>
          <a:xfrm>
            <a:off x="822960" y="5532120"/>
            <a:ext cx="10543032" cy="731520"/>
          </a:xfrm>
          <a:prstGeom prst="rect">
            <a:avLst/>
          </a:prstGeom>
          <a:noFill/>
          <a:ln/>
        </p:spPr>
        <p:txBody>
          <a:bodyPr wrap="square" lIns="0" tIns="0" rIns="0" bIns="0" rtlCol="0" anchor="ctr"/>
          <a:lstStyle/>
          <a:p>
            <a:pPr indent="0" marL="0">
              <a:buNone/>
            </a:pPr>
            <a:r>
              <a:rPr lang="en-US" sz="1700" dirty="0">
                <a:solidFill>
                  <a:srgbClr val="14213D"/>
                </a:solidFill>
                <a:latin typeface="Calibri" pitchFamily="34" charset="0"/>
                <a:ea typeface="Calibri" pitchFamily="34" charset="-122"/>
                <a:cs typeface="Calibri" pitchFamily="34" charset="-120"/>
              </a:rPr>
              <a:t>Test: remove the element. If the reader loses no information and no clarity, it was junk.</a:t>
            </a:r>
            <a:endParaRPr lang="en-US" sz="17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Declutter an Excel chart in five clicks</a:t>
            </a:r>
            <a:endParaRPr lang="en-US" sz="2800" dirty="0"/>
          </a:p>
        </p:txBody>
      </p:sp>
      <p:sp>
        <p:nvSpPr>
          <p:cNvPr id="3" name="Shape 1"/>
          <p:cNvSpPr/>
          <p:nvPr/>
        </p:nvSpPr>
        <p:spPr>
          <a:xfrm>
            <a:off x="548640" y="1417320"/>
            <a:ext cx="11091672" cy="914400"/>
          </a:xfrm>
          <a:prstGeom prst="roundRect">
            <a:avLst>
              <a:gd name="adj" fmla="val 12000"/>
            </a:avLst>
          </a:prstGeom>
          <a:solidFill>
            <a:srgbClr val="FDEBD6"/>
          </a:solidFill>
          <a:ln w="12700">
            <a:solidFill>
              <a:srgbClr val="FDEBD6"/>
            </a:solidFill>
            <a:prstDash val="solid"/>
          </a:ln>
        </p:spPr>
      </p:sp>
      <p:sp>
        <p:nvSpPr>
          <p:cNvPr id="4" name="Text 2"/>
          <p:cNvSpPr txBox="1"/>
          <p:nvPr/>
        </p:nvSpPr>
        <p:spPr>
          <a:xfrm>
            <a:off x="777240" y="1417320"/>
            <a:ext cx="1554480" cy="914400"/>
          </a:xfrm>
          <a:prstGeom prst="rect">
            <a:avLst/>
          </a:prstGeom>
          <a:noFill/>
          <a:ln/>
        </p:spPr>
        <p:txBody>
          <a:bodyPr wrap="square" lIns="0" tIns="0" rIns="0" bIns="0" rtlCol="0" anchor="ctr"/>
          <a:lstStyle/>
          <a:p>
            <a:pPr indent="0" marL="0">
              <a:buNone/>
            </a:pPr>
            <a:r>
              <a:rPr lang="en-US" sz="1200" b="1" spc="200" kern="0" dirty="0">
                <a:solidFill>
                  <a:srgbClr val="A55A0A"/>
                </a:solidFill>
                <a:latin typeface="Calibri" pitchFamily="34" charset="0"/>
                <a:ea typeface="Calibri" pitchFamily="34" charset="-122"/>
                <a:cs typeface="Calibri" pitchFamily="34" charset="-120"/>
              </a:rPr>
              <a:t>WORKED EXAMPLE</a:t>
            </a:r>
            <a:endParaRPr lang="en-US" sz="1200" dirty="0"/>
          </a:p>
        </p:txBody>
      </p:sp>
      <p:sp>
        <p:nvSpPr>
          <p:cNvPr id="5" name="Text 3"/>
          <p:cNvSpPr txBox="1"/>
          <p:nvPr/>
        </p:nvSpPr>
        <p:spPr>
          <a:xfrm>
            <a:off x="2468880" y="1417320"/>
            <a:ext cx="8988552" cy="914400"/>
          </a:xfrm>
          <a:prstGeom prst="rect">
            <a:avLst/>
          </a:prstGeom>
          <a:noFill/>
          <a:ln/>
        </p:spPr>
        <p:txBody>
          <a:bodyPr wrap="square" lIns="0" tIns="0" rIns="0" bIns="0" rtlCol="0" anchor="ctr"/>
          <a:lstStyle/>
          <a:p>
            <a:pPr indent="0" marL="0">
              <a:buNone/>
            </a:pPr>
            <a:r>
              <a:rPr lang="en-US" sz="1800" dirty="0">
                <a:solidFill>
                  <a:srgbClr val="14213D"/>
                </a:solidFill>
                <a:latin typeface="Calibri" pitchFamily="34" charset="0"/>
                <a:ea typeface="Calibri" pitchFamily="34" charset="-122"/>
                <a:cs typeface="Calibri" pitchFamily="34" charset="-120"/>
              </a:rPr>
              <a:t>You have a default Excel column chart of item sales. Make it clean in under a minute.</a:t>
            </a:r>
            <a:endParaRPr lang="en-US" sz="1800" dirty="0"/>
          </a:p>
        </p:txBody>
      </p:sp>
      <p:sp>
        <p:nvSpPr>
          <p:cNvPr id="6" name="Text 4"/>
          <p:cNvSpPr txBox="1"/>
          <p:nvPr/>
        </p:nvSpPr>
        <p:spPr>
          <a:xfrm>
            <a:off x="548640" y="2606040"/>
            <a:ext cx="6675120" cy="3657600"/>
          </a:xfrm>
          <a:prstGeom prst="rect">
            <a:avLst/>
          </a:prstGeom>
          <a:noFill/>
          <a:ln/>
        </p:spPr>
        <p:txBody>
          <a:bodyPr wrap="square" lIns="0" tIns="0" rIns="0" bIns="0" rtlCol="0" anchor="t"/>
          <a:lstStyle/>
          <a:p>
            <a:pPr marL="304800" indent="-304800">
              <a:spcAft>
                <a:spcPts val="800"/>
              </a:spcAft>
              <a:buSzPct val="100000"/>
              <a:buFont typeface="+mj-lt"/>
              <a:buAutoNum type="arabicPeriod" startAt="1"/>
            </a:pPr>
            <a:r>
              <a:rPr lang="en-US" sz="2000" b="1" dirty="0">
                <a:solidFill>
                  <a:srgbClr val="14213D"/>
                </a:solidFill>
                <a:latin typeface="Calibri" pitchFamily="34" charset="0"/>
                <a:ea typeface="Calibri" pitchFamily="34" charset="-122"/>
                <a:cs typeface="Calibri" pitchFamily="34" charset="-120"/>
              </a:rPr>
              <a:t>Click the chart: </a:t>
            </a:r>
            <a:pPr indent="0" marL="0">
              <a:buNone/>
            </a:pPr>
            <a:r>
              <a:rPr lang="en-US" sz="2000" dirty="0">
                <a:solidFill>
                  <a:srgbClr val="2B3A4F"/>
                </a:solidFill>
                <a:latin typeface="Calibri" pitchFamily="34" charset="0"/>
                <a:ea typeface="Calibri" pitchFamily="34" charset="-122"/>
                <a:cs typeface="Calibri" pitchFamily="34" charset="-120"/>
              </a:rPr>
              <a:t>Format Chart Area &gt; Fill: No fill. Border: No line.</a:t>
            </a:r>
            <a:endParaRPr lang="en-US" sz="2000" dirty="0"/>
          </a:p>
          <a:p>
            <a:pPr marL="304800" indent="-304800">
              <a:spcAft>
                <a:spcPts val="800"/>
              </a:spcAft>
              <a:buSzPct val="100000"/>
              <a:buFont typeface="+mj-lt"/>
              <a:buAutoNum type="arabicPeriod" startAt="1"/>
            </a:pPr>
            <a:r>
              <a:rPr lang="en-US" sz="2000" b="1" dirty="0">
                <a:solidFill>
                  <a:srgbClr val="14213D"/>
                </a:solidFill>
                <a:latin typeface="Calibri" pitchFamily="34" charset="0"/>
                <a:ea typeface="Calibri" pitchFamily="34" charset="-122"/>
                <a:cs typeface="Calibri" pitchFamily="34" charset="-120"/>
              </a:rPr>
              <a:t>Click a gridline, </a:t>
            </a:r>
            <a:pPr indent="0" marL="0">
              <a:buNone/>
            </a:pPr>
            <a:r>
              <a:rPr lang="en-US" sz="2000" dirty="0">
                <a:solidFill>
                  <a:srgbClr val="2B3A4F"/>
                </a:solidFill>
                <a:latin typeface="Calibri" pitchFamily="34" charset="0"/>
                <a:ea typeface="Calibri" pitchFamily="34" charset="-122"/>
                <a:cs typeface="Calibri" pitchFamily="34" charset="-120"/>
              </a:rPr>
              <a:t>then press Delete. Click the legend and press Delete.</a:t>
            </a:r>
            <a:endParaRPr lang="en-US" sz="2000" dirty="0"/>
          </a:p>
          <a:p>
            <a:pPr marL="304800" indent="-304800">
              <a:spcAft>
                <a:spcPts val="800"/>
              </a:spcAft>
              <a:buSzPct val="100000"/>
              <a:buFont typeface="+mj-lt"/>
              <a:buAutoNum type="arabicPeriod" startAt="1"/>
            </a:pPr>
            <a:r>
              <a:rPr lang="en-US" sz="2000" b="1" dirty="0">
                <a:solidFill>
                  <a:srgbClr val="14213D"/>
                </a:solidFill>
                <a:latin typeface="Calibri" pitchFamily="34" charset="0"/>
                <a:ea typeface="Calibri" pitchFamily="34" charset="-122"/>
                <a:cs typeface="Calibri" pitchFamily="34" charset="-120"/>
              </a:rPr>
              <a:t>Click a bar: </a:t>
            </a:r>
            <a:pPr indent="0" marL="0">
              <a:buNone/>
            </a:pPr>
            <a:r>
              <a:rPr lang="en-US" sz="2000" dirty="0">
                <a:solidFill>
                  <a:srgbClr val="2B3A4F"/>
                </a:solidFill>
                <a:latin typeface="Calibri" pitchFamily="34" charset="0"/>
                <a:ea typeface="Calibri" pitchFamily="34" charset="-122"/>
                <a:cs typeface="Calibri" pitchFamily="34" charset="-120"/>
              </a:rPr>
              <a:t>Format Data Series &gt; Fill grey. Click one bar and fill it teal.</a:t>
            </a:r>
            <a:endParaRPr lang="en-US" sz="2000" dirty="0"/>
          </a:p>
          <a:p>
            <a:pPr marL="304800" indent="-304800">
              <a:spcAft>
                <a:spcPts val="800"/>
              </a:spcAft>
              <a:buSzPct val="100000"/>
              <a:buFont typeface="+mj-lt"/>
              <a:buAutoNum type="arabicPeriod" startAt="1"/>
            </a:pPr>
            <a:r>
              <a:rPr lang="en-US" sz="2000" b="1" dirty="0">
                <a:solidFill>
                  <a:srgbClr val="14213D"/>
                </a:solidFill>
                <a:latin typeface="Calibri" pitchFamily="34" charset="0"/>
                <a:ea typeface="Calibri" pitchFamily="34" charset="-122"/>
                <a:cs typeface="Calibri" pitchFamily="34" charset="-120"/>
              </a:rPr>
              <a:t>Chart Elements (+): </a:t>
            </a:r>
            <a:pPr indent="0" marL="0">
              <a:buNone/>
            </a:pPr>
            <a:r>
              <a:rPr lang="en-US" sz="2000" dirty="0">
                <a:solidFill>
                  <a:srgbClr val="2B3A4F"/>
                </a:solidFill>
                <a:latin typeface="Calibri" pitchFamily="34" charset="0"/>
                <a:ea typeface="Calibri" pitchFamily="34" charset="-122"/>
                <a:cs typeface="Calibri" pitchFamily="34" charset="-120"/>
              </a:rPr>
              <a:t>tick Data Labels. Then select the value axis and press Delete.</a:t>
            </a:r>
            <a:endParaRPr lang="en-US" sz="2000" dirty="0"/>
          </a:p>
          <a:p>
            <a:pPr marL="304800" indent="-304800">
              <a:buSzPct val="100000"/>
              <a:buFont typeface="+mj-lt"/>
              <a:buAutoNum type="arabicPeriod" startAt="1"/>
            </a:pPr>
            <a:r>
              <a:rPr lang="en-US" sz="2000" b="1" dirty="0">
                <a:solidFill>
                  <a:srgbClr val="14213D"/>
                </a:solidFill>
                <a:latin typeface="Calibri" pitchFamily="34" charset="0"/>
                <a:ea typeface="Calibri" pitchFamily="34" charset="-122"/>
                <a:cs typeface="Calibri" pitchFamily="34" charset="-120"/>
              </a:rPr>
              <a:t>Edit the title: </a:t>
            </a:r>
            <a:pPr indent="0" marL="0">
              <a:buNone/>
            </a:pPr>
            <a:r>
              <a:rPr lang="en-US" sz="2000" dirty="0">
                <a:solidFill>
                  <a:srgbClr val="2B3A4F"/>
                </a:solidFill>
                <a:latin typeface="Calibri" pitchFamily="34" charset="0"/>
                <a:ea typeface="Calibri" pitchFamily="34" charset="-122"/>
                <a:cs typeface="Calibri" pitchFamily="34" charset="-120"/>
              </a:rPr>
              <a:t>replace "Chart Title" with a finding such as "Coffee is 32% of sales".</a:t>
            </a:r>
            <a:endParaRPr lang="en-US" sz="2000" dirty="0"/>
          </a:p>
        </p:txBody>
      </p:sp>
      <p:sp>
        <p:nvSpPr>
          <p:cNvPr id="7" name="Shape 5"/>
          <p:cNvSpPr/>
          <p:nvPr/>
        </p:nvSpPr>
        <p:spPr>
          <a:xfrm>
            <a:off x="7498080" y="2606040"/>
            <a:ext cx="4142232" cy="3657600"/>
          </a:xfrm>
          <a:prstGeom prst="roundRect">
            <a:avLst>
              <a:gd name="adj" fmla="val 3000"/>
            </a:avLst>
          </a:prstGeom>
          <a:solidFill>
            <a:srgbClr val="14213D"/>
          </a:solidFill>
          <a:ln w="12700">
            <a:solidFill>
              <a:srgbClr val="14213D"/>
            </a:solidFill>
            <a:prstDash val="solid"/>
          </a:ln>
        </p:spPr>
      </p:sp>
      <p:sp>
        <p:nvSpPr>
          <p:cNvPr id="8" name="Text 6"/>
          <p:cNvSpPr txBox="1"/>
          <p:nvPr/>
        </p:nvSpPr>
        <p:spPr>
          <a:xfrm>
            <a:off x="7772400" y="2834640"/>
            <a:ext cx="3593592" cy="274320"/>
          </a:xfrm>
          <a:prstGeom prst="rect">
            <a:avLst/>
          </a:prstGeom>
          <a:noFill/>
          <a:ln/>
        </p:spPr>
        <p:txBody>
          <a:bodyPr wrap="square" lIns="0" tIns="0" rIns="0" bIns="0" rtlCol="0" anchor="ctr"/>
          <a:lstStyle/>
          <a:p>
            <a:pPr indent="0" marL="0">
              <a:buNone/>
            </a:pPr>
            <a:r>
              <a:rPr lang="en-US" sz="1200" b="1" spc="200" kern="0" dirty="0">
                <a:solidFill>
                  <a:srgbClr val="F29E4C"/>
                </a:solidFill>
                <a:latin typeface="Calibri" pitchFamily="34" charset="0"/>
                <a:ea typeface="Calibri" pitchFamily="34" charset="-122"/>
                <a:cs typeface="Calibri" pitchFamily="34" charset="-120"/>
              </a:rPr>
              <a:t>RESULT</a:t>
            </a:r>
            <a:endParaRPr lang="en-US" sz="1200" dirty="0"/>
          </a:p>
        </p:txBody>
      </p:sp>
      <p:sp>
        <p:nvSpPr>
          <p:cNvPr id="9" name="Text 7"/>
          <p:cNvSpPr txBox="1"/>
          <p:nvPr/>
        </p:nvSpPr>
        <p:spPr>
          <a:xfrm>
            <a:off x="7772400" y="3246120"/>
            <a:ext cx="3593592" cy="283464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Five steps give a chart with a high data-ink ratio. Save it as a chart template to reuse the style.</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Traps and edge cases</a:t>
            </a:r>
            <a:endParaRPr lang="en-US" sz="2800" dirty="0"/>
          </a:p>
        </p:txBody>
      </p:sp>
      <p:sp>
        <p:nvSpPr>
          <p:cNvPr id="3" name="Shape 1"/>
          <p:cNvSpPr/>
          <p:nvPr/>
        </p:nvSpPr>
        <p:spPr>
          <a:xfrm>
            <a:off x="548640" y="1417320"/>
            <a:ext cx="5408676" cy="2286000"/>
          </a:xfrm>
          <a:prstGeom prst="roundRect">
            <a:avLst>
              <a:gd name="adj" fmla="val 4800"/>
            </a:avLst>
          </a:prstGeom>
          <a:solidFill>
            <a:srgbClr val="EEF3F6"/>
          </a:solidFill>
          <a:ln w="12700">
            <a:solidFill>
              <a:srgbClr val="EEF3F6"/>
            </a:solidFill>
            <a:prstDash val="solid"/>
          </a:ln>
        </p:spPr>
      </p:sp>
      <p:sp>
        <p:nvSpPr>
          <p:cNvPr id="4" name="Text 2"/>
          <p:cNvSpPr/>
          <p:nvPr/>
        </p:nvSpPr>
        <p:spPr>
          <a:xfrm>
            <a:off x="777240" y="1645920"/>
            <a:ext cx="457200" cy="457200"/>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5" name="Text 3"/>
          <p:cNvSpPr txBox="1"/>
          <p:nvPr/>
        </p:nvSpPr>
        <p:spPr>
          <a:xfrm>
            <a:off x="1371600" y="155448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Over-minimising</a:t>
            </a:r>
            <a:endParaRPr lang="en-US" sz="2000" dirty="0"/>
          </a:p>
        </p:txBody>
      </p:sp>
      <p:sp>
        <p:nvSpPr>
          <p:cNvPr id="6" name="Text 4"/>
          <p:cNvSpPr txBox="1"/>
          <p:nvPr/>
        </p:nvSpPr>
        <p:spPr>
          <a:xfrm>
            <a:off x="777240" y="233172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Removing the axis, units and title leaves a pretty but unreadable chart. Keep what the reader needs.</a:t>
            </a:r>
            <a:endParaRPr lang="en-US" sz="2000" dirty="0"/>
          </a:p>
        </p:txBody>
      </p:sp>
      <p:sp>
        <p:nvSpPr>
          <p:cNvPr id="7" name="Shape 5"/>
          <p:cNvSpPr/>
          <p:nvPr/>
        </p:nvSpPr>
        <p:spPr>
          <a:xfrm>
            <a:off x="6231636" y="1417320"/>
            <a:ext cx="5408676" cy="2286000"/>
          </a:xfrm>
          <a:prstGeom prst="roundRect">
            <a:avLst>
              <a:gd name="adj" fmla="val 4800"/>
            </a:avLst>
          </a:prstGeom>
          <a:solidFill>
            <a:srgbClr val="EEF3F6"/>
          </a:solidFill>
          <a:ln w="12700">
            <a:solidFill>
              <a:srgbClr val="EEF3F6"/>
            </a:solidFill>
            <a:prstDash val="solid"/>
          </a:ln>
        </p:spPr>
      </p:sp>
      <p:sp>
        <p:nvSpPr>
          <p:cNvPr id="8" name="Text 6"/>
          <p:cNvSpPr/>
          <p:nvPr/>
        </p:nvSpPr>
        <p:spPr>
          <a:xfrm>
            <a:off x="6460236" y="1645920"/>
            <a:ext cx="457200" cy="457200"/>
          </a:xfrm>
          <a:prstGeom prst="ellipse">
            <a:avLst/>
          </a:prstGeom>
          <a:solidFill>
            <a:srgbClr val="F29E4C"/>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9" name="Text 7"/>
          <p:cNvSpPr txBox="1"/>
          <p:nvPr/>
        </p:nvSpPr>
        <p:spPr>
          <a:xfrm>
            <a:off x="7054596" y="155448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Faint greys</a:t>
            </a:r>
            <a:endParaRPr lang="en-US" sz="2000" dirty="0"/>
          </a:p>
        </p:txBody>
      </p:sp>
      <p:sp>
        <p:nvSpPr>
          <p:cNvPr id="10" name="Text 8"/>
          <p:cNvSpPr txBox="1"/>
          <p:nvPr/>
        </p:nvSpPr>
        <p:spPr>
          <a:xfrm>
            <a:off x="6460236" y="233172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Very light grey text fails on projectors and in print. Keep text contrast strong, and fade only the helper lines.</a:t>
            </a:r>
            <a:endParaRPr lang="en-US" sz="2000" dirty="0"/>
          </a:p>
        </p:txBody>
      </p:sp>
      <p:sp>
        <p:nvSpPr>
          <p:cNvPr id="11" name="Shape 9"/>
          <p:cNvSpPr/>
          <p:nvPr/>
        </p:nvSpPr>
        <p:spPr>
          <a:xfrm>
            <a:off x="548640" y="3977640"/>
            <a:ext cx="5408676" cy="2286000"/>
          </a:xfrm>
          <a:prstGeom prst="roundRect">
            <a:avLst>
              <a:gd name="adj" fmla="val 4800"/>
            </a:avLst>
          </a:prstGeom>
          <a:solidFill>
            <a:srgbClr val="EEF3F6"/>
          </a:solidFill>
          <a:ln w="12700">
            <a:solidFill>
              <a:srgbClr val="EEF3F6"/>
            </a:solidFill>
            <a:prstDash val="solid"/>
          </a:ln>
        </p:spPr>
      </p:sp>
      <p:sp>
        <p:nvSpPr>
          <p:cNvPr id="12" name="Text 10"/>
          <p:cNvSpPr/>
          <p:nvPr/>
        </p:nvSpPr>
        <p:spPr>
          <a:xfrm>
            <a:off x="777240" y="4206240"/>
            <a:ext cx="457200" cy="457200"/>
          </a:xfrm>
          <a:prstGeom prst="ellipse">
            <a:avLst/>
          </a:prstGeom>
          <a:solidFill>
            <a:srgbClr val="3A5BA0"/>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3" name="Text 11"/>
          <p:cNvSpPr txBox="1"/>
          <p:nvPr/>
        </p:nvSpPr>
        <p:spPr>
          <a:xfrm>
            <a:off x="1371600" y="411480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Tufte is not a law</a:t>
            </a:r>
            <a:endParaRPr lang="en-US" sz="2000" dirty="0"/>
          </a:p>
        </p:txBody>
      </p:sp>
      <p:sp>
        <p:nvSpPr>
          <p:cNvPr id="14" name="Text 12"/>
          <p:cNvSpPr txBox="1"/>
          <p:nvPr/>
        </p:nvSpPr>
        <p:spPr>
          <a:xfrm>
            <a:off x="777240" y="489204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Some research finds light decoration or icons can aid memory. Use judgment. Clarity first, then style.</a:t>
            </a:r>
            <a:endParaRPr lang="en-US" sz="2000" dirty="0"/>
          </a:p>
        </p:txBody>
      </p:sp>
      <p:sp>
        <p:nvSpPr>
          <p:cNvPr id="15" name="Shape 13"/>
          <p:cNvSpPr/>
          <p:nvPr/>
        </p:nvSpPr>
        <p:spPr>
          <a:xfrm>
            <a:off x="6231636" y="3977640"/>
            <a:ext cx="5408676" cy="2286000"/>
          </a:xfrm>
          <a:prstGeom prst="roundRect">
            <a:avLst>
              <a:gd name="adj" fmla="val 4800"/>
            </a:avLst>
          </a:prstGeom>
          <a:solidFill>
            <a:srgbClr val="EEF3F6"/>
          </a:solidFill>
          <a:ln w="12700">
            <a:solidFill>
              <a:srgbClr val="EEF3F6"/>
            </a:solidFill>
            <a:prstDash val="solid"/>
          </a:ln>
        </p:spPr>
      </p:sp>
      <p:sp>
        <p:nvSpPr>
          <p:cNvPr id="16" name="Text 14"/>
          <p:cNvSpPr/>
          <p:nvPr/>
        </p:nvSpPr>
        <p:spPr>
          <a:xfrm>
            <a:off x="6460236" y="4206240"/>
            <a:ext cx="457200" cy="457200"/>
          </a:xfrm>
          <a:prstGeom prst="ellipse">
            <a:avLst/>
          </a:prstGeom>
          <a:solidFill>
            <a:srgbClr val="C8553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7" name="Text 15"/>
          <p:cNvSpPr txBox="1"/>
          <p:nvPr/>
        </p:nvSpPr>
        <p:spPr>
          <a:xfrm>
            <a:off x="7054596" y="411480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Dashboards need some grid</a:t>
            </a:r>
            <a:endParaRPr lang="en-US" sz="2000" dirty="0"/>
          </a:p>
        </p:txBody>
      </p:sp>
      <p:sp>
        <p:nvSpPr>
          <p:cNvPr id="18" name="Text 16"/>
          <p:cNvSpPr txBox="1"/>
          <p:nvPr/>
        </p:nvSpPr>
        <p:spPr>
          <a:xfrm>
            <a:off x="6460236" y="489204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When readers must compare many values, thin light gridlines help. Keep them lighter than the data.</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Practice questions</a:t>
            </a:r>
            <a:endParaRPr lang="en-US" sz="2800" dirty="0"/>
          </a:p>
        </p:txBody>
      </p:sp>
      <p:sp>
        <p:nvSpPr>
          <p:cNvPr id="3" name="Shape 1"/>
          <p:cNvSpPr/>
          <p:nvPr/>
        </p:nvSpPr>
        <p:spPr>
          <a:xfrm>
            <a:off x="548640" y="1417320"/>
            <a:ext cx="11091672" cy="1074420"/>
          </a:xfrm>
          <a:prstGeom prst="roundRect">
            <a:avLst>
              <a:gd name="adj" fmla="val 10213"/>
            </a:avLst>
          </a:prstGeom>
          <a:solidFill>
            <a:srgbClr val="EEF3F6"/>
          </a:solidFill>
          <a:ln w="12700">
            <a:solidFill>
              <a:srgbClr val="EEF3F6"/>
            </a:solidFill>
            <a:prstDash val="solid"/>
          </a:ln>
        </p:spPr>
      </p:sp>
      <p:sp>
        <p:nvSpPr>
          <p:cNvPr id="4" name="Text 2"/>
          <p:cNvSpPr/>
          <p:nvPr/>
        </p:nvSpPr>
        <p:spPr>
          <a:xfrm>
            <a:off x="777240" y="1725930"/>
            <a:ext cx="457200" cy="457200"/>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5" name="Text 3"/>
          <p:cNvSpPr txBox="1"/>
          <p:nvPr/>
        </p:nvSpPr>
        <p:spPr>
          <a:xfrm>
            <a:off x="1463040" y="1417320"/>
            <a:ext cx="9902952" cy="1074420"/>
          </a:xfrm>
          <a:prstGeom prst="rect">
            <a:avLst/>
          </a:prstGeom>
          <a:noFill/>
          <a:ln/>
        </p:spPr>
        <p:txBody>
          <a:bodyPr wrap="square" lIns="0" tIns="0" rIns="0" bIns="0" rtlCol="0" anchor="ctr"/>
          <a:lstStyle/>
          <a:p>
            <a:pPr indent="0" marL="0">
              <a:buNone/>
            </a:pPr>
            <a:r>
              <a:rPr lang="en-US" sz="1900" dirty="0">
                <a:solidFill>
                  <a:srgbClr val="14213D"/>
                </a:solidFill>
                <a:latin typeface="Calibri" pitchFamily="34" charset="0"/>
                <a:ea typeface="Calibri" pitchFamily="34" charset="-122"/>
                <a:cs typeface="Calibri" pitchFamily="34" charset="-120"/>
              </a:rPr>
              <a:t>Define the data-ink ratio in one sentence.</a:t>
            </a:r>
            <a:endParaRPr lang="en-US" sz="1900" dirty="0"/>
          </a:p>
        </p:txBody>
      </p:sp>
      <p:sp>
        <p:nvSpPr>
          <p:cNvPr id="6" name="Shape 4"/>
          <p:cNvSpPr/>
          <p:nvPr/>
        </p:nvSpPr>
        <p:spPr>
          <a:xfrm>
            <a:off x="548640" y="2674620"/>
            <a:ext cx="11091672" cy="1074420"/>
          </a:xfrm>
          <a:prstGeom prst="roundRect">
            <a:avLst>
              <a:gd name="adj" fmla="val 10213"/>
            </a:avLst>
          </a:prstGeom>
          <a:solidFill>
            <a:srgbClr val="EEF3F6"/>
          </a:solidFill>
          <a:ln w="12700">
            <a:solidFill>
              <a:srgbClr val="EEF3F6"/>
            </a:solidFill>
            <a:prstDash val="solid"/>
          </a:ln>
        </p:spPr>
      </p:sp>
      <p:sp>
        <p:nvSpPr>
          <p:cNvPr id="7" name="Text 5"/>
          <p:cNvSpPr/>
          <p:nvPr/>
        </p:nvSpPr>
        <p:spPr>
          <a:xfrm>
            <a:off x="777240" y="2983230"/>
            <a:ext cx="457200" cy="457200"/>
          </a:xfrm>
          <a:prstGeom prst="ellipse">
            <a:avLst/>
          </a:prstGeom>
          <a:solidFill>
            <a:srgbClr val="F29E4C"/>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8" name="Text 6"/>
          <p:cNvSpPr txBox="1"/>
          <p:nvPr/>
        </p:nvSpPr>
        <p:spPr>
          <a:xfrm>
            <a:off x="1463040" y="2674620"/>
            <a:ext cx="9902952" cy="1074420"/>
          </a:xfrm>
          <a:prstGeom prst="rect">
            <a:avLst/>
          </a:prstGeom>
          <a:noFill/>
          <a:ln/>
        </p:spPr>
        <p:txBody>
          <a:bodyPr wrap="square" lIns="0" tIns="0" rIns="0" bIns="0" rtlCol="0" anchor="ctr"/>
          <a:lstStyle/>
          <a:p>
            <a:pPr indent="0" marL="0">
              <a:buNone/>
            </a:pPr>
            <a:r>
              <a:rPr lang="en-US" sz="1900" dirty="0">
                <a:solidFill>
                  <a:srgbClr val="14213D"/>
                </a:solidFill>
                <a:latin typeface="Calibri" pitchFamily="34" charset="0"/>
                <a:ea typeface="Calibri" pitchFamily="34" charset="-122"/>
                <a:cs typeface="Calibri" pitchFamily="34" charset="-120"/>
              </a:rPr>
              <a:t>A chart has 12 data marks and 8 non-data marks. Find the ratio. Remove 6 non-data marks and recompute.</a:t>
            </a:r>
            <a:endParaRPr lang="en-US" sz="1900" dirty="0"/>
          </a:p>
        </p:txBody>
      </p:sp>
      <p:sp>
        <p:nvSpPr>
          <p:cNvPr id="9" name="Shape 7"/>
          <p:cNvSpPr/>
          <p:nvPr/>
        </p:nvSpPr>
        <p:spPr>
          <a:xfrm>
            <a:off x="548640" y="3931920"/>
            <a:ext cx="11091672" cy="1074420"/>
          </a:xfrm>
          <a:prstGeom prst="roundRect">
            <a:avLst>
              <a:gd name="adj" fmla="val 10213"/>
            </a:avLst>
          </a:prstGeom>
          <a:solidFill>
            <a:srgbClr val="EEF3F6"/>
          </a:solidFill>
          <a:ln w="12700">
            <a:solidFill>
              <a:srgbClr val="EEF3F6"/>
            </a:solidFill>
            <a:prstDash val="solid"/>
          </a:ln>
        </p:spPr>
      </p:sp>
      <p:sp>
        <p:nvSpPr>
          <p:cNvPr id="10" name="Text 8"/>
          <p:cNvSpPr/>
          <p:nvPr/>
        </p:nvSpPr>
        <p:spPr>
          <a:xfrm>
            <a:off x="777240" y="4240530"/>
            <a:ext cx="457200" cy="457200"/>
          </a:xfrm>
          <a:prstGeom prst="ellipse">
            <a:avLst/>
          </a:prstGeom>
          <a:solidFill>
            <a:srgbClr val="3A5BA0"/>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1" name="Text 9"/>
          <p:cNvSpPr txBox="1"/>
          <p:nvPr/>
        </p:nvSpPr>
        <p:spPr>
          <a:xfrm>
            <a:off x="1463040" y="3931920"/>
            <a:ext cx="9902952" cy="1074420"/>
          </a:xfrm>
          <a:prstGeom prst="rect">
            <a:avLst/>
          </a:prstGeom>
          <a:noFill/>
          <a:ln/>
        </p:spPr>
        <p:txBody>
          <a:bodyPr wrap="square" lIns="0" tIns="0" rIns="0" bIns="0" rtlCol="0" anchor="ctr"/>
          <a:lstStyle/>
          <a:p>
            <a:pPr indent="0" marL="0">
              <a:buNone/>
            </a:pPr>
            <a:r>
              <a:rPr lang="en-US" sz="1900" dirty="0">
                <a:solidFill>
                  <a:srgbClr val="14213D"/>
                </a:solidFill>
                <a:latin typeface="Calibri" pitchFamily="34" charset="0"/>
                <a:ea typeface="Calibri" pitchFamily="34" charset="-122"/>
                <a:cs typeface="Calibri" pitchFamily="34" charset="-120"/>
              </a:rPr>
              <a:t>Name four kinds of chartjunk and say which is the most harmful for reading values.</a:t>
            </a:r>
            <a:endParaRPr lang="en-US" sz="1900" dirty="0"/>
          </a:p>
        </p:txBody>
      </p:sp>
      <p:sp>
        <p:nvSpPr>
          <p:cNvPr id="12" name="Shape 10"/>
          <p:cNvSpPr/>
          <p:nvPr/>
        </p:nvSpPr>
        <p:spPr>
          <a:xfrm>
            <a:off x="548640" y="5189220"/>
            <a:ext cx="11091672" cy="1074420"/>
          </a:xfrm>
          <a:prstGeom prst="roundRect">
            <a:avLst>
              <a:gd name="adj" fmla="val 10213"/>
            </a:avLst>
          </a:prstGeom>
          <a:solidFill>
            <a:srgbClr val="EEF3F6"/>
          </a:solidFill>
          <a:ln w="12700">
            <a:solidFill>
              <a:srgbClr val="EEF3F6"/>
            </a:solidFill>
            <a:prstDash val="solid"/>
          </a:ln>
        </p:spPr>
      </p:sp>
      <p:sp>
        <p:nvSpPr>
          <p:cNvPr id="13" name="Text 11"/>
          <p:cNvSpPr/>
          <p:nvPr/>
        </p:nvSpPr>
        <p:spPr>
          <a:xfrm>
            <a:off x="777240" y="5497830"/>
            <a:ext cx="457200" cy="457200"/>
          </a:xfrm>
          <a:prstGeom prst="ellipse">
            <a:avLst/>
          </a:prstGeom>
          <a:solidFill>
            <a:srgbClr val="C8553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4" name="Text 12"/>
          <p:cNvSpPr txBox="1"/>
          <p:nvPr/>
        </p:nvSpPr>
        <p:spPr>
          <a:xfrm>
            <a:off x="1463040" y="5189220"/>
            <a:ext cx="9902952" cy="1074420"/>
          </a:xfrm>
          <a:prstGeom prst="rect">
            <a:avLst/>
          </a:prstGeom>
          <a:noFill/>
          <a:ln/>
        </p:spPr>
        <p:txBody>
          <a:bodyPr wrap="square" lIns="0" tIns="0" rIns="0" bIns="0" rtlCol="0" anchor="ctr"/>
          <a:lstStyle/>
          <a:p>
            <a:pPr indent="0" marL="0">
              <a:buNone/>
            </a:pPr>
            <a:r>
              <a:rPr lang="en-US" sz="1900" dirty="0">
                <a:solidFill>
                  <a:srgbClr val="14213D"/>
                </a:solidFill>
                <a:latin typeface="Calibri" pitchFamily="34" charset="0"/>
                <a:ea typeface="Calibri" pitchFamily="34" charset="-122"/>
                <a:cs typeface="Calibri" pitchFamily="34" charset="-120"/>
              </a:rPr>
              <a:t>Give one example where removing an element would be a mistake.</a:t>
            </a:r>
            <a:endParaRPr lang="en-US" sz="19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Key takeaways</a:t>
            </a:r>
            <a:endParaRPr lang="en-US" sz="2800" dirty="0"/>
          </a:p>
        </p:txBody>
      </p:sp>
      <p:sp>
        <p:nvSpPr>
          <p:cNvPr id="3" name="Text 1"/>
          <p:cNvSpPr/>
          <p:nvPr/>
        </p:nvSpPr>
        <p:spPr>
          <a:xfrm>
            <a:off x="548640" y="1561795"/>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4" name="Text 2"/>
          <p:cNvSpPr txBox="1"/>
          <p:nvPr/>
        </p:nvSpPr>
        <p:spPr>
          <a:xfrm>
            <a:off x="1234440" y="1417320"/>
            <a:ext cx="10405872" cy="709574"/>
          </a:xfrm>
          <a:prstGeom prst="rect">
            <a:avLst/>
          </a:prstGeom>
          <a:noFill/>
          <a:ln/>
        </p:spPr>
        <p:txBody>
          <a:bodyPr wrap="square" lIns="0" tIns="0" rIns="0" bIns="0" rtlCol="0" anchor="ctr"/>
          <a:lstStyle/>
          <a:p>
            <a:pPr indent="0" marL="0">
              <a:buNone/>
            </a:pPr>
            <a:r>
              <a:rPr lang="en-US" sz="2000" b="1" dirty="0">
                <a:solidFill>
                  <a:srgbClr val="F29E4C"/>
                </a:solidFill>
                <a:latin typeface="Calibri" pitchFamily="34" charset="0"/>
                <a:ea typeface="Calibri" pitchFamily="34" charset="-122"/>
                <a:cs typeface="Calibri" pitchFamily="34" charset="-120"/>
              </a:rPr>
              <a:t>Data-ink ratio: </a:t>
            </a:r>
            <a:pPr indent="0" marL="0">
              <a:buNone/>
            </a:pPr>
            <a:r>
              <a:rPr lang="en-US" sz="2000" dirty="0">
                <a:solidFill>
                  <a:srgbClr val="FFFFFF"/>
                </a:solidFill>
                <a:latin typeface="Calibri" pitchFamily="34" charset="0"/>
                <a:ea typeface="Calibri" pitchFamily="34" charset="-122"/>
                <a:cs typeface="Calibri" pitchFamily="34" charset="-120"/>
              </a:rPr>
              <a:t>data-ink ÷ total ink. Make it high, but not at the cost of information.</a:t>
            </a:r>
            <a:endParaRPr lang="en-US" sz="2000" dirty="0"/>
          </a:p>
        </p:txBody>
      </p:sp>
      <p:sp>
        <p:nvSpPr>
          <p:cNvPr id="5" name="Text 3"/>
          <p:cNvSpPr/>
          <p:nvPr/>
        </p:nvSpPr>
        <p:spPr>
          <a:xfrm>
            <a:off x="548640" y="2435962"/>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6" name="Text 4"/>
          <p:cNvSpPr txBox="1"/>
          <p:nvPr/>
        </p:nvSpPr>
        <p:spPr>
          <a:xfrm>
            <a:off x="1234440" y="2291486"/>
            <a:ext cx="10405872" cy="709574"/>
          </a:xfrm>
          <a:prstGeom prst="rect">
            <a:avLst/>
          </a:prstGeom>
          <a:noFill/>
          <a:ln/>
        </p:spPr>
        <p:txBody>
          <a:bodyPr wrap="square" lIns="0" tIns="0" rIns="0" bIns="0" rtlCol="0" anchor="ctr"/>
          <a:lstStyle/>
          <a:p>
            <a:pPr indent="0" marL="0">
              <a:buNone/>
            </a:pPr>
            <a:r>
              <a:rPr lang="en-US" sz="2000" b="1" dirty="0">
                <a:solidFill>
                  <a:srgbClr val="F29E4C"/>
                </a:solidFill>
                <a:latin typeface="Calibri" pitchFamily="34" charset="0"/>
                <a:ea typeface="Calibri" pitchFamily="34" charset="-122"/>
                <a:cs typeface="Calibri" pitchFamily="34" charset="-120"/>
              </a:rPr>
              <a:t>Chartjunk: </a:t>
            </a:r>
            <a:pPr indent="0" marL="0">
              <a:buNone/>
            </a:pPr>
            <a:r>
              <a:rPr lang="en-US" sz="2000" dirty="0">
                <a:solidFill>
                  <a:srgbClr val="FFFFFF"/>
                </a:solidFill>
                <a:latin typeface="Calibri" pitchFamily="34" charset="0"/>
                <a:ea typeface="Calibri" pitchFamily="34" charset="-122"/>
                <a:cs typeface="Calibri" pitchFamily="34" charset="-120"/>
              </a:rPr>
              <a:t>heavy grids, 3D, decorative fills, repeated legends and labels.</a:t>
            </a:r>
            <a:endParaRPr lang="en-US" sz="2000" dirty="0"/>
          </a:p>
        </p:txBody>
      </p:sp>
      <p:sp>
        <p:nvSpPr>
          <p:cNvPr id="7" name="Text 5"/>
          <p:cNvSpPr/>
          <p:nvPr/>
        </p:nvSpPr>
        <p:spPr>
          <a:xfrm>
            <a:off x="548640" y="3310128"/>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8" name="Text 6"/>
          <p:cNvSpPr txBox="1"/>
          <p:nvPr/>
        </p:nvSpPr>
        <p:spPr>
          <a:xfrm>
            <a:off x="1234440" y="3165653"/>
            <a:ext cx="10405872" cy="709574"/>
          </a:xfrm>
          <a:prstGeom prst="rect">
            <a:avLst/>
          </a:prstGeom>
          <a:noFill/>
          <a:ln/>
        </p:spPr>
        <p:txBody>
          <a:bodyPr wrap="square" lIns="0" tIns="0" rIns="0" bIns="0" rtlCol="0" anchor="ctr"/>
          <a:lstStyle/>
          <a:p>
            <a:pPr indent="0" marL="0">
              <a:buNone/>
            </a:pPr>
            <a:r>
              <a:rPr lang="en-US" sz="2000" b="1" dirty="0">
                <a:solidFill>
                  <a:srgbClr val="F29E4C"/>
                </a:solidFill>
                <a:latin typeface="Calibri" pitchFamily="34" charset="0"/>
                <a:ea typeface="Calibri" pitchFamily="34" charset="-122"/>
                <a:cs typeface="Calibri" pitchFamily="34" charset="-120"/>
              </a:rPr>
              <a:t>Declutter: </a:t>
            </a:r>
            <a:pPr indent="0" marL="0">
              <a:buNone/>
            </a:pPr>
            <a:r>
              <a:rPr lang="en-US" sz="2000" dirty="0">
                <a:solidFill>
                  <a:srgbClr val="FFFFFF"/>
                </a:solidFill>
                <a:latin typeface="Calibri" pitchFamily="34" charset="0"/>
                <a:ea typeface="Calibri" pitchFamily="34" charset="-122"/>
                <a:cs typeface="Calibri" pitchFamily="34" charset="-120"/>
              </a:rPr>
              <a:t>remove frame, quiet the grid, one colour, label directly.</a:t>
            </a:r>
            <a:endParaRPr lang="en-US" sz="2000" dirty="0"/>
          </a:p>
        </p:txBody>
      </p:sp>
      <p:sp>
        <p:nvSpPr>
          <p:cNvPr id="9" name="Text 7"/>
          <p:cNvSpPr/>
          <p:nvPr/>
        </p:nvSpPr>
        <p:spPr>
          <a:xfrm>
            <a:off x="548640" y="4184294"/>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0" name="Text 8"/>
          <p:cNvSpPr txBox="1"/>
          <p:nvPr/>
        </p:nvSpPr>
        <p:spPr>
          <a:xfrm>
            <a:off x="1234440" y="4039819"/>
            <a:ext cx="10405872" cy="709574"/>
          </a:xfrm>
          <a:prstGeom prst="rect">
            <a:avLst/>
          </a:prstGeom>
          <a:noFill/>
          <a:ln/>
        </p:spPr>
        <p:txBody>
          <a:bodyPr wrap="square" lIns="0" tIns="0" rIns="0" bIns="0" rtlCol="0" anchor="ctr"/>
          <a:lstStyle/>
          <a:p>
            <a:pPr indent="0" marL="0">
              <a:buNone/>
            </a:pPr>
            <a:r>
              <a:rPr lang="en-US" sz="2000" b="1" dirty="0">
                <a:solidFill>
                  <a:srgbClr val="F29E4C"/>
                </a:solidFill>
                <a:latin typeface="Calibri" pitchFamily="34" charset="0"/>
                <a:ea typeface="Calibri" pitchFamily="34" charset="-122"/>
                <a:cs typeface="Calibri" pitchFamily="34" charset="-120"/>
              </a:rPr>
              <a:t>Keep: </a:t>
            </a:r>
            <a:pPr indent="0" marL="0">
              <a:buNone/>
            </a:pPr>
            <a:r>
              <a:rPr lang="en-US" sz="2000" dirty="0">
                <a:solidFill>
                  <a:srgbClr val="FFFFFF"/>
                </a:solidFill>
                <a:latin typeface="Calibri" pitchFamily="34" charset="0"/>
                <a:ea typeface="Calibri" pitchFamily="34" charset="-122"/>
                <a:cs typeface="Calibri" pitchFamily="34" charset="-120"/>
              </a:rPr>
              <a:t>title, units, zero baseline for bars and the source.</a:t>
            </a:r>
            <a:endParaRPr lang="en-US" sz="2000" dirty="0"/>
          </a:p>
        </p:txBody>
      </p:sp>
      <p:sp>
        <p:nvSpPr>
          <p:cNvPr id="11" name="Text 9"/>
          <p:cNvSpPr/>
          <p:nvPr/>
        </p:nvSpPr>
        <p:spPr>
          <a:xfrm>
            <a:off x="548640" y="5058461"/>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2" name="Text 10"/>
          <p:cNvSpPr txBox="1"/>
          <p:nvPr/>
        </p:nvSpPr>
        <p:spPr>
          <a:xfrm>
            <a:off x="1234440" y="4913986"/>
            <a:ext cx="10405872" cy="709574"/>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Judge each element by one test: does the reader lose anything if it goes?</a:t>
            </a:r>
            <a:endParaRPr lang="en-US" sz="2000" dirty="0"/>
          </a:p>
        </p:txBody>
      </p:sp>
      <p:sp>
        <p:nvSpPr>
          <p:cNvPr id="13" name="Text 11"/>
          <p:cNvSpPr txBox="1"/>
          <p:nvPr/>
        </p:nvSpPr>
        <p:spPr>
          <a:xfrm>
            <a:off x="548640" y="5806440"/>
            <a:ext cx="11091672" cy="457200"/>
          </a:xfrm>
          <a:prstGeom prst="rect">
            <a:avLst/>
          </a:prstGeom>
          <a:noFill/>
          <a:ln/>
        </p:spPr>
        <p:txBody>
          <a:bodyPr wrap="square" lIns="0" tIns="0" rIns="0" bIns="0" rtlCol="0" anchor="ctr"/>
          <a:lstStyle/>
          <a:p>
            <a:pPr indent="0" marL="0">
              <a:buNone/>
            </a:pPr>
            <a:r>
              <a:rPr lang="en-US" sz="1600" i="1" dirty="0">
                <a:solidFill>
                  <a:srgbClr val="B8C7D9"/>
                </a:solidFill>
                <a:latin typeface="Calibri" pitchFamily="34" charset="0"/>
                <a:ea typeface="Calibri" pitchFamily="34" charset="-122"/>
                <a:cs typeface="Calibri" pitchFamily="34" charset="-120"/>
              </a:rPr>
              <a:t>Next: Storytelling with Visuals</a:t>
            </a:r>
            <a:endParaRPr lang="en-US" sz="16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1C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BMT Data">
  <a:themeElements>
    <a:clrScheme name="BMT Data">
      <a:dk1>
        <a:srgbClr val="14213D"/>
      </a:dk1>
      <a:lt1>
        <a:srgbClr val="FFFFFF"/>
      </a:lt1>
      <a:dk2>
        <a:srgbClr val="0B6E6E"/>
      </a:dk2>
      <a:lt2>
        <a:srgbClr val="EEF3F6"/>
      </a:lt2>
      <a:accent1>
        <a:srgbClr val="0F8B8D"/>
      </a:accent1>
      <a:accent2>
        <a:srgbClr val="F29E4C"/>
      </a:accent2>
      <a:accent3>
        <a:srgbClr val="3A5BA0"/>
      </a:accent3>
      <a:accent4>
        <a:srgbClr val="C8553D"/>
      </a:accent4>
      <a:accent5>
        <a:srgbClr val="6E9B2F"/>
      </a:accent5>
      <a:accent6>
        <a:srgbClr val="8E6BBF"/>
      </a:accent6>
      <a:hlink>
        <a:srgbClr val="0F8B8D"/>
      </a:hlink>
      <a:folHlink>
        <a:srgbClr val="8E6BBF"/>
      </a:folHlink>
    </a:clrScheme>
    <a:fontScheme name="BMT Dat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SAGE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Data-Ink Ratio and Minimalist Design</dc:title>
  <dc:subject>Business Management Tools I</dc:subject>
  <dc:creator>Sushant Bhargav</dc:creator>
  <cp:lastModifiedBy>Sushant Bhargav</cp:lastModifiedBy>
  <cp:revision>1</cp:revision>
  <dcterms:created xsi:type="dcterms:W3CDTF">2026-10-07T01:36:20Z</dcterms:created>
  <dcterms:modified xsi:type="dcterms:W3CDTF">2026-10-07T01:36:20Z</dcterms:modified>
</cp:coreProperties>
</file>