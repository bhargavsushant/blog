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0: Labeling and Annotation Best Practices" id="{cc37f18a-ba38-6b9e-cbe7-66455c5f9917}">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Calibri"/>
              </a:defRPr>
            </a:pPr>
            <a:r>
              <a:rPr sz="1400" b="0" i="0" u="none" strike="noStrike">
                <a:solidFill>
                  <a:srgbClr val="14213D"/>
                </a:solidFill>
                <a:latin typeface="Calibri"/>
              </a:rPr>
              <a:t>Complaints last week (count, n = 110)</a:t>
            </a:r>
          </a:p>
        </c:rich>
      </c:tx>
      <c:layout/>
      <c:overlay val="0"/>
    </c:title>
    <c:autoTitleDeleted val="0"/>
    <c:plotArea>
      <c:layout/>
      <c:barChart>
        <c:barDir val="bar"/>
        <c:grouping val="clustered"/>
        <c:varyColors val="0"/>
        <c:ser>
          <c:idx val="0"/>
          <c:order val="0"/>
          <c:tx>
            <c:strRef>
              <c:f>Sheet1!$B$1</c:f>
              <c:strCache>
                <c:ptCount val="1"/>
                <c:pt idx="0">
                  <c:v>Complaints</c:v>
                </c:pt>
              </c:strCache>
            </c:strRef>
          </c:tx>
          <c:spPr>
            <a:solidFill>
              <a:srgbClr val="B8BFC9"/>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dPt>
            <c:idx val="0"/>
            <c:invertIfNegative val="0"/>
            <c:bubble3D val="0"/>
            <c:spPr>
              <a:solidFill>
                <a:srgbClr val="B8BFC9"/>
              </a:solidFill>
              <a:effectLst/>
            </c:spPr>
          </c:dPt>
          <c:dPt>
            <c:idx val="1"/>
            <c:invertIfNegative val="0"/>
            <c:bubble3D val="0"/>
            <c:spPr>
              <a:solidFill>
                <a:srgbClr val="B8BFC9"/>
              </a:solidFill>
              <a:effectLst/>
            </c:spPr>
          </c:dPt>
          <c:dPt>
            <c:idx val="2"/>
            <c:invertIfNegative val="0"/>
            <c:bubble3D val="0"/>
            <c:spPr>
              <a:solidFill>
                <a:srgbClr val="B8BFC9"/>
              </a:solidFill>
              <a:effectLst/>
            </c:spPr>
          </c:dPt>
          <c:dPt>
            <c:idx val="3"/>
            <c:invertIfNegative val="0"/>
            <c:bubble3D val="0"/>
            <c:spPr>
              <a:solidFill>
                <a:srgbClr val="B8BFC9"/>
              </a:solidFill>
              <a:effectLst/>
            </c:spPr>
          </c:dPt>
          <c:dPt>
            <c:idx val="4"/>
            <c:invertIfNegative val="0"/>
            <c:bubble3D val="0"/>
            <c:spPr>
              <a:solidFill>
                <a:srgbClr val="0F8B8D"/>
              </a:solidFill>
              <a:effectLst/>
            </c:spPr>
          </c:dPt>
          <c:cat>
            <c:multiLvlStrRef>
              <c:f>Sheet1!$A$2:$A$6</c:f>
              <c:multiLvlStrCache>
                <c:ptCount val="5"/>
                <c:lvl>
                  <c:pt idx="0">
                    <c:v>Billing</c:v>
                  </c:pt>
                  <c:pt idx="1">
                    <c:v>Rude staff</c:v>
                  </c:pt>
                  <c:pt idx="2">
                    <c:v>Cold food</c:v>
                  </c:pt>
                  <c:pt idx="3">
                    <c:v>Wrong item</c:v>
                  </c:pt>
                  <c:pt idx="4">
                    <c:v>Delay</c:v>
                  </c:pt>
                </c:lvl>
              </c:multiLvlStrCache>
            </c:multiLvlStrRef>
          </c:cat>
          <c:val>
            <c:numRef>
              <c:f>Sheet1!$B$2:$B$6</c:f>
              <c:numCache>
                <c:formatCode>General</c:formatCode>
                <c:ptCount val="5"/>
                <c:pt idx="0">
                  <c:v>6</c:v>
                </c:pt>
                <c:pt idx="1">
                  <c:v>9</c:v>
                </c:pt>
                <c:pt idx="2">
                  <c:v>18</c:v>
                </c:pt>
                <c:pt idx="3">
                  <c:v>31</c:v>
                </c:pt>
                <c:pt idx="4">
                  <c:v>46</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is about the words on a chart. A chart with good labels can be understood in ten seconds without anyone explaining it. We cover titles, axis labels with units, direct labels and annotations.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chart titled "Sales" with no units and ask what the numbers mean: rupees, lakh, units, crore? Nobody knows. That is the cost of missing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that labels are part of the data, not decoration. Excel gives default titles and legends, so you must edit them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work as a checklist. For each chart you make, tick all four. The next slides go through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turn "Sales by region" into a finding title. They need data to do it, which is the point: you write the title after you find the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in Excel you can format axis numbers as 0.0,, for millions or with a custom format. Many Indian reports use lakh and crore, so state which one you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uses real data on the next slide. Give students 30 seconds to write down what they would change. Collect their ideas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numbers, same chart type. Only the labels changed, yet this version can be understood without anyone talking. Point out that the label colours match the line colours, which links the two without a legend.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that the title uses two facts from the data: growth and crossover. Ask students if they can add the walk-in decline without making the title too long. Often a subtitle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46 + 31 + 18 + 9 + 6 = 110, and 46 / 110 = 41.8%, shown as 42%. Horizontal bars suit long category names, which would be cramped on a column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Power BI and Tableau the equivalent is a text annotation or reference line. Warn that annotations must stay true to the data: say what happened, and avoid claiming cause unless you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point is the one that matters most in business. Two things happening in the same month does not prove one caused the other. Use words like "after" or "coincided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four minutes. For question 1, accept any reasonable wording as long as it has a number and a direction.
ANSWERS
1. Example: "Q4 sales rose 25% above Q3". The title states the finding and the size of the change.
2. No unit (₹ or $), too many zeros, no period. Better: "Revenue (₹ lakh)" showing 5, 10, 15.
3. With many overlapping series, or when labels would collide. Otherwise direct labels save the reader a lookup.
4. Label first, last, peak and lowest points, plus any annotated event. Labelling all 24 clutters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10</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Labeling and Annotation Best Practices</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Write </a:t>
            </a:r>
            <a:pPr indent="0" marL="0">
              <a:buNone/>
            </a:pPr>
            <a:r>
              <a:rPr lang="en-US" sz="2400" dirty="0">
                <a:solidFill>
                  <a:srgbClr val="2B3A4F"/>
                </a:solidFill>
                <a:latin typeface="Calibri" pitchFamily="34" charset="0"/>
                <a:ea typeface="Calibri" pitchFamily="34" charset="-122"/>
                <a:cs typeface="Calibri" pitchFamily="34" charset="-120"/>
              </a:rPr>
              <a:t>chart titles that state the finding, not just the topic.</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Label </a:t>
            </a:r>
            <a:pPr indent="0" marL="0">
              <a:buNone/>
            </a:pPr>
            <a:r>
              <a:rPr lang="en-US" sz="2400" dirty="0">
                <a:solidFill>
                  <a:srgbClr val="2B3A4F"/>
                </a:solidFill>
                <a:latin typeface="Calibri" pitchFamily="34" charset="0"/>
                <a:ea typeface="Calibri" pitchFamily="34" charset="-122"/>
                <a:cs typeface="Calibri" pitchFamily="34" charset="-120"/>
              </a:rPr>
              <a:t>axes with the measure and its unit, such as "Sales (₹ lakh)".</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Replace </a:t>
            </a:r>
            <a:pPr indent="0" marL="0">
              <a:buNone/>
            </a:pPr>
            <a:r>
              <a:rPr lang="en-US" sz="2400" dirty="0">
                <a:solidFill>
                  <a:srgbClr val="2B3A4F"/>
                </a:solidFill>
                <a:latin typeface="Calibri" pitchFamily="34" charset="0"/>
                <a:ea typeface="Calibri" pitchFamily="34" charset="-122"/>
                <a:cs typeface="Calibri" pitchFamily="34" charset="-120"/>
              </a:rPr>
              <a:t>legends with direct labels where the chart allows it.</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Add </a:t>
            </a:r>
            <a:pPr indent="0" marL="0">
              <a:buNone/>
            </a:pPr>
            <a:r>
              <a:rPr lang="en-US" sz="2400" dirty="0">
                <a:solidFill>
                  <a:srgbClr val="2B3A4F"/>
                </a:solidFill>
                <a:latin typeface="Calibri" pitchFamily="34" charset="0"/>
                <a:ea typeface="Calibri" pitchFamily="34" charset="-122"/>
                <a:cs typeface="Calibri" pitchFamily="34" charset="-120"/>
              </a:rPr>
              <a:t>annotations that explain spikes, drops and turning points.</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Fix </a:t>
            </a:r>
            <a:pPr indent="0" marL="0">
              <a:buNone/>
            </a:pPr>
            <a:r>
              <a:rPr lang="en-US" sz="2400" dirty="0">
                <a:solidFill>
                  <a:srgbClr val="2B3A4F"/>
                </a:solidFill>
                <a:latin typeface="Calibri" pitchFamily="34" charset="0"/>
                <a:ea typeface="Calibri" pitchFamily="34" charset="-122"/>
                <a:cs typeface="Calibri" pitchFamily="34" charset="-120"/>
              </a:rPr>
              <a:t>a poorly labelled chart by comparing a before and an after version.</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TEST</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10 s</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A stranger should get the main message from your chart in about ten seconds, with no spoken help.</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Why labels matter</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Charts get shared </a:t>
            </a:r>
            <a:pPr indent="0" marL="0">
              <a:buNone/>
            </a:pPr>
            <a:r>
              <a:rPr lang="en-US" sz="2400" dirty="0">
                <a:solidFill>
                  <a:srgbClr val="2B3A4F"/>
                </a:solidFill>
                <a:latin typeface="Calibri" pitchFamily="34" charset="0"/>
                <a:ea typeface="Calibri" pitchFamily="34" charset="-122"/>
                <a:cs typeface="Calibri" pitchFamily="34" charset="-120"/>
              </a:rPr>
              <a:t>on WhatsApp and in PDFs, without you there to explain them.</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Missing units </a:t>
            </a:r>
            <a:pPr indent="0" marL="0">
              <a:buNone/>
            </a:pPr>
            <a:r>
              <a:rPr lang="en-US" sz="2400" dirty="0">
                <a:solidFill>
                  <a:srgbClr val="2B3A4F"/>
                </a:solidFill>
                <a:latin typeface="Calibri" pitchFamily="34" charset="0"/>
                <a:ea typeface="Calibri" pitchFamily="34" charset="-122"/>
                <a:cs typeface="Calibri" pitchFamily="34" charset="-120"/>
              </a:rPr>
              <a:t>turn a number into a guess. Is 45 in rupees, thousands or lakhs?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Default titles </a:t>
            </a:r>
            <a:pPr indent="0" marL="0">
              <a:buNone/>
            </a:pPr>
            <a:r>
              <a:rPr lang="en-US" sz="2400" dirty="0">
                <a:solidFill>
                  <a:srgbClr val="2B3A4F"/>
                </a:solidFill>
                <a:latin typeface="Calibri" pitchFamily="34" charset="0"/>
                <a:ea typeface="Calibri" pitchFamily="34" charset="-122"/>
                <a:cs typeface="Calibri" pitchFamily="34" charset="-120"/>
              </a:rPr>
              <a:t>such as "Chart Title" or "Series1" tell the reader nothing.</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Labels reduce effort: </a:t>
            </a:r>
            <a:pPr indent="0" marL="0">
              <a:buNone/>
            </a:pPr>
            <a:r>
              <a:rPr lang="en-US" sz="2400" dirty="0">
                <a:solidFill>
                  <a:srgbClr val="2B3A4F"/>
                </a:solidFill>
                <a:latin typeface="Calibri" pitchFamily="34" charset="0"/>
                <a:ea typeface="Calibri" pitchFamily="34" charset="-122"/>
                <a:cs typeface="Calibri" pitchFamily="34" charset="-120"/>
              </a:rPr>
              <a:t>the reader should not look back and forth between legend and line.</a:t>
            </a:r>
            <a:endParaRPr lang="en-US" sz="24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EXAMPLE</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A bar labelled 45 could be ₹45, ₹45,000 or ₹45 crore. The unit decides whether the shop is tiny or huge.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Four kinds of labels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Title</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Says what the reader should learn. Put a short subtitle for the period, place and unit when needed.</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Axis labels and units</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Name the measure and its unit on each axis. Use readable numbers: 5 lakh, not 500000.</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Direct labels</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Write series names and key values on the chart itself, next to the line or bar. Skip the legend lookup.</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Annotations</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Short notes with an arrow or highlight on events that explain the data: a festival, a rival, a price change.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Topic titles vs finding titles</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Topic title: says what it is</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Describes the data but not the point.</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Example: </a:t>
            </a:r>
            <a:pPr indent="0" marL="0">
              <a:buNone/>
            </a:pPr>
            <a:r>
              <a:rPr lang="en-US" sz="2100" dirty="0">
                <a:solidFill>
                  <a:srgbClr val="2B3A4F"/>
                </a:solidFill>
                <a:latin typeface="Calibri" pitchFamily="34" charset="0"/>
                <a:ea typeface="Calibri" pitchFamily="34" charset="-122"/>
                <a:cs typeface="Calibri" pitchFamily="34" charset="-120"/>
              </a:rPr>
              <a:t>"Monthly orders, Apr to Mar".</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The reader must find the message alone.</a:t>
            </a:r>
            <a:endParaRPr lang="en-US" sz="2100" dirty="0"/>
          </a:p>
          <a:p>
            <a:pPr marL="228600" indent="-228600">
              <a:buSzPct val="100000"/>
              <a:buChar char="•"/>
            </a:pPr>
            <a:r>
              <a:rPr lang="en-US" sz="2100" dirty="0">
                <a:solidFill>
                  <a:srgbClr val="2B3A4F"/>
                </a:solidFill>
                <a:latin typeface="Calibri" pitchFamily="34" charset="0"/>
                <a:ea typeface="Calibri" pitchFamily="34" charset="-122"/>
                <a:cs typeface="Calibri" pitchFamily="34" charset="-120"/>
              </a:rPr>
              <a:t>Fine for a data appendix or dashboard tile.</a:t>
            </a:r>
            <a:endParaRPr lang="en-US" sz="21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Finding title: says what it means</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States the message in one clear sentence.</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Example: </a:t>
            </a:r>
            <a:pPr indent="0" marL="0">
              <a:buNone/>
            </a:pPr>
            <a:r>
              <a:rPr lang="en-US" sz="2100" dirty="0">
                <a:solidFill>
                  <a:srgbClr val="2B3A4F"/>
                </a:solidFill>
                <a:latin typeface="Calibri" pitchFamily="34" charset="0"/>
                <a:ea typeface="Calibri" pitchFamily="34" charset="-122"/>
                <a:cs typeface="Calibri" pitchFamily="34" charset="-120"/>
              </a:rPr>
              <a:t>"Orders fell 33% after a rival opened".</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The reader gets the point even if they skim.</a:t>
            </a:r>
            <a:endParaRPr lang="en-US" sz="2100" dirty="0"/>
          </a:p>
          <a:p>
            <a:pPr marL="228600" indent="-228600">
              <a:buSzPct val="100000"/>
              <a:buChar char="•"/>
            </a:pPr>
            <a:r>
              <a:rPr lang="en-US" sz="2100" dirty="0">
                <a:solidFill>
                  <a:srgbClr val="2B3A4F"/>
                </a:solidFill>
                <a:latin typeface="Calibri" pitchFamily="34" charset="0"/>
                <a:ea typeface="Calibri" pitchFamily="34" charset="-122"/>
                <a:cs typeface="Calibri" pitchFamily="34" charset="-120"/>
              </a:rPr>
              <a:t>Best for reports, emails and presentations.</a:t>
            </a:r>
            <a:endParaRPr lang="en-US" sz="21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Good finding title: a verb, a number and a comparison. Keep it under about 12 words and make sure the chart really shows it.</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Axis labels: weak vs strong</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680556"/>
                <a:gridCol w="2576853"/>
                <a:gridCol w="3809261"/>
                <a:gridCol w="3025001"/>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Where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Weak</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Strong</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Why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Y axis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Sales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Sales (₹ lakh)</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Unit is stated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X axis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Date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Month (Apr to Sep 2025)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Period is stated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Y axis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500000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5 lakh</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Fewer zeros to read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Legend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Series1</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Online orders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Meaningful name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Percent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0.125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12.5%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Matches how we speak</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352544"/>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If a unit or period is obvious from the title, you may drop it from the axis, but never drop both.</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Before: the unlabelled chart</a:t>
            </a:r>
            <a:endParaRPr lang="en-US" sz="2800" dirty="0"/>
          </a:p>
        </p:txBody>
      </p:sp>
      <p:pic>
        <p:nvPicPr>
          <p:cNvPr id="3" name="Image 0" descr="img/u2t10_before.png">    </p:cNvPr>
          <p:cNvPicPr>
            <a:picLocks noChangeAspect="1"/>
          </p:cNvPicPr>
          <p:nvPr/>
        </p:nvPicPr>
        <p:blipFill>
          <a:blip r:embed="rId1"/>
          <a:srcRect l="0" r="0" t="0" b="0"/>
          <a:stretch/>
        </p:blipFill>
        <p:spPr>
          <a:xfrm>
            <a:off x="548640" y="1417320"/>
            <a:ext cx="7040880" cy="4846320"/>
          </a:xfrm>
          <a:prstGeom prst="rect">
            <a:avLst/>
          </a:prstGeom>
        </p:spPr>
      </p:pic>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IS WRONG</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Title "Chart 1" says nothing.</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No axis titles or units. Orders? Rupees?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"Series1" and "Series2" force the reader to guess.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Dark gridlines compete with the lines.</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No sign of what happened when the lines cross.</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After: same data, fully labelled</a:t>
            </a:r>
            <a:endParaRPr lang="en-US" sz="2800" dirty="0"/>
          </a:p>
        </p:txBody>
      </p:sp>
      <p:pic>
        <p:nvPicPr>
          <p:cNvPr id="3" name="Image 0" descr="img/u2t10_after.png">    </p:cNvPr>
          <p:cNvPicPr>
            <a:picLocks noChangeAspect="1"/>
          </p:cNvPicPr>
          <p:nvPr/>
        </p:nvPicPr>
        <p:blipFill>
          <a:blip r:embed="rId1"/>
          <a:srcRect l="0" r="0" t="0" b="0"/>
          <a:stretch/>
        </p:blipFill>
        <p:spPr>
          <a:xfrm>
            <a:off x="548640" y="1417320"/>
            <a:ext cx="7040880" cy="4846320"/>
          </a:xfrm>
          <a:prstGeom prst="rect">
            <a:avLst/>
          </a:prstGeom>
        </p:spPr>
      </p:pic>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CHANGED</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Finding title with a number.</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Axis titles with measure and period.</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Direct labels at line ends replace the legend.</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Teal for the story line, grey for the other.</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An annotation marks the July crossover.</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Write a finding title with numbers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cafe tracks monthly orders in two channels from April to September (illustrative data).</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Online: </a:t>
            </a:r>
            <a:pPr indent="0" marL="0">
              <a:buNone/>
            </a:pPr>
            <a:r>
              <a:rPr lang="en-US" sz="2200" dirty="0">
                <a:solidFill>
                  <a:srgbClr val="2B3A4F"/>
                </a:solidFill>
                <a:latin typeface="Calibri" pitchFamily="34" charset="0"/>
                <a:ea typeface="Calibri" pitchFamily="34" charset="-122"/>
                <a:cs typeface="Calibri" pitchFamily="34" charset="-120"/>
              </a:rPr>
              <a:t>380 in April to 580 in September. (580 - 380) / 380 = +52.6%.</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Walk-in: </a:t>
            </a:r>
            <a:pPr indent="0" marL="0">
              <a:buNone/>
            </a:pPr>
            <a:r>
              <a:rPr lang="en-US" sz="2200" dirty="0">
                <a:solidFill>
                  <a:srgbClr val="2B3A4F"/>
                </a:solidFill>
                <a:latin typeface="Calibri" pitchFamily="34" charset="0"/>
                <a:ea typeface="Calibri" pitchFamily="34" charset="-122"/>
                <a:cs typeface="Calibri" pitchFamily="34" charset="-120"/>
              </a:rPr>
              <a:t>520 in April to 455 in September. (455 - 520) / 520 = -12.5%.</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Crossover: </a:t>
            </a:r>
            <a:pPr indent="0" marL="0">
              <a:buNone/>
            </a:pPr>
            <a:r>
              <a:rPr lang="en-US" sz="2200" dirty="0">
                <a:solidFill>
                  <a:srgbClr val="2B3A4F"/>
                </a:solidFill>
                <a:latin typeface="Calibri" pitchFamily="34" charset="0"/>
                <a:ea typeface="Calibri" pitchFamily="34" charset="-122"/>
                <a:cs typeface="Calibri" pitchFamily="34" charset="-120"/>
              </a:rPr>
              <a:t>July is the first month online (490) beats walk-in (480).</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Title: </a:t>
            </a:r>
            <a:pPr indent="0" marL="0">
              <a:buNone/>
            </a:pPr>
            <a:r>
              <a:rPr lang="en-US" sz="2200" dirty="0">
                <a:solidFill>
                  <a:srgbClr val="2B3A4F"/>
                </a:solidFill>
                <a:latin typeface="Calibri" pitchFamily="34" charset="0"/>
                <a:ea typeface="Calibri" pitchFamily="34" charset="-122"/>
                <a:cs typeface="Calibri" pitchFamily="34" charset="-120"/>
              </a:rPr>
              <a:t>"Online orders grew 53% in six months and passed walk-ins in July".</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Round numbers in titles (53%, not 52.6316%), but keep the exact values in the data labels or table.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Direct labels instead of a gridline hunt</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Each bar carries its value, so the value axis can go.</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Category names sit on the bars, so no legend is needed.</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Delay is 46 of 110 complaints, which is 42%.</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Colour plus the order of bars tell the same story.</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Add an annotation in Excel</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Your monthly orders line chart has a sharp drop in November. Explain it on the chart.</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Select the November point, </a:t>
            </a:r>
            <a:pPr indent="0" marL="0">
              <a:buNone/>
            </a:pPr>
            <a:r>
              <a:rPr lang="en-US" sz="2200" dirty="0">
                <a:solidFill>
                  <a:srgbClr val="2B3A4F"/>
                </a:solidFill>
                <a:latin typeface="Calibri" pitchFamily="34" charset="0"/>
                <a:ea typeface="Calibri" pitchFamily="34" charset="-122"/>
                <a:cs typeface="Calibri" pitchFamily="34" charset="-120"/>
              </a:rPr>
              <a:t>right-click, then Add Data Label. Keep only the value.</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Insert a text box: </a:t>
            </a:r>
            <a:pPr indent="0" marL="0">
              <a:buNone/>
            </a:pPr>
            <a:r>
              <a:rPr lang="en-US" sz="2200" dirty="0">
                <a:solidFill>
                  <a:srgbClr val="2B3A4F"/>
                </a:solidFill>
                <a:latin typeface="Calibri" pitchFamily="34" charset="0"/>
                <a:ea typeface="Calibri" pitchFamily="34" charset="-122"/>
                <a:cs typeface="Calibri" pitchFamily="34" charset="-120"/>
              </a:rPr>
              <a:t>Insert &gt; Text Box. Write "Rival cafe opens 200 m away". Keep it under 8 words.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Add an arrow </a:t>
            </a:r>
            <a:pPr indent="0" marL="0">
              <a:buNone/>
            </a:pPr>
            <a:r>
              <a:rPr lang="en-US" sz="2200" dirty="0">
                <a:solidFill>
                  <a:srgbClr val="2B3A4F"/>
                </a:solidFill>
                <a:latin typeface="Calibri" pitchFamily="34" charset="0"/>
                <a:ea typeface="Calibri" pitchFamily="34" charset="-122"/>
                <a:cs typeface="Calibri" pitchFamily="34" charset="-120"/>
              </a:rPr>
              <a:t>from the note to the point (Insert &gt; Shapes &gt; Arrow) in dark grey.</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Group the items: </a:t>
            </a:r>
            <a:pPr indent="0" marL="0">
              <a:buNone/>
            </a:pPr>
            <a:r>
              <a:rPr lang="en-US" sz="2200" dirty="0">
                <a:solidFill>
                  <a:srgbClr val="2B3A4F"/>
                </a:solidFill>
                <a:latin typeface="Calibri" pitchFamily="34" charset="0"/>
                <a:ea typeface="Calibri" pitchFamily="34" charset="-122"/>
                <a:cs typeface="Calibri" pitchFamily="34" charset="-120"/>
              </a:rPr>
              <a:t>select all, right-click &gt; Group, so they move together.</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The drop now has a reason. Annotate only 1 to 3 events so the chart does not become a diary.</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Truncated axis, no warning</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bar axis starting at 40 instead of 0 makes small gaps look huge. Start bars at zero, or say so clearly.</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Over-labelling</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value on every point of a 36-month line is unreadable. Label the first, last, peak and low.</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Rotated and crowded text</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Diagonal labels slow reading. Use horizontal bars or shorter names such as "Jan" instead of "January 2025".</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Claiming cause</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An annotation saying "because of the rival" implies cause. Write "after" unless you have proof.</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Rewrite the title "Sales by quarter" for data where Q4 sales are 25% above Q3.</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Name three things wrong with an axis labelled "Revenue" showing 500000, 1000000, 1500000.</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When is a legend better than direct labels?</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line chart has 24 monthly points. Which should you label?</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Title: </a:t>
            </a:r>
            <a:pPr indent="0" marL="0">
              <a:buNone/>
            </a:pPr>
            <a:r>
              <a:rPr lang="en-US" sz="2000" dirty="0">
                <a:solidFill>
                  <a:srgbClr val="FFFFFF"/>
                </a:solidFill>
                <a:latin typeface="Calibri" pitchFamily="34" charset="0"/>
                <a:ea typeface="Calibri" pitchFamily="34" charset="-122"/>
                <a:cs typeface="Calibri" pitchFamily="34" charset="-120"/>
              </a:rPr>
              <a:t>state the finding, with a number if you can.</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Axes: </a:t>
            </a:r>
            <a:pPr indent="0" marL="0">
              <a:buNone/>
            </a:pPr>
            <a:r>
              <a:rPr lang="en-US" sz="2000" dirty="0">
                <a:solidFill>
                  <a:srgbClr val="FFFFFF"/>
                </a:solidFill>
                <a:latin typeface="Calibri" pitchFamily="34" charset="0"/>
                <a:ea typeface="Calibri" pitchFamily="34" charset="-122"/>
                <a:cs typeface="Calibri" pitchFamily="34" charset="-120"/>
              </a:rPr>
              <a:t>name the measure and the unit on each one.</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Direct labels: </a:t>
            </a:r>
            <a:pPr indent="0" marL="0">
              <a:buNone/>
            </a:pPr>
            <a:r>
              <a:rPr lang="en-US" sz="2000" dirty="0">
                <a:solidFill>
                  <a:srgbClr val="FFFFFF"/>
                </a:solidFill>
                <a:latin typeface="Calibri" pitchFamily="34" charset="0"/>
                <a:ea typeface="Calibri" pitchFamily="34" charset="-122"/>
                <a:cs typeface="Calibri" pitchFamily="34" charset="-120"/>
              </a:rPr>
              <a:t>put names and key values on the chart, not in a legend.</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Annotations: </a:t>
            </a:r>
            <a:pPr indent="0" marL="0">
              <a:buNone/>
            </a:pPr>
            <a:r>
              <a:rPr lang="en-US" sz="2000" dirty="0">
                <a:solidFill>
                  <a:srgbClr val="FFFFFF"/>
                </a:solidFill>
                <a:latin typeface="Calibri" pitchFamily="34" charset="0"/>
                <a:ea typeface="Calibri" pitchFamily="34" charset="-122"/>
                <a:cs typeface="Calibri" pitchFamily="34" charset="-120"/>
              </a:rPr>
              <a:t>explain 1 to 3 key events with short notes and arrows.</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Never claim cause from timing alone. Say "after" or "coincided with".</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Data-Ink Ratio and Minimalist Design</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Labeling and Annotation Best Practices</dc:title>
  <dc:subject>Business Management Tools I</dc:subject>
  <dc:creator>Sushant Bhargav</dc:creator>
  <cp:lastModifiedBy>Sushant Bhargav</cp:lastModifiedBy>
  <cp:revision>1</cp:revision>
  <dcterms:created xsi:type="dcterms:W3CDTF">2026-10-07T01:36:19Z</dcterms:created>
  <dcterms:modified xsi:type="dcterms:W3CDTF">2026-10-07T01:36:19Z</dcterms:modified>
</cp:coreProperties>
</file>