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8.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9.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0.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5: Categorical Data Visualization" id="{bafb2665-a43b-f69c-e8d2-59aef7a35ffb}">
          <p14:sldIdLst>
            <p14:sldId id="256"/>
            <p14:sldId id="257"/>
            <p14:sldId id="258"/>
            <p14:sldId id="259"/>
            <p14:sldId id="260"/>
            <p14:sldId id="261"/>
            <p14:sldId id="262"/>
            <p14:sldId id="263"/>
            <p14:sldId id="264"/>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Orders</c:v>
                </c:pt>
              </c:strCache>
            </c:strRef>
          </c:tx>
          <c:spPr>
            <a:solidFill>
              <a:srgbClr val="0F8B8D"/>
            </a:solidFill>
            <a:effectLst/>
          </c:spPr>
          <c:invertIfNegative val="0"/>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cat>
            <c:multiLvlStrRef>
              <c:f>Sheet1!$A$2:$A$5</c:f>
              <c:multiLvlStrCache>
                <c:ptCount val="4"/>
                <c:lvl>
                  <c:pt idx="0">
                    <c:v>UPI</c:v>
                  </c:pt>
                  <c:pt idx="1">
                    <c:v>Cash</c:v>
                  </c:pt>
                  <c:pt idx="2">
                    <c:v>Card</c:v>
                  </c:pt>
                  <c:pt idx="3">
                    <c:v>Wallet</c:v>
                  </c:pt>
                </c:lvl>
              </c:multiLvlStrCache>
            </c:multiLvlStrRef>
          </c:cat>
          <c:val>
            <c:numRef>
              <c:f>Sheet1!$B$2:$B$5</c:f>
              <c:numCache>
                <c:formatCode>General</c:formatCode>
                <c:ptCount val="4"/>
                <c:pt idx="0">
                  <c:v>142</c:v>
                </c:pt>
                <c:pt idx="1">
                  <c:v>58</c:v>
                </c:pt>
                <c:pt idx="2">
                  <c:v>37</c:v>
                </c:pt>
                <c:pt idx="3">
                  <c:v>13</c:v>
                </c:pt>
              </c:numCache>
            </c:numRef>
          </c:val>
        </c:ser>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scaling>
        <c:delete val="1"/>
        <c:axPos val="l"/>
        <c:title>
          <c:tx>
            <c:rich>
              <a:bodyPr/>
              <a:lstStyle/>
              <a:p>
                <a:pPr>
                  <a:defRPr sz="1200" b="0" i="0" u="none" strike="noStrike">
                    <a:solidFill>
                      <a:srgbClr val="56667A"/>
                    </a:solidFill>
                    <a:latin typeface="Arial"/>
                  </a:defRPr>
                </a:pPr>
                <a:r>
                  <a:rPr sz="1200" b="0" i="0" u="none" strike="noStrike">
                    <a:solidFill>
                      <a:srgbClr val="56667A"/>
                    </a:solidFill>
                    <a:latin typeface="Arial"/>
                  </a:rPr>
                  <a:t>Number of orders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Share of orders</c:v>
                </c:pt>
              </c:strCache>
            </c:strRef>
          </c:tx>
          <c:spPr>
            <a:solidFill>
              <a:schemeClr val="accent1"/>
            </a:solidFill>
            <a:ln w="9525" cap="flat">
              <a:solidFill>
                <a:srgbClr val="F9F9F9"/>
              </a:solidFill>
              <a:prstDash val="solid"/>
              <a:round/>
            </a:ln>
            <a:effectLst/>
          </c:spPr>
          <c:dPt>
            <c:idx val="0"/>
            <c:bubble3D val="0"/>
            <c:spPr>
              <a:solidFill>
                <a:srgbClr val="0F8B8D"/>
              </a:solidFill>
              <a:ln w="19050" cap="flat">
                <a:solidFill>
                  <a:srgbClr val="FFFFFF"/>
                </a:solidFill>
                <a:prstDash val="solid"/>
                <a:round/>
              </a:ln>
              <a:effectLst/>
            </c:spPr>
          </c:dPt>
          <c:dPt>
            <c:idx val="1"/>
            <c:bubble3D val="0"/>
            <c:spPr>
              <a:solidFill>
                <a:srgbClr val="F29E4C"/>
              </a:solidFill>
              <a:ln w="19050" cap="flat">
                <a:solidFill>
                  <a:srgbClr val="FFFFFF"/>
                </a:solidFill>
                <a:prstDash val="solid"/>
                <a:round/>
              </a:ln>
              <a:effectLst/>
            </c:spPr>
          </c:dPt>
          <c:dPt>
            <c:idx val="2"/>
            <c:bubble3D val="0"/>
            <c:spPr>
              <a:solidFill>
                <a:srgbClr val="3A5BA0"/>
              </a:solidFill>
              <a:ln w="19050" cap="flat">
                <a:solidFill>
                  <a:srgbClr val="FFFFFF"/>
                </a:solidFill>
                <a:prstDash val="solid"/>
                <a:round/>
              </a:ln>
              <a:effectLst/>
            </c:spPr>
          </c:dPt>
          <c:dPt>
            <c:idx val="3"/>
            <c:bubble3D val="0"/>
            <c:spPr>
              <a:solidFill>
                <a:srgbClr val="C8553D"/>
              </a:solidFill>
              <a:ln w="19050" cap="flat">
                <a:solidFill>
                  <a:srgbClr val="FFFFFF"/>
                </a:solidFill>
                <a:prstDash val="solid"/>
                <a:round/>
              </a:ln>
              <a:effectLst/>
            </c:spPr>
          </c:dPt>
          <c:dLbls>
            <c:dLbl>
              <c:idx val="0"/>
              <c:numFmt formatCode="General" sourceLinked="0"/>
              <c:spPr/>
              <c:txPr>
                <a:bodyPr/>
                <a:lstStyle/>
                <a:p>
                  <a:pPr>
                    <a:defRPr sz="1400" b="0" i="0" u="none" strike="noStrike">
                      <a:solidFill>
                        <a:srgbClr val="14213D"/>
                      </a:solidFill>
                      <a:latin typeface="Calibri"/>
                    </a:defRPr>
                  </a:pPr>
                </a:p>
              </c:txPr>
              <c:dLblPos val="outEnd"/>
              <c:showLegendKey val="0"/>
              <c:showVal val="0"/>
              <c:showCatName val="0"/>
              <c:showSerName val="0"/>
              <c:showPercent val="1"/>
              <c:showBubbleSize val="0"/>
            </c:dLbl>
            <c:dLbl>
              <c:idx val="1"/>
              <c:numFmt formatCode="General" sourceLinked="0"/>
              <c:spPr/>
              <c:txPr>
                <a:bodyPr/>
                <a:lstStyle/>
                <a:p>
                  <a:pPr>
                    <a:defRPr sz="1400" b="0" i="0" u="none" strike="noStrike">
                      <a:solidFill>
                        <a:srgbClr val="14213D"/>
                      </a:solidFill>
                      <a:latin typeface="Calibri"/>
                    </a:defRPr>
                  </a:pPr>
                </a:p>
              </c:txPr>
              <c:dLblPos val="outEnd"/>
              <c:showLegendKey val="0"/>
              <c:showVal val="0"/>
              <c:showCatName val="0"/>
              <c:showSerName val="0"/>
              <c:showPercent val="1"/>
              <c:showBubbleSize val="0"/>
            </c:dLbl>
            <c:dLbl>
              <c:idx val="2"/>
              <c:numFmt formatCode="General" sourceLinked="0"/>
              <c:spPr/>
              <c:txPr>
                <a:bodyPr/>
                <a:lstStyle/>
                <a:p>
                  <a:pPr>
                    <a:defRPr sz="1400" b="0" i="0" u="none" strike="noStrike">
                      <a:solidFill>
                        <a:srgbClr val="14213D"/>
                      </a:solidFill>
                      <a:latin typeface="Calibri"/>
                    </a:defRPr>
                  </a:pPr>
                </a:p>
              </c:txPr>
              <c:dLblPos val="outEnd"/>
              <c:showLegendKey val="0"/>
              <c:showVal val="0"/>
              <c:showCatName val="0"/>
              <c:showSerName val="0"/>
              <c:showPercent val="1"/>
              <c:showBubbleSize val="0"/>
            </c:dLbl>
            <c:dLbl>
              <c:idx val="3"/>
              <c:numFmt formatCode="General" sourceLinked="0"/>
              <c:spPr/>
              <c:txPr>
                <a:bodyPr/>
                <a:lstStyle/>
                <a:p>
                  <a:pPr>
                    <a:defRPr sz="1400" b="0" i="0" u="none" strike="noStrike">
                      <a:solidFill>
                        <a:srgbClr val="14213D"/>
                      </a:solidFill>
                      <a:latin typeface="Calibri"/>
                    </a:defRPr>
                  </a:pPr>
                </a:p>
              </c:txPr>
              <c:dLblPos val="outEnd"/>
              <c:showLegendKey val="0"/>
              <c:showVal val="0"/>
              <c:showCatName val="0"/>
              <c:showSerName val="0"/>
              <c:showPercent val="1"/>
              <c:showBubbleSize val="0"/>
            </c:dLbl>
            <c:numFmt formatCode="General"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UPI</c:v>
                </c:pt>
                <c:pt idx="1">
                  <c:v>Cash</c:v>
                </c:pt>
                <c:pt idx="2">
                  <c:v>Card</c:v>
                </c:pt>
                <c:pt idx="3">
                  <c:v>Wallet</c:v>
                </c:pt>
              </c:strCache>
            </c:strRef>
          </c:cat>
          <c:val>
            <c:numRef>
              <c:f>Sheet1!$B$2:$B$5</c:f>
              <c:numCache>
                <c:ptCount val="4"/>
                <c:pt idx="0">
                  <c:v>56.8</c:v>
                </c:pt>
                <c:pt idx="1">
                  <c:v>23.2</c:v>
                </c:pt>
                <c:pt idx="2">
                  <c:v>14.8</c:v>
                </c:pt>
                <c:pt idx="3">
                  <c:v>5.2</c:v>
                </c:pt>
              </c:numCache>
            </c:numRef>
          </c:val>
        </c:ser>
        <c:firstSliceAng val="0"/>
      </c:pieChart>
      <c:spPr>
        <a:noFill/>
        <a:ln>
          <a:noFill/>
        </a:ln>
        <a:effectLst/>
      </c:spPr>
    </c:plotArea>
    <c:legend>
      <c:legendPos val="r"/>
      <c:overlay val="0"/>
      <c:txPr>
        <a:bodyPr/>
        <a:lstStyle/>
        <a:p>
          <a:pPr>
            <a:defRPr sz="1200">
              <a:solidFill>
                <a:srgbClr val="56667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Students</c:v>
                </c:pt>
              </c:strCache>
            </c:strRef>
          </c:tx>
          <c:spPr>
            <a:solidFill>
              <a:srgbClr val="3A5BA0"/>
            </a:solidFill>
            <a:effectLst/>
          </c:spPr>
          <c:invertIfNegative val="0"/>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cat>
            <c:multiLvlStrRef>
              <c:f>Sheet1!$A$2:$A$7</c:f>
              <c:multiLvlStrCache>
                <c:ptCount val="6"/>
                <c:lvl>
                  <c:pt idx="0">
                    <c:v>Hoshangabad</c:v>
                  </c:pt>
                  <c:pt idx="1">
                    <c:v>Raisen</c:v>
                  </c:pt>
                  <c:pt idx="2">
                    <c:v>Vidisha</c:v>
                  </c:pt>
                  <c:pt idx="3">
                    <c:v>Sehore</c:v>
                  </c:pt>
                  <c:pt idx="4">
                    <c:v>Indore</c:v>
                  </c:pt>
                  <c:pt idx="5">
                    <c:v>Bhopal</c:v>
                  </c:pt>
                </c:lvl>
              </c:multiLvlStrCache>
            </c:multiLvlStrRef>
          </c:cat>
          <c:val>
            <c:numRef>
              <c:f>Sheet1!$B$2:$B$7</c:f>
              <c:numCache>
                <c:formatCode>General</c:formatCode>
                <c:ptCount val="6"/>
                <c:pt idx="0">
                  <c:v>38</c:v>
                </c:pt>
                <c:pt idx="1">
                  <c:v>40</c:v>
                </c:pt>
                <c:pt idx="2">
                  <c:v>41</c:v>
                </c:pt>
                <c:pt idx="3">
                  <c:v>44</c:v>
                </c:pt>
                <c:pt idx="4">
                  <c:v>45</c:v>
                </c:pt>
                <c:pt idx="5">
                  <c:v>48</c:v>
                </c:pt>
              </c:numCache>
            </c:numRef>
          </c:val>
        </c:ser>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bar charts and pie charts, the two standard charts for categories. The focus is on choosing between them, sorting the categories sensibly, and knowing when a pie chart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which chart they would use for payment modes at a cafe. Most will say pie. Promise them that by the end they will know when that is a good answer and when it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eye is good at comparing lengths and poor at comparing angles. That single fact explains almost every rule in this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try to chart 250 raw rows. The chart is always built from a frequency table. Show the PivotTable route live if time permits.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UPI is 142 / 250 = 0.568, so 56.8%. The cumulative column adds percentages from the top. It shows that UPI and cash together cover 80% of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payment mode would you worry about supporting last? Wallet at 13 orders. Point out that the bars share one baseline, which is why comparison is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Sorting by size is only for categories with no order. Ratings, age groups and months have their own order, and breaking it confuses the reader. Ask the class to name one more variable that must keep its natural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best case for a pie: few slices and one dominant. The message "more than half of orders are UPI" is clear. The bar chart would also work, but the pie fits the share-of-a-whole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look at a six-slice pie before showing the bar chart on the next slide. Ask them to rank the towns from the pie alone. Few will get Sehore and Vidisha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Horizontal bars list the largest at the top, which reads naturally. Excel draws the first category at the bottom, so reverse the order or tick Categories in reverse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cut-off axis is the most common trick in news graphics. Ask students to check the axis start before they trust a bar chart. Also note a pie of a variable that is not a whole, such as "favourite brand" where people picked several,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 365 also has Recommended Charts, which often suggests a pie. Teach students to override it when there are more than 5 categories. In pandas, value_counts() already sorts from largest to smallest.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three minutes. For question 4, 5 / 137 is under 4%, yet on a 130 to 150 axis the bars look like 12 and 7, so one seems 1.7 times the other.
ANSWERS
1. 60%, 30%, 10%. A pie works: 3 slices, one dominant. A bar chart is also fine.
2. Bar. Nine slices with similar sizes cannot be compared by eye, and the legend is too long.
3. No. Size is ordinal, so keep the order Small, Medium, Large.
4. The axis is cut off. The bars exaggerate a 5-unit gap (under 4%). Start at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731520" y="2103120"/>
            <a:ext cx="7863840" cy="1828800"/>
          </a:xfrm>
          <a:prstGeom prst="rect">
            <a:avLst/>
          </a:prstGeom>
          <a:noFill/>
          <a:ln/>
        </p:spPr>
        <p:txBody>
          <a:bodyPr wrap="square" rtlCol="0"/>
          <a:lstStyle>
            <a:lvl1pPr algn="l" indent="0" marL="0">
              <a:buNone/>
              <a:defRPr lang="en-US" sz="4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4" type="body" hasCustomPrompt="1"/>
          </p:nvPr>
        </p:nvSpPr>
        <p:spPr>
          <a:xfrm>
            <a:off x="731520" y="4114800"/>
            <a:ext cx="7680960" cy="914400"/>
          </a:xfrm>
          <a:prstGeom prst="rect">
            <a:avLst/>
          </a:prstGeom>
          <a:noFill/>
          <a:ln/>
        </p:spPr>
        <p:txBody>
          <a:bodyPr wrap="square" rtlCol="0"/>
          <a:lstStyle>
            <a:lvl1pPr algn="l" indent="0" marL="0">
              <a:buNone/>
              <a:defRPr lang="en-US" sz="2000" dirty="0">
                <a:solidFill>
                  <a:srgbClr val="C9D6E6"/>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56667A"/>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9FB1C8"/>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8.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9.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0.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7863840" cy="365760"/>
          </a:xfrm>
          <a:prstGeom prst="rect">
            <a:avLst/>
          </a:prstGeom>
          <a:noFill/>
          <a:ln/>
        </p:spPr>
        <p:txBody>
          <a:bodyPr wrap="square" lIns="0" tIns="0" rIns="0" bIns="0" rtlCol="0" anchor="ctr"/>
          <a:lstStyle/>
          <a:p>
            <a:pPr indent="0" marL="0">
              <a:buNone/>
            </a:pPr>
            <a:r>
              <a:rPr lang="en-US" sz="1400" b="1" spc="300" kern="0" dirty="0">
                <a:solidFill>
                  <a:srgbClr val="F29E4C"/>
                </a:solidFill>
                <a:latin typeface="Calibri" pitchFamily="34" charset="0"/>
                <a:ea typeface="Calibri" pitchFamily="34" charset="-122"/>
                <a:cs typeface="Calibri" pitchFamily="34" charset="-120"/>
              </a:rPr>
              <a:t>UNIT II  ·  TOPIC 5</a:t>
            </a:r>
            <a:endParaRPr lang="en-US" sz="1400" dirty="0"/>
          </a:p>
        </p:txBody>
      </p:sp>
      <p:sp>
        <p:nvSpPr>
          <p:cNvPr id="3" name="Text 0"/>
          <p:cNvSpPr/>
          <p:nvPr>
            <p:ph idx="103" type="title" hasCustomPrompt="1"/>
          </p:nvPr>
        </p:nvSpPr>
        <p:spPr>
          <a:xfrm>
            <a:off x="731520" y="2103120"/>
            <a:ext cx="7863840" cy="1828800"/>
          </a:xfrm>
          <a:prstGeom prst="rect">
            <a:avLst/>
          </a:prstGeom>
          <a:noFill/>
          <a:ln/>
        </p:spPr>
        <p:txBody>
          <a:bodyPr wrap="square" lIns="0" tIns="0" rIns="0" bIns="0" rtlCol="0" anchor="t"/>
          <a:lstStyle/>
          <a:p>
            <a:pPr algn="l" indent="0" marL="0">
              <a:buNone/>
            </a:pPr>
            <a:r>
              <a:rPr lang="en-US" sz="4200" b="1" dirty="0">
                <a:solidFill>
                  <a:srgbClr val="FFFFFF"/>
                </a:solidFill>
                <a:latin typeface="Cambria" pitchFamily="34" charset="0"/>
                <a:ea typeface="Cambria" pitchFamily="34" charset="-122"/>
                <a:cs typeface="Cambria" pitchFamily="34" charset="-120"/>
              </a:rPr>
              <a:t>Categorical Data Visualization</a:t>
            </a:r>
            <a:endParaRPr lang="en-US" sz="4200" dirty="0"/>
          </a:p>
        </p:txBody>
      </p:sp>
      <p:sp>
        <p:nvSpPr>
          <p:cNvPr id="4" name="Text 0"/>
          <p:cNvSpPr/>
          <p:nvPr>
            <p:ph idx="104" type="body" hasCustomPrompt="1"/>
          </p:nvPr>
        </p:nvSpPr>
        <p:spPr>
          <a:xfrm>
            <a:off x="731520" y="4114800"/>
            <a:ext cx="7680960" cy="914400"/>
          </a:xfrm>
          <a:prstGeom prst="rect">
            <a:avLst/>
          </a:prstGeom>
          <a:noFill/>
          <a:ln/>
        </p:spPr>
        <p:txBody>
          <a:bodyPr wrap="square" lIns="0" tIns="0" rIns="0" bIns="0" rtlCol="0" anchor="t"/>
          <a:lstStyle/>
          <a:p>
            <a:pPr algn="l" indent="0" marL="0">
              <a:buNone/>
            </a:pPr>
            <a:r>
              <a:rPr lang="en-US" sz="2000" dirty="0">
                <a:solidFill>
                  <a:srgbClr val="C9D6E6"/>
                </a:solidFill>
                <a:latin typeface="Calibri" pitchFamily="34" charset="0"/>
                <a:ea typeface="Calibri" pitchFamily="34" charset="-122"/>
                <a:cs typeface="Calibri" pitchFamily="34" charset="-120"/>
              </a:rPr>
              <a:t>Data Visualization</a:t>
            </a:r>
            <a:endParaRPr lang="en-US" sz="2000" dirty="0"/>
          </a:p>
          <a:p>
            <a:pPr algn="l" indent="0" marL="0">
              <a:buNone/>
            </a:pPr>
            <a:r>
              <a:rPr lang="en-US" sz="2000" dirty="0">
                <a:solidFill>
                  <a:srgbClr val="C9D6E6"/>
                </a:solidFill>
                <a:latin typeface="Calibri" pitchFamily="34" charset="0"/>
                <a:ea typeface="Calibri" pitchFamily="34" charset="-122"/>
                <a:cs typeface="Calibri" pitchFamily="34" charset="-120"/>
              </a:rPr>
              <a:t>Business Management Tools I (AE25UCBM001)  ·  SAGE University, Bhopal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you will learn</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Build </a:t>
            </a:r>
            <a:pPr indent="0" marL="0">
              <a:buNone/>
            </a:pPr>
            <a:r>
              <a:rPr lang="en-US" sz="2400" dirty="0">
                <a:solidFill>
                  <a:srgbClr val="2B3A4F"/>
                </a:solidFill>
                <a:latin typeface="Calibri" pitchFamily="34" charset="0"/>
                <a:ea typeface="Calibri" pitchFamily="34" charset="-122"/>
                <a:cs typeface="Calibri" pitchFamily="34" charset="-120"/>
              </a:rPr>
              <a:t>a frequency table from raw category data.</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Draw </a:t>
            </a:r>
            <a:pPr indent="0" marL="0">
              <a:buNone/>
            </a:pPr>
            <a:r>
              <a:rPr lang="en-US" sz="2400" dirty="0">
                <a:solidFill>
                  <a:srgbClr val="2B3A4F"/>
                </a:solidFill>
                <a:latin typeface="Calibri" pitchFamily="34" charset="0"/>
                <a:ea typeface="Calibri" pitchFamily="34" charset="-122"/>
                <a:cs typeface="Calibri" pitchFamily="34" charset="-120"/>
              </a:rPr>
              <a:t>a bar chart and a pie chart from that table.</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Sort </a:t>
            </a:r>
            <a:pPr indent="0" marL="0">
              <a:buNone/>
            </a:pPr>
            <a:r>
              <a:rPr lang="en-US" sz="2400" dirty="0">
                <a:solidFill>
                  <a:srgbClr val="2B3A4F"/>
                </a:solidFill>
                <a:latin typeface="Calibri" pitchFamily="34" charset="0"/>
                <a:ea typeface="Calibri" pitchFamily="34" charset="-122"/>
                <a:cs typeface="Calibri" pitchFamily="34" charset="-120"/>
              </a:rPr>
              <a:t>categories in the order that helps the reader.</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Decide </a:t>
            </a:r>
            <a:pPr indent="0" marL="0">
              <a:buNone/>
            </a:pPr>
            <a:r>
              <a:rPr lang="en-US" sz="2400" dirty="0">
                <a:solidFill>
                  <a:srgbClr val="2B3A4F"/>
                </a:solidFill>
                <a:latin typeface="Calibri" pitchFamily="34" charset="0"/>
                <a:ea typeface="Calibri" pitchFamily="34" charset="-122"/>
                <a:cs typeface="Calibri" pitchFamily="34" charset="-120"/>
              </a:rPr>
              <a:t>when a pie chart works and when it fails.</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Spot </a:t>
            </a:r>
            <a:pPr indent="0" marL="0">
              <a:buNone/>
            </a:pPr>
            <a:r>
              <a:rPr lang="en-US" sz="2400" dirty="0">
                <a:solidFill>
                  <a:srgbClr val="2B3A4F"/>
                </a:solidFill>
                <a:latin typeface="Calibri" pitchFamily="34" charset="0"/>
                <a:ea typeface="Calibri" pitchFamily="34" charset="-122"/>
                <a:cs typeface="Calibri" pitchFamily="34" charset="-120"/>
              </a:rPr>
              <a:t>common chart mistakes such as a cut-off axis.</a:t>
            </a:r>
            <a:endParaRPr lang="en-US" sz="2400" dirty="0"/>
          </a:p>
        </p:txBody>
      </p:sp>
      <p:sp>
        <p:nvSpPr>
          <p:cNvPr id="4" name="Shape 2"/>
          <p:cNvSpPr/>
          <p:nvPr/>
        </p:nvSpPr>
        <p:spPr>
          <a:xfrm>
            <a:off x="7680960" y="1417320"/>
            <a:ext cx="3959352" cy="4846320"/>
          </a:xfrm>
          <a:prstGeom prst="roundRect">
            <a:avLst>
              <a:gd name="adj" fmla="val 2771"/>
            </a:avLst>
          </a:prstGeom>
          <a:solidFill>
            <a:srgbClr val="DDF0F0"/>
          </a:solidFill>
          <a:ln w="12700">
            <a:solidFill>
              <a:srgbClr val="DDF0F0"/>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BIG IDEA</a:t>
            </a:r>
            <a:endParaRPr lang="en-US" sz="1200" dirty="0"/>
          </a:p>
        </p:txBody>
      </p:sp>
      <p:sp>
        <p:nvSpPr>
          <p:cNvPr id="6" name="Text 4"/>
          <p:cNvSpPr txBox="1"/>
          <p:nvPr/>
        </p:nvSpPr>
        <p:spPr>
          <a:xfrm>
            <a:off x="7955280" y="2148840"/>
            <a:ext cx="3410712" cy="91440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1</a:t>
            </a:r>
            <a:endParaRPr lang="en-US" sz="4800" dirty="0"/>
          </a:p>
        </p:txBody>
      </p:sp>
      <p:sp>
        <p:nvSpPr>
          <p:cNvPr id="7" name="Text 5"/>
          <p:cNvSpPr txBox="1"/>
          <p:nvPr/>
        </p:nvSpPr>
        <p:spPr>
          <a:xfrm>
            <a:off x="7955280" y="3154680"/>
            <a:ext cx="3410712" cy="283464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chart must answer one question. A bar chart compares categories. A pie chart shows a share of a whole.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Bar chart and pie chart: what each is for</a:t>
            </a:r>
            <a:endParaRPr lang="en-US" sz="2800" dirty="0"/>
          </a:p>
        </p:txBody>
      </p:sp>
      <p:sp>
        <p:nvSpPr>
          <p:cNvPr id="3" name="Shape 1"/>
          <p:cNvSpPr/>
          <p:nvPr/>
        </p:nvSpPr>
        <p:spPr>
          <a:xfrm>
            <a:off x="548640" y="1417320"/>
            <a:ext cx="5385816" cy="3886200"/>
          </a:xfrm>
          <a:prstGeom prst="roundRect">
            <a:avLst>
              <a:gd name="adj" fmla="val 2824"/>
            </a:avLst>
          </a:prstGeom>
          <a:solidFill>
            <a:srgbClr val="EEF3F6"/>
          </a:solidFill>
          <a:ln w="12700">
            <a:solidFill>
              <a:srgbClr val="EEF3F6"/>
            </a:solidFill>
            <a:prstDash val="solid"/>
          </a:ln>
        </p:spPr>
      </p:sp>
      <p:sp>
        <p:nvSpPr>
          <p:cNvPr id="4" name="Shape 2"/>
          <p:cNvSpPr/>
          <p:nvPr/>
        </p:nvSpPr>
        <p:spPr>
          <a:xfrm>
            <a:off x="548640" y="1417320"/>
            <a:ext cx="5385816" cy="640080"/>
          </a:xfrm>
          <a:prstGeom prst="roundRect">
            <a:avLst>
              <a:gd name="adj" fmla="val 17143"/>
            </a:avLst>
          </a:prstGeom>
          <a:solidFill>
            <a:srgbClr val="0F8B8D"/>
          </a:solidFill>
          <a:ln w="12700">
            <a:solidFill>
              <a:srgbClr val="0F8B8D"/>
            </a:solidFill>
            <a:prstDash val="solid"/>
          </a:ln>
        </p:spPr>
      </p:sp>
      <p:sp>
        <p:nvSpPr>
          <p:cNvPr id="5" name="Text 3"/>
          <p:cNvSpPr txBox="1"/>
          <p:nvPr/>
        </p:nvSpPr>
        <p:spPr>
          <a:xfrm>
            <a:off x="822960"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Bar chart: compare categories</a:t>
            </a:r>
            <a:endParaRPr lang="en-US" sz="2000" dirty="0"/>
          </a:p>
        </p:txBody>
      </p:sp>
      <p:sp>
        <p:nvSpPr>
          <p:cNvPr id="6" name="Text 4"/>
          <p:cNvSpPr txBox="1"/>
          <p:nvPr/>
        </p:nvSpPr>
        <p:spPr>
          <a:xfrm>
            <a:off x="822960"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One bar per category. Bar length shows the count or value.</a:t>
            </a:r>
            <a:endParaRPr lang="en-US" sz="2100" dirty="0"/>
          </a:p>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Works for 2 to 20 categories.</a:t>
            </a:r>
            <a:endParaRPr lang="en-US" sz="2100" dirty="0"/>
          </a:p>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Easy to rank, because the eye compares lengths on a common baseline.</a:t>
            </a:r>
            <a:endParaRPr lang="en-US" sz="2100" dirty="0"/>
          </a:p>
          <a:p>
            <a:pPr marL="228600" indent="-228600">
              <a:buSzPct val="100000"/>
              <a:buChar char="•"/>
            </a:pPr>
            <a:r>
              <a:rPr lang="en-US" sz="2100" dirty="0">
                <a:solidFill>
                  <a:srgbClr val="2B3A4F"/>
                </a:solidFill>
                <a:latin typeface="Calibri" pitchFamily="34" charset="0"/>
                <a:ea typeface="Calibri" pitchFamily="34" charset="-122"/>
                <a:cs typeface="Calibri" pitchFamily="34" charset="-120"/>
              </a:rPr>
              <a:t>Horizontal bars suit long category names.</a:t>
            </a:r>
            <a:endParaRPr lang="en-US" sz="2100" dirty="0"/>
          </a:p>
        </p:txBody>
      </p:sp>
      <p:sp>
        <p:nvSpPr>
          <p:cNvPr id="7" name="Shape 5"/>
          <p:cNvSpPr/>
          <p:nvPr/>
        </p:nvSpPr>
        <p:spPr>
          <a:xfrm>
            <a:off x="6254496" y="1417320"/>
            <a:ext cx="5385816" cy="3886200"/>
          </a:xfrm>
          <a:prstGeom prst="roundRect">
            <a:avLst>
              <a:gd name="adj" fmla="val 2824"/>
            </a:avLst>
          </a:prstGeom>
          <a:solidFill>
            <a:srgbClr val="EEF3F6"/>
          </a:solidFill>
          <a:ln w="12700">
            <a:solidFill>
              <a:srgbClr val="EEF3F6"/>
            </a:solidFill>
            <a:prstDash val="solid"/>
          </a:ln>
        </p:spPr>
      </p:sp>
      <p:sp>
        <p:nvSpPr>
          <p:cNvPr id="8" name="Shape 6"/>
          <p:cNvSpPr/>
          <p:nvPr/>
        </p:nvSpPr>
        <p:spPr>
          <a:xfrm>
            <a:off x="6254496" y="1417320"/>
            <a:ext cx="5385816" cy="640080"/>
          </a:xfrm>
          <a:prstGeom prst="roundRect">
            <a:avLst>
              <a:gd name="adj" fmla="val 17143"/>
            </a:avLst>
          </a:prstGeom>
          <a:solidFill>
            <a:srgbClr val="3A5BA0"/>
          </a:solidFill>
          <a:ln w="12700">
            <a:solidFill>
              <a:srgbClr val="3A5BA0"/>
            </a:solidFill>
            <a:prstDash val="solid"/>
          </a:ln>
        </p:spPr>
      </p:sp>
      <p:sp>
        <p:nvSpPr>
          <p:cNvPr id="9" name="Text 7"/>
          <p:cNvSpPr txBox="1"/>
          <p:nvPr/>
        </p:nvSpPr>
        <p:spPr>
          <a:xfrm>
            <a:off x="6528816"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Pie chart: share of a whole</a:t>
            </a:r>
            <a:endParaRPr lang="en-US" sz="2000" dirty="0"/>
          </a:p>
        </p:txBody>
      </p:sp>
      <p:sp>
        <p:nvSpPr>
          <p:cNvPr id="10" name="Text 8"/>
          <p:cNvSpPr txBox="1"/>
          <p:nvPr/>
        </p:nvSpPr>
        <p:spPr>
          <a:xfrm>
            <a:off x="6528816"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One slice per category. Slice size shows the percentage.</a:t>
            </a:r>
            <a:endParaRPr lang="en-US" sz="2100" dirty="0"/>
          </a:p>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Works for 2 to 5 categories that add up to 100%.</a:t>
            </a:r>
            <a:endParaRPr lang="en-US" sz="2100" dirty="0"/>
          </a:p>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Good when one slice clearly dominates.</a:t>
            </a:r>
            <a:endParaRPr lang="en-US" sz="2100" dirty="0"/>
          </a:p>
          <a:p>
            <a:pPr marL="228600" indent="-228600">
              <a:buSzPct val="100000"/>
              <a:buChar char="•"/>
            </a:pPr>
            <a:r>
              <a:rPr lang="en-US" sz="2100" dirty="0">
                <a:solidFill>
                  <a:srgbClr val="2B3A4F"/>
                </a:solidFill>
                <a:latin typeface="Calibri" pitchFamily="34" charset="0"/>
                <a:ea typeface="Calibri" pitchFamily="34" charset="-122"/>
                <a:cs typeface="Calibri" pitchFamily="34" charset="-120"/>
              </a:rPr>
              <a:t>Hard to compare slices that are close in size.</a:t>
            </a:r>
            <a:endParaRPr lang="en-US" sz="2100" dirty="0"/>
          </a:p>
        </p:txBody>
      </p:sp>
      <p:sp>
        <p:nvSpPr>
          <p:cNvPr id="11" name="Shape 9"/>
          <p:cNvSpPr/>
          <p:nvPr/>
        </p:nvSpPr>
        <p:spPr>
          <a:xfrm>
            <a:off x="548640" y="5532120"/>
            <a:ext cx="11091672" cy="731520"/>
          </a:xfrm>
          <a:prstGeom prst="roundRect">
            <a:avLst>
              <a:gd name="adj" fmla="val 15000"/>
            </a:avLst>
          </a:prstGeom>
          <a:solidFill>
            <a:srgbClr val="FDEBD6"/>
          </a:solidFill>
          <a:ln w="12700">
            <a:solidFill>
              <a:srgbClr val="FDEBD6"/>
            </a:solidFill>
            <a:prstDash val="solid"/>
          </a:ln>
        </p:spPr>
      </p:sp>
      <p:sp>
        <p:nvSpPr>
          <p:cNvPr id="12" name="Text 10"/>
          <p:cNvSpPr txBox="1"/>
          <p:nvPr/>
        </p:nvSpPr>
        <p:spPr>
          <a:xfrm>
            <a:off x="822960" y="5532120"/>
            <a:ext cx="10543032" cy="73152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Rule of thumb: if the reader needs to compare or rank, use bars. If the message is "most of it is X", a pie can work.</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From raw data to a categorical chart</a:t>
            </a:r>
            <a:endParaRPr lang="en-US" sz="2800" dirty="0"/>
          </a:p>
        </p:txBody>
      </p:sp>
      <p:sp>
        <p:nvSpPr>
          <p:cNvPr id="3" name="Shape 1"/>
          <p:cNvSpPr/>
          <p:nvPr/>
        </p:nvSpPr>
        <p:spPr>
          <a:xfrm>
            <a:off x="548640" y="1417320"/>
            <a:ext cx="2130552" cy="777240"/>
          </a:xfrm>
          <a:prstGeom prst="homePlate">
            <a:avLst/>
          </a:prstGeom>
          <a:solidFill>
            <a:srgbClr val="0F8B8D"/>
          </a:solidFill>
          <a:ln w="12700">
            <a:solidFill>
              <a:srgbClr val="0F8B8D"/>
            </a:solidFill>
            <a:prstDash val="solid"/>
          </a:ln>
        </p:spPr>
      </p:sp>
      <p:sp>
        <p:nvSpPr>
          <p:cNvPr id="4" name="Text 2"/>
          <p:cNvSpPr txBox="1"/>
          <p:nvPr/>
        </p:nvSpPr>
        <p:spPr>
          <a:xfrm>
            <a:off x="73152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1  Count</a:t>
            </a:r>
            <a:endParaRPr lang="en-US" sz="1700" dirty="0"/>
          </a:p>
        </p:txBody>
      </p:sp>
      <p:sp>
        <p:nvSpPr>
          <p:cNvPr id="5" name="Shape 3"/>
          <p:cNvSpPr/>
          <p:nvPr/>
        </p:nvSpPr>
        <p:spPr>
          <a:xfrm>
            <a:off x="548640" y="2331720"/>
            <a:ext cx="2084832" cy="2011680"/>
          </a:xfrm>
          <a:prstGeom prst="roundRect">
            <a:avLst>
              <a:gd name="adj" fmla="val 5455"/>
            </a:avLst>
          </a:prstGeom>
          <a:solidFill>
            <a:srgbClr val="EEF3F6"/>
          </a:solidFill>
          <a:ln w="12700">
            <a:solidFill>
              <a:srgbClr val="EEF3F6"/>
            </a:solidFill>
            <a:prstDash val="solid"/>
          </a:ln>
        </p:spPr>
      </p:sp>
      <p:sp>
        <p:nvSpPr>
          <p:cNvPr id="6" name="Text 4"/>
          <p:cNvSpPr txBox="1"/>
          <p:nvPr/>
        </p:nvSpPr>
        <p:spPr>
          <a:xfrm>
            <a:off x="731520" y="2468880"/>
            <a:ext cx="1719072" cy="1737360"/>
          </a:xfrm>
          <a:prstGeom prst="rect">
            <a:avLst/>
          </a:prstGeom>
          <a:noFill/>
          <a:ln/>
        </p:spPr>
        <p:txBody>
          <a:bodyPr wrap="square" lIns="0" tIns="0" rIns="0" bIns="0" rtlCol="0" anchor="t"/>
          <a:lstStyle/>
          <a:p>
            <a:pPr indent="0" marL="0">
              <a:buNone/>
            </a:pPr>
            <a:r>
              <a:rPr lang="en-US" sz="1800" dirty="0">
                <a:solidFill>
                  <a:srgbClr val="2B3A4F"/>
                </a:solidFill>
                <a:latin typeface="Calibri" pitchFamily="34" charset="0"/>
                <a:ea typeface="Calibri" pitchFamily="34" charset="-122"/>
                <a:cs typeface="Calibri" pitchFamily="34" charset="-120"/>
              </a:rPr>
              <a:t>Count how many rows fall in each category. Excel: COUNTIF or a PivotTable.</a:t>
            </a:r>
            <a:endParaRPr lang="en-US" sz="1800" dirty="0"/>
          </a:p>
        </p:txBody>
      </p:sp>
      <p:sp>
        <p:nvSpPr>
          <p:cNvPr id="7" name="Shape 5"/>
          <p:cNvSpPr/>
          <p:nvPr/>
        </p:nvSpPr>
        <p:spPr>
          <a:xfrm>
            <a:off x="2788920" y="1417320"/>
            <a:ext cx="2130552" cy="777240"/>
          </a:xfrm>
          <a:prstGeom prst="homePlate">
            <a:avLst/>
          </a:prstGeom>
          <a:solidFill>
            <a:srgbClr val="F29E4C"/>
          </a:solidFill>
          <a:ln w="12700">
            <a:solidFill>
              <a:srgbClr val="F29E4C"/>
            </a:solidFill>
            <a:prstDash val="solid"/>
          </a:ln>
        </p:spPr>
      </p:sp>
      <p:sp>
        <p:nvSpPr>
          <p:cNvPr id="8" name="Text 6"/>
          <p:cNvSpPr txBox="1"/>
          <p:nvPr/>
        </p:nvSpPr>
        <p:spPr>
          <a:xfrm>
            <a:off x="297180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2  Convert</a:t>
            </a:r>
            <a:endParaRPr lang="en-US" sz="1700" dirty="0"/>
          </a:p>
        </p:txBody>
      </p:sp>
      <p:sp>
        <p:nvSpPr>
          <p:cNvPr id="9" name="Shape 7"/>
          <p:cNvSpPr/>
          <p:nvPr/>
        </p:nvSpPr>
        <p:spPr>
          <a:xfrm>
            <a:off x="2788920" y="2331720"/>
            <a:ext cx="2084832" cy="2011680"/>
          </a:xfrm>
          <a:prstGeom prst="roundRect">
            <a:avLst>
              <a:gd name="adj" fmla="val 5455"/>
            </a:avLst>
          </a:prstGeom>
          <a:solidFill>
            <a:srgbClr val="EEF3F6"/>
          </a:solidFill>
          <a:ln w="12700">
            <a:solidFill>
              <a:srgbClr val="EEF3F6"/>
            </a:solidFill>
            <a:prstDash val="solid"/>
          </a:ln>
        </p:spPr>
      </p:sp>
      <p:sp>
        <p:nvSpPr>
          <p:cNvPr id="10" name="Text 8"/>
          <p:cNvSpPr txBox="1"/>
          <p:nvPr/>
        </p:nvSpPr>
        <p:spPr>
          <a:xfrm>
            <a:off x="2971800" y="2468880"/>
            <a:ext cx="1719072" cy="1737360"/>
          </a:xfrm>
          <a:prstGeom prst="rect">
            <a:avLst/>
          </a:prstGeom>
          <a:noFill/>
          <a:ln/>
        </p:spPr>
        <p:txBody>
          <a:bodyPr wrap="square" lIns="0" tIns="0" rIns="0" bIns="0" rtlCol="0" anchor="t"/>
          <a:lstStyle/>
          <a:p>
            <a:pPr indent="0" marL="0">
              <a:buNone/>
            </a:pPr>
            <a:r>
              <a:rPr lang="en-US" sz="1800" dirty="0">
                <a:solidFill>
                  <a:srgbClr val="2B3A4F"/>
                </a:solidFill>
                <a:latin typeface="Calibri" pitchFamily="34" charset="0"/>
                <a:ea typeface="Calibri" pitchFamily="34" charset="-122"/>
                <a:cs typeface="Calibri" pitchFamily="34" charset="-120"/>
              </a:rPr>
              <a:t>Turn counts into percentages of the total. Check they add up to 100%.</a:t>
            </a:r>
            <a:endParaRPr lang="en-US" sz="1800" dirty="0"/>
          </a:p>
        </p:txBody>
      </p:sp>
      <p:sp>
        <p:nvSpPr>
          <p:cNvPr id="11" name="Shape 9"/>
          <p:cNvSpPr/>
          <p:nvPr/>
        </p:nvSpPr>
        <p:spPr>
          <a:xfrm>
            <a:off x="5029200" y="1417320"/>
            <a:ext cx="2130552" cy="777240"/>
          </a:xfrm>
          <a:prstGeom prst="homePlate">
            <a:avLst/>
          </a:prstGeom>
          <a:solidFill>
            <a:srgbClr val="3A5BA0"/>
          </a:solidFill>
          <a:ln w="12700">
            <a:solidFill>
              <a:srgbClr val="3A5BA0"/>
            </a:solidFill>
            <a:prstDash val="solid"/>
          </a:ln>
        </p:spPr>
      </p:sp>
      <p:sp>
        <p:nvSpPr>
          <p:cNvPr id="12" name="Text 10"/>
          <p:cNvSpPr txBox="1"/>
          <p:nvPr/>
        </p:nvSpPr>
        <p:spPr>
          <a:xfrm>
            <a:off x="521208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3  Sort</a:t>
            </a:r>
            <a:endParaRPr lang="en-US" sz="1700" dirty="0"/>
          </a:p>
        </p:txBody>
      </p:sp>
      <p:sp>
        <p:nvSpPr>
          <p:cNvPr id="13" name="Shape 11"/>
          <p:cNvSpPr/>
          <p:nvPr/>
        </p:nvSpPr>
        <p:spPr>
          <a:xfrm>
            <a:off x="5029200" y="2331720"/>
            <a:ext cx="2084832" cy="2011680"/>
          </a:xfrm>
          <a:prstGeom prst="roundRect">
            <a:avLst>
              <a:gd name="adj" fmla="val 5455"/>
            </a:avLst>
          </a:prstGeom>
          <a:solidFill>
            <a:srgbClr val="EEF3F6"/>
          </a:solidFill>
          <a:ln w="12700">
            <a:solidFill>
              <a:srgbClr val="EEF3F6"/>
            </a:solidFill>
            <a:prstDash val="solid"/>
          </a:ln>
        </p:spPr>
      </p:sp>
      <p:sp>
        <p:nvSpPr>
          <p:cNvPr id="14" name="Text 12"/>
          <p:cNvSpPr txBox="1"/>
          <p:nvPr/>
        </p:nvSpPr>
        <p:spPr>
          <a:xfrm>
            <a:off x="5212080" y="2468880"/>
            <a:ext cx="171907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Order the categories by size, unless they have a natural order.</a:t>
            </a:r>
            <a:endParaRPr lang="en-US" sz="1900" dirty="0"/>
          </a:p>
        </p:txBody>
      </p:sp>
      <p:sp>
        <p:nvSpPr>
          <p:cNvPr id="15" name="Shape 13"/>
          <p:cNvSpPr/>
          <p:nvPr/>
        </p:nvSpPr>
        <p:spPr>
          <a:xfrm>
            <a:off x="7269480" y="1417320"/>
            <a:ext cx="2130552" cy="777240"/>
          </a:xfrm>
          <a:prstGeom prst="homePlate">
            <a:avLst/>
          </a:prstGeom>
          <a:solidFill>
            <a:srgbClr val="C8553D"/>
          </a:solidFill>
          <a:ln w="12700">
            <a:solidFill>
              <a:srgbClr val="C8553D"/>
            </a:solidFill>
            <a:prstDash val="solid"/>
          </a:ln>
        </p:spPr>
      </p:sp>
      <p:sp>
        <p:nvSpPr>
          <p:cNvPr id="16" name="Text 14"/>
          <p:cNvSpPr txBox="1"/>
          <p:nvPr/>
        </p:nvSpPr>
        <p:spPr>
          <a:xfrm>
            <a:off x="745236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4  Choose</a:t>
            </a:r>
            <a:endParaRPr lang="en-US" sz="1700" dirty="0"/>
          </a:p>
        </p:txBody>
      </p:sp>
      <p:sp>
        <p:nvSpPr>
          <p:cNvPr id="17" name="Shape 15"/>
          <p:cNvSpPr/>
          <p:nvPr/>
        </p:nvSpPr>
        <p:spPr>
          <a:xfrm>
            <a:off x="7269480" y="2331720"/>
            <a:ext cx="2084832" cy="2011680"/>
          </a:xfrm>
          <a:prstGeom prst="roundRect">
            <a:avLst>
              <a:gd name="adj" fmla="val 5455"/>
            </a:avLst>
          </a:prstGeom>
          <a:solidFill>
            <a:srgbClr val="EEF3F6"/>
          </a:solidFill>
          <a:ln w="12700">
            <a:solidFill>
              <a:srgbClr val="EEF3F6"/>
            </a:solidFill>
            <a:prstDash val="solid"/>
          </a:ln>
        </p:spPr>
      </p:sp>
      <p:sp>
        <p:nvSpPr>
          <p:cNvPr id="18" name="Text 16"/>
          <p:cNvSpPr txBox="1"/>
          <p:nvPr/>
        </p:nvSpPr>
        <p:spPr>
          <a:xfrm>
            <a:off x="7452360" y="2468880"/>
            <a:ext cx="171907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Pick a bar chart to compare or a pie chart for a share of a whole.</a:t>
            </a:r>
            <a:endParaRPr lang="en-US" sz="1900" dirty="0"/>
          </a:p>
        </p:txBody>
      </p:sp>
      <p:sp>
        <p:nvSpPr>
          <p:cNvPr id="19" name="Shape 17"/>
          <p:cNvSpPr/>
          <p:nvPr/>
        </p:nvSpPr>
        <p:spPr>
          <a:xfrm>
            <a:off x="9509760" y="1417320"/>
            <a:ext cx="2130552" cy="777240"/>
          </a:xfrm>
          <a:prstGeom prst="homePlate">
            <a:avLst/>
          </a:prstGeom>
          <a:solidFill>
            <a:srgbClr val="6E9B2F"/>
          </a:solidFill>
          <a:ln w="12700">
            <a:solidFill>
              <a:srgbClr val="6E9B2F"/>
            </a:solidFill>
            <a:prstDash val="solid"/>
          </a:ln>
        </p:spPr>
      </p:sp>
      <p:sp>
        <p:nvSpPr>
          <p:cNvPr id="20" name="Text 18"/>
          <p:cNvSpPr txBox="1"/>
          <p:nvPr/>
        </p:nvSpPr>
        <p:spPr>
          <a:xfrm>
            <a:off x="969264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5  Label</a:t>
            </a:r>
            <a:endParaRPr lang="en-US" sz="1700" dirty="0"/>
          </a:p>
        </p:txBody>
      </p:sp>
      <p:sp>
        <p:nvSpPr>
          <p:cNvPr id="21" name="Shape 19"/>
          <p:cNvSpPr/>
          <p:nvPr/>
        </p:nvSpPr>
        <p:spPr>
          <a:xfrm>
            <a:off x="9509760" y="2331720"/>
            <a:ext cx="2084832" cy="2011680"/>
          </a:xfrm>
          <a:prstGeom prst="roundRect">
            <a:avLst>
              <a:gd name="adj" fmla="val 5455"/>
            </a:avLst>
          </a:prstGeom>
          <a:solidFill>
            <a:srgbClr val="EEF3F6"/>
          </a:solidFill>
          <a:ln w="12700">
            <a:solidFill>
              <a:srgbClr val="EEF3F6"/>
            </a:solidFill>
            <a:prstDash val="solid"/>
          </a:ln>
        </p:spPr>
      </p:sp>
      <p:sp>
        <p:nvSpPr>
          <p:cNvPr id="22" name="Text 20"/>
          <p:cNvSpPr txBox="1"/>
          <p:nvPr/>
        </p:nvSpPr>
        <p:spPr>
          <a:xfrm>
            <a:off x="9692640" y="2468880"/>
            <a:ext cx="171907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Add a title that states the message, plus data labels and units.</a:t>
            </a:r>
            <a:endParaRPr lang="en-US" sz="1900" dirty="0"/>
          </a:p>
        </p:txBody>
      </p:sp>
      <p:sp>
        <p:nvSpPr>
          <p:cNvPr id="23" name="Shape 21"/>
          <p:cNvSpPr/>
          <p:nvPr/>
        </p:nvSpPr>
        <p:spPr>
          <a:xfrm>
            <a:off x="548640" y="4617720"/>
            <a:ext cx="11091672" cy="777240"/>
          </a:xfrm>
          <a:prstGeom prst="roundRect">
            <a:avLst>
              <a:gd name="adj" fmla="val 14118"/>
            </a:avLst>
          </a:prstGeom>
          <a:solidFill>
            <a:srgbClr val="DDF0F0"/>
          </a:solidFill>
          <a:ln w="12700">
            <a:solidFill>
              <a:srgbClr val="DDF0F0"/>
            </a:solidFill>
            <a:prstDash val="solid"/>
          </a:ln>
        </p:spPr>
      </p:sp>
      <p:sp>
        <p:nvSpPr>
          <p:cNvPr id="24" name="Text 22"/>
          <p:cNvSpPr txBox="1"/>
          <p:nvPr/>
        </p:nvSpPr>
        <p:spPr>
          <a:xfrm>
            <a:off x="822960" y="4617720"/>
            <a:ext cx="10543032" cy="77724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Never chart the raw rows. Chart the summary table.</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Step 1: the frequency table</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3389122"/>
                <a:gridCol w="2156714"/>
                <a:gridCol w="2772918"/>
                <a:gridCol w="2772918"/>
              </a:tblGrid>
              <a:tr h="451104">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Payment mode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Orders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 of orders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Cumulative %</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UPI</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142</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56.8%</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56.8%</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Cash</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58</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23.2%</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80.0%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Card</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37</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14.8%</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94.8%</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Wallet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13</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5.2%</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100.0%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Total</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250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100.0%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4352544"/>
            <a:ext cx="11091672" cy="548640"/>
          </a:xfrm>
          <a:prstGeom prst="rect">
            <a:avLst/>
          </a:prstGeom>
          <a:noFill/>
          <a:ln/>
        </p:spPr>
        <p:txBody>
          <a:bodyPr wrap="square" lIns="0" tIns="0" rIns="0" bIns="0" rtlCol="0" anchor="t"/>
          <a:lstStyle/>
          <a:p>
            <a:pPr indent="0" marL="0">
              <a:buNone/>
            </a:pPr>
            <a:r>
              <a:rPr lang="en-US" sz="1600" i="1" dirty="0">
                <a:solidFill>
                  <a:srgbClr val="56667A"/>
                </a:solidFill>
                <a:latin typeface="Calibri" pitchFamily="34" charset="0"/>
                <a:ea typeface="Calibri" pitchFamily="34" charset="-122"/>
                <a:cs typeface="Calibri" pitchFamily="34" charset="-120"/>
              </a:rPr>
              <a:t>Illustrative data: 250 orders at a cafe in Bhopal. Percent = orders / 250.</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Step 2: a sorted bar chart</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IT SHOWS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UPI is the largest category by a wide margin.</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Sorted from tallest to shortest, so the ranking is obvious at a glance.</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The axis starts at zero, so bar lengths match the real counts.</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Sorting: nominal and ordinal categories</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A cafe asks 100 customers to rate service. Ratings are ordinal: Poor, Fair, Good, Excellent. How should the bars be ordered?</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Counts: </a:t>
            </a:r>
            <a:pPr indent="0" marL="0">
              <a:buNone/>
            </a:pPr>
            <a:r>
              <a:rPr lang="en-US" sz="2200" dirty="0">
                <a:solidFill>
                  <a:srgbClr val="2B3A4F"/>
                </a:solidFill>
                <a:latin typeface="Calibri" pitchFamily="34" charset="0"/>
                <a:ea typeface="Calibri" pitchFamily="34" charset="-122"/>
                <a:cs typeface="Calibri" pitchFamily="34" charset="-120"/>
              </a:rPr>
              <a:t>Poor 6, Fair 14, Good 45, Excellent 35. Total is 100.</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Sorted by size: </a:t>
            </a:r>
            <a:pPr indent="0" marL="0">
              <a:buNone/>
            </a:pPr>
            <a:r>
              <a:rPr lang="en-US" sz="2200" dirty="0">
                <a:solidFill>
                  <a:srgbClr val="2B3A4F"/>
                </a:solidFill>
                <a:latin typeface="Calibri" pitchFamily="34" charset="0"/>
                <a:ea typeface="Calibri" pitchFamily="34" charset="-122"/>
                <a:cs typeface="Calibri" pitchFamily="34" charset="-120"/>
              </a:rPr>
              <a:t>Good, Excellent, Fair, Poor. The scale order is scrambled.</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Alphabetical: </a:t>
            </a:r>
            <a:pPr indent="0" marL="0">
              <a:buNone/>
            </a:pPr>
            <a:r>
              <a:rPr lang="en-US" sz="2200" dirty="0">
                <a:solidFill>
                  <a:srgbClr val="2B3A4F"/>
                </a:solidFill>
                <a:latin typeface="Calibri" pitchFamily="34" charset="0"/>
                <a:ea typeface="Calibri" pitchFamily="34" charset="-122"/>
                <a:cs typeface="Calibri" pitchFamily="34" charset="-120"/>
              </a:rPr>
              <a:t>Excellent, Fair, Good, Poor. Also scrambled.</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Natural order: </a:t>
            </a:r>
            <a:pPr indent="0" marL="0">
              <a:buNone/>
            </a:pPr>
            <a:r>
              <a:rPr lang="en-US" sz="2200" dirty="0">
                <a:solidFill>
                  <a:srgbClr val="2B3A4F"/>
                </a:solidFill>
                <a:latin typeface="Calibri" pitchFamily="34" charset="0"/>
                <a:ea typeface="Calibri" pitchFamily="34" charset="-122"/>
                <a:cs typeface="Calibri" pitchFamily="34" charset="-120"/>
              </a:rPr>
              <a:t>Poor, Fair, Good, Excellent. The reader sees the shape of opinion.</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RULE</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Nominal categories (payment mode): sort by size. Ordinal categories (ratings): keep the natural order. Good plus Excellent is 80%.</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When a pie chart works</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WHY IT WORKS HERE</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Only 4 slices, so the legend is short.</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One slice is clearly the largest: UPI is more than half.</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The slices are very different in size, so no close comparisons are needed.</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Percentages add up to 100%.</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When a pie chart fails: six similar cities</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A coaching centre has 256 students from six towns. The counts are close to each other. Which town has the most students, and by how much?</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Counts: </a:t>
            </a:r>
            <a:pPr indent="0" marL="0">
              <a:buNone/>
            </a:pPr>
            <a:r>
              <a:rPr lang="en-US" sz="2200" dirty="0">
                <a:solidFill>
                  <a:srgbClr val="2B3A4F"/>
                </a:solidFill>
                <a:latin typeface="Calibri" pitchFamily="34" charset="0"/>
                <a:ea typeface="Calibri" pitchFamily="34" charset="-122"/>
                <a:cs typeface="Calibri" pitchFamily="34" charset="-120"/>
              </a:rPr>
              <a:t>Bhopal 48, Indore 45, Sehore 44, Vidisha 41, Raisen 40, Hoshangabad 38.</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Shares: </a:t>
            </a:r>
            <a:pPr indent="0" marL="0">
              <a:buNone/>
            </a:pPr>
            <a:r>
              <a:rPr lang="en-US" sz="2200" dirty="0">
                <a:solidFill>
                  <a:srgbClr val="2B3A4F"/>
                </a:solidFill>
                <a:latin typeface="Calibri" pitchFamily="34" charset="0"/>
                <a:ea typeface="Calibri" pitchFamily="34" charset="-122"/>
                <a:cs typeface="Calibri" pitchFamily="34" charset="-120"/>
              </a:rPr>
              <a:t>18.8%, 17.6%, 17.2%, 16.0%, 15.6%, 14.8%. All near one sixth.</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On a pie: </a:t>
            </a:r>
            <a:pPr indent="0" marL="0">
              <a:buNone/>
            </a:pPr>
            <a:r>
              <a:rPr lang="en-US" sz="2200" dirty="0">
                <a:solidFill>
                  <a:srgbClr val="2B3A4F"/>
                </a:solidFill>
                <a:latin typeface="Calibri" pitchFamily="34" charset="0"/>
                <a:ea typeface="Calibri" pitchFamily="34" charset="-122"/>
                <a:cs typeface="Calibri" pitchFamily="34" charset="-120"/>
              </a:rPr>
              <a:t>Six slices of almost equal angle. Ranking them by eye is guesswork.</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On a bar chart: </a:t>
            </a:r>
            <a:pPr indent="0" marL="0">
              <a:buNone/>
            </a:pPr>
            <a:r>
              <a:rPr lang="en-US" sz="2200" dirty="0">
                <a:solidFill>
                  <a:srgbClr val="2B3A4F"/>
                </a:solidFill>
                <a:latin typeface="Calibri" pitchFamily="34" charset="0"/>
                <a:ea typeface="Calibri" pitchFamily="34" charset="-122"/>
                <a:cs typeface="Calibri" pitchFamily="34" charset="-120"/>
              </a:rPr>
              <a:t>Bar lengths differ clearly. Bhopal leads Hoshangabad by 10 students.</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When slices are within a few percentage points of each other, or there are more than 5, use a bar chart.</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The same six towns as a sorted bar chart</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IT SHOWS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The ranking is clear: Bhopal 48 down to Hoshangabad 38.</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Horizontal bars leave room for long town names.</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The biggest gap is 10 students, about 4 percentage points of the total.</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Chart mistakes to avoid</a:t>
            </a:r>
            <a:endParaRPr lang="en-US" sz="2800" dirty="0"/>
          </a:p>
        </p:txBody>
      </p:sp>
      <p:sp>
        <p:nvSpPr>
          <p:cNvPr id="3" name="Shape 1"/>
          <p:cNvSpPr/>
          <p:nvPr/>
        </p:nvSpPr>
        <p:spPr>
          <a:xfrm>
            <a:off x="548640" y="1417320"/>
            <a:ext cx="3514344"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Cut-off bar axis</a:t>
            </a:r>
            <a:endParaRPr lang="en-US" sz="2000" dirty="0"/>
          </a:p>
        </p:txBody>
      </p:sp>
      <p:sp>
        <p:nvSpPr>
          <p:cNvPr id="6" name="Text 4"/>
          <p:cNvSpPr txBox="1"/>
          <p:nvPr/>
        </p:nvSpPr>
        <p:spPr>
          <a:xfrm>
            <a:off x="777240" y="2331720"/>
            <a:ext cx="3057144" cy="12344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 an axis starting at 130, bars of 142 and 137 look like 12 and 7. That is 1.7 times, not 1.04. Start at zero.</a:t>
            </a:r>
            <a:endParaRPr lang="en-US" sz="1600" dirty="0"/>
          </a:p>
        </p:txBody>
      </p:sp>
      <p:sp>
        <p:nvSpPr>
          <p:cNvPr id="7" name="Shape 5"/>
          <p:cNvSpPr/>
          <p:nvPr/>
        </p:nvSpPr>
        <p:spPr>
          <a:xfrm>
            <a:off x="4337304" y="1417320"/>
            <a:ext cx="3514344"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4565904"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5160264"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Too many slices</a:t>
            </a:r>
            <a:endParaRPr lang="en-US" sz="2000" dirty="0"/>
          </a:p>
        </p:txBody>
      </p:sp>
      <p:sp>
        <p:nvSpPr>
          <p:cNvPr id="10" name="Text 8"/>
          <p:cNvSpPr txBox="1"/>
          <p:nvPr/>
        </p:nvSpPr>
        <p:spPr>
          <a:xfrm>
            <a:off x="4565904" y="233172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More than 5 slices becomes unreadable. Use bars, or group the small ones as "Other".</a:t>
            </a:r>
            <a:endParaRPr lang="en-US" sz="2000" dirty="0"/>
          </a:p>
        </p:txBody>
      </p:sp>
      <p:sp>
        <p:nvSpPr>
          <p:cNvPr id="11" name="Shape 9"/>
          <p:cNvSpPr/>
          <p:nvPr/>
        </p:nvSpPr>
        <p:spPr>
          <a:xfrm>
            <a:off x="8125968" y="1417320"/>
            <a:ext cx="3514344"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8354568" y="164592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8948928"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3D and decoration</a:t>
            </a:r>
            <a:endParaRPr lang="en-US" sz="2000" dirty="0"/>
          </a:p>
        </p:txBody>
      </p:sp>
      <p:sp>
        <p:nvSpPr>
          <p:cNvPr id="14" name="Text 12"/>
          <p:cNvSpPr txBox="1"/>
          <p:nvPr/>
        </p:nvSpPr>
        <p:spPr>
          <a:xfrm>
            <a:off x="8354568" y="233172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3D effects change the apparent size of bars and slices. Keep charts flat and plain.</a:t>
            </a:r>
            <a:endParaRPr lang="en-US" sz="2000" dirty="0"/>
          </a:p>
        </p:txBody>
      </p:sp>
      <p:sp>
        <p:nvSpPr>
          <p:cNvPr id="15" name="Shape 13"/>
          <p:cNvSpPr/>
          <p:nvPr/>
        </p:nvSpPr>
        <p:spPr>
          <a:xfrm>
            <a:off x="548640" y="3977640"/>
            <a:ext cx="3514344"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777240"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1371600" y="411480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Unsorted bars</a:t>
            </a:r>
            <a:endParaRPr lang="en-US" sz="2000" dirty="0"/>
          </a:p>
        </p:txBody>
      </p:sp>
      <p:sp>
        <p:nvSpPr>
          <p:cNvPr id="18" name="Text 16"/>
          <p:cNvSpPr txBox="1"/>
          <p:nvPr/>
        </p:nvSpPr>
        <p:spPr>
          <a:xfrm>
            <a:off x="777240" y="489204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Random order hides the ranking. Sort by size unless the categories have a natural order.</a:t>
            </a:r>
            <a:endParaRPr lang="en-US" sz="2000" dirty="0"/>
          </a:p>
        </p:txBody>
      </p:sp>
      <p:sp>
        <p:nvSpPr>
          <p:cNvPr id="19" name="Shape 17"/>
          <p:cNvSpPr/>
          <p:nvPr/>
        </p:nvSpPr>
        <p:spPr>
          <a:xfrm>
            <a:off x="4337304" y="3977640"/>
            <a:ext cx="3514344" cy="2286000"/>
          </a:xfrm>
          <a:prstGeom prst="roundRect">
            <a:avLst>
              <a:gd name="adj" fmla="val 4800"/>
            </a:avLst>
          </a:prstGeom>
          <a:solidFill>
            <a:srgbClr val="EEF3F6"/>
          </a:solidFill>
          <a:ln w="12700">
            <a:solidFill>
              <a:srgbClr val="EEF3F6"/>
            </a:solidFill>
            <a:prstDash val="solid"/>
          </a:ln>
        </p:spPr>
      </p:sp>
      <p:sp>
        <p:nvSpPr>
          <p:cNvPr id="20" name="Text 18"/>
          <p:cNvSpPr/>
          <p:nvPr/>
        </p:nvSpPr>
        <p:spPr>
          <a:xfrm>
            <a:off x="4565904" y="4206240"/>
            <a:ext cx="457200" cy="457200"/>
          </a:xfrm>
          <a:prstGeom prst="ellipse">
            <a:avLst/>
          </a:prstGeom>
          <a:solidFill>
            <a:srgbClr val="6E9B2F"/>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1" name="Text 19"/>
          <p:cNvSpPr txBox="1"/>
          <p:nvPr/>
        </p:nvSpPr>
        <p:spPr>
          <a:xfrm>
            <a:off x="5160264" y="411480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Percent not adding up</a:t>
            </a:r>
            <a:endParaRPr lang="en-US" sz="2000" dirty="0"/>
          </a:p>
        </p:txBody>
      </p:sp>
      <p:sp>
        <p:nvSpPr>
          <p:cNvPr id="22" name="Text 20"/>
          <p:cNvSpPr txBox="1"/>
          <p:nvPr/>
        </p:nvSpPr>
        <p:spPr>
          <a:xfrm>
            <a:off x="4565904" y="489204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Slices must sum to 100%. If they do not, a category is missing or counted twice.</a:t>
            </a:r>
            <a:endParaRPr lang="en-US" sz="2000" dirty="0"/>
          </a:p>
        </p:txBody>
      </p:sp>
      <p:sp>
        <p:nvSpPr>
          <p:cNvPr id="23" name="Shape 21"/>
          <p:cNvSpPr/>
          <p:nvPr/>
        </p:nvSpPr>
        <p:spPr>
          <a:xfrm>
            <a:off x="8125968" y="3977640"/>
            <a:ext cx="3514344" cy="2286000"/>
          </a:xfrm>
          <a:prstGeom prst="roundRect">
            <a:avLst>
              <a:gd name="adj" fmla="val 4800"/>
            </a:avLst>
          </a:prstGeom>
          <a:solidFill>
            <a:srgbClr val="EEF3F6"/>
          </a:solidFill>
          <a:ln w="12700">
            <a:solidFill>
              <a:srgbClr val="EEF3F6"/>
            </a:solidFill>
            <a:prstDash val="solid"/>
          </a:ln>
        </p:spPr>
      </p:sp>
      <p:sp>
        <p:nvSpPr>
          <p:cNvPr id="24" name="Text 22"/>
          <p:cNvSpPr/>
          <p:nvPr/>
        </p:nvSpPr>
        <p:spPr>
          <a:xfrm>
            <a:off x="8354568" y="4206240"/>
            <a:ext cx="457200" cy="457200"/>
          </a:xfrm>
          <a:prstGeom prst="ellipse">
            <a:avLst/>
          </a:prstGeom>
          <a:solidFill>
            <a:srgbClr val="8E6BBF"/>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25" name="Text 23"/>
          <p:cNvSpPr txBox="1"/>
          <p:nvPr/>
        </p:nvSpPr>
        <p:spPr>
          <a:xfrm>
            <a:off x="8948928" y="411480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No title or units</a:t>
            </a:r>
            <a:endParaRPr lang="en-US" sz="2000" dirty="0"/>
          </a:p>
        </p:txBody>
      </p:sp>
      <p:sp>
        <p:nvSpPr>
          <p:cNvPr id="26" name="Text 24"/>
          <p:cNvSpPr txBox="1"/>
          <p:nvPr/>
        </p:nvSpPr>
        <p:spPr>
          <a:xfrm>
            <a:off x="8354568" y="489204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 reader should know what is counted and out of how many, without asking you.</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Building these charts in Excel and Python</a:t>
            </a:r>
            <a:endParaRPr lang="en-US" sz="2800" dirty="0"/>
          </a:p>
        </p:txBody>
      </p:sp>
      <p:sp>
        <p:nvSpPr>
          <p:cNvPr id="3" name="Shape 1"/>
          <p:cNvSpPr/>
          <p:nvPr/>
        </p:nvSpPr>
        <p:spPr>
          <a:xfrm>
            <a:off x="548640" y="1417320"/>
            <a:ext cx="6675120" cy="4846320"/>
          </a:xfrm>
          <a:prstGeom prst="roundRect">
            <a:avLst>
              <a:gd name="adj" fmla="val 2264"/>
            </a:avLst>
          </a:prstGeom>
          <a:solidFill>
            <a:srgbClr val="14213D"/>
          </a:solidFill>
          <a:ln w="12700">
            <a:solidFill>
              <a:srgbClr val="14213D"/>
            </a:solidFill>
            <a:prstDash val="solid"/>
          </a:ln>
        </p:spPr>
      </p:sp>
      <p:sp>
        <p:nvSpPr>
          <p:cNvPr id="4" name="Text 2"/>
          <p:cNvSpPr txBox="1"/>
          <p:nvPr/>
        </p:nvSpPr>
        <p:spPr>
          <a:xfrm>
            <a:off x="822960" y="1645920"/>
            <a:ext cx="2743200"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EXCEL</a:t>
            </a:r>
            <a:endParaRPr lang="en-US" sz="1200" dirty="0"/>
          </a:p>
        </p:txBody>
      </p:sp>
      <p:sp>
        <p:nvSpPr>
          <p:cNvPr id="5" name="Text 3"/>
          <p:cNvSpPr txBox="1"/>
          <p:nvPr/>
        </p:nvSpPr>
        <p:spPr>
          <a:xfrm>
            <a:off x="822960" y="2103120"/>
            <a:ext cx="6126480" cy="3931920"/>
          </a:xfrm>
          <a:prstGeom prst="rect">
            <a:avLst/>
          </a:prstGeom>
          <a:noFill/>
          <a:ln/>
        </p:spPr>
        <p:txBody>
          <a:bodyPr wrap="square" lIns="0" tIns="0" rIns="0" bIns="0" rtlCol="0" anchor="t"/>
          <a:lstStyle/>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=COUNTIF(B2:B251,"UPI")</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=C2/SUM($C$2:$C$5)</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Insert &gt; Charts &gt; Clustered Bar</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Data &gt; Sort &gt; Largest to Smallest</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Insert &gt; Charts &gt; Pie</a:t>
            </a:r>
            <a:endParaRPr lang="en-US" sz="1700" dirty="0"/>
          </a:p>
        </p:txBody>
      </p:sp>
      <p:sp>
        <p:nvSpPr>
          <p:cNvPr id="6" name="Text 4"/>
          <p:cNvSpPr txBox="1"/>
          <p:nvPr/>
        </p:nvSpPr>
        <p:spPr>
          <a:xfrm>
            <a:off x="7498080" y="1463040"/>
            <a:ext cx="4142232" cy="4754880"/>
          </a:xfrm>
          <a:prstGeom prst="rect">
            <a:avLst/>
          </a:prstGeom>
          <a:noFill/>
          <a:ln/>
        </p:spPr>
        <p:txBody>
          <a:bodyPr wrap="square" lIns="0" tIns="0" rIns="0" bIns="0" rtlCol="0" anchor="t"/>
          <a:lstStyle/>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Count: </a:t>
            </a:r>
            <a:pPr indent="0" marL="0">
              <a:buNone/>
            </a:pPr>
            <a:r>
              <a:rPr lang="en-US" sz="2200" dirty="0">
                <a:solidFill>
                  <a:srgbClr val="2B3A4F"/>
                </a:solidFill>
                <a:latin typeface="Calibri" pitchFamily="34" charset="0"/>
                <a:ea typeface="Calibri" pitchFamily="34" charset="-122"/>
                <a:cs typeface="Calibri" pitchFamily="34" charset="-120"/>
              </a:rPr>
              <a:t>COUNTIF, or build a PivotTable and drag the category to Rows and Values.</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Percent: </a:t>
            </a:r>
            <a:pPr indent="0" marL="0">
              <a:buNone/>
            </a:pPr>
            <a:r>
              <a:rPr lang="en-US" sz="2200" dirty="0">
                <a:solidFill>
                  <a:srgbClr val="2B3A4F"/>
                </a:solidFill>
                <a:latin typeface="Calibri" pitchFamily="34" charset="0"/>
                <a:ea typeface="Calibri" pitchFamily="34" charset="-122"/>
                <a:cs typeface="Calibri" pitchFamily="34" charset="-120"/>
              </a:rPr>
              <a:t>divide each count by the total, with the total cell locked using $.</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Sort first, </a:t>
            </a:r>
            <a:pPr indent="0" marL="0">
              <a:buNone/>
            </a:pPr>
            <a:r>
              <a:rPr lang="en-US" sz="2200" dirty="0">
                <a:solidFill>
                  <a:srgbClr val="2B3A4F"/>
                </a:solidFill>
                <a:latin typeface="Calibri" pitchFamily="34" charset="0"/>
                <a:ea typeface="Calibri" pitchFamily="34" charset="-122"/>
                <a:cs typeface="Calibri" pitchFamily="34" charset="-120"/>
              </a:rPr>
              <a:t>then insert the chart. The chart follows the sheet order.</a:t>
            </a:r>
            <a:endParaRPr lang="en-US" sz="2200" dirty="0"/>
          </a:p>
          <a:p>
            <a:pPr marL="228600" indent="-228600">
              <a:buSzPct val="100000"/>
              <a:buChar char="•"/>
            </a:pPr>
            <a:r>
              <a:rPr lang="en-US" sz="2200" b="1" dirty="0">
                <a:solidFill>
                  <a:srgbClr val="14213D"/>
                </a:solidFill>
                <a:latin typeface="Calibri" pitchFamily="34" charset="0"/>
                <a:ea typeface="Calibri" pitchFamily="34" charset="-122"/>
                <a:cs typeface="Calibri" pitchFamily="34" charset="-120"/>
              </a:rPr>
              <a:t>Python: </a:t>
            </a:r>
            <a:pPr indent="0" marL="0">
              <a:buNone/>
            </a:pPr>
            <a:r>
              <a:rPr lang="en-US" sz="2200" dirty="0">
                <a:solidFill>
                  <a:srgbClr val="2B3A4F"/>
                </a:solidFill>
                <a:latin typeface="Calibri" pitchFamily="34" charset="0"/>
                <a:ea typeface="Calibri" pitchFamily="34" charset="-122"/>
                <a:cs typeface="Calibri" pitchFamily="34" charset="-120"/>
              </a:rPr>
              <a:t>df["mode"].value_counts().plot.bar() gives a sorted bar chart.</a:t>
            </a:r>
            <a:endParaRPr lang="en-US" sz="2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Practice questions</a:t>
            </a:r>
            <a:endParaRPr lang="en-US" sz="2800" dirty="0"/>
          </a:p>
        </p:txBody>
      </p:sp>
      <p:sp>
        <p:nvSpPr>
          <p:cNvPr id="3" name="Shape 1"/>
          <p:cNvSpPr/>
          <p:nvPr/>
        </p:nvSpPr>
        <p:spPr>
          <a:xfrm>
            <a:off x="548640" y="1417320"/>
            <a:ext cx="11091672" cy="1074420"/>
          </a:xfrm>
          <a:prstGeom prst="roundRect">
            <a:avLst>
              <a:gd name="adj" fmla="val 10213"/>
            </a:avLst>
          </a:prstGeom>
          <a:solidFill>
            <a:srgbClr val="EEF3F6"/>
          </a:solidFill>
          <a:ln w="12700">
            <a:solidFill>
              <a:srgbClr val="EEF3F6"/>
            </a:solidFill>
            <a:prstDash val="solid"/>
          </a:ln>
        </p:spPr>
      </p:sp>
      <p:sp>
        <p:nvSpPr>
          <p:cNvPr id="4" name="Text 2"/>
          <p:cNvSpPr/>
          <p:nvPr/>
        </p:nvSpPr>
        <p:spPr>
          <a:xfrm>
            <a:off x="777240" y="172593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463040" y="14173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A survey has 200 replies: Hostel 120, Day scholar 60, Other 20. Compute the percentages. Which chart suits it?</a:t>
            </a:r>
            <a:endParaRPr lang="en-US" sz="1900" dirty="0"/>
          </a:p>
        </p:txBody>
      </p:sp>
      <p:sp>
        <p:nvSpPr>
          <p:cNvPr id="6" name="Shape 4"/>
          <p:cNvSpPr/>
          <p:nvPr/>
        </p:nvSpPr>
        <p:spPr>
          <a:xfrm>
            <a:off x="548640" y="2674620"/>
            <a:ext cx="11091672" cy="1074420"/>
          </a:xfrm>
          <a:prstGeom prst="roundRect">
            <a:avLst>
              <a:gd name="adj" fmla="val 10213"/>
            </a:avLst>
          </a:prstGeom>
          <a:solidFill>
            <a:srgbClr val="EEF3F6"/>
          </a:solidFill>
          <a:ln w="12700">
            <a:solidFill>
              <a:srgbClr val="EEF3F6"/>
            </a:solidFill>
            <a:prstDash val="solid"/>
          </a:ln>
        </p:spPr>
      </p:sp>
      <p:sp>
        <p:nvSpPr>
          <p:cNvPr id="7" name="Text 5"/>
          <p:cNvSpPr/>
          <p:nvPr/>
        </p:nvSpPr>
        <p:spPr>
          <a:xfrm>
            <a:off x="777240" y="298323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463040" y="26746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A shop sells 9 product types with sales close to each other. Pie or bar? Why?</a:t>
            </a:r>
            <a:endParaRPr lang="en-US" sz="1900" dirty="0"/>
          </a:p>
        </p:txBody>
      </p:sp>
      <p:sp>
        <p:nvSpPr>
          <p:cNvPr id="9" name="Shape 7"/>
          <p:cNvSpPr/>
          <p:nvPr/>
        </p:nvSpPr>
        <p:spPr>
          <a:xfrm>
            <a:off x="548640" y="3931920"/>
            <a:ext cx="11091672" cy="1074420"/>
          </a:xfrm>
          <a:prstGeom prst="roundRect">
            <a:avLst>
              <a:gd name="adj" fmla="val 10213"/>
            </a:avLst>
          </a:prstGeom>
          <a:solidFill>
            <a:srgbClr val="EEF3F6"/>
          </a:solidFill>
          <a:ln w="12700">
            <a:solidFill>
              <a:srgbClr val="EEF3F6"/>
            </a:solidFill>
            <a:prstDash val="solid"/>
          </a:ln>
        </p:spPr>
      </p:sp>
      <p:sp>
        <p:nvSpPr>
          <p:cNvPr id="10" name="Text 8"/>
          <p:cNvSpPr/>
          <p:nvPr/>
        </p:nvSpPr>
        <p:spPr>
          <a:xfrm>
            <a:off x="777240" y="424053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463040" y="39319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Order-size labels are Small, Medium, Large. Should you sort the bars by count?</a:t>
            </a:r>
            <a:endParaRPr lang="en-US" sz="1900" dirty="0"/>
          </a:p>
        </p:txBody>
      </p:sp>
      <p:sp>
        <p:nvSpPr>
          <p:cNvPr id="12" name="Shape 10"/>
          <p:cNvSpPr/>
          <p:nvPr/>
        </p:nvSpPr>
        <p:spPr>
          <a:xfrm>
            <a:off x="548640" y="5189220"/>
            <a:ext cx="11091672" cy="1074420"/>
          </a:xfrm>
          <a:prstGeom prst="roundRect">
            <a:avLst>
              <a:gd name="adj" fmla="val 10213"/>
            </a:avLst>
          </a:prstGeom>
          <a:solidFill>
            <a:srgbClr val="EEF3F6"/>
          </a:solidFill>
          <a:ln w="12700">
            <a:solidFill>
              <a:srgbClr val="EEF3F6"/>
            </a:solidFill>
            <a:prstDash val="solid"/>
          </a:ln>
        </p:spPr>
      </p:sp>
      <p:sp>
        <p:nvSpPr>
          <p:cNvPr id="13" name="Text 11"/>
          <p:cNvSpPr/>
          <p:nvPr/>
        </p:nvSpPr>
        <p:spPr>
          <a:xfrm>
            <a:off x="777240" y="549783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63040" y="51892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A bar chart axis runs from 130 to 150. Bars show 142 and 137. What is wrong?</a:t>
            </a:r>
            <a:endParaRPr lang="en-US" sz="19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3" name="Text 1"/>
          <p:cNvSpPr/>
          <p:nvPr/>
        </p:nvSpPr>
        <p:spPr>
          <a:xfrm>
            <a:off x="548640" y="1561795"/>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txBox="1"/>
          <p:nvPr/>
        </p:nvSpPr>
        <p:spPr>
          <a:xfrm>
            <a:off x="1234440" y="1417320"/>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Chart the frequency table, </a:t>
            </a:r>
            <a:pPr indent="0" marL="0">
              <a:buNone/>
            </a:pPr>
            <a:r>
              <a:rPr lang="en-US" sz="2000" dirty="0">
                <a:solidFill>
                  <a:srgbClr val="FFFFFF"/>
                </a:solidFill>
                <a:latin typeface="Calibri" pitchFamily="34" charset="0"/>
                <a:ea typeface="Calibri" pitchFamily="34" charset="-122"/>
                <a:cs typeface="Calibri" pitchFamily="34" charset="-120"/>
              </a:rPr>
              <a:t>never the raw rows.</a:t>
            </a:r>
            <a:endParaRPr lang="en-US" sz="2000" dirty="0"/>
          </a:p>
        </p:txBody>
      </p:sp>
      <p:sp>
        <p:nvSpPr>
          <p:cNvPr id="5" name="Text 3"/>
          <p:cNvSpPr/>
          <p:nvPr/>
        </p:nvSpPr>
        <p:spPr>
          <a:xfrm>
            <a:off x="548640" y="2435962"/>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234440" y="2291486"/>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Bar chart: </a:t>
            </a:r>
            <a:pPr indent="0" marL="0">
              <a:buNone/>
            </a:pPr>
            <a:r>
              <a:rPr lang="en-US" sz="2000" dirty="0">
                <a:solidFill>
                  <a:srgbClr val="FFFFFF"/>
                </a:solidFill>
                <a:latin typeface="Calibri" pitchFamily="34" charset="0"/>
                <a:ea typeface="Calibri" pitchFamily="34" charset="-122"/>
                <a:cs typeface="Calibri" pitchFamily="34" charset="-120"/>
              </a:rPr>
              <a:t>compare and rank categories. Starts at zero.</a:t>
            </a:r>
            <a:endParaRPr lang="en-US" sz="2000" dirty="0"/>
          </a:p>
        </p:txBody>
      </p:sp>
      <p:sp>
        <p:nvSpPr>
          <p:cNvPr id="7" name="Text 5"/>
          <p:cNvSpPr/>
          <p:nvPr/>
        </p:nvSpPr>
        <p:spPr>
          <a:xfrm>
            <a:off x="548640" y="3310128"/>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3165653"/>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Pie chart: </a:t>
            </a:r>
            <a:pPr indent="0" marL="0">
              <a:buNone/>
            </a:pPr>
            <a:r>
              <a:rPr lang="en-US" sz="2000" dirty="0">
                <a:solidFill>
                  <a:srgbClr val="FFFFFF"/>
                </a:solidFill>
                <a:latin typeface="Calibri" pitchFamily="34" charset="0"/>
                <a:ea typeface="Calibri" pitchFamily="34" charset="-122"/>
                <a:cs typeface="Calibri" pitchFamily="34" charset="-120"/>
              </a:rPr>
              <a:t>share of a whole, 5 slices or fewer, ideally one dominant slice.</a:t>
            </a:r>
            <a:endParaRPr lang="en-US" sz="2000" dirty="0"/>
          </a:p>
        </p:txBody>
      </p:sp>
      <p:sp>
        <p:nvSpPr>
          <p:cNvPr id="9" name="Text 7"/>
          <p:cNvSpPr/>
          <p:nvPr/>
        </p:nvSpPr>
        <p:spPr>
          <a:xfrm>
            <a:off x="548640" y="4184294"/>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4039819"/>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Sort </a:t>
            </a:r>
            <a:pPr indent="0" marL="0">
              <a:buNone/>
            </a:pPr>
            <a:r>
              <a:rPr lang="en-US" sz="2000" dirty="0">
                <a:solidFill>
                  <a:srgbClr val="FFFFFF"/>
                </a:solidFill>
                <a:latin typeface="Calibri" pitchFamily="34" charset="0"/>
                <a:ea typeface="Calibri" pitchFamily="34" charset="-122"/>
                <a:cs typeface="Calibri" pitchFamily="34" charset="-120"/>
              </a:rPr>
              <a:t>nominal categories by size and keep ordinal categories in natural order.</a:t>
            </a:r>
            <a:endParaRPr lang="en-US" sz="2000" dirty="0"/>
          </a:p>
        </p:txBody>
      </p:sp>
      <p:sp>
        <p:nvSpPr>
          <p:cNvPr id="11" name="Text 9"/>
          <p:cNvSpPr/>
          <p:nvPr/>
        </p:nvSpPr>
        <p:spPr>
          <a:xfrm>
            <a:off x="548640" y="5058461"/>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234440" y="4913986"/>
            <a:ext cx="10405872" cy="709574"/>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Avoid 3D, cut-off axes and missing titles.</a:t>
            </a:r>
            <a:endParaRPr lang="en-US" sz="2000" dirty="0"/>
          </a:p>
        </p:txBody>
      </p:sp>
      <p:sp>
        <p:nvSpPr>
          <p:cNvPr id="13" name="Text 11"/>
          <p:cNvSpPr txBox="1"/>
          <p:nvPr/>
        </p:nvSpPr>
        <p:spPr>
          <a:xfrm>
            <a:off x="548640" y="5806440"/>
            <a:ext cx="11091672" cy="457200"/>
          </a:xfrm>
          <a:prstGeom prst="rect">
            <a:avLst/>
          </a:prstGeom>
          <a:noFill/>
          <a:ln/>
        </p:spPr>
        <p:txBody>
          <a:bodyPr wrap="square" lIns="0" tIns="0" rIns="0" bIns="0" rtlCol="0" anchor="ctr"/>
          <a:lstStyle/>
          <a:p>
            <a:pPr indent="0" marL="0">
              <a:buNone/>
            </a:pPr>
            <a:r>
              <a:rPr lang="en-US" sz="1600" i="1" dirty="0">
                <a:solidFill>
                  <a:srgbClr val="B8C7D9"/>
                </a:solidFill>
                <a:latin typeface="Calibri" pitchFamily="34" charset="0"/>
                <a:ea typeface="Calibri" pitchFamily="34" charset="-122"/>
                <a:cs typeface="Calibri" pitchFamily="34" charset="-120"/>
              </a:rPr>
              <a:t>Next: Numerical Data Visualization</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BMT Data">
  <a:themeElements>
    <a:clrScheme name="BMT Data">
      <a:dk1>
        <a:srgbClr val="14213D"/>
      </a:dk1>
      <a:lt1>
        <a:srgbClr val="FFFFFF"/>
      </a:lt1>
      <a:dk2>
        <a:srgbClr val="0B6E6E"/>
      </a:dk2>
      <a:lt2>
        <a:srgbClr val="EEF3F6"/>
      </a:lt2>
      <a:accent1>
        <a:srgbClr val="0F8B8D"/>
      </a:accent1>
      <a:accent2>
        <a:srgbClr val="F29E4C"/>
      </a:accent2>
      <a:accent3>
        <a:srgbClr val="3A5BA0"/>
      </a:accent3>
      <a:accent4>
        <a:srgbClr val="C8553D"/>
      </a:accent4>
      <a:accent5>
        <a:srgbClr val="6E9B2F"/>
      </a:accent5>
      <a:accent6>
        <a:srgbClr val="8E6BBF"/>
      </a:accent6>
      <a:hlink>
        <a:srgbClr val="0F8B8D"/>
      </a:hlink>
      <a:folHlink>
        <a:srgbClr val="8E6BBF"/>
      </a:folHlink>
    </a:clrScheme>
    <a:fontScheme name="BMT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SAGE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Categorical Data Visualization</dc:title>
  <dc:subject>Business Management Tools I</dc:subject>
  <dc:creator>Sushant Bhargav</dc:creator>
  <cp:lastModifiedBy>Sushant Bhargav</cp:lastModifiedBy>
  <cp:revision>1</cp:revision>
  <dcterms:created xsi:type="dcterms:W3CDTF">2026-10-07T01:36:17Z</dcterms:created>
  <dcterms:modified xsi:type="dcterms:W3CDTF">2026-10-07T01:36:17Z</dcterms:modified>
</cp:coreProperties>
</file>