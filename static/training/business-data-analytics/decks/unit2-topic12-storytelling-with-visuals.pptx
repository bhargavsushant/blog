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2: Storytelling with Visuals" id="{b0eabe7c-cfea-f1d5-37f4-3333720aee14}">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Orders</c:v>
                </c:pt>
              </c:strCache>
            </c:strRef>
          </c:tx>
          <c:spPr>
            <a:solidFill>
              <a:srgbClr val="0F8B8D"/>
            </a:solidFill>
            <a:ln w="38100" cap="flat">
              <a:solidFill>
                <a:srgbClr val="0F8B8D"/>
              </a:solidFill>
              <a:prstDash val="solid"/>
              <a:round/>
            </a:ln>
            <a:effectLst/>
          </c:spPr>
          <c:invertIfNegative val="0"/>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c:symbol val="circle"/>
            <c:size val="8"/>
            <c:spPr>
              <a:solidFill>
                <a:srgbClr val="0F8B8D"/>
              </a:solidFill>
              <a:ln w="9525" cap="flat">
                <a:solidFill>
                  <a:srgbClr val="0F8B8D"/>
                </a:solidFill>
                <a:prstDash val="solid"/>
                <a:round/>
              </a:ln>
              <a:effectLst/>
            </c:spPr>
          </c:marker>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Sheet1!$B$2:$B$13</c:f>
              <c:numCache>
                <c:formatCode>General</c:formatCode>
                <c:ptCount val="12"/>
                <c:pt idx="0">
                  <c:v>820</c:v>
                </c:pt>
                <c:pt idx="1">
                  <c:v>840</c:v>
                </c:pt>
                <c:pt idx="2">
                  <c:v>860</c:v>
                </c:pt>
                <c:pt idx="3">
                  <c:v>845</c:v>
                </c:pt>
                <c:pt idx="4">
                  <c:v>870</c:v>
                </c:pt>
                <c:pt idx="5">
                  <c:v>890</c:v>
                </c:pt>
                <c:pt idx="6">
                  <c:v>905</c:v>
                </c:pt>
                <c:pt idx="7">
                  <c:v>640</c:v>
                </c:pt>
                <c:pt idx="8">
                  <c:v>610</c:v>
                </c:pt>
                <c:pt idx="9">
                  <c:v>650</c:v>
                </c:pt>
                <c:pt idx="10">
                  <c:v>720</c:v>
                </c:pt>
                <c:pt idx="11">
                  <c:v>810</c:v>
                </c:pt>
              </c:numCache>
            </c:numRef>
          </c:val>
          <c:smooth val="0"/>
        </c:ser>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Month (Apr to Mar)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ax val="1000"/>
          <c:min val="50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Orders per month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turns charts into messages. A chart shows data, a story shows what the data means and what to do. We use a three-part structure and one worked example with a line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when your friend tells you about a match, do they read the scoreboard or tell what happened? Stories carry meaning. Charts alone often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college project presentation, students often show every chart they made. Teach them to pick one, and keep the others in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shape as most films and novels, which is why audiences follow it easily. Ask students to name the three parts of a story they know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one they would rather sit through at the end of a long day. Emphasise that choosing what to leave out is part of the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plan for the worked example. Walk down the rows and say which tool we will use. The cause row is careful on purpose: we give the event, not a proven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905 - 610 = 295, and 295 / 905 = 0.326. For recovery: 810 - 610 = 200, and 200 / 610 = 0.328. For the gap to peak: 905 - 810 = 95, and 95 / 905 = 0.105. Ask whether the combo caused the recovery. We cannot be sure, so we say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first draft: readers can see a dip but not why it matters. For line charts the axis need not start at zero, as the eye reads the slope. For bar charts it must. Ask what is missing: a title, a reason and the size of the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previous slide. Same line, but now it tells the story without anyone speaking. Point out that only four annotations are used. Any more would turn the chart into clutter.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Called the skim test or the title test. If a busy manager reads only the slide titles, they should get the full story. Ask students to write a fourth title that ends with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is persuasive, which is why honesty matters. Ask: if the rival opened in December and the drop began in November, would this story still stand? No. Always check that your timeline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Check question 2: the decline is 295 on a base of 905, so 32.6%, which rounds to 33% in the title.
ANSWERS
1. Context (plain line and axes), conflict (shaded band or highlight), resolution (final label and recommendation).
2. (610 - 905) / 905 = -32.6%. Title: "Orders fell 33% from October to December".
3. Timing alone does not prove cause. Safer: "Rival opens in November" or "Orders fell after the rival opened".
4. It exaggerates the drop. Start bars at zero, or use a line chart where a non-zero start is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12</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Storytelling with Visuals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the difference between showing data and telling a story with it.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Use </a:t>
            </a:r>
            <a:pPr indent="0" marL="0">
              <a:buNone/>
            </a:pPr>
            <a:r>
              <a:rPr lang="en-US" sz="2400" dirty="0">
                <a:solidFill>
                  <a:srgbClr val="2B3A4F"/>
                </a:solidFill>
                <a:latin typeface="Calibri" pitchFamily="34" charset="0"/>
                <a:ea typeface="Calibri" pitchFamily="34" charset="-122"/>
                <a:cs typeface="Calibri" pitchFamily="34" charset="-120"/>
              </a:rPr>
              <a:t>the context, conflict and resolution structure for a data story.</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Guide </a:t>
            </a:r>
            <a:pPr indent="0" marL="0">
              <a:buNone/>
            </a:pPr>
            <a:r>
              <a:rPr lang="en-US" sz="2400" dirty="0">
                <a:solidFill>
                  <a:srgbClr val="2B3A4F"/>
                </a:solidFill>
                <a:latin typeface="Calibri" pitchFamily="34" charset="0"/>
                <a:ea typeface="Calibri" pitchFamily="34" charset="-122"/>
                <a:cs typeface="Calibri" pitchFamily="34" charset="-120"/>
              </a:rPr>
              <a:t>the reader's eye with a finding title, highlight colour and annotations.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Build </a:t>
            </a:r>
            <a:pPr indent="0" marL="0">
              <a:buNone/>
            </a:pPr>
            <a:r>
              <a:rPr lang="en-US" sz="2400" dirty="0">
                <a:solidFill>
                  <a:srgbClr val="2B3A4F"/>
                </a:solidFill>
                <a:latin typeface="Calibri" pitchFamily="34" charset="0"/>
                <a:ea typeface="Calibri" pitchFamily="34" charset="-122"/>
                <a:cs typeface="Calibri" pitchFamily="34" charset="-120"/>
              </a:rPr>
              <a:t>a short story from a line chart, with numbers computed from the data.</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Avoid </a:t>
            </a:r>
            <a:pPr indent="0" marL="0">
              <a:buNone/>
            </a:pPr>
            <a:r>
              <a:rPr lang="en-US" sz="2400" dirty="0">
                <a:solidFill>
                  <a:srgbClr val="2B3A4F"/>
                </a:solidFill>
                <a:latin typeface="Calibri" pitchFamily="34" charset="0"/>
                <a:ea typeface="Calibri" pitchFamily="34" charset="-122"/>
                <a:cs typeface="Calibri" pitchFamily="34" charset="-120"/>
              </a:rPr>
              <a:t>misleading stories: cherry-picking, truncated axes and false cause.</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chart, one message. The audience should leave knowing what happened and what to do next.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Data is not a story</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A chart dump </a:t>
            </a:r>
            <a:pPr indent="0" marL="0">
              <a:buNone/>
            </a:pPr>
            <a:r>
              <a:rPr lang="en-US" sz="2400" dirty="0">
                <a:solidFill>
                  <a:srgbClr val="2B3A4F"/>
                </a:solidFill>
                <a:latin typeface="Calibri" pitchFamily="34" charset="0"/>
                <a:ea typeface="Calibri" pitchFamily="34" charset="-122"/>
                <a:cs typeface="Calibri" pitchFamily="34" charset="-120"/>
              </a:rPr>
              <a:t>shows everything and leaves the audience to find the point.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A data story </a:t>
            </a:r>
            <a:pPr indent="0" marL="0">
              <a:buNone/>
            </a:pPr>
            <a:r>
              <a:rPr lang="en-US" sz="2400" dirty="0">
                <a:solidFill>
                  <a:srgbClr val="2B3A4F"/>
                </a:solidFill>
                <a:latin typeface="Calibri" pitchFamily="34" charset="0"/>
                <a:ea typeface="Calibri" pitchFamily="34" charset="-122"/>
                <a:cs typeface="Calibri" pitchFamily="34" charset="-120"/>
              </a:rPr>
              <a:t>picks one message, builds towards it and ends with an action.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Know the audience: </a:t>
            </a:r>
            <a:pPr indent="0" marL="0">
              <a:buNone/>
            </a:pPr>
            <a:r>
              <a:rPr lang="en-US" sz="2400" dirty="0">
                <a:solidFill>
                  <a:srgbClr val="2B3A4F"/>
                </a:solidFill>
                <a:latin typeface="Calibri" pitchFamily="34" charset="0"/>
                <a:ea typeface="Calibri" pitchFamily="34" charset="-122"/>
                <a:cs typeface="Calibri" pitchFamily="34" charset="-120"/>
              </a:rPr>
              <a:t>a manager wants the decision, an analyst wants the method.</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Start with the so-what: </a:t>
            </a:r>
            <a:pPr indent="0" marL="0">
              <a:buNone/>
            </a:pPr>
            <a:r>
              <a:rPr lang="en-US" sz="2400" dirty="0">
                <a:solidFill>
                  <a:srgbClr val="2B3A4F"/>
                </a:solidFill>
                <a:latin typeface="Calibri" pitchFamily="34" charset="0"/>
                <a:ea typeface="Calibri" pitchFamily="34" charset="-122"/>
                <a:cs typeface="Calibri" pitchFamily="34" charset="-120"/>
              </a:rPr>
              <a:t>what do you want them to know, feel or do after seeing it?</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RULE OF THUMB</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If you cannot say the message in one sentence, you do not have a story yet. You have a pile of charts.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Context, conflict, resolution</a:t>
            </a:r>
            <a:endParaRPr lang="en-US" sz="2800" dirty="0"/>
          </a:p>
        </p:txBody>
      </p:sp>
      <p:sp>
        <p:nvSpPr>
          <p:cNvPr id="3" name="Shape 1"/>
          <p:cNvSpPr/>
          <p:nvPr/>
        </p:nvSpPr>
        <p:spPr>
          <a:xfrm>
            <a:off x="548640" y="1417320"/>
            <a:ext cx="362407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307543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Context</a:t>
            </a:r>
            <a:endParaRPr lang="en-US" sz="1700" dirty="0"/>
          </a:p>
        </p:txBody>
      </p:sp>
      <p:sp>
        <p:nvSpPr>
          <p:cNvPr id="5" name="Shape 3"/>
          <p:cNvSpPr/>
          <p:nvPr/>
        </p:nvSpPr>
        <p:spPr>
          <a:xfrm>
            <a:off x="548640" y="2331720"/>
            <a:ext cx="357835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321259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Set the scene. Show normal: what the data looked like and what was expected.</a:t>
            </a:r>
            <a:endParaRPr lang="en-US" sz="2000" dirty="0"/>
          </a:p>
        </p:txBody>
      </p:sp>
      <p:sp>
        <p:nvSpPr>
          <p:cNvPr id="7" name="Shape 5"/>
          <p:cNvSpPr/>
          <p:nvPr/>
        </p:nvSpPr>
        <p:spPr>
          <a:xfrm>
            <a:off x="4282440" y="1417320"/>
            <a:ext cx="3624072" cy="777240"/>
          </a:xfrm>
          <a:prstGeom prst="homePlate">
            <a:avLst/>
          </a:prstGeom>
          <a:solidFill>
            <a:srgbClr val="F29E4C"/>
          </a:solidFill>
          <a:ln w="12700">
            <a:solidFill>
              <a:srgbClr val="F29E4C"/>
            </a:solidFill>
            <a:prstDash val="solid"/>
          </a:ln>
        </p:spPr>
      </p:sp>
      <p:sp>
        <p:nvSpPr>
          <p:cNvPr id="8" name="Text 6"/>
          <p:cNvSpPr txBox="1"/>
          <p:nvPr/>
        </p:nvSpPr>
        <p:spPr>
          <a:xfrm>
            <a:off x="4465320" y="1417320"/>
            <a:ext cx="307543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Conflict</a:t>
            </a:r>
            <a:endParaRPr lang="en-US" sz="1700" dirty="0"/>
          </a:p>
        </p:txBody>
      </p:sp>
      <p:sp>
        <p:nvSpPr>
          <p:cNvPr id="9" name="Shape 7"/>
          <p:cNvSpPr/>
          <p:nvPr/>
        </p:nvSpPr>
        <p:spPr>
          <a:xfrm>
            <a:off x="4282440" y="2331720"/>
            <a:ext cx="357835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4465320" y="2468880"/>
            <a:ext cx="321259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Show the break. A drop, a spike or a gap that surprises or worries.</a:t>
            </a:r>
            <a:endParaRPr lang="en-US" sz="2000" dirty="0"/>
          </a:p>
        </p:txBody>
      </p:sp>
      <p:sp>
        <p:nvSpPr>
          <p:cNvPr id="11" name="Shape 9"/>
          <p:cNvSpPr/>
          <p:nvPr/>
        </p:nvSpPr>
        <p:spPr>
          <a:xfrm>
            <a:off x="8016240" y="1417320"/>
            <a:ext cx="3624072" cy="777240"/>
          </a:xfrm>
          <a:prstGeom prst="homePlate">
            <a:avLst/>
          </a:prstGeom>
          <a:solidFill>
            <a:srgbClr val="3A5BA0"/>
          </a:solidFill>
          <a:ln w="12700">
            <a:solidFill>
              <a:srgbClr val="3A5BA0"/>
            </a:solidFill>
            <a:prstDash val="solid"/>
          </a:ln>
        </p:spPr>
      </p:sp>
      <p:sp>
        <p:nvSpPr>
          <p:cNvPr id="12" name="Text 10"/>
          <p:cNvSpPr txBox="1"/>
          <p:nvPr/>
        </p:nvSpPr>
        <p:spPr>
          <a:xfrm>
            <a:off x="8199120" y="1417320"/>
            <a:ext cx="307543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Resolution</a:t>
            </a:r>
            <a:endParaRPr lang="en-US" sz="1700" dirty="0"/>
          </a:p>
        </p:txBody>
      </p:sp>
      <p:sp>
        <p:nvSpPr>
          <p:cNvPr id="13" name="Shape 11"/>
          <p:cNvSpPr/>
          <p:nvPr/>
        </p:nvSpPr>
        <p:spPr>
          <a:xfrm>
            <a:off x="8016240" y="2331720"/>
            <a:ext cx="357835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8199120" y="2468880"/>
            <a:ext cx="321259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Show what changed or what to do. End with a recommendation.</a:t>
            </a:r>
            <a:endParaRPr lang="en-US" sz="2000" dirty="0"/>
          </a:p>
        </p:txBody>
      </p:sp>
      <p:sp>
        <p:nvSpPr>
          <p:cNvPr id="15" name="Shape 13"/>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16" name="Text 14"/>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The same three beats work for a single chart, a three-slide mini story or a full report.</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Chart dump vs chart story</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Chart dump</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Six charts on one slide, all the same weight.</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Titles name the topic: "Orders by month".</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Rainbow colours, no focus point.</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Ends with "any questions?".</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Chart story</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One chart per slide, one message each.</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Titles state the finding: "Orders fell a third".</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Grey background data, one highlight colour.</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Ends with a recommendation.</a:t>
            </a:r>
            <a:endParaRPr lang="en-US" sz="22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Same data in both. The difference is the choices: what to show, what to mute and what to say.</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Story beats mapped to chart tools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04631"/>
                <a:gridCol w="2576853"/>
                <a:gridCol w="3809261"/>
                <a:gridCol w="2800927"/>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Beat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Reader asks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On the chart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Tool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Context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What is normal?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Full line, plain colour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Clear axis and units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Conflict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What went wrong?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Shaded band at the dip</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Highlight colour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Cause?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Short note at the event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Annotation + arrow</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Resolution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What now?</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Recovery marked, number shown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Direct label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Action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What do I do?</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One line under the chart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Takeaway text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657344"/>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Match every story beat to one visible element on the chart.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Build the story: the data and the plan</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near a Bhopal college logs monthly orders, April to March (hypothetical). A rival opens in November.</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Data: </a:t>
            </a:r>
            <a:pPr indent="0" marL="0">
              <a:buNone/>
            </a:pPr>
            <a:r>
              <a:rPr lang="en-US" sz="2100" dirty="0">
                <a:solidFill>
                  <a:srgbClr val="2B3A4F"/>
                </a:solidFill>
                <a:latin typeface="Calibri" pitchFamily="34" charset="0"/>
                <a:ea typeface="Calibri" pitchFamily="34" charset="-122"/>
                <a:cs typeface="Calibri" pitchFamily="34" charset="-120"/>
              </a:rPr>
              <a:t>Apr 820, May 840, Jun 860, Jul 845, Aug 870, Sep 890, Oct 905, Nov 640, Dec 610, Jan 650, Feb 720, Mar 810.</a:t>
            </a:r>
            <a:endParaRPr lang="en-US" sz="2100" dirty="0"/>
          </a:p>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Context: </a:t>
            </a:r>
            <a:pPr indent="0" marL="0">
              <a:buNone/>
            </a:pPr>
            <a:r>
              <a:rPr lang="en-US" sz="2100" dirty="0">
                <a:solidFill>
                  <a:srgbClr val="2B3A4F"/>
                </a:solidFill>
                <a:latin typeface="Calibri" pitchFamily="34" charset="0"/>
                <a:ea typeface="Calibri" pitchFamily="34" charset="-122"/>
                <a:cs typeface="Calibri" pitchFamily="34" charset="-120"/>
              </a:rPr>
              <a:t>Apr to Oct orders were steady, rising from 820 to a peak of 905.</a:t>
            </a:r>
            <a:endParaRPr lang="en-US" sz="2100" dirty="0"/>
          </a:p>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Conflict: </a:t>
            </a:r>
            <a:pPr indent="0" marL="0">
              <a:buNone/>
            </a:pPr>
            <a:r>
              <a:rPr lang="en-US" sz="2100" dirty="0">
                <a:solidFill>
                  <a:srgbClr val="2B3A4F"/>
                </a:solidFill>
                <a:latin typeface="Calibri" pitchFamily="34" charset="0"/>
                <a:ea typeface="Calibri" pitchFamily="34" charset="-122"/>
                <a:cs typeface="Calibri" pitchFamily="34" charset="-120"/>
              </a:rPr>
              <a:t>Dec low is 610. (610 - 905) / 905 = -32.6%, about a third lost.</a:t>
            </a:r>
            <a:endParaRPr lang="en-US" sz="2100" dirty="0"/>
          </a:p>
          <a:p>
            <a:pPr marL="304800" indent="-304800">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Resolution: </a:t>
            </a:r>
            <a:pPr indent="0" marL="0">
              <a:buNone/>
            </a:pPr>
            <a:r>
              <a:rPr lang="en-US" sz="2100" dirty="0">
                <a:solidFill>
                  <a:srgbClr val="2B3A4F"/>
                </a:solidFill>
                <a:latin typeface="Calibri" pitchFamily="34" charset="0"/>
                <a:ea typeface="Calibri" pitchFamily="34" charset="-122"/>
                <a:cs typeface="Calibri" pitchFamily="34" charset="-120"/>
              </a:rPr>
              <a:t>A student combo started in January. Mar is 810, which is +32.8% from Dec.</a:t>
            </a:r>
            <a:endParaRPr lang="en-US" sz="21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MESSAGE</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Orders fell a third after the rival opened, then recovered most of the loss. Mar is still 10.5% below the Oct peak.</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1: show the context plainly</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Plain line with axis titles. This is the "before story" version.</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drop is visible but unexplained.</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axis starts at 500 for a line chart, which is acceptable. State it if it could mislead.</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Next: add the title, highlight and notes.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2: add the title and the annotations</a:t>
            </a:r>
            <a:endParaRPr lang="en-US" sz="2800" dirty="0"/>
          </a:p>
        </p:txBody>
      </p:sp>
      <p:pic>
        <p:nvPicPr>
          <p:cNvPr id="3" name="Image 0" descr="img/u2t12_story.png">    </p:cNvPr>
          <p:cNvPicPr>
            <a:picLocks noChangeAspect="1"/>
          </p:cNvPicPr>
          <p:nvPr/>
        </p:nvPicPr>
        <p:blipFill>
          <a:blip r:embed="rId1"/>
          <a:srcRect l="0" r="0" t="0" b="0"/>
          <a:stretch/>
        </p:blipFill>
        <p:spPr>
          <a:xfrm>
            <a:off x="548640" y="1417320"/>
            <a:ext cx="7040880" cy="4846320"/>
          </a:xfrm>
          <a:prstGeom prst="rect">
            <a:avLst/>
          </a:prstGeom>
        </p:spPr>
      </p:pic>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CHANGED</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Finding title states the story in one line.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Amber band marks the conflict.</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Peak and low are labelled with numbers.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 note marks the rival and the combo launch.</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Final label shows the recovery: +33% from Dec.</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Rewrite titles as findings</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Topic titles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795272"/>
                <a:gridCol w="359054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Slide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Title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Orders by month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Orders: Nov to Dec</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Combo launch results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Finding titles</a:t>
            </a:r>
            <a:endParaRPr lang="en-US" sz="16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035734"/>
                <a:gridCol w="4350082"/>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Slide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Title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Orders held at 820 to 905 for seven months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Orders fell 33% after a rival opened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Orders are back to 810 after the combo</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Read only the titles on the right and the story is already clear. That is the test of a good story deck.</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Cherry-picking</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Showing only the months that support your point. Show the full period, and say if you cut any.</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Misleading axis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bar chart that starts at 600 makes a drop from 905 to 810 look huge. Start bars at zero.</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False cause</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"Orders fell because of the rival" is a claim. The data only shows the timing. Say "after".</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Too many messages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One chart with five annotations and three highlight colours has no story. Keep to one message per chart.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the three parts of a data story and give one chart element for each.</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Orders: 905 in Oct, 610 in Dec. Find the percentage fall and write a finding title.</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"because of the rival" risky in an annotation? What is a safer wording?</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bar chart of the story starts its axis at 600. What is wrong and how do you fix it?</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A story has a message: </a:t>
            </a:r>
            <a:pPr indent="0" marL="0">
              <a:buNone/>
            </a:pPr>
            <a:r>
              <a:rPr lang="en-US" sz="2000" dirty="0">
                <a:solidFill>
                  <a:srgbClr val="FFFFFF"/>
                </a:solidFill>
                <a:latin typeface="Calibri" pitchFamily="34" charset="0"/>
                <a:ea typeface="Calibri" pitchFamily="34" charset="-122"/>
                <a:cs typeface="Calibri" pitchFamily="34" charset="-120"/>
              </a:rPr>
              <a:t>one chart, one point, one action.</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Structure: </a:t>
            </a:r>
            <a:pPr indent="0" marL="0">
              <a:buNone/>
            </a:pPr>
            <a:r>
              <a:rPr lang="en-US" sz="2000" dirty="0">
                <a:solidFill>
                  <a:srgbClr val="FFFFFF"/>
                </a:solidFill>
                <a:latin typeface="Calibri" pitchFamily="34" charset="0"/>
                <a:ea typeface="Calibri" pitchFamily="34" charset="-122"/>
                <a:cs typeface="Calibri" pitchFamily="34" charset="-120"/>
              </a:rPr>
              <a:t>context, conflict, resolution.</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Guide the eye: </a:t>
            </a:r>
            <a:pPr indent="0" marL="0">
              <a:buNone/>
            </a:pPr>
            <a:r>
              <a:rPr lang="en-US" sz="2000" dirty="0">
                <a:solidFill>
                  <a:srgbClr val="FFFFFF"/>
                </a:solidFill>
                <a:latin typeface="Calibri" pitchFamily="34" charset="0"/>
                <a:ea typeface="Calibri" pitchFamily="34" charset="-122"/>
                <a:cs typeface="Calibri" pitchFamily="34" charset="-120"/>
              </a:rPr>
              <a:t>finding title, one highlight colour, a few annotations.</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Show your numbers: </a:t>
            </a:r>
            <a:pPr indent="0" marL="0">
              <a:buNone/>
            </a:pPr>
            <a:r>
              <a:rPr lang="en-US" sz="2000" dirty="0">
                <a:solidFill>
                  <a:srgbClr val="FFFFFF"/>
                </a:solidFill>
                <a:latin typeface="Calibri" pitchFamily="34" charset="0"/>
                <a:ea typeface="Calibri" pitchFamily="34" charset="-122"/>
                <a:cs typeface="Calibri" pitchFamily="34" charset="-120"/>
              </a:rPr>
              <a:t>quantify the drop and the recovery.</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Stay honest: full period, honest axes, "after" and not "because".</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Introduction to Visualization Tools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Storytelling with Visuals</dc:title>
  <dc:subject>Business Management Tools I</dc:subject>
  <dc:creator>Sushant Bhargav</dc:creator>
  <cp:lastModifiedBy>Sushant Bhargav</cp:lastModifiedBy>
  <cp:revision>1</cp:revision>
  <dcterms:created xsi:type="dcterms:W3CDTF">2026-10-07T01:36:20Z</dcterms:created>
  <dcterms:modified xsi:type="dcterms:W3CDTF">2026-10-07T01:36:20Z</dcterms:modified>
</cp:coreProperties>
</file>