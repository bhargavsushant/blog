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1: Data Cleaning Techniques" id="{abfa90f5-28c6-e59b-0bb9-30e2fc0b512f}">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 per day</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Mean with typo</c:v>
                  </c:pt>
                  <c:pt idx="1">
                    <c:v>Median with typo</c:v>
                  </c:pt>
                  <c:pt idx="2">
                    <c:v>Mean after fix</c:v>
                  </c:pt>
                </c:lvl>
              </c:multiLvlStrCache>
            </c:multiLvlStrRef>
          </c:cat>
          <c:val>
            <c:numRef>
              <c:f>Sheet1!$B$2:$B$4</c:f>
              <c:numCache>
                <c:formatCode>General</c:formatCode>
                <c:ptCount val="3"/>
                <c:pt idx="0">
                  <c:v>1064</c:v>
                </c:pt>
                <c:pt idx="1">
                  <c:v>410</c:v>
                </c:pt>
                <c:pt idx="2">
                  <c:v>421</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Orders per day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common data problems and the Excel and Power Query tools that fix them. Cleaning is usually the longest part of any analysis, so it pays to be systematic.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have you ever copied a list from a website into Excel and found it behaving strangely? That is dirty data. Today we learn a routine to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surveys of analysts report that cleaning takes most of their time, but do not quote a number. The key habit for students is working on a copy and keeping a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one card at a time and ask for a real example from a college form or an order sheet. Text-numbers are a favourite trap: the cell is left-aligned and has a small green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four problems in the left table: mixed case, a hidden trailing space, a blank amount and a duplicate customer 101. The fill value 1025 is only one possible choice, we discuss options in the missing values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the main teaching point. If you remove duplicates before trimming spaces, "Ravi Kumar" and "Ravi Kumar " are treated as different people. Ask the class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nesting: CLEAN first, then TRIM, then PROPER. ISNUMBER returns FALSE for a text-number, which is a quick test across a column. Remind students that formulas leave the original untouched, so they must copy and Paste Special as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TRIM and PROPER step, Remove Duplicates would have found nothing, because the two rows for 101 differ in case and spacing. Note that Excel Remove Duplicates ignores case but does not ignore extra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Special lets you fill many blanks at once: select blanks, type a value or =B2 to copy from above, and press Ctrl+Enter. Ask the class when filling with an average would be dishonest, for example for a customer age or a medical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IQR rule flags a value but does not decide for you. If the till had shown 5000 because of a wedding order, the value is real and must stay. Note how the median barely moved while the mean exploded.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comparison of three numbers, so a bar chart works. A large gap between mean and median is itself a warning sign that an outlier or skew is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Query is the professional answer to the question of how to repeat cleaning every month. Students can click an Applied Step to see the data at that stage, and delete a step if it was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card matters in India where common names repeat. Always include an ID or phone number column in the duplicate check. Ask students how they would tell a duplicate from a repeat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For question 2 the quartiles are given to save time. Question 4 shows why filling with zero is a bad default.
ANSWERS
1. Different case or extra spaces in text. Apply TRIM and PROPER (and CLEAN) first, then run Remove Duplicates.
2. IQR = 2. Upper fence = 15 + 3 = 18. 90 is above 18, so it is flagged. Check the source before changing it.
3. 1,200 is stored as text, so SUM ignores it. Use VALUE(SUBSTITUTE(cell,",","")) or Text to Columns to convert.
4. AVERAGE skips the blank: 210 / 3 = 70. With 0 filled: 210 / 4 = 52.5, which is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11</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Data Cleaning Techniques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Spot </a:t>
            </a:r>
            <a:pPr indent="0" marL="0">
              <a:buNone/>
            </a:pPr>
            <a:r>
              <a:rPr lang="en-US" sz="2400" dirty="0">
                <a:solidFill>
                  <a:srgbClr val="2B3A4F"/>
                </a:solidFill>
                <a:latin typeface="Calibri" pitchFamily="34" charset="0"/>
                <a:ea typeface="Calibri" pitchFamily="34" charset="-122"/>
                <a:cs typeface="Calibri" pitchFamily="34" charset="-120"/>
              </a:rPr>
              <a:t>the five common problems: missing values, duplicates, messy text, outliers and wrong types.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Fix text </a:t>
            </a:r>
            <a:pPr indent="0" marL="0">
              <a:buNone/>
            </a:pPr>
            <a:r>
              <a:rPr lang="en-US" sz="2400" dirty="0">
                <a:solidFill>
                  <a:srgbClr val="2B3A4F"/>
                </a:solidFill>
                <a:latin typeface="Calibri" pitchFamily="34" charset="0"/>
                <a:ea typeface="Calibri" pitchFamily="34" charset="-122"/>
                <a:cs typeface="Calibri" pitchFamily="34" charset="-120"/>
              </a:rPr>
              <a:t>with TRIM, CLEAN, PROPER and Find and Replace.</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Remove </a:t>
            </a:r>
            <a:pPr indent="0" marL="0">
              <a:buNone/>
            </a:pPr>
            <a:r>
              <a:rPr lang="en-US" sz="2400" dirty="0">
                <a:solidFill>
                  <a:srgbClr val="2B3A4F"/>
                </a:solidFill>
                <a:latin typeface="Calibri" pitchFamily="34" charset="0"/>
                <a:ea typeface="Calibri" pitchFamily="34" charset="-122"/>
                <a:cs typeface="Calibri" pitchFamily="34" charset="-120"/>
              </a:rPr>
              <a:t>duplicates safely and handle blank cells with Go To Special.</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Judge </a:t>
            </a:r>
            <a:pPr indent="0" marL="0">
              <a:buNone/>
            </a:pPr>
            <a:r>
              <a:rPr lang="en-US" sz="2400" dirty="0">
                <a:solidFill>
                  <a:srgbClr val="2B3A4F"/>
                </a:solidFill>
                <a:latin typeface="Calibri" pitchFamily="34" charset="0"/>
                <a:ea typeface="Calibri" pitchFamily="34" charset="-122"/>
                <a:cs typeface="Calibri" pitchFamily="34" charset="-120"/>
              </a:rPr>
              <a:t>an outlier with the IQR rule before deciding to keep or fix it.</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Repeat </a:t>
            </a:r>
            <a:pPr indent="0" marL="0">
              <a:buNone/>
            </a:pPr>
            <a:r>
              <a:rPr lang="en-US" sz="2400" dirty="0">
                <a:solidFill>
                  <a:srgbClr val="2B3A4F"/>
                </a:solidFill>
                <a:latin typeface="Calibri" pitchFamily="34" charset="0"/>
                <a:ea typeface="Calibri" pitchFamily="34" charset="-122"/>
                <a:cs typeface="Calibri" pitchFamily="34" charset="-120"/>
              </a:rPr>
              <a:t>the same cleaning steps automatically with Power Query.</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5</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problems cover most dirty data. Check for each one, in order, before you analyse anything.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Why cleaning comes first</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Data cleaning </a:t>
            </a:r>
            <a:pPr indent="0" marL="0">
              <a:buNone/>
            </a:pPr>
            <a:r>
              <a:rPr lang="en-US" sz="2200" dirty="0">
                <a:solidFill>
                  <a:srgbClr val="2B3A4F"/>
                </a:solidFill>
                <a:latin typeface="Calibri" pitchFamily="34" charset="0"/>
                <a:ea typeface="Calibri" pitchFamily="34" charset="-122"/>
                <a:cs typeface="Calibri" pitchFamily="34" charset="-120"/>
              </a:rPr>
              <a:t>means finding and fixing errors, gaps and inconsistencies in a dataset.</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Garbage in, garbage out: </a:t>
            </a:r>
            <a:pPr indent="0" marL="0">
              <a:buNone/>
            </a:pPr>
            <a:r>
              <a:rPr lang="en-US" sz="2200" dirty="0">
                <a:solidFill>
                  <a:srgbClr val="2B3A4F"/>
                </a:solidFill>
                <a:latin typeface="Calibri" pitchFamily="34" charset="0"/>
                <a:ea typeface="Calibri" pitchFamily="34" charset="-122"/>
                <a:cs typeface="Calibri" pitchFamily="34" charset="-120"/>
              </a:rPr>
              <a:t>a correct formula on dirty data still gives a wrong answer.</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Duplicates </a:t>
            </a:r>
            <a:pPr indent="0" marL="0">
              <a:buNone/>
            </a:pPr>
            <a:r>
              <a:rPr lang="en-US" sz="2200" dirty="0">
                <a:solidFill>
                  <a:srgbClr val="2B3A4F"/>
                </a:solidFill>
                <a:latin typeface="Calibri" pitchFamily="34" charset="0"/>
                <a:ea typeface="Calibri" pitchFamily="34" charset="-122"/>
                <a:cs typeface="Calibri" pitchFamily="34" charset="-120"/>
              </a:rPr>
              <a:t>inflate totals and counts. Blanks and text-numbers silently change averages and sums.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Keep the raw data. </a:t>
            </a:r>
            <a:pPr indent="0" marL="0">
              <a:buNone/>
            </a:pPr>
            <a:r>
              <a:rPr lang="en-US" sz="2200" dirty="0">
                <a:solidFill>
                  <a:srgbClr val="2B3A4F"/>
                </a:solidFill>
                <a:latin typeface="Calibri" pitchFamily="34" charset="0"/>
                <a:ea typeface="Calibri" pitchFamily="34" charset="-122"/>
                <a:cs typeface="Calibri" pitchFamily="34" charset="-120"/>
              </a:rPr>
              <a:t>Clean a copy so you can always go back and check.</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Write down </a:t>
            </a:r>
            <a:pPr indent="0" marL="0">
              <a:buNone/>
            </a:pPr>
            <a:r>
              <a:rPr lang="en-US" sz="2200" dirty="0">
                <a:solidFill>
                  <a:srgbClr val="2B3A4F"/>
                </a:solidFill>
                <a:latin typeface="Calibri" pitchFamily="34" charset="0"/>
                <a:ea typeface="Calibri" pitchFamily="34" charset="-122"/>
                <a:cs typeface="Calibri" pitchFamily="34" charset="-120"/>
              </a:rPr>
              <a:t>every change you make, so someone else can repeat it.</a:t>
            </a:r>
            <a:endParaRPr lang="en-US" sz="22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EXAMPLE</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A customer is entered twice. A sales report shows 2 customers where there is really 1, and revenue is double counted.</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five common problems</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Missing values</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Blank cells or placeholders like "NA" and "-". Averages skip blanks, so results shift.</a:t>
            </a:r>
            <a:endParaRPr lang="en-US" sz="19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Duplicates</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The same record entered twice. Totals, counts and averages are inflated.</a:t>
            </a:r>
            <a:endParaRPr lang="en-US" sz="20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Inconsistent text</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"Bhopal", "bhopal " and "BHOPAL" count as three cities in a pivot or filter.</a:t>
            </a:r>
            <a:endParaRPr lang="en-US" sz="20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Outliers</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Values far from the rest, such as 5000 where 500 was meant. They pull the mean sharply.</a:t>
            </a:r>
            <a:endParaRPr lang="en-US" sz="20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Wrong data types</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Numbers stored as text ("1,200") or dates stored as text. SUM ignores them.</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Before and after cleaning</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Before: raw customer list</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196848"/>
                <a:gridCol w="1316533"/>
                <a:gridCol w="1675587"/>
                <a:gridCol w="1196848"/>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Name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Amount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ravi  KUMAR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1200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Neha jain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 (space)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[blank]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Ravi Kumar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1200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AMIT SHAH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850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After: cleaned list</a:t>
            </a:r>
            <a:endParaRPr lang="en-US" sz="16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346454"/>
                <a:gridCol w="1346454"/>
                <a:gridCol w="1346454"/>
                <a:gridCol w="1346454"/>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Name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Amount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Ravi Kumar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1200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Neha Jain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1025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Amit Shah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850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Four rows became three. The blank for ID 102 was filled with the median of 1200 and 850, which is 1025.</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 repeatable cleaning workflow</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Copy and inspect</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Duplicate the raw sheet. Scan with filters, sort and COUNTBLANK.</a:t>
            </a:r>
            <a:endParaRPr lang="en-US" sz="19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Fix structure and types</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Correct data types, split or trim text, standardise spelling.</a:t>
            </a:r>
            <a:endParaRPr lang="en-US" sz="20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Handle gaps</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Decide for each blank: leave, fill or delete the row.</a:t>
            </a:r>
            <a:endParaRPr lang="en-US" sz="20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Remove duplicates</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Only after text is standardised, or near-duplicates will survive.</a:t>
            </a:r>
            <a:endParaRPr lang="en-US" sz="19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Check outliers</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Test unusual values and verify with the source before changing.</a:t>
            </a:r>
            <a:endParaRPr lang="en-US" sz="19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Order matters: trim and fix case first, then remove duplicates.</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Excel tools for messy text</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=TRIM(B2)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=CLEAN(B2)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=PROPER(TRIM(CLEAN(B2)))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=VALUE(SUBSTITUTE(D2,",",""))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=ISNUMBER(D2)</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100" b="1" dirty="0">
                <a:solidFill>
                  <a:srgbClr val="14213D"/>
                </a:solidFill>
                <a:latin typeface="Calibri" pitchFamily="34" charset="0"/>
                <a:ea typeface="Calibri" pitchFamily="34" charset="-122"/>
                <a:cs typeface="Calibri" pitchFamily="34" charset="-120"/>
              </a:rPr>
              <a:t>TRIM: </a:t>
            </a:r>
            <a:pPr indent="0" marL="0">
              <a:buNone/>
            </a:pPr>
            <a:r>
              <a:rPr lang="en-US" sz="2100" dirty="0">
                <a:solidFill>
                  <a:srgbClr val="2B3A4F"/>
                </a:solidFill>
                <a:latin typeface="Calibri" pitchFamily="34" charset="0"/>
                <a:ea typeface="Calibri" pitchFamily="34" charset="-122"/>
                <a:cs typeface="Calibri" pitchFamily="34" charset="-120"/>
              </a:rPr>
              <a:t>removes extra spaces, keeping one between words.</a:t>
            </a:r>
            <a:endParaRPr lang="en-US" sz="2100" dirty="0"/>
          </a:p>
          <a:p>
            <a:pPr marL="228600" indent="-228600">
              <a:spcAft>
                <a:spcPts val="1000"/>
              </a:spcAft>
              <a:buSzPct val="100000"/>
              <a:buChar char="•"/>
            </a:pPr>
            <a:r>
              <a:rPr lang="en-US" sz="2100" b="1" dirty="0">
                <a:solidFill>
                  <a:srgbClr val="14213D"/>
                </a:solidFill>
                <a:latin typeface="Calibri" pitchFamily="34" charset="0"/>
                <a:ea typeface="Calibri" pitchFamily="34" charset="-122"/>
                <a:cs typeface="Calibri" pitchFamily="34" charset="-120"/>
              </a:rPr>
              <a:t>CLEAN: </a:t>
            </a:r>
            <a:pPr indent="0" marL="0">
              <a:buNone/>
            </a:pPr>
            <a:r>
              <a:rPr lang="en-US" sz="2100" dirty="0">
                <a:solidFill>
                  <a:srgbClr val="2B3A4F"/>
                </a:solidFill>
                <a:latin typeface="Calibri" pitchFamily="34" charset="0"/>
                <a:ea typeface="Calibri" pitchFamily="34" charset="-122"/>
                <a:cs typeface="Calibri" pitchFamily="34" charset="-120"/>
              </a:rPr>
              <a:t>removes hidden non-printing characters from imports.</a:t>
            </a:r>
            <a:endParaRPr lang="en-US" sz="2100" dirty="0"/>
          </a:p>
          <a:p>
            <a:pPr marL="228600" indent="-228600">
              <a:spcAft>
                <a:spcPts val="1000"/>
              </a:spcAft>
              <a:buSzPct val="100000"/>
              <a:buChar char="•"/>
            </a:pPr>
            <a:r>
              <a:rPr lang="en-US" sz="2100" b="1" dirty="0">
                <a:solidFill>
                  <a:srgbClr val="14213D"/>
                </a:solidFill>
                <a:latin typeface="Calibri" pitchFamily="34" charset="0"/>
                <a:ea typeface="Calibri" pitchFamily="34" charset="-122"/>
                <a:cs typeface="Calibri" pitchFamily="34" charset="-120"/>
              </a:rPr>
              <a:t>PROPER: </a:t>
            </a:r>
            <a:pPr indent="0" marL="0">
              <a:buNone/>
            </a:pPr>
            <a:r>
              <a:rPr lang="en-US" sz="2100" dirty="0">
                <a:solidFill>
                  <a:srgbClr val="2B3A4F"/>
                </a:solidFill>
                <a:latin typeface="Calibri" pitchFamily="34" charset="0"/>
                <a:ea typeface="Calibri" pitchFamily="34" charset="-122"/>
                <a:cs typeface="Calibri" pitchFamily="34" charset="-120"/>
              </a:rPr>
              <a:t>capitalises each word. Check names like "McDonald".</a:t>
            </a:r>
            <a:endParaRPr lang="en-US" sz="2100" dirty="0"/>
          </a:p>
          <a:p>
            <a:pPr marL="228600" indent="-228600">
              <a:spcAft>
                <a:spcPts val="1000"/>
              </a:spcAft>
              <a:buSzPct val="100000"/>
              <a:buChar char="•"/>
            </a:pPr>
            <a:r>
              <a:rPr lang="en-US" sz="2100" b="1" dirty="0">
                <a:solidFill>
                  <a:srgbClr val="14213D"/>
                </a:solidFill>
                <a:latin typeface="Calibri" pitchFamily="34" charset="0"/>
                <a:ea typeface="Calibri" pitchFamily="34" charset="-122"/>
                <a:cs typeface="Calibri" pitchFamily="34" charset="-120"/>
              </a:rPr>
              <a:t>VALUE and ISNUMBER: </a:t>
            </a:r>
            <a:pPr indent="0" marL="0">
              <a:buNone/>
            </a:pPr>
            <a:r>
              <a:rPr lang="en-US" sz="2100" dirty="0">
                <a:solidFill>
                  <a:srgbClr val="2B3A4F"/>
                </a:solidFill>
                <a:latin typeface="Calibri" pitchFamily="34" charset="0"/>
                <a:ea typeface="Calibri" pitchFamily="34" charset="-122"/>
                <a:cs typeface="Calibri" pitchFamily="34" charset="-120"/>
              </a:rPr>
              <a:t>convert and test text-numbers.</a:t>
            </a:r>
            <a:endParaRPr lang="en-US" sz="2100" dirty="0"/>
          </a:p>
          <a:p>
            <a:pPr marL="228600" indent="-228600">
              <a:buSzPct val="100000"/>
              <a:buChar char="•"/>
            </a:pPr>
            <a:r>
              <a:rPr lang="en-US" sz="2100" dirty="0">
                <a:solidFill>
                  <a:srgbClr val="2B3A4F"/>
                </a:solidFill>
                <a:latin typeface="Calibri" pitchFamily="34" charset="0"/>
                <a:ea typeface="Calibri" pitchFamily="34" charset="-122"/>
                <a:cs typeface="Calibri" pitchFamily="34" charset="-120"/>
              </a:rPr>
              <a:t>Paste results as values, then delete the helper column.</a:t>
            </a:r>
            <a:endParaRPr lang="en-US" sz="2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fix text, then remove duplicates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The raw list on the earlier slide has 4 rows. Customer 101 appears twice with different spelling.</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Apply PROPER(TRIM(...)): </a:t>
            </a:r>
            <a:pPr indent="0" marL="0">
              <a:buNone/>
            </a:pPr>
            <a:r>
              <a:rPr lang="en-US" sz="2200" dirty="0">
                <a:solidFill>
                  <a:srgbClr val="2B3A4F"/>
                </a:solidFill>
                <a:latin typeface="Calibri" pitchFamily="34" charset="0"/>
                <a:ea typeface="Calibri" pitchFamily="34" charset="-122"/>
                <a:cs typeface="Calibri" pitchFamily="34" charset="-120"/>
              </a:rPr>
              <a:t>"ravi  KUMAR" becomes "Ravi Kumar". Same for city and the other names.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Find and Replace: </a:t>
            </a:r>
            <a:pPr indent="0" marL="0">
              <a:buNone/>
            </a:pPr>
            <a:r>
              <a:rPr lang="en-US" sz="2200" dirty="0">
                <a:solidFill>
                  <a:srgbClr val="2B3A4F"/>
                </a:solidFill>
                <a:latin typeface="Calibri" pitchFamily="34" charset="0"/>
                <a:ea typeface="Calibri" pitchFamily="34" charset="-122"/>
                <a:cs typeface="Calibri" pitchFamily="34" charset="-120"/>
              </a:rPr>
              <a:t>remove the trailing space in "Bhopal " if any remain.</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Data &gt; Remove Duplicates: </a:t>
            </a:r>
            <a:pPr indent="0" marL="0">
              <a:buNone/>
            </a:pPr>
            <a:r>
              <a:rPr lang="en-US" sz="2200" dirty="0">
                <a:solidFill>
                  <a:srgbClr val="2B3A4F"/>
                </a:solidFill>
                <a:latin typeface="Calibri" pitchFamily="34" charset="0"/>
                <a:ea typeface="Calibri" pitchFamily="34" charset="-122"/>
                <a:cs typeface="Calibri" pitchFamily="34" charset="-120"/>
              </a:rPr>
              <a:t>tick all columns. Rows 1 and 3 are now identical.</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Count the rows: </a:t>
            </a:r>
            <a:pPr indent="0" marL="0">
              <a:buNone/>
            </a:pPr>
            <a:r>
              <a:rPr lang="en-US" sz="2200" dirty="0">
                <a:solidFill>
                  <a:srgbClr val="2B3A4F"/>
                </a:solidFill>
                <a:latin typeface="Calibri" pitchFamily="34" charset="0"/>
                <a:ea typeface="Calibri" pitchFamily="34" charset="-122"/>
                <a:cs typeface="Calibri" pitchFamily="34" charset="-120"/>
              </a:rPr>
              <a:t>4 rows minus 1 duplicate leaves 3 customers.</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Revenue for customer 101 falls from 2400 (double counted) to the true 1200. Total of known amounts is 1200 + 850 = 2050.</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handling a missing value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Monthly sales (₹ thousand) for six months: 120, 135, [blank], 150, 140, 155. March was not recorded.</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Find it: </a:t>
            </a:r>
            <a:pPr indent="0" marL="0">
              <a:buNone/>
            </a:pPr>
            <a:r>
              <a:rPr lang="en-US" sz="2200" dirty="0">
                <a:solidFill>
                  <a:srgbClr val="2B3A4F"/>
                </a:solidFill>
                <a:latin typeface="Calibri" pitchFamily="34" charset="0"/>
                <a:ea typeface="Calibri" pitchFamily="34" charset="-122"/>
                <a:cs typeface="Calibri" pitchFamily="34" charset="-120"/>
              </a:rPr>
              <a:t>Select the column, press F5 &gt; Special &gt; Blanks. Excel selects the empty cell.</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Option A, leave it: </a:t>
            </a:r>
            <a:pPr indent="0" marL="0">
              <a:buNone/>
            </a:pPr>
            <a:r>
              <a:rPr lang="en-US" sz="2200" dirty="0">
                <a:solidFill>
                  <a:srgbClr val="2B3A4F"/>
                </a:solidFill>
                <a:latin typeface="Calibri" pitchFamily="34" charset="0"/>
                <a:ea typeface="Calibri" pitchFamily="34" charset="-122"/>
                <a:cs typeface="Calibri" pitchFamily="34" charset="-120"/>
              </a:rPr>
              <a:t>AVERAGE skips blanks: (120+135+150+140+155) / 5 = 140.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Option B, fill with 140: </a:t>
            </a:r>
            <a:pPr indent="0" marL="0">
              <a:buNone/>
            </a:pPr>
            <a:r>
              <a:rPr lang="en-US" sz="2200" dirty="0">
                <a:solidFill>
                  <a:srgbClr val="2B3A4F"/>
                </a:solidFill>
                <a:latin typeface="Calibri" pitchFamily="34" charset="0"/>
                <a:ea typeface="Calibri" pitchFamily="34" charset="-122"/>
                <a:cs typeface="Calibri" pitchFamily="34" charset="-120"/>
              </a:rPr>
              <a:t>type 140 and press Ctrl+Enter. The six-month total becomes 840.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Option C, delete: </a:t>
            </a:r>
            <a:pPr indent="0" marL="0">
              <a:buNone/>
            </a:pPr>
            <a:r>
              <a:rPr lang="en-US" sz="2200" dirty="0">
                <a:solidFill>
                  <a:srgbClr val="2B3A4F"/>
                </a:solidFill>
                <a:latin typeface="Calibri" pitchFamily="34" charset="0"/>
                <a:ea typeface="Calibri" pitchFamily="34" charset="-122"/>
                <a:cs typeface="Calibri" pitchFamily="34" charset="-120"/>
              </a:rPr>
              <a:t>drop the month. Only valid if blanks are rare and random.</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TAKEAWAY</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Leaving the blank gives a total of 700, which understates the year. Always say which option you chose and why.</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is this value an outlier?</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Daily cafe orders over a week: 420, 380, 450, 400, 5000, 410, 390. Is 5000 a real day or a typing error?</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Quartiles: </a:t>
            </a:r>
            <a:pPr indent="0" marL="0">
              <a:buNone/>
            </a:pPr>
            <a:r>
              <a:rPr lang="en-US" sz="2200" dirty="0">
                <a:solidFill>
                  <a:srgbClr val="2B3A4F"/>
                </a:solidFill>
                <a:latin typeface="Calibri" pitchFamily="34" charset="0"/>
                <a:ea typeface="Calibri" pitchFamily="34" charset="-122"/>
                <a:cs typeface="Calibri" pitchFamily="34" charset="-120"/>
              </a:rPr>
              <a:t>Q1 = 395 and Q3 = 435 (QUARTILE.INC), so IQR = 40.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Fences: </a:t>
            </a:r>
            <a:pPr indent="0" marL="0">
              <a:buNone/>
            </a:pPr>
            <a:r>
              <a:rPr lang="en-US" sz="2200" dirty="0">
                <a:solidFill>
                  <a:srgbClr val="2B3A4F"/>
                </a:solidFill>
                <a:latin typeface="Calibri" pitchFamily="34" charset="0"/>
                <a:ea typeface="Calibri" pitchFamily="34" charset="-122"/>
                <a:cs typeface="Calibri" pitchFamily="34" charset="-120"/>
              </a:rPr>
              <a:t>lower = 395 - 1.5 × 40 = 335. Upper = 435 + 1.5 × 40 = 495.</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Test: </a:t>
            </a:r>
            <a:pPr indent="0" marL="0">
              <a:buNone/>
            </a:pPr>
            <a:r>
              <a:rPr lang="en-US" sz="2200" dirty="0">
                <a:solidFill>
                  <a:srgbClr val="2B3A4F"/>
                </a:solidFill>
                <a:latin typeface="Calibri" pitchFamily="34" charset="0"/>
                <a:ea typeface="Calibri" pitchFamily="34" charset="-122"/>
                <a:cs typeface="Calibri" pitchFamily="34" charset="-120"/>
              </a:rPr>
              <a:t>5000 is above 495, so it is flagged. The other six values are inside.</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Check the source: </a:t>
            </a:r>
            <a:pPr indent="0" marL="0">
              <a:buNone/>
            </a:pPr>
            <a:r>
              <a:rPr lang="en-US" sz="2200" dirty="0">
                <a:solidFill>
                  <a:srgbClr val="2B3A4F"/>
                </a:solidFill>
                <a:latin typeface="Calibri" pitchFamily="34" charset="0"/>
                <a:ea typeface="Calibri" pitchFamily="34" charset="-122"/>
                <a:cs typeface="Calibri" pitchFamily="34" charset="-120"/>
              </a:rPr>
              <a:t>the till shows 500. The extra zero was a typing error.</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Mean with 5000 = 1064. Median = 410. After correcting to 500, the mean is 421.</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one typo moves the mean</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One wrong value lifts the mean from about 421 to 1064.</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median stays at 410, so it is robust to outliers.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After the fix, mean and median agree again.</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Power Query: clean once, refresh forever</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POWER QUERY STEPS</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Data &gt; Get Data &gt; From Table/Range</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Transform &gt; Format &gt; Trim</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Transform &gt; Format &gt; Capitalize Each Word</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Transform &gt; Replace Values</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Transform &gt; Data Type &gt; Whole Number</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Home &gt; Remove Rows &gt; Remove Duplicates</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Home &gt; Close and Load</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Every click </a:t>
            </a:r>
            <a:pPr indent="0" marL="0">
              <a:buNone/>
            </a:pPr>
            <a:r>
              <a:rPr lang="en-US" sz="2200" dirty="0">
                <a:solidFill>
                  <a:srgbClr val="2B3A4F"/>
                </a:solidFill>
                <a:latin typeface="Calibri" pitchFamily="34" charset="0"/>
                <a:ea typeface="Calibri" pitchFamily="34" charset="-122"/>
                <a:cs typeface="Calibri" pitchFamily="34" charset="-120"/>
              </a:rPr>
              <a:t>is recorded as an Applied Step on the right.</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New data: </a:t>
            </a:r>
            <a:pPr indent="0" marL="0">
              <a:buNone/>
            </a:pPr>
            <a:r>
              <a:rPr lang="en-US" sz="2200" dirty="0">
                <a:solidFill>
                  <a:srgbClr val="2B3A4F"/>
                </a:solidFill>
                <a:latin typeface="Calibri" pitchFamily="34" charset="0"/>
                <a:ea typeface="Calibri" pitchFamily="34" charset="-122"/>
                <a:cs typeface="Calibri" pitchFamily="34" charset="-120"/>
              </a:rPr>
              <a:t>paste it into the source and click Refresh. All steps rerun.</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Raw data </a:t>
            </a:r>
            <a:pPr indent="0" marL="0">
              <a:buNone/>
            </a:pPr>
            <a:r>
              <a:rPr lang="en-US" sz="2200" dirty="0">
                <a:solidFill>
                  <a:srgbClr val="2B3A4F"/>
                </a:solidFill>
                <a:latin typeface="Calibri" pitchFamily="34" charset="0"/>
                <a:ea typeface="Calibri" pitchFamily="34" charset="-122"/>
                <a:cs typeface="Calibri" pitchFamily="34" charset="-120"/>
              </a:rPr>
              <a:t>is never changed, which supports audit.</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Best choice for monthly files that arrive in the same messy format.</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Cleaning too early</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Removing duplicates before trimming text leaves near-duplicates behind.</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Deleting real outliers</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wedding order of 5000 is real. Verify with the source before removing or changing.</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Filling blanks blindly</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Filling with the mean shrinks variation. Zero is wrong if the value was simply not recorded.</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Same name, different people</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Two customers named "Amit Shah" are not duplicates. Compare IDs, not just names.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two reasons Remove Duplicates may miss a duplicate row. How do you fix it?</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Values: 12, 14, 15, 13, 90. Q1 = 13 and Q3 = 15. Is 90 an outlier by the IQR rule?</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column shows 1,200 and 850 but SUM gives 850. What is likely wrong and how do you fix it?</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Marks are 60, 70, blank, 80. What does AVERAGE give, and what if the blank is filled with 0?</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Five problems: </a:t>
            </a:r>
            <a:pPr indent="0" marL="0">
              <a:buNone/>
            </a:pPr>
            <a:r>
              <a:rPr lang="en-US" sz="2000" dirty="0">
                <a:solidFill>
                  <a:srgbClr val="FFFFFF"/>
                </a:solidFill>
                <a:latin typeface="Calibri" pitchFamily="34" charset="0"/>
                <a:ea typeface="Calibri" pitchFamily="34" charset="-122"/>
                <a:cs typeface="Calibri" pitchFamily="34" charset="-120"/>
              </a:rPr>
              <a:t>missing values, duplicates, messy text, outliers, wrong types.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Order: </a:t>
            </a:r>
            <a:pPr indent="0" marL="0">
              <a:buNone/>
            </a:pPr>
            <a:r>
              <a:rPr lang="en-US" sz="2000" dirty="0">
                <a:solidFill>
                  <a:srgbClr val="FFFFFF"/>
                </a:solidFill>
                <a:latin typeface="Calibri" pitchFamily="34" charset="0"/>
                <a:ea typeface="Calibri" pitchFamily="34" charset="-122"/>
                <a:cs typeface="Calibri" pitchFamily="34" charset="-120"/>
              </a:rPr>
              <a:t>fix text and types first, then remove duplicates, then judge outliers.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Excel tools: </a:t>
            </a:r>
            <a:pPr indent="0" marL="0">
              <a:buNone/>
            </a:pPr>
            <a:r>
              <a:rPr lang="en-US" sz="2000" dirty="0">
                <a:solidFill>
                  <a:srgbClr val="FFFFFF"/>
                </a:solidFill>
                <a:latin typeface="Calibri" pitchFamily="34" charset="0"/>
                <a:ea typeface="Calibri" pitchFamily="34" charset="-122"/>
                <a:cs typeface="Calibri" pitchFamily="34" charset="-120"/>
              </a:rPr>
              <a:t>TRIM, CLEAN, PROPER, Find and Replace, Remove Duplicates, Go To Special.</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Outliers: </a:t>
            </a:r>
            <a:pPr indent="0" marL="0">
              <a:buNone/>
            </a:pPr>
            <a:r>
              <a:rPr lang="en-US" sz="2000" dirty="0">
                <a:solidFill>
                  <a:srgbClr val="FFFFFF"/>
                </a:solidFill>
                <a:latin typeface="Calibri" pitchFamily="34" charset="0"/>
                <a:ea typeface="Calibri" pitchFamily="34" charset="-122"/>
                <a:cs typeface="Calibri" pitchFamily="34" charset="-120"/>
              </a:rPr>
              <a:t>flag with the IQR rule, then verify with the source.</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Use Power Query to repeat the same cleaning on new data.</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Transforming and Reshaping Data</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Cleaning Techniques</dc:title>
  <dc:subject>Business Management Tools I</dc:subject>
  <dc:creator>Sushant Bhargav</dc:creator>
  <cp:lastModifiedBy>Sushant Bhargav</cp:lastModifiedBy>
  <cp:revision>1</cp:revision>
  <dcterms:created xsi:type="dcterms:W3CDTF">2026-10-07T01:36:14Z</dcterms:created>
  <dcterms:modified xsi:type="dcterms:W3CDTF">2026-10-07T01:36:14Z</dcterms:modified>
</cp:coreProperties>
</file>