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6: Numerical Data Visualization" id="{0493d67d-68d1-14be-d3e2-c2bb5f4a3a7e}">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Orders</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10-19</c:v>
                  </c:pt>
                  <c:pt idx="1">
                    <c:v>20-29</c:v>
                  </c:pt>
                  <c:pt idx="2">
                    <c:v>30-39</c:v>
                  </c:pt>
                  <c:pt idx="3">
                    <c:v>40-49</c:v>
                  </c:pt>
                  <c:pt idx="4">
                    <c:v>50-59</c:v>
                  </c:pt>
                  <c:pt idx="5">
                    <c:v>60-69</c:v>
                  </c:pt>
                  <c:pt idx="6">
                    <c:v>70-79</c:v>
                  </c:pt>
                  <c:pt idx="7">
                    <c:v>80-89</c:v>
                  </c:pt>
                  <c:pt idx="8">
                    <c:v>90-99</c:v>
                  </c:pt>
                </c:lvl>
              </c:multiLvlStrCache>
            </c:multiLvlStrRef>
          </c:cat>
          <c:val>
            <c:numRef>
              <c:f>Sheet1!$B$2:$B$10</c:f>
              <c:numCache>
                <c:formatCode>General</c:formatCode>
                <c:ptCount val="9"/>
                <c:pt idx="0">
                  <c:v>3</c:v>
                </c:pt>
                <c:pt idx="1">
                  <c:v>8</c:v>
                </c:pt>
                <c:pt idx="2">
                  <c:v>6</c:v>
                </c:pt>
                <c:pt idx="3">
                  <c:v>2</c:v>
                </c:pt>
                <c:pt idx="4">
                  <c:v>0</c:v>
                </c:pt>
                <c:pt idx="5">
                  <c:v>0</c:v>
                </c:pt>
                <c:pt idx="6">
                  <c:v>0</c:v>
                </c:pt>
                <c:pt idx="7">
                  <c:v>0</c:v>
                </c:pt>
                <c:pt idx="8">
                  <c:v>1</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4"/>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6667A"/>
                    </a:solidFill>
                    <a:latin typeface="Arial"/>
                  </a:defRPr>
                </a:pPr>
                <a:r>
                  <a:rPr sz="1200" b="0" i="0" u="none" strike="noStrike">
                    <a:solidFill>
                      <a:srgbClr val="56667A"/>
                    </a:solidFill>
                    <a:latin typeface="Arial"/>
                  </a:rPr>
                  <a:t>Delivery time (minutes)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two main charts for numerical data: the histogram and the box plot. Students learn how to read shape, centre, spread and outliers, and how to compute quartiles and outlier fences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what the average delivery time is for a food app. Then ask whether the average tells them how bad the worst deliveries are. That gap is why we draw distributions.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the same 20 delivery times for the whole session, so students can check each number. Write the data on the board in sorted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from a bar chart: histogram bins are ranges of one numerical variable, and their order is fixed. Bar chart categories are separate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3 + 8 + 6 + 2 + 0 + 0 + 0 + 0 + 1 = 20. Right-skewed means the tail stretches to the high side. Delivery times, incomes and waiting times are often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counts total 20. With right-closed bins, 10 is not an issue here because no value equals 10 exactly, but 20 and 40 move down a bin. Tell students to look at the bin labels such as (10, 20]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 narrow gives a comb of tiny bars. Too wide gives a block. There is no single right width, so try two or three and choose the one that shows the pattern honestly. Excel picks a width automatically, and you can change it under Format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IQR is the interquartile range, the spread of the middle half of the data. The 1.5 x IQR rule is a convention, not a law. Ask students: if the fence were 3 x IQR, would 95 still be an outlier? Upper fence would be 68.75, so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box plot packs five numbers into one picture: the smallest and largest non-outlier values, Q1, the median and Q3. It is excellent for comparing several groups side by side, for example delivery times by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Textbooks, calculators and software use slightly different rules, so students may get different Q1 values and think they made a mistake. The differences are small and shrink with more data. For exams, follow the method the lecturer states. For work, use QUARTILE.INC.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95 was real, it is a genuine service failure and the manager needs to know. Deleting real bad days to improve an average is data manipulation. Ask students how they would find out which it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unequal bin widths trap catches people who copy age groups such as 0 to 18, 18 to 60, 60 and above into a histogram. Without adjusting heights, the wide bins look much taller than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365 has built-in Histogram and Box and Whisker charts under Insert, Statistical charts. The box and whisker chart has an option for inclusive or exclusive median, so students can reproduce either row in the methods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five minutes. Check question 1 with a calculator: positions are 1 + 0.25 x 7 = 2.75 and 1 + 0.75 x 7 = 6.25. Question 2 is the standard outlier check.
ANSWERS
1. n = 8. Q1 position 2.75: 6 + 0.75 x 1 = 6.75. Q3 position 6.25: 10 + 0.25 x 2 = 10.5. IQR = 3.75.
2. Upper fence = 10.5 + 1.5 x 3.75 = 16.125. Lower = 6.75 - 5.625 = 1.125. 30 &gt; 16.125, so yes.
3. Histogram bars are ranges of one numerical variable, in order, and touch. Bar chart bars are separate categories.
4. The edge rule. Left-closed puts it in 50 to 60. Right-closed puts it in 40 to 50. State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6</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Numerical Data Visualization</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Build </a:t>
            </a:r>
            <a:pPr indent="0" marL="0">
              <a:buNone/>
            </a:pPr>
            <a:r>
              <a:rPr lang="en-US" sz="2400" dirty="0">
                <a:solidFill>
                  <a:srgbClr val="2B3A4F"/>
                </a:solidFill>
                <a:latin typeface="Calibri" pitchFamily="34" charset="0"/>
                <a:ea typeface="Calibri" pitchFamily="34" charset="-122"/>
                <a:cs typeface="Calibri" pitchFamily="34" charset="-120"/>
              </a:rPr>
              <a:t>a histogram and choose a sensible bin width.</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Explain </a:t>
            </a:r>
            <a:pPr indent="0" marL="0">
              <a:buNone/>
            </a:pPr>
            <a:r>
              <a:rPr lang="en-US" sz="2400" dirty="0">
                <a:solidFill>
                  <a:srgbClr val="2B3A4F"/>
                </a:solidFill>
                <a:latin typeface="Calibri" pitchFamily="34" charset="0"/>
                <a:ea typeface="Calibri" pitchFamily="34" charset="-122"/>
                <a:cs typeface="Calibri" pitchFamily="34" charset="-120"/>
              </a:rPr>
              <a:t>how a histogram differs from a bar chart.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Compute </a:t>
            </a:r>
            <a:pPr indent="0" marL="0">
              <a:buNone/>
            </a:pPr>
            <a:r>
              <a:rPr lang="en-US" sz="2400" dirty="0">
                <a:solidFill>
                  <a:srgbClr val="2B3A4F"/>
                </a:solidFill>
                <a:latin typeface="Calibri" pitchFamily="34" charset="0"/>
                <a:ea typeface="Calibri" pitchFamily="34" charset="-122"/>
                <a:cs typeface="Calibri" pitchFamily="34" charset="-120"/>
              </a:rPr>
              <a:t>quartiles, IQR and outlier fences.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Read </a:t>
            </a:r>
            <a:pPr indent="0" marL="0">
              <a:buNone/>
            </a:pPr>
            <a:r>
              <a:rPr lang="en-US" sz="2400" dirty="0">
                <a:solidFill>
                  <a:srgbClr val="2B3A4F"/>
                </a:solidFill>
                <a:latin typeface="Calibri" pitchFamily="34" charset="0"/>
                <a:ea typeface="Calibri" pitchFamily="34" charset="-122"/>
                <a:cs typeface="Calibri" pitchFamily="34" charset="-120"/>
              </a:rPr>
              <a:t>a box plot: median, box, whiskers and outliers.</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Handle </a:t>
            </a:r>
            <a:pPr indent="0" marL="0">
              <a:buNone/>
            </a:pPr>
            <a:r>
              <a:rPr lang="en-US" sz="2400" dirty="0">
                <a:solidFill>
                  <a:srgbClr val="2B3A4F"/>
                </a:solidFill>
                <a:latin typeface="Calibri" pitchFamily="34" charset="0"/>
                <a:ea typeface="Calibri" pitchFamily="34" charset="-122"/>
                <a:cs typeface="Calibri" pitchFamily="34" charset="-120"/>
              </a:rPr>
              <a:t>edge cases: values on bin edges and different quartile methods.</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4</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things to read in any numerical chart: centre, spread, shape and outliers.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Why we draw the distribution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A distribution </a:t>
            </a:r>
            <a:pPr indent="0" marL="0">
              <a:buNone/>
            </a:pPr>
            <a:r>
              <a:rPr lang="en-US" sz="2400" dirty="0">
                <a:solidFill>
                  <a:srgbClr val="2B3A4F"/>
                </a:solidFill>
                <a:latin typeface="Calibri" pitchFamily="34" charset="0"/>
                <a:ea typeface="Calibri" pitchFamily="34" charset="-122"/>
                <a:cs typeface="Calibri" pitchFamily="34" charset="-120"/>
              </a:rPr>
              <a:t>shows how often each range of values occurs.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One average hides </a:t>
            </a:r>
            <a:pPr indent="0" marL="0">
              <a:buNone/>
            </a:pPr>
            <a:r>
              <a:rPr lang="en-US" sz="2400" dirty="0">
                <a:solidFill>
                  <a:srgbClr val="2B3A4F"/>
                </a:solidFill>
                <a:latin typeface="Calibri" pitchFamily="34" charset="0"/>
                <a:ea typeface="Calibri" pitchFamily="34" charset="-122"/>
                <a:cs typeface="Calibri" pitchFamily="34" charset="-120"/>
              </a:rPr>
              <a:t>the spread. Two shops can both average 30 minutes and differ a lot.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Centre: </a:t>
            </a:r>
            <a:pPr indent="0" marL="0">
              <a:buNone/>
            </a:pPr>
            <a:r>
              <a:rPr lang="en-US" sz="2400" dirty="0">
                <a:solidFill>
                  <a:srgbClr val="2B3A4F"/>
                </a:solidFill>
                <a:latin typeface="Calibri" pitchFamily="34" charset="0"/>
                <a:ea typeface="Calibri" pitchFamily="34" charset="-122"/>
                <a:cs typeface="Calibri" pitchFamily="34" charset="-120"/>
              </a:rPr>
              <a:t>where the typical value sits (mean or median).</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Spread and shape: </a:t>
            </a:r>
            <a:pPr indent="0" marL="0">
              <a:buNone/>
            </a:pPr>
            <a:r>
              <a:rPr lang="en-US" sz="2400" dirty="0">
                <a:solidFill>
                  <a:srgbClr val="2B3A4F"/>
                </a:solidFill>
                <a:latin typeface="Calibri" pitchFamily="34" charset="0"/>
                <a:ea typeface="Calibri" pitchFamily="34" charset="-122"/>
                <a:cs typeface="Calibri" pitchFamily="34" charset="-120"/>
              </a:rPr>
              <a:t>tight or wide, symmetric or stretched to one side.</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Outliers: </a:t>
            </a:r>
            <a:pPr indent="0" marL="0">
              <a:buNone/>
            </a:pPr>
            <a:r>
              <a:rPr lang="en-US" sz="2400" dirty="0">
                <a:solidFill>
                  <a:srgbClr val="2B3A4F"/>
                </a:solidFill>
                <a:latin typeface="Calibri" pitchFamily="34" charset="0"/>
                <a:ea typeface="Calibri" pitchFamily="34" charset="-122"/>
                <a:cs typeface="Calibri" pitchFamily="34" charset="-120"/>
              </a:rPr>
              <a:t>values far from the rest. They may be errors or real events.</a:t>
            </a:r>
            <a:endParaRPr lang="en-US" sz="24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DATA USED TODAY</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Delivery times in minutes for 20 orders from a Bhopal food outlet. Illustrative data: 12, 15, 18, 20, 22 ... 45, 95.</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How to build a histogram</a:t>
            </a:r>
            <a:endParaRPr lang="en-US" sz="2800" dirty="0"/>
          </a:p>
        </p:txBody>
      </p:sp>
      <p:sp>
        <p:nvSpPr>
          <p:cNvPr id="3" name="Shape 1"/>
          <p:cNvSpPr/>
          <p:nvPr/>
        </p:nvSpPr>
        <p:spPr>
          <a:xfrm>
            <a:off x="548640" y="1417320"/>
            <a:ext cx="213055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Find the range</a:t>
            </a:r>
            <a:endParaRPr lang="en-US" sz="1700" dirty="0"/>
          </a:p>
        </p:txBody>
      </p:sp>
      <p:sp>
        <p:nvSpPr>
          <p:cNvPr id="5" name="Shape 3"/>
          <p:cNvSpPr/>
          <p:nvPr/>
        </p:nvSpPr>
        <p:spPr>
          <a:xfrm>
            <a:off x="548640" y="2331720"/>
            <a:ext cx="208483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Smallest 12, largest 95. The data spans 83 minutes.</a:t>
            </a:r>
            <a:endParaRPr lang="en-US" sz="2000" dirty="0"/>
          </a:p>
        </p:txBody>
      </p:sp>
      <p:sp>
        <p:nvSpPr>
          <p:cNvPr id="7" name="Shape 5"/>
          <p:cNvSpPr/>
          <p:nvPr/>
        </p:nvSpPr>
        <p:spPr>
          <a:xfrm>
            <a:off x="2788920" y="1417320"/>
            <a:ext cx="2130552" cy="777240"/>
          </a:xfrm>
          <a:prstGeom prst="homePlate">
            <a:avLst/>
          </a:prstGeom>
          <a:solidFill>
            <a:srgbClr val="F29E4C"/>
          </a:solidFill>
          <a:ln w="12700">
            <a:solidFill>
              <a:srgbClr val="F29E4C"/>
            </a:solidFill>
            <a:prstDash val="solid"/>
          </a:ln>
        </p:spPr>
      </p:sp>
      <p:sp>
        <p:nvSpPr>
          <p:cNvPr id="8" name="Text 6"/>
          <p:cNvSpPr txBox="1"/>
          <p:nvPr/>
        </p:nvSpPr>
        <p:spPr>
          <a:xfrm>
            <a:off x="297180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Pick a bin width</a:t>
            </a:r>
            <a:endParaRPr lang="en-US" sz="1700" dirty="0"/>
          </a:p>
        </p:txBody>
      </p:sp>
      <p:sp>
        <p:nvSpPr>
          <p:cNvPr id="9" name="Shape 7"/>
          <p:cNvSpPr/>
          <p:nvPr/>
        </p:nvSpPr>
        <p:spPr>
          <a:xfrm>
            <a:off x="2788920" y="2331720"/>
            <a:ext cx="208483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297180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Equal-width bins. Aim for roughly 5 to 15 bins. Here width 10 gives 9.</a:t>
            </a:r>
            <a:endParaRPr lang="en-US" sz="1900" dirty="0"/>
          </a:p>
        </p:txBody>
      </p:sp>
      <p:sp>
        <p:nvSpPr>
          <p:cNvPr id="11" name="Shape 9"/>
          <p:cNvSpPr/>
          <p:nvPr/>
        </p:nvSpPr>
        <p:spPr>
          <a:xfrm>
            <a:off x="5029200" y="1417320"/>
            <a:ext cx="2130552" cy="777240"/>
          </a:xfrm>
          <a:prstGeom prst="homePlate">
            <a:avLst/>
          </a:prstGeom>
          <a:solidFill>
            <a:srgbClr val="3A5BA0"/>
          </a:solidFill>
          <a:ln w="12700">
            <a:solidFill>
              <a:srgbClr val="3A5BA0"/>
            </a:solidFill>
            <a:prstDash val="solid"/>
          </a:ln>
        </p:spPr>
      </p:sp>
      <p:sp>
        <p:nvSpPr>
          <p:cNvPr id="12" name="Text 10"/>
          <p:cNvSpPr txBox="1"/>
          <p:nvPr/>
        </p:nvSpPr>
        <p:spPr>
          <a:xfrm>
            <a:off x="521208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Fix the bin edges</a:t>
            </a:r>
            <a:endParaRPr lang="en-US" sz="1700" dirty="0"/>
          </a:p>
        </p:txBody>
      </p:sp>
      <p:sp>
        <p:nvSpPr>
          <p:cNvPr id="13" name="Shape 11"/>
          <p:cNvSpPr/>
          <p:nvPr/>
        </p:nvSpPr>
        <p:spPr>
          <a:xfrm>
            <a:off x="5029200" y="2331720"/>
            <a:ext cx="208483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521208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Start at a round number, here 10. Edges: 10, 20, 30, up to 100.</a:t>
            </a:r>
            <a:endParaRPr lang="en-US" sz="1900" dirty="0"/>
          </a:p>
        </p:txBody>
      </p:sp>
      <p:sp>
        <p:nvSpPr>
          <p:cNvPr id="15" name="Shape 13"/>
          <p:cNvSpPr/>
          <p:nvPr/>
        </p:nvSpPr>
        <p:spPr>
          <a:xfrm>
            <a:off x="7269480" y="1417320"/>
            <a:ext cx="2130552" cy="777240"/>
          </a:xfrm>
          <a:prstGeom prst="homePlate">
            <a:avLst/>
          </a:prstGeom>
          <a:solidFill>
            <a:srgbClr val="C8553D"/>
          </a:solidFill>
          <a:ln w="12700">
            <a:solidFill>
              <a:srgbClr val="C8553D"/>
            </a:solidFill>
            <a:prstDash val="solid"/>
          </a:ln>
        </p:spPr>
      </p:sp>
      <p:sp>
        <p:nvSpPr>
          <p:cNvPr id="16" name="Text 14"/>
          <p:cNvSpPr txBox="1"/>
          <p:nvPr/>
        </p:nvSpPr>
        <p:spPr>
          <a:xfrm>
            <a:off x="745236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Count per bin</a:t>
            </a:r>
            <a:endParaRPr lang="en-US" sz="1700" dirty="0"/>
          </a:p>
        </p:txBody>
      </p:sp>
      <p:sp>
        <p:nvSpPr>
          <p:cNvPr id="17" name="Shape 15"/>
          <p:cNvSpPr/>
          <p:nvPr/>
        </p:nvSpPr>
        <p:spPr>
          <a:xfrm>
            <a:off x="7269480" y="2331720"/>
            <a:ext cx="208483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745236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Count values in each bin. Include empty bins so gaps show.</a:t>
            </a:r>
            <a:endParaRPr lang="en-US" sz="2000" dirty="0"/>
          </a:p>
        </p:txBody>
      </p:sp>
      <p:sp>
        <p:nvSpPr>
          <p:cNvPr id="19" name="Shape 17"/>
          <p:cNvSpPr/>
          <p:nvPr/>
        </p:nvSpPr>
        <p:spPr>
          <a:xfrm>
            <a:off x="9509760" y="1417320"/>
            <a:ext cx="2130552" cy="777240"/>
          </a:xfrm>
          <a:prstGeom prst="homePlate">
            <a:avLst/>
          </a:prstGeom>
          <a:solidFill>
            <a:srgbClr val="6E9B2F"/>
          </a:solidFill>
          <a:ln w="12700">
            <a:solidFill>
              <a:srgbClr val="6E9B2F"/>
            </a:solidFill>
            <a:prstDash val="solid"/>
          </a:ln>
        </p:spPr>
      </p:sp>
      <p:sp>
        <p:nvSpPr>
          <p:cNvPr id="20" name="Text 18"/>
          <p:cNvSpPr txBox="1"/>
          <p:nvPr/>
        </p:nvSpPr>
        <p:spPr>
          <a:xfrm>
            <a:off x="969264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5  Draw touching bars</a:t>
            </a:r>
            <a:endParaRPr lang="en-US" sz="1700" dirty="0"/>
          </a:p>
        </p:txBody>
      </p:sp>
      <p:sp>
        <p:nvSpPr>
          <p:cNvPr id="21" name="Shape 19"/>
          <p:cNvSpPr/>
          <p:nvPr/>
        </p:nvSpPr>
        <p:spPr>
          <a:xfrm>
            <a:off x="9509760" y="2331720"/>
            <a:ext cx="2084832" cy="2011680"/>
          </a:xfrm>
          <a:prstGeom prst="roundRect">
            <a:avLst>
              <a:gd name="adj" fmla="val 5455"/>
            </a:avLst>
          </a:prstGeom>
          <a:solidFill>
            <a:srgbClr val="EEF3F6"/>
          </a:solidFill>
          <a:ln w="12700">
            <a:solidFill>
              <a:srgbClr val="EEF3F6"/>
            </a:solidFill>
            <a:prstDash val="solid"/>
          </a:ln>
        </p:spPr>
      </p:sp>
      <p:sp>
        <p:nvSpPr>
          <p:cNvPr id="22" name="Text 20"/>
          <p:cNvSpPr txBox="1"/>
          <p:nvPr/>
        </p:nvSpPr>
        <p:spPr>
          <a:xfrm>
            <a:off x="969264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Bars touch because the x axis is a continuous number line.</a:t>
            </a:r>
            <a:endParaRPr lang="en-US" sz="2000" dirty="0"/>
          </a:p>
        </p:txBody>
      </p:sp>
      <p:sp>
        <p:nvSpPr>
          <p:cNvPr id="23" name="Shape 21"/>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4" name="Text 22"/>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A histogram has no gaps between bars. A bar chart does. That is the visual clue.</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Histogram of 20 delivery times</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Most orders (14 of 20) arrive in 20 to 39 minutes.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tallest bin is 20 to 29 with 8 orders.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shape is right-skewed: a long tail to the right.</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The lone order at 90 to 99 minutes is far from the rest.</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Edge case: a value sitting on a bin edge</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One order took exactly 20 minutes. Bins are 10 to 20 and 20 to 30. Which bin does 20 go into?</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Left-closed bins [10, 20): </a:t>
            </a:r>
            <a:pPr indent="0" marL="0">
              <a:buNone/>
            </a:pPr>
            <a:r>
              <a:rPr lang="en-US" sz="2200" dirty="0">
                <a:solidFill>
                  <a:srgbClr val="2B3A4F"/>
                </a:solidFill>
                <a:latin typeface="Calibri" pitchFamily="34" charset="0"/>
                <a:ea typeface="Calibri" pitchFamily="34" charset="-122"/>
                <a:cs typeface="Calibri" pitchFamily="34" charset="-120"/>
              </a:rPr>
              <a:t>include 10, exclude 20. The 20 goes into 20 to 30.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Counts: </a:t>
            </a:r>
            <a:pPr indent="0" marL="0">
              <a:buNone/>
            </a:pPr>
            <a:r>
              <a:rPr lang="en-US" sz="2200" dirty="0">
                <a:solidFill>
                  <a:srgbClr val="2B3A4F"/>
                </a:solidFill>
                <a:latin typeface="Calibri" pitchFamily="34" charset="0"/>
                <a:ea typeface="Calibri" pitchFamily="34" charset="-122"/>
                <a:cs typeface="Calibri" pitchFamily="34" charset="-120"/>
              </a:rPr>
              <a:t>3, 8, 6, 2, 0, 0, 0, 0, 1. This is what the chart shows.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Right-closed bins (10, 20]: </a:t>
            </a:r>
            <a:pPr indent="0" marL="0">
              <a:buNone/>
            </a:pPr>
            <a:r>
              <a:rPr lang="en-US" sz="2200" dirty="0">
                <a:solidFill>
                  <a:srgbClr val="2B3A4F"/>
                </a:solidFill>
                <a:latin typeface="Calibri" pitchFamily="34" charset="0"/>
                <a:ea typeface="Calibri" pitchFamily="34" charset="-122"/>
                <a:cs typeface="Calibri" pitchFamily="34" charset="-120"/>
              </a:rPr>
              <a:t>exclude 10, include 20. The 20 goes into 10 to 20.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Counts: </a:t>
            </a:r>
            <a:pPr indent="0" marL="0">
              <a:buNone/>
            </a:pPr>
            <a:r>
              <a:rPr lang="en-US" sz="2200" dirty="0">
                <a:solidFill>
                  <a:srgbClr val="2B3A4F"/>
                </a:solidFill>
                <a:latin typeface="Calibri" pitchFamily="34" charset="0"/>
                <a:ea typeface="Calibri" pitchFamily="34" charset="-122"/>
                <a:cs typeface="Calibri" pitchFamily="34" charset="-120"/>
              </a:rPr>
              <a:t>4, 8, 6, 1, 0, 0, 0, 0, 1. Same data, different bars.</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TAKEAWAY</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edge rule changes the counts. Python (numpy, pandas) is left-closed. Excel histogram tools can differ, so check and state the rule.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Bin width changes the story</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934594"/>
                <a:gridCol w="1289729"/>
                <a:gridCol w="1934594"/>
                <a:gridCol w="5932755"/>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Bin width</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Bins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Highest bar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What you see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5 minutes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18</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 orders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Jagged. Bars of 1 to 5 show noise, not pattern.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10 minutes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9</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8 orders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Clear hump at 20 to 29 and a lone far value.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50 minutes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19 orders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19 and 1. The shape is lost.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755136"/>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Same 20 delivery times, three bin widths (bins start at 10, or 0 for width 50).</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Quartiles, IQR and fences, step by step</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Sorted data (n = 20): 12, 15, 18, 20, 22, 23, 25, 26, 27, 28, 29, 30, 31, 32, 34, 35, 38, 40, 45, 95. Find the outliers.</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Median: </a:t>
            </a:r>
            <a:pPr indent="0" marL="0">
              <a:buNone/>
            </a:pPr>
            <a:r>
              <a:rPr lang="en-US" sz="2200" dirty="0">
                <a:solidFill>
                  <a:srgbClr val="2B3A4F"/>
                </a:solidFill>
                <a:latin typeface="Calibri" pitchFamily="34" charset="0"/>
                <a:ea typeface="Calibri" pitchFamily="34" charset="-122"/>
                <a:cs typeface="Calibri" pitchFamily="34" charset="-120"/>
              </a:rPr>
              <a:t>average of the 10th and 11th values: (28 + 29) / 2 = 28.5.</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Q1 (QUARTILE.INC): </a:t>
            </a:r>
            <a:pPr indent="0" marL="0">
              <a:buNone/>
            </a:pPr>
            <a:r>
              <a:rPr lang="en-US" sz="2200" dirty="0">
                <a:solidFill>
                  <a:srgbClr val="2B3A4F"/>
                </a:solidFill>
                <a:latin typeface="Calibri" pitchFamily="34" charset="0"/>
                <a:ea typeface="Calibri" pitchFamily="34" charset="-122"/>
                <a:cs typeface="Calibri" pitchFamily="34" charset="-120"/>
              </a:rPr>
              <a:t>position 1 + 0.25 x 19 = 5.75, so 22 + 0.75 x (23 - 22) = 22.75.</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Q3: </a:t>
            </a:r>
            <a:pPr indent="0" marL="0">
              <a:buNone/>
            </a:pPr>
            <a:r>
              <a:rPr lang="en-US" sz="2200" dirty="0">
                <a:solidFill>
                  <a:srgbClr val="2B3A4F"/>
                </a:solidFill>
                <a:latin typeface="Calibri" pitchFamily="34" charset="0"/>
                <a:ea typeface="Calibri" pitchFamily="34" charset="-122"/>
                <a:cs typeface="Calibri" pitchFamily="34" charset="-120"/>
              </a:rPr>
              <a:t>position 15.25, so 34 + 0.25 x (35 - 34) = 34.25. IQR = 34.25 - 22.75 = 11.5.</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Fences: </a:t>
            </a:r>
            <a:pPr indent="0" marL="0">
              <a:buNone/>
            </a:pPr>
            <a:r>
              <a:rPr lang="en-US" sz="2200" dirty="0">
                <a:solidFill>
                  <a:srgbClr val="2B3A4F"/>
                </a:solidFill>
                <a:latin typeface="Calibri" pitchFamily="34" charset="0"/>
                <a:ea typeface="Calibri" pitchFamily="34" charset="-122"/>
                <a:cs typeface="Calibri" pitchFamily="34" charset="-120"/>
              </a:rPr>
              <a:t>lower = 22.75 - 1.5 x 11.5 = 5.5. Upper = 34.25 + 1.5 x 11.5 = 51.5.</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No value is below 5.5. Only 95 is above 51.5, so 95 is the one outlier. The largest value inside the fence is 45.</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box plot of the same 20 times</a:t>
            </a:r>
            <a:endParaRPr lang="en-US" sz="2800" dirty="0"/>
          </a:p>
        </p:txBody>
      </p:sp>
      <p:pic>
        <p:nvPicPr>
          <p:cNvPr id="3" name="Image 0" descr="img/u2_t06_box.png">    </p:cNvPr>
          <p:cNvPicPr>
            <a:picLocks noChangeAspect="1"/>
          </p:cNvPicPr>
          <p:nvPr/>
        </p:nvPicPr>
        <p:blipFill>
          <a:blip r:embed="rId1"/>
          <a:srcRect l="0" r="0" t="0" b="0"/>
          <a:stretch/>
        </p:blipFill>
        <p:spPr>
          <a:xfrm>
            <a:off x="548640" y="1417320"/>
            <a:ext cx="7040880" cy="4846320"/>
          </a:xfrm>
          <a:prstGeom prst="rect">
            <a:avLst/>
          </a:prstGeom>
        </p:spPr>
      </p:pic>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HOW TO READ IT</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Box spans Q1 to Q3 (22.75 to 34.25): the middle half of orders.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orange line is the median, 28.5.</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Whiskers reach the furthest values inside the fences: 12 and 45.</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The red dot at 95 lies beyond the upper fence of 51.5.</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Edge case: quartile methods differ</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4436669"/>
                <a:gridCol w="1478890"/>
                <a:gridCol w="1478890"/>
                <a:gridCol w="1478890"/>
                <a:gridCol w="2218334"/>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Method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Q1</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Q3</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IQR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Upper fence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Excel QUARTILE.INC / numpy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22.75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34.25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11.5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51.5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Excel QUARTILE.EXC</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22.25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34.75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12.5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53.5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Median of each half (by hand)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22.5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34.5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12.0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52.5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450336"/>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All three agree here that 95 is the only outlier. Always name the method you used.</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one outlier does to the mean</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The 95-minute order might be a traffic jam or a typing error. See how it moves the average and the median.</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With 95: </a:t>
            </a:r>
            <a:pPr indent="0" marL="0">
              <a:buNone/>
            </a:pPr>
            <a:r>
              <a:rPr lang="en-US" sz="2200" dirty="0">
                <a:solidFill>
                  <a:srgbClr val="2B3A4F"/>
                </a:solidFill>
                <a:latin typeface="Calibri" pitchFamily="34" charset="0"/>
                <a:ea typeface="Calibri" pitchFamily="34" charset="-122"/>
                <a:cs typeface="Calibri" pitchFamily="34" charset="-120"/>
              </a:rPr>
              <a:t>total 625 minutes over 20 orders. Mean 31.25, median 28.5.</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Without 95: </a:t>
            </a:r>
            <a:pPr indent="0" marL="0">
              <a:buNone/>
            </a:pPr>
            <a:r>
              <a:rPr lang="en-US" sz="2200" dirty="0">
                <a:solidFill>
                  <a:srgbClr val="2B3A4F"/>
                </a:solidFill>
                <a:latin typeface="Calibri" pitchFamily="34" charset="0"/>
                <a:ea typeface="Calibri" pitchFamily="34" charset="-122"/>
                <a:cs typeface="Calibri" pitchFamily="34" charset="-120"/>
              </a:rPr>
              <a:t>total 530 over 19 orders. Mean 27.89, median 28.</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Mean moved by </a:t>
            </a:r>
            <a:pPr indent="0" marL="0">
              <a:buNone/>
            </a:pPr>
            <a:r>
              <a:rPr lang="en-US" sz="2200" dirty="0">
                <a:solidFill>
                  <a:srgbClr val="2B3A4F"/>
                </a:solidFill>
                <a:latin typeface="Calibri" pitchFamily="34" charset="0"/>
                <a:ea typeface="Calibri" pitchFamily="34" charset="-122"/>
                <a:cs typeface="Calibri" pitchFamily="34" charset="-120"/>
              </a:rPr>
              <a:t>3.36 minutes. The median moved by only 0.5 minutes.</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Decide: </a:t>
            </a:r>
            <a:pPr indent="0" marL="0">
              <a:buNone/>
            </a:pPr>
            <a:r>
              <a:rPr lang="en-US" sz="2200" dirty="0">
                <a:solidFill>
                  <a:srgbClr val="2B3A4F"/>
                </a:solidFill>
                <a:latin typeface="Calibri" pitchFamily="34" charset="0"/>
                <a:ea typeface="Calibri" pitchFamily="34" charset="-122"/>
                <a:cs typeface="Calibri" pitchFamily="34" charset="-120"/>
              </a:rPr>
              <a:t>check the order record. Remove it only if it is an error, not just inconvenient.</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TAKEAWAY</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median resists outliers, the mean does not. Report the median for skewed data such as delivery times, and always investigate outliers before removing them.</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3514344"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Bars that do not touch</a:t>
            </a:r>
            <a:endParaRPr lang="en-US" sz="2000" dirty="0"/>
          </a:p>
        </p:txBody>
      </p:sp>
      <p:sp>
        <p:nvSpPr>
          <p:cNvPr id="6" name="Text 4"/>
          <p:cNvSpPr txBox="1"/>
          <p:nvPr/>
        </p:nvSpPr>
        <p:spPr>
          <a:xfrm>
            <a:off x="777240"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histogram with gaps between bars looks like a bar chart. Set gap width to near zero.</a:t>
            </a:r>
            <a:endParaRPr lang="en-US" sz="2000" dirty="0"/>
          </a:p>
        </p:txBody>
      </p:sp>
      <p:sp>
        <p:nvSpPr>
          <p:cNvPr id="7" name="Shape 5"/>
          <p:cNvSpPr/>
          <p:nvPr/>
        </p:nvSpPr>
        <p:spPr>
          <a:xfrm>
            <a:off x="4337304" y="1417320"/>
            <a:ext cx="3514344"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4565904"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Skipping empty bins</a:t>
            </a:r>
            <a:endParaRPr lang="en-US" sz="2000" dirty="0"/>
          </a:p>
        </p:txBody>
      </p:sp>
      <p:sp>
        <p:nvSpPr>
          <p:cNvPr id="10" name="Text 8"/>
          <p:cNvSpPr txBox="1"/>
          <p:nvPr/>
        </p:nvSpPr>
        <p:spPr>
          <a:xfrm>
            <a:off x="4565904"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Dropping empty bins hides the gap before the outlier. Keep them so the distance is visible.</a:t>
            </a:r>
            <a:endParaRPr lang="en-US" sz="2000" dirty="0"/>
          </a:p>
        </p:txBody>
      </p:sp>
      <p:sp>
        <p:nvSpPr>
          <p:cNvPr id="11" name="Shape 9"/>
          <p:cNvSpPr/>
          <p:nvPr/>
        </p:nvSpPr>
        <p:spPr>
          <a:xfrm>
            <a:off x="8125968" y="1417320"/>
            <a:ext cx="3514344"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8354568" y="164592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Unequal bin widths</a:t>
            </a:r>
            <a:endParaRPr lang="en-US" sz="2000" dirty="0"/>
          </a:p>
        </p:txBody>
      </p:sp>
      <p:sp>
        <p:nvSpPr>
          <p:cNvPr id="14" name="Text 12"/>
          <p:cNvSpPr txBox="1"/>
          <p:nvPr/>
        </p:nvSpPr>
        <p:spPr>
          <a:xfrm>
            <a:off x="8354568" y="2331720"/>
            <a:ext cx="3057144"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Mixed widths such as 0 to 10 and 10 to 50 distort the shape. Use equal widths in a basic histogram.</a:t>
            </a:r>
            <a:endParaRPr lang="en-US" sz="1700" dirty="0"/>
          </a:p>
        </p:txBody>
      </p:sp>
      <p:sp>
        <p:nvSpPr>
          <p:cNvPr id="15" name="Shape 13"/>
          <p:cNvSpPr/>
          <p:nvPr/>
        </p:nvSpPr>
        <p:spPr>
          <a:xfrm>
            <a:off x="548640" y="3977640"/>
            <a:ext cx="3514344"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777240"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371600"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Outlier is not always wrong</a:t>
            </a:r>
            <a:endParaRPr lang="en-US" sz="2000" dirty="0"/>
          </a:p>
        </p:txBody>
      </p:sp>
      <p:sp>
        <p:nvSpPr>
          <p:cNvPr id="18" name="Text 16"/>
          <p:cNvSpPr txBox="1"/>
          <p:nvPr/>
        </p:nvSpPr>
        <p:spPr>
          <a:xfrm>
            <a:off x="777240"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The 1.5 x IQR rule only flags unusual values. Investigate before you delete anything.</a:t>
            </a:r>
            <a:endParaRPr lang="en-US" sz="2000" dirty="0"/>
          </a:p>
        </p:txBody>
      </p:sp>
      <p:sp>
        <p:nvSpPr>
          <p:cNvPr id="19" name="Shape 17"/>
          <p:cNvSpPr/>
          <p:nvPr/>
        </p:nvSpPr>
        <p:spPr>
          <a:xfrm>
            <a:off x="4337304" y="3977640"/>
            <a:ext cx="3514344" cy="2286000"/>
          </a:xfrm>
          <a:prstGeom prst="roundRect">
            <a:avLst>
              <a:gd name="adj" fmla="val 4800"/>
            </a:avLst>
          </a:prstGeom>
          <a:solidFill>
            <a:srgbClr val="EEF3F6"/>
          </a:solidFill>
          <a:ln w="12700">
            <a:solidFill>
              <a:srgbClr val="EEF3F6"/>
            </a:solidFill>
            <a:prstDash val="solid"/>
          </a:ln>
        </p:spPr>
      </p:sp>
      <p:sp>
        <p:nvSpPr>
          <p:cNvPr id="20" name="Text 18"/>
          <p:cNvSpPr/>
          <p:nvPr/>
        </p:nvSpPr>
        <p:spPr>
          <a:xfrm>
            <a:off x="4565904" y="4206240"/>
            <a:ext cx="457200" cy="457200"/>
          </a:xfrm>
          <a:prstGeom prst="ellipse">
            <a:avLst/>
          </a:prstGeom>
          <a:solidFill>
            <a:srgbClr val="6E9B2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5160264"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Small samples</a:t>
            </a:r>
            <a:endParaRPr lang="en-US" sz="2000" dirty="0"/>
          </a:p>
        </p:txBody>
      </p:sp>
      <p:sp>
        <p:nvSpPr>
          <p:cNvPr id="22" name="Text 20"/>
          <p:cNvSpPr txBox="1"/>
          <p:nvPr/>
        </p:nvSpPr>
        <p:spPr>
          <a:xfrm>
            <a:off x="4565904"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box plot of 5 values or a histogram of 10 values can mislead. Show the raw points too.</a:t>
            </a:r>
            <a:endParaRPr lang="en-US" sz="2000" dirty="0"/>
          </a:p>
        </p:txBody>
      </p:sp>
      <p:sp>
        <p:nvSpPr>
          <p:cNvPr id="23" name="Shape 21"/>
          <p:cNvSpPr/>
          <p:nvPr/>
        </p:nvSpPr>
        <p:spPr>
          <a:xfrm>
            <a:off x="8125968" y="3977640"/>
            <a:ext cx="3514344" cy="2286000"/>
          </a:xfrm>
          <a:prstGeom prst="roundRect">
            <a:avLst>
              <a:gd name="adj" fmla="val 4800"/>
            </a:avLst>
          </a:prstGeom>
          <a:solidFill>
            <a:srgbClr val="EEF3F6"/>
          </a:solidFill>
          <a:ln w="12700">
            <a:solidFill>
              <a:srgbClr val="EEF3F6"/>
            </a:solidFill>
            <a:prstDash val="solid"/>
          </a:ln>
        </p:spPr>
      </p:sp>
      <p:sp>
        <p:nvSpPr>
          <p:cNvPr id="24" name="Text 22"/>
          <p:cNvSpPr/>
          <p:nvPr/>
        </p:nvSpPr>
        <p:spPr>
          <a:xfrm>
            <a:off x="8354568" y="4206240"/>
            <a:ext cx="457200" cy="457200"/>
          </a:xfrm>
          <a:prstGeom prst="ellipse">
            <a:avLst/>
          </a:prstGeom>
          <a:solidFill>
            <a:srgbClr val="8E6BB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5" name="Text 23"/>
          <p:cNvSpPr txBox="1"/>
          <p:nvPr/>
        </p:nvSpPr>
        <p:spPr>
          <a:xfrm>
            <a:off x="8948928"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Skew and the mean</a:t>
            </a:r>
            <a:endParaRPr lang="en-US" sz="2000" dirty="0"/>
          </a:p>
        </p:txBody>
      </p:sp>
      <p:sp>
        <p:nvSpPr>
          <p:cNvPr id="26" name="Text 24"/>
          <p:cNvSpPr txBox="1"/>
          <p:nvPr/>
        </p:nvSpPr>
        <p:spPr>
          <a:xfrm>
            <a:off x="8354568"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For skewed data the mean sits toward the tail. The median is a fairer centre.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Quartiles, fences and charts in Excel</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=QUARTILE.INC(A2:A21,1)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=QUARTILE.INC(A2:A21,3)</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=E2-E1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=QUARTILE.INC(A2:A21,1)-1.5*E3</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=QUARTILE.INC(A2:A21,3)+1.5*E3</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Lines 1 and 2: </a:t>
            </a:r>
            <a:pPr indent="0" marL="0">
              <a:buNone/>
            </a:pPr>
            <a:r>
              <a:rPr lang="en-US" sz="2200" dirty="0">
                <a:solidFill>
                  <a:srgbClr val="2B3A4F"/>
                </a:solidFill>
                <a:latin typeface="Calibri" pitchFamily="34" charset="0"/>
                <a:ea typeface="Calibri" pitchFamily="34" charset="-122"/>
                <a:cs typeface="Calibri" pitchFamily="34" charset="-120"/>
              </a:rPr>
              <a:t>Q1 and Q3 of the delivery times.</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Line 3: </a:t>
            </a:r>
            <a:pPr indent="0" marL="0">
              <a:buNone/>
            </a:pPr>
            <a:r>
              <a:rPr lang="en-US" sz="2200" dirty="0">
                <a:solidFill>
                  <a:srgbClr val="2B3A4F"/>
                </a:solidFill>
                <a:latin typeface="Calibri" pitchFamily="34" charset="0"/>
                <a:ea typeface="Calibri" pitchFamily="34" charset="-122"/>
                <a:cs typeface="Calibri" pitchFamily="34" charset="-120"/>
              </a:rPr>
              <a:t>IQR, assuming Q1 is in E1 and Q3 is in E2.</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Lines 4 and 5: </a:t>
            </a:r>
            <a:pPr indent="0" marL="0">
              <a:buNone/>
            </a:pPr>
            <a:r>
              <a:rPr lang="en-US" sz="2200" dirty="0">
                <a:solidFill>
                  <a:srgbClr val="2B3A4F"/>
                </a:solidFill>
                <a:latin typeface="Calibri" pitchFamily="34" charset="0"/>
                <a:ea typeface="Calibri" pitchFamily="34" charset="-122"/>
                <a:cs typeface="Calibri" pitchFamily="34" charset="-120"/>
              </a:rPr>
              <a:t>the lower and upper outlier fences.</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Charts: </a:t>
            </a:r>
            <a:pPr indent="0" marL="0">
              <a:buNone/>
            </a:pPr>
            <a:r>
              <a:rPr lang="en-US" sz="2200" dirty="0">
                <a:solidFill>
                  <a:srgbClr val="2B3A4F"/>
                </a:solidFill>
                <a:latin typeface="Calibri" pitchFamily="34" charset="0"/>
                <a:ea typeface="Calibri" pitchFamily="34" charset="-122"/>
                <a:cs typeface="Calibri" pitchFamily="34" charset="-120"/>
              </a:rPr>
              <a:t>Insert &gt; Charts &gt; Histogram, and Box and Whisker. Check the quartile setting.</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Data: 4, 6, 7, 8, 9, 10, 12, 30. Compute Q1, Q3 and IQR using QUARTILE.INC.</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Using the data in question 1, find the fences. Is 30 an outlier?</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How is a histogram different from a bar chart?</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value of 50 falls exactly on an edge between bins 40 to 50 and 50 to 60. What decides its bin?</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Histogram: </a:t>
            </a:r>
            <a:pPr indent="0" marL="0">
              <a:buNone/>
            </a:pPr>
            <a:r>
              <a:rPr lang="en-US" sz="2000" dirty="0">
                <a:solidFill>
                  <a:srgbClr val="FFFFFF"/>
                </a:solidFill>
                <a:latin typeface="Calibri" pitchFamily="34" charset="0"/>
                <a:ea typeface="Calibri" pitchFamily="34" charset="-122"/>
                <a:cs typeface="Calibri" pitchFamily="34" charset="-120"/>
              </a:rPr>
              <a:t>equal-width bins, touching bars, shows shape, centre, spread and gaps.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Bin width </a:t>
            </a:r>
            <a:pPr indent="0" marL="0">
              <a:buNone/>
            </a:pPr>
            <a:r>
              <a:rPr lang="en-US" sz="2000" dirty="0">
                <a:solidFill>
                  <a:srgbClr val="FFFFFF"/>
                </a:solidFill>
                <a:latin typeface="Calibri" pitchFamily="34" charset="0"/>
                <a:ea typeface="Calibri" pitchFamily="34" charset="-122"/>
                <a:cs typeface="Calibri" pitchFamily="34" charset="-120"/>
              </a:rPr>
              <a:t>changes the picture, and the edge rule changes the counts.</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Box plot: </a:t>
            </a:r>
            <a:pPr indent="0" marL="0">
              <a:buNone/>
            </a:pPr>
            <a:r>
              <a:rPr lang="en-US" sz="2000" dirty="0">
                <a:solidFill>
                  <a:srgbClr val="FFFFFF"/>
                </a:solidFill>
                <a:latin typeface="Calibri" pitchFamily="34" charset="0"/>
                <a:ea typeface="Calibri" pitchFamily="34" charset="-122"/>
                <a:cs typeface="Calibri" pitchFamily="34" charset="-120"/>
              </a:rPr>
              <a:t>Q1, median, Q3, whiskers, and dots beyond the fences.</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Outlier fences: </a:t>
            </a:r>
            <a:pPr indent="0" marL="0">
              <a:buNone/>
            </a:pPr>
            <a:r>
              <a:rPr lang="en-US" sz="2000" dirty="0">
                <a:solidFill>
                  <a:srgbClr val="FFFFFF"/>
                </a:solidFill>
                <a:latin typeface="Calibri" pitchFamily="34" charset="0"/>
                <a:ea typeface="Calibri" pitchFamily="34" charset="-122"/>
                <a:cs typeface="Calibri" pitchFamily="34" charset="-120"/>
              </a:rPr>
              <a:t>Q1 - 1.5 x IQR and Q3 + 1.5 x IQR. Investigate before deleting.</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Name your quartile method, and prefer the median for skewed data.</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Trend Visualization</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Numerical Data Visualization</dc:title>
  <dc:subject>Business Management Tools I</dc:subject>
  <dc:creator>Sushant Bhargav</dc:creator>
  <cp:lastModifiedBy>Sushant Bhargav</cp:lastModifiedBy>
  <cp:revision>1</cp:revision>
  <dcterms:created xsi:type="dcterms:W3CDTF">2026-10-07T01:36:17Z</dcterms:created>
  <dcterms:modified xsi:type="dcterms:W3CDTF">2026-10-07T01:36:17Z</dcterms:modified>
</cp:coreProperties>
</file>