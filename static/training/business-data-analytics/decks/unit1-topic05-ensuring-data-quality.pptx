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opic 5: Ensuring Data Quality" id="{4fb8295e-f62b-1be9-52cc-743b02eef1c2}">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Records affected</c:v>
                </c:pt>
              </c:strCache>
            </c:strRef>
          </c:tx>
          <c:spPr>
            <a:solidFill>
              <a:srgbClr val="0F8B8D"/>
            </a:solidFill>
            <a:effectLst/>
          </c:spPr>
          <c:invertIfNegative val="0"/>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cat>
            <c:multiLvlStrRef>
              <c:f>Sheet1!$A$2:$A$6</c:f>
              <c:multiLvlStrCache>
                <c:ptCount val="5"/>
                <c:lvl>
                  <c:pt idx="0">
                    <c:v>Inconsistent city spelling</c:v>
                  </c:pt>
                  <c:pt idx="1">
                    <c:v>Blank phone</c:v>
                  </c:pt>
                  <c:pt idx="2">
                    <c:v>Duplicate rows</c:v>
                  </c:pt>
                  <c:pt idx="3">
                    <c:v>Invalid email</c:v>
                  </c:pt>
                  <c:pt idx="4">
                    <c:v>Phone not 10 digits</c:v>
                  </c:pt>
                </c:lvl>
              </c:multiLvlStrCache>
            </c:multiLvlStrRef>
          </c:cat>
          <c:val>
            <c:numRef>
              <c:f>Sheet1!$B$2:$B$6</c:f>
              <c:numCache>
                <c:formatCode>General</c:formatCode>
                <c:ptCount val="5"/>
                <c:pt idx="0">
                  <c:v>21</c:v>
                </c:pt>
                <c:pt idx="1">
                  <c:v>18</c:v>
                </c:pt>
                <c:pt idx="2">
                  <c:v>12</c:v>
                </c:pt>
                <c:pt idx="3">
                  <c:v>9</c:v>
                </c:pt>
                <c:pt idx="4">
                  <c:v>7</c:v>
                </c:pt>
              </c:numCache>
            </c:numRef>
          </c:val>
        </c:ser>
        <c:dLbls>
          <c:numFmt formatCode="General" sourceLinked="0"/>
          <c:txPr>
            <a:bodyPr/>
            <a:lstStyle/>
            <a:p>
              <a:pPr>
                <a:defRPr b="0" i="0" strike="noStrike" sz="1200" u="none">
                  <a:solidFill>
                    <a:srgbClr val="14213D"/>
                  </a:solidFill>
                  <a:latin typeface="Calibri"/>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title>
          <c:tx>
            <c:rich>
              <a:bodyPr/>
              <a:lstStyle/>
              <a:p>
                <a:pPr>
                  <a:defRPr sz="1200" b="0" i="0" u="none" strike="noStrike">
                    <a:solidFill>
                      <a:srgbClr val="56667A"/>
                    </a:solidFill>
                    <a:latin typeface="Arial"/>
                  </a:defRPr>
                </a:pPr>
                <a:r>
                  <a:rPr sz="1200" b="0" i="0" u="none" strike="noStrike">
                    <a:solidFill>
                      <a:srgbClr val="56667A"/>
                    </a:solidFill>
                    <a:latin typeface="Arial"/>
                  </a:rPr>
                  <a:t>Records affected (of 250)</a:t>
                </a:r>
              </a:p>
            </c:rich>
          </c:tx>
          <c:layout/>
          <c:overlay val="0"/>
        </c:title>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56667A"/>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seen what poor quality costs, we now learn how to prevent and fix it. We cover prevention at entry, profiling, cleaning with Excel tools, handling missing values and ongoing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the dirty records from the last session. Today we fix them. Ask students whether it is cheaper to stop a wrong entry or to find it three months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means looking at the data before changing it, as a doctor examines before treating. The log in step four is vital: if someone asks why a number changed, you can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college admission form as the example. A drop-down for the course name prevents ten different spellings. Cleaning is needed for older forms that were typed freely.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each formula live on a sample column. For validation at entry, show Data &gt; Data Validation: a list for city, whole numbers between 1 and 100 for quantity, and text length equal to 10 for phone. Mention that validation does not stop pasted values, so profile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that Remove Duplicates deletes rows permanently, so use a copy. Text to Columns can convert text numbers in one step: select the column, run it, and finish. Ask which of these would they apply first. Usually spaces and case, then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 the variants on the left: bhopal with space, BHOPAL, indore, Indore with space. Without cleaning there are four city spellings for two cities. Warn that PROPER can wrongly change names like "McDonald" or "D'Souza", so check the result on real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scores use different bases. Validity is measured only on filled values, since a blank cannot be invalid, it is incomplete. Agree on the denominator before reporting a percentage. Ask what target the business should set, such as 98% or higher.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Filling with the average keeps the mean at 41.25 but makes the data look more complete than it is, which hides uncertainty. Use it only for reports where an estimate is acceptable, and always mark it. Ask students when it would be wrong to estimate, for example for a customer invoice.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Pareto-style view helps decide where to start. Spelling is both largest and cheapest to fix. Ask: which issue needs a phone call to the customer instead of a formula? The blanks and invalid phones.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name point matters in India, where many people share common names such as Rahul Sharma. Use phone or customer ID together with the name. Ask students what could go wrong if Remove Duplicates is run on the name column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arithmetic: 400 - 20 = 380 and 380/400 = 0.95. 400 - 16 = 384 and 384/400 = 0.96. Let students try the Excel version themselves on a small sheet.
ANSWERS
1. =TRIM(PROPER(A2)). TRIM removes the extra spaces and PROPER fixes the capitals.
2. Completeness: 380/400 = 95%. Uniqueness: 384/400 = 96%.
3. Zero means no sales, not unknown. It lowers totals and averages. Leave it blank or flag it.
4. A drop-down list using Data Validation, and a form that allows only listed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p:bgPr>
    </p:bg>
    <p:spTree>
      <p:nvGrpSpPr>
        <p:cNvPr id="1" name=""/>
        <p:cNvGrpSpPr/>
        <p:nvPr/>
      </p:nvGrpSpPr>
      <p:grpSpPr>
        <a:xfrm>
          <a:off x="0" y="0"/>
          <a:ext cx="0" cy="0"/>
          <a:chOff x="0" y="0"/>
          <a:chExt cx="0" cy="0"/>
        </a:xfrm>
      </p:grpSpPr>
      <p:sp>
        <p:nvSpPr>
          <p:cNvPr id="2" name="Text 0"/>
          <p:cNvSpPr/>
          <p:nvPr>
            <p:ph idx="103" type="title" hasCustomPrompt="1"/>
          </p:nvPr>
        </p:nvSpPr>
        <p:spPr>
          <a:xfrm>
            <a:off x="731520" y="2103120"/>
            <a:ext cx="7863840" cy="1828800"/>
          </a:xfrm>
          <a:prstGeom prst="rect">
            <a:avLst/>
          </a:prstGeom>
          <a:noFill/>
          <a:ln/>
        </p:spPr>
        <p:txBody>
          <a:bodyPr wrap="square" rtlCol="0"/>
          <a:lstStyle>
            <a:lvl1pPr algn="l" indent="0" marL="0">
              <a:buNone/>
              <a:defRPr lang="en-US" sz="42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200" dirty="0"/>
          </a:p>
        </p:txBody>
      </p:sp>
      <p:sp>
        <p:nvSpPr>
          <p:cNvPr id="3" name="Text 0"/>
          <p:cNvSpPr/>
          <p:nvPr>
            <p:ph idx="104" type="body" hasCustomPrompt="1"/>
          </p:nvPr>
        </p:nvSpPr>
        <p:spPr>
          <a:xfrm>
            <a:off x="731520" y="4114800"/>
            <a:ext cx="7680960" cy="914400"/>
          </a:xfrm>
          <a:prstGeom prst="rect">
            <a:avLst/>
          </a:prstGeom>
          <a:noFill/>
          <a:ln/>
        </p:spPr>
        <p:txBody>
          <a:bodyPr wrap="square" rtlCol="0"/>
          <a:lstStyle>
            <a:lvl1pPr algn="l" indent="0" marL="0">
              <a:buNone/>
              <a:defRPr lang="en-US" sz="2000" dirty="0">
                <a:solidFill>
                  <a:srgbClr val="C9D6E6"/>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56667A"/>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14213D"/>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nvSpPr>
        <p:spPr>
          <a:xfrm>
            <a:off x="548640" y="6446520"/>
            <a:ext cx="9601200" cy="274320"/>
          </a:xfrm>
          <a:prstGeom prst="rect">
            <a:avLst/>
          </a:prstGeom>
          <a:noFill/>
          <a:ln/>
        </p:spPr>
        <p:txBody>
          <a:bodyPr wrap="square" lIns="0" tIns="0" rIns="0" bIns="0" rtlCol="0" anchor="ctr"/>
          <a:lstStyle/>
          <a:p>
            <a:pPr indent="0" marL="0">
              <a:buNone/>
            </a:pPr>
            <a:r>
              <a:rPr lang="en-US" sz="1000" dirty="0">
                <a:solidFill>
                  <a:srgbClr val="9FB1C8"/>
                </a:solidFill>
                <a:latin typeface="Calibri" pitchFamily="34" charset="0"/>
                <a:ea typeface="Calibri" pitchFamily="34" charset="-122"/>
                <a:cs typeface="Calibri" pitchFamily="34" charset="-120"/>
              </a:rPr>
              <a:t>Business Management Tools I · AE25UCBM001  |  Unit I: Introduction to Data Analysis</a:t>
            </a:r>
            <a:endParaRPr lang="en-US" sz="1000" dirty="0"/>
          </a:p>
        </p:txBody>
      </p:sp>
      <p:sp>
        <p:nvSpPr>
          <p:cNvPr id="3" name="Text 1"/>
          <p:cNvSpPr/>
          <p:nvPr>
            <p:ph idx="104" type="title" hasCustomPrompt="1"/>
          </p:nvPr>
        </p:nvSpPr>
        <p:spPr>
          <a:xfrm>
            <a:off x="548640" y="365760"/>
            <a:ext cx="10241280" cy="822960"/>
          </a:xfrm>
          <a:prstGeom prst="rect">
            <a:avLst/>
          </a:prstGeom>
          <a:noFill/>
          <a:ln/>
        </p:spPr>
        <p:txBody>
          <a:bodyPr wrap="square" rtlCol="0"/>
          <a:lstStyle>
            <a:lvl1pPr algn="l" indent="0" marL="0">
              <a:buNone/>
              <a:defRPr lang="en-US" sz="28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554480"/>
            <a:ext cx="7863840" cy="365760"/>
          </a:xfrm>
          <a:prstGeom prst="rect">
            <a:avLst/>
          </a:prstGeom>
          <a:noFill/>
          <a:ln/>
        </p:spPr>
        <p:txBody>
          <a:bodyPr wrap="square" lIns="0" tIns="0" rIns="0" bIns="0" rtlCol="0" anchor="ctr"/>
          <a:lstStyle/>
          <a:p>
            <a:pPr indent="0" marL="0">
              <a:buNone/>
            </a:pPr>
            <a:r>
              <a:rPr lang="en-US" sz="1400" b="1" spc="300" kern="0" dirty="0">
                <a:solidFill>
                  <a:srgbClr val="F29E4C"/>
                </a:solidFill>
                <a:latin typeface="Calibri" pitchFamily="34" charset="0"/>
                <a:ea typeface="Calibri" pitchFamily="34" charset="-122"/>
                <a:cs typeface="Calibri" pitchFamily="34" charset="-120"/>
              </a:rPr>
              <a:t>UNIT I  ·  TOPIC 5</a:t>
            </a:r>
            <a:endParaRPr lang="en-US" sz="1400" dirty="0"/>
          </a:p>
        </p:txBody>
      </p:sp>
      <p:sp>
        <p:nvSpPr>
          <p:cNvPr id="3" name="Text 0"/>
          <p:cNvSpPr/>
          <p:nvPr>
            <p:ph idx="103" type="title" hasCustomPrompt="1"/>
          </p:nvPr>
        </p:nvSpPr>
        <p:spPr>
          <a:xfrm>
            <a:off x="731520" y="2103120"/>
            <a:ext cx="7863840" cy="1828800"/>
          </a:xfrm>
          <a:prstGeom prst="rect">
            <a:avLst/>
          </a:prstGeom>
          <a:noFill/>
          <a:ln/>
        </p:spPr>
        <p:txBody>
          <a:bodyPr wrap="square" lIns="0" tIns="0" rIns="0" bIns="0" rtlCol="0" anchor="t"/>
          <a:lstStyle/>
          <a:p>
            <a:pPr algn="l" indent="0" marL="0">
              <a:buNone/>
            </a:pPr>
            <a:r>
              <a:rPr lang="en-US" sz="4200" b="1" dirty="0">
                <a:solidFill>
                  <a:srgbClr val="FFFFFF"/>
                </a:solidFill>
                <a:latin typeface="Cambria" pitchFamily="34" charset="0"/>
                <a:ea typeface="Cambria" pitchFamily="34" charset="-122"/>
                <a:cs typeface="Cambria" pitchFamily="34" charset="-120"/>
              </a:rPr>
              <a:t>Ensuring Data Quality</a:t>
            </a:r>
            <a:endParaRPr lang="en-US" sz="4200" dirty="0"/>
          </a:p>
        </p:txBody>
      </p:sp>
      <p:sp>
        <p:nvSpPr>
          <p:cNvPr id="4" name="Text 0"/>
          <p:cNvSpPr/>
          <p:nvPr>
            <p:ph idx="104" type="body" hasCustomPrompt="1"/>
          </p:nvPr>
        </p:nvSpPr>
        <p:spPr>
          <a:xfrm>
            <a:off x="731520" y="4114800"/>
            <a:ext cx="7680960" cy="914400"/>
          </a:xfrm>
          <a:prstGeom prst="rect">
            <a:avLst/>
          </a:prstGeom>
          <a:noFill/>
          <a:ln/>
        </p:spPr>
        <p:txBody>
          <a:bodyPr wrap="square" lIns="0" tIns="0" rIns="0" bIns="0" rtlCol="0" anchor="t"/>
          <a:lstStyle/>
          <a:p>
            <a:pPr algn="l" indent="0" marL="0">
              <a:buNone/>
            </a:pPr>
            <a:r>
              <a:rPr lang="en-US" sz="2000" dirty="0">
                <a:solidFill>
                  <a:srgbClr val="C9D6E6"/>
                </a:solidFill>
                <a:latin typeface="Calibri" pitchFamily="34" charset="0"/>
                <a:ea typeface="Calibri" pitchFamily="34" charset="-122"/>
                <a:cs typeface="Calibri" pitchFamily="34" charset="-120"/>
              </a:rPr>
              <a:t>Introduction to Data Analysis</a:t>
            </a:r>
            <a:endParaRPr lang="en-US" sz="2000" dirty="0"/>
          </a:p>
          <a:p>
            <a:pPr algn="l" indent="0" marL="0">
              <a:buNone/>
            </a:pPr>
            <a:r>
              <a:rPr lang="en-US" sz="2000" dirty="0">
                <a:solidFill>
                  <a:srgbClr val="C9D6E6"/>
                </a:solidFill>
                <a:latin typeface="Calibri" pitchFamily="34" charset="0"/>
                <a:ea typeface="Calibri" pitchFamily="34" charset="-122"/>
                <a:cs typeface="Calibri" pitchFamily="34" charset="-120"/>
              </a:rPr>
              <a:t>Business Management Tools I (AE25UCBM001)  ·  SAGE University, Bhopal</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What you will learn</a:t>
            </a:r>
            <a:endParaRPr lang="en-US" sz="2800" dirty="0"/>
          </a:p>
        </p:txBody>
      </p:sp>
      <p:sp>
        <p:nvSpPr>
          <p:cNvPr id="3" name="Text 1"/>
          <p:cNvSpPr txBox="1"/>
          <p:nvPr/>
        </p:nvSpPr>
        <p:spPr>
          <a:xfrm>
            <a:off x="548640" y="1463040"/>
            <a:ext cx="6766560" cy="4754880"/>
          </a:xfrm>
          <a:prstGeom prst="rect">
            <a:avLst/>
          </a:prstGeom>
          <a:noFill/>
          <a:ln/>
        </p:spPr>
        <p:txBody>
          <a:bodyPr wrap="square" lIns="0" tIns="0" rIns="0" bIns="0" rtlCol="0" anchor="t"/>
          <a:lstStyle/>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Explain </a:t>
            </a:r>
            <a:pPr indent="0" marL="0">
              <a:buNone/>
            </a:pPr>
            <a:r>
              <a:rPr lang="en-US" sz="2400" dirty="0">
                <a:solidFill>
                  <a:srgbClr val="2B3A4F"/>
                </a:solidFill>
                <a:latin typeface="Calibri" pitchFamily="34" charset="0"/>
                <a:ea typeface="Calibri" pitchFamily="34" charset="-122"/>
                <a:cs typeface="Calibri" pitchFamily="34" charset="-120"/>
              </a:rPr>
              <a:t>the difference between preventing errors and cleaning them.</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Set up </a:t>
            </a:r>
            <a:pPr indent="0" marL="0">
              <a:buNone/>
            </a:pPr>
            <a:r>
              <a:rPr lang="en-US" sz="2400" dirty="0">
                <a:solidFill>
                  <a:srgbClr val="2B3A4F"/>
                </a:solidFill>
                <a:latin typeface="Calibri" pitchFamily="34" charset="0"/>
                <a:ea typeface="Calibri" pitchFamily="34" charset="-122"/>
                <a:cs typeface="Calibri" pitchFamily="34" charset="-120"/>
              </a:rPr>
              <a:t>Excel Data Validation so wrong values are blocked at entry.</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Use </a:t>
            </a:r>
            <a:pPr indent="0" marL="0">
              <a:buNone/>
            </a:pPr>
            <a:r>
              <a:rPr lang="en-US" sz="2400" dirty="0">
                <a:solidFill>
                  <a:srgbClr val="2B3A4F"/>
                </a:solidFill>
                <a:latin typeface="Calibri" pitchFamily="34" charset="0"/>
                <a:ea typeface="Calibri" pitchFamily="34" charset="-122"/>
                <a:cs typeface="Calibri" pitchFamily="34" charset="-120"/>
              </a:rPr>
              <a:t>TRIM, PROPER, Remove Duplicates and COUNTIF to clean a dataset.</a:t>
            </a:r>
            <a:endParaRPr lang="en-US" sz="2400" dirty="0"/>
          </a:p>
          <a:p>
            <a:pPr marL="228600" indent="-228600">
              <a:spcAft>
                <a:spcPts val="1000"/>
              </a:spcAft>
              <a:buSzPct val="100000"/>
              <a:buChar char="•"/>
            </a:pPr>
            <a:r>
              <a:rPr lang="en-US" sz="2400" b="1" dirty="0">
                <a:solidFill>
                  <a:srgbClr val="14213D"/>
                </a:solidFill>
                <a:latin typeface="Calibri" pitchFamily="34" charset="0"/>
                <a:ea typeface="Calibri" pitchFamily="34" charset="-122"/>
                <a:cs typeface="Calibri" pitchFamily="34" charset="-120"/>
              </a:rPr>
              <a:t>Measure </a:t>
            </a:r>
            <a:pPr indent="0" marL="0">
              <a:buNone/>
            </a:pPr>
            <a:r>
              <a:rPr lang="en-US" sz="2400" dirty="0">
                <a:solidFill>
                  <a:srgbClr val="2B3A4F"/>
                </a:solidFill>
                <a:latin typeface="Calibri" pitchFamily="34" charset="0"/>
                <a:ea typeface="Calibri" pitchFamily="34" charset="-122"/>
                <a:cs typeface="Calibri" pitchFamily="34" charset="-120"/>
              </a:rPr>
              <a:t>completeness, validity and uniqueness as percentages.</a:t>
            </a:r>
            <a:endParaRPr lang="en-US" sz="2400" dirty="0"/>
          </a:p>
          <a:p>
            <a:pPr marL="228600" indent="-228600">
              <a:buSzPct val="100000"/>
              <a:buChar char="•"/>
            </a:pPr>
            <a:r>
              <a:rPr lang="en-US" sz="2400" b="1" dirty="0">
                <a:solidFill>
                  <a:srgbClr val="14213D"/>
                </a:solidFill>
                <a:latin typeface="Calibri" pitchFamily="34" charset="0"/>
                <a:ea typeface="Calibri" pitchFamily="34" charset="-122"/>
                <a:cs typeface="Calibri" pitchFamily="34" charset="-120"/>
              </a:rPr>
              <a:t>Choose </a:t>
            </a:r>
            <a:pPr indent="0" marL="0">
              <a:buNone/>
            </a:pPr>
            <a:r>
              <a:rPr lang="en-US" sz="2400" dirty="0">
                <a:solidFill>
                  <a:srgbClr val="2B3A4F"/>
                </a:solidFill>
                <a:latin typeface="Calibri" pitchFamily="34" charset="0"/>
                <a:ea typeface="Calibri" pitchFamily="34" charset="-122"/>
                <a:cs typeface="Calibri" pitchFamily="34" charset="-120"/>
              </a:rPr>
              <a:t>a sensible way to handle missing values and document it.</a:t>
            </a:r>
            <a:endParaRPr lang="en-US" sz="2400" dirty="0"/>
          </a:p>
        </p:txBody>
      </p:sp>
      <p:sp>
        <p:nvSpPr>
          <p:cNvPr id="4" name="Shape 2"/>
          <p:cNvSpPr/>
          <p:nvPr/>
        </p:nvSpPr>
        <p:spPr>
          <a:xfrm>
            <a:off x="7680960" y="1417320"/>
            <a:ext cx="3959352" cy="4846320"/>
          </a:xfrm>
          <a:prstGeom prst="roundRect">
            <a:avLst>
              <a:gd name="adj" fmla="val 2771"/>
            </a:avLst>
          </a:prstGeom>
          <a:solidFill>
            <a:srgbClr val="DDF0F0"/>
          </a:solidFill>
          <a:ln w="12700">
            <a:solidFill>
              <a:srgbClr val="DDF0F0"/>
            </a:solidFill>
            <a:prstDash val="solid"/>
          </a:ln>
        </p:spPr>
      </p:sp>
      <p:sp>
        <p:nvSpPr>
          <p:cNvPr id="5" name="Text 3"/>
          <p:cNvSpPr txBox="1"/>
          <p:nvPr/>
        </p:nvSpPr>
        <p:spPr>
          <a:xfrm>
            <a:off x="7955280" y="1691640"/>
            <a:ext cx="341071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BIG IDEA</a:t>
            </a:r>
            <a:endParaRPr lang="en-US" sz="1200" dirty="0"/>
          </a:p>
        </p:txBody>
      </p:sp>
      <p:sp>
        <p:nvSpPr>
          <p:cNvPr id="6" name="Text 4"/>
          <p:cNvSpPr txBox="1"/>
          <p:nvPr/>
        </p:nvSpPr>
        <p:spPr>
          <a:xfrm>
            <a:off x="7955280" y="2148840"/>
            <a:ext cx="3410712" cy="914400"/>
          </a:xfrm>
          <a:prstGeom prst="rect">
            <a:avLst/>
          </a:prstGeom>
          <a:noFill/>
          <a:ln/>
        </p:spPr>
        <p:txBody>
          <a:bodyPr wrap="square" lIns="0" tIns="0" rIns="0" bIns="0" rtlCol="0" anchor="ctr"/>
          <a:lstStyle/>
          <a:p>
            <a:pPr indent="0" marL="0">
              <a:buNone/>
            </a:pPr>
            <a:r>
              <a:rPr lang="en-US" sz="4800" b="1" dirty="0">
                <a:solidFill>
                  <a:srgbClr val="14213D"/>
                </a:solidFill>
                <a:latin typeface="Cambria" pitchFamily="34" charset="0"/>
                <a:ea typeface="Cambria" pitchFamily="34" charset="-122"/>
                <a:cs typeface="Cambria" pitchFamily="34" charset="-120"/>
              </a:rPr>
              <a:t>4</a:t>
            </a:r>
            <a:endParaRPr lang="en-US" sz="4800" dirty="0"/>
          </a:p>
        </p:txBody>
      </p:sp>
      <p:sp>
        <p:nvSpPr>
          <p:cNvPr id="7" name="Text 5"/>
          <p:cNvSpPr txBox="1"/>
          <p:nvPr/>
        </p:nvSpPr>
        <p:spPr>
          <a:xfrm>
            <a:off x="7955280" y="3154680"/>
            <a:ext cx="3410712" cy="2834640"/>
          </a:xfrm>
          <a:prstGeom prst="rect">
            <a:avLst/>
          </a:prstGeom>
          <a:noFill/>
          <a:ln/>
        </p:spPr>
        <p:txBody>
          <a:bodyPr wrap="square" lIns="0" tIns="0" rIns="0" bIns="0" rtlCol="0" anchor="t"/>
          <a:lstStyle/>
          <a:p>
            <a:pPr indent="0" marL="0">
              <a:buNone/>
            </a:pPr>
            <a:r>
              <a:rPr lang="en-US" sz="2000" dirty="0">
                <a:solidFill>
                  <a:srgbClr val="14213D"/>
                </a:solidFill>
                <a:latin typeface="Calibri" pitchFamily="34" charset="0"/>
                <a:ea typeface="Calibri" pitchFamily="34" charset="-122"/>
                <a:cs typeface="Calibri" pitchFamily="34" charset="-120"/>
              </a:rPr>
              <a:t>steps: set rules, check at entry, profile and clean, then keep monitoring.</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A practical data quality routine</a:t>
            </a:r>
            <a:endParaRPr lang="en-US" sz="2800" dirty="0"/>
          </a:p>
        </p:txBody>
      </p:sp>
      <p:sp>
        <p:nvSpPr>
          <p:cNvPr id="3" name="Shape 1"/>
          <p:cNvSpPr/>
          <p:nvPr/>
        </p:nvSpPr>
        <p:spPr>
          <a:xfrm>
            <a:off x="548640" y="1417320"/>
            <a:ext cx="2130552" cy="777240"/>
          </a:xfrm>
          <a:prstGeom prst="homePlate">
            <a:avLst/>
          </a:prstGeom>
          <a:solidFill>
            <a:srgbClr val="0F8B8D"/>
          </a:solidFill>
          <a:ln w="12700">
            <a:solidFill>
              <a:srgbClr val="0F8B8D"/>
            </a:solidFill>
            <a:prstDash val="solid"/>
          </a:ln>
        </p:spPr>
      </p:sp>
      <p:sp>
        <p:nvSpPr>
          <p:cNvPr id="4" name="Text 2"/>
          <p:cNvSpPr txBox="1"/>
          <p:nvPr/>
        </p:nvSpPr>
        <p:spPr>
          <a:xfrm>
            <a:off x="73152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1  Define the rules</a:t>
            </a:r>
            <a:endParaRPr lang="en-US" sz="1700" dirty="0"/>
          </a:p>
        </p:txBody>
      </p:sp>
      <p:sp>
        <p:nvSpPr>
          <p:cNvPr id="5" name="Shape 3"/>
          <p:cNvSpPr/>
          <p:nvPr/>
        </p:nvSpPr>
        <p:spPr>
          <a:xfrm>
            <a:off x="548640" y="2331720"/>
            <a:ext cx="2084832" cy="2011680"/>
          </a:xfrm>
          <a:prstGeom prst="roundRect">
            <a:avLst>
              <a:gd name="adj" fmla="val 5455"/>
            </a:avLst>
          </a:prstGeom>
          <a:solidFill>
            <a:srgbClr val="EEF3F6"/>
          </a:solidFill>
          <a:ln w="12700">
            <a:solidFill>
              <a:srgbClr val="EEF3F6"/>
            </a:solidFill>
            <a:prstDash val="solid"/>
          </a:ln>
        </p:spPr>
      </p:sp>
      <p:sp>
        <p:nvSpPr>
          <p:cNvPr id="6" name="Text 4"/>
          <p:cNvSpPr txBox="1"/>
          <p:nvPr/>
        </p:nvSpPr>
        <p:spPr>
          <a:xfrm>
            <a:off x="73152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Decide what is valid: formats, ranges, allowed lists.</a:t>
            </a:r>
            <a:endParaRPr lang="en-US" sz="1900" dirty="0"/>
          </a:p>
        </p:txBody>
      </p:sp>
      <p:sp>
        <p:nvSpPr>
          <p:cNvPr id="7" name="Shape 5"/>
          <p:cNvSpPr/>
          <p:nvPr/>
        </p:nvSpPr>
        <p:spPr>
          <a:xfrm>
            <a:off x="2788920" y="1417320"/>
            <a:ext cx="2130552" cy="777240"/>
          </a:xfrm>
          <a:prstGeom prst="homePlate">
            <a:avLst/>
          </a:prstGeom>
          <a:solidFill>
            <a:srgbClr val="F29E4C"/>
          </a:solidFill>
          <a:ln w="12700">
            <a:solidFill>
              <a:srgbClr val="F29E4C"/>
            </a:solidFill>
            <a:prstDash val="solid"/>
          </a:ln>
        </p:spPr>
      </p:sp>
      <p:sp>
        <p:nvSpPr>
          <p:cNvPr id="8" name="Text 6"/>
          <p:cNvSpPr txBox="1"/>
          <p:nvPr/>
        </p:nvSpPr>
        <p:spPr>
          <a:xfrm>
            <a:off x="297180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2  Check at entry</a:t>
            </a:r>
            <a:endParaRPr lang="en-US" sz="1700" dirty="0"/>
          </a:p>
        </p:txBody>
      </p:sp>
      <p:sp>
        <p:nvSpPr>
          <p:cNvPr id="9" name="Shape 7"/>
          <p:cNvSpPr/>
          <p:nvPr/>
        </p:nvSpPr>
        <p:spPr>
          <a:xfrm>
            <a:off x="2788920" y="2331720"/>
            <a:ext cx="2084832" cy="2011680"/>
          </a:xfrm>
          <a:prstGeom prst="roundRect">
            <a:avLst>
              <a:gd name="adj" fmla="val 5455"/>
            </a:avLst>
          </a:prstGeom>
          <a:solidFill>
            <a:srgbClr val="EEF3F6"/>
          </a:solidFill>
          <a:ln w="12700">
            <a:solidFill>
              <a:srgbClr val="EEF3F6"/>
            </a:solidFill>
            <a:prstDash val="solid"/>
          </a:ln>
        </p:spPr>
      </p:sp>
      <p:sp>
        <p:nvSpPr>
          <p:cNvPr id="10" name="Text 8"/>
          <p:cNvSpPr txBox="1"/>
          <p:nvPr/>
        </p:nvSpPr>
        <p:spPr>
          <a:xfrm>
            <a:off x="2971800" y="2468880"/>
            <a:ext cx="1719072" cy="1737360"/>
          </a:xfrm>
          <a:prstGeom prst="rect">
            <a:avLst/>
          </a:prstGeom>
          <a:noFill/>
          <a:ln/>
        </p:spPr>
        <p:txBody>
          <a:bodyPr wrap="square" lIns="0" tIns="0" rIns="0" bIns="0" rtlCol="0" anchor="t"/>
          <a:lstStyle/>
          <a:p>
            <a:pPr indent="0" marL="0">
              <a:buNone/>
            </a:pPr>
            <a:r>
              <a:rPr lang="en-US" sz="1900" dirty="0">
                <a:solidFill>
                  <a:srgbClr val="2B3A4F"/>
                </a:solidFill>
                <a:latin typeface="Calibri" pitchFamily="34" charset="0"/>
                <a:ea typeface="Calibri" pitchFamily="34" charset="-122"/>
                <a:cs typeface="Calibri" pitchFamily="34" charset="-120"/>
              </a:rPr>
              <a:t>Use forms and Data Validation so errors are blocked early.</a:t>
            </a:r>
            <a:endParaRPr lang="en-US" sz="1900" dirty="0"/>
          </a:p>
        </p:txBody>
      </p:sp>
      <p:sp>
        <p:nvSpPr>
          <p:cNvPr id="11" name="Shape 9"/>
          <p:cNvSpPr/>
          <p:nvPr/>
        </p:nvSpPr>
        <p:spPr>
          <a:xfrm>
            <a:off x="5029200" y="1417320"/>
            <a:ext cx="2130552" cy="777240"/>
          </a:xfrm>
          <a:prstGeom prst="homePlate">
            <a:avLst/>
          </a:prstGeom>
          <a:solidFill>
            <a:srgbClr val="3A5BA0"/>
          </a:solidFill>
          <a:ln w="12700">
            <a:solidFill>
              <a:srgbClr val="3A5BA0"/>
            </a:solidFill>
            <a:prstDash val="solid"/>
          </a:ln>
        </p:spPr>
      </p:sp>
      <p:sp>
        <p:nvSpPr>
          <p:cNvPr id="12" name="Text 10"/>
          <p:cNvSpPr txBox="1"/>
          <p:nvPr/>
        </p:nvSpPr>
        <p:spPr>
          <a:xfrm>
            <a:off x="521208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3  Profile the data</a:t>
            </a:r>
            <a:endParaRPr lang="en-US" sz="1700" dirty="0"/>
          </a:p>
        </p:txBody>
      </p:sp>
      <p:sp>
        <p:nvSpPr>
          <p:cNvPr id="13" name="Shape 11"/>
          <p:cNvSpPr/>
          <p:nvPr/>
        </p:nvSpPr>
        <p:spPr>
          <a:xfrm>
            <a:off x="5029200" y="2331720"/>
            <a:ext cx="2084832" cy="2011680"/>
          </a:xfrm>
          <a:prstGeom prst="roundRect">
            <a:avLst>
              <a:gd name="adj" fmla="val 5455"/>
            </a:avLst>
          </a:prstGeom>
          <a:solidFill>
            <a:srgbClr val="EEF3F6"/>
          </a:solidFill>
          <a:ln w="12700">
            <a:solidFill>
              <a:srgbClr val="EEF3F6"/>
            </a:solidFill>
            <a:prstDash val="solid"/>
          </a:ln>
        </p:spPr>
      </p:sp>
      <p:sp>
        <p:nvSpPr>
          <p:cNvPr id="14" name="Text 12"/>
          <p:cNvSpPr txBox="1"/>
          <p:nvPr/>
        </p:nvSpPr>
        <p:spPr>
          <a:xfrm>
            <a:off x="5212080" y="2468880"/>
            <a:ext cx="1719072" cy="1737360"/>
          </a:xfrm>
          <a:prstGeom prst="rect">
            <a:avLst/>
          </a:prstGeom>
          <a:noFill/>
          <a:ln/>
        </p:spPr>
        <p:txBody>
          <a:bodyPr wrap="square" lIns="0" tIns="0" rIns="0" bIns="0" rtlCol="0" anchor="t"/>
          <a:lstStyle/>
          <a:p>
            <a:pPr indent="0" marL="0">
              <a:buNone/>
            </a:pPr>
            <a:r>
              <a:rPr lang="en-US" sz="1800" dirty="0">
                <a:solidFill>
                  <a:srgbClr val="2B3A4F"/>
                </a:solidFill>
                <a:latin typeface="Calibri" pitchFamily="34" charset="0"/>
                <a:ea typeface="Calibri" pitchFamily="34" charset="-122"/>
                <a:cs typeface="Calibri" pitchFamily="34" charset="-120"/>
              </a:rPr>
              <a:t>Count blanks, duplicates and odd values. Measure before fixing.</a:t>
            </a:r>
            <a:endParaRPr lang="en-US" sz="1800" dirty="0"/>
          </a:p>
        </p:txBody>
      </p:sp>
      <p:sp>
        <p:nvSpPr>
          <p:cNvPr id="15" name="Shape 13"/>
          <p:cNvSpPr/>
          <p:nvPr/>
        </p:nvSpPr>
        <p:spPr>
          <a:xfrm>
            <a:off x="7269480" y="1417320"/>
            <a:ext cx="2130552" cy="777240"/>
          </a:xfrm>
          <a:prstGeom prst="homePlate">
            <a:avLst/>
          </a:prstGeom>
          <a:solidFill>
            <a:srgbClr val="C8553D"/>
          </a:solidFill>
          <a:ln w="12700">
            <a:solidFill>
              <a:srgbClr val="C8553D"/>
            </a:solidFill>
            <a:prstDash val="solid"/>
          </a:ln>
        </p:spPr>
      </p:sp>
      <p:sp>
        <p:nvSpPr>
          <p:cNvPr id="16" name="Text 14"/>
          <p:cNvSpPr txBox="1"/>
          <p:nvPr/>
        </p:nvSpPr>
        <p:spPr>
          <a:xfrm>
            <a:off x="745236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4  Clean and record</a:t>
            </a:r>
            <a:endParaRPr lang="en-US" sz="1700" dirty="0"/>
          </a:p>
        </p:txBody>
      </p:sp>
      <p:sp>
        <p:nvSpPr>
          <p:cNvPr id="17" name="Shape 15"/>
          <p:cNvSpPr/>
          <p:nvPr/>
        </p:nvSpPr>
        <p:spPr>
          <a:xfrm>
            <a:off x="7269480" y="2331720"/>
            <a:ext cx="2084832" cy="2011680"/>
          </a:xfrm>
          <a:prstGeom prst="roundRect">
            <a:avLst>
              <a:gd name="adj" fmla="val 5455"/>
            </a:avLst>
          </a:prstGeom>
          <a:solidFill>
            <a:srgbClr val="EEF3F6"/>
          </a:solidFill>
          <a:ln w="12700">
            <a:solidFill>
              <a:srgbClr val="EEF3F6"/>
            </a:solidFill>
            <a:prstDash val="solid"/>
          </a:ln>
        </p:spPr>
      </p:sp>
      <p:sp>
        <p:nvSpPr>
          <p:cNvPr id="18" name="Text 16"/>
          <p:cNvSpPr txBox="1"/>
          <p:nvPr/>
        </p:nvSpPr>
        <p:spPr>
          <a:xfrm>
            <a:off x="745236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Fix on a copy and keep a log of every change.</a:t>
            </a:r>
            <a:endParaRPr lang="en-US" sz="2000" dirty="0"/>
          </a:p>
        </p:txBody>
      </p:sp>
      <p:sp>
        <p:nvSpPr>
          <p:cNvPr id="19" name="Shape 17"/>
          <p:cNvSpPr/>
          <p:nvPr/>
        </p:nvSpPr>
        <p:spPr>
          <a:xfrm>
            <a:off x="9509760" y="1417320"/>
            <a:ext cx="2130552" cy="777240"/>
          </a:xfrm>
          <a:prstGeom prst="homePlate">
            <a:avLst/>
          </a:prstGeom>
          <a:solidFill>
            <a:srgbClr val="6E9B2F"/>
          </a:solidFill>
          <a:ln w="12700">
            <a:solidFill>
              <a:srgbClr val="6E9B2F"/>
            </a:solidFill>
            <a:prstDash val="solid"/>
          </a:ln>
        </p:spPr>
      </p:sp>
      <p:sp>
        <p:nvSpPr>
          <p:cNvPr id="20" name="Text 18"/>
          <p:cNvSpPr txBox="1"/>
          <p:nvPr/>
        </p:nvSpPr>
        <p:spPr>
          <a:xfrm>
            <a:off x="9692640" y="1417320"/>
            <a:ext cx="1581912" cy="777240"/>
          </a:xfrm>
          <a:prstGeom prst="rect">
            <a:avLst/>
          </a:prstGeom>
          <a:noFill/>
          <a:ln/>
        </p:spPr>
        <p:txBody>
          <a:bodyPr wrap="square" lIns="0" tIns="0" rIns="0" bIns="0" rtlCol="0" anchor="ctr"/>
          <a:lstStyle/>
          <a:p>
            <a:pPr algn="l" indent="0" marL="0">
              <a:buNone/>
            </a:pPr>
            <a:r>
              <a:rPr lang="en-US" sz="1700" b="1" dirty="0">
                <a:solidFill>
                  <a:srgbClr val="FFFFFF"/>
                </a:solidFill>
                <a:latin typeface="Calibri" pitchFamily="34" charset="0"/>
                <a:ea typeface="Calibri" pitchFamily="34" charset="-122"/>
                <a:cs typeface="Calibri" pitchFamily="34" charset="-120"/>
              </a:rPr>
              <a:t>5  Monitor</a:t>
            </a:r>
            <a:endParaRPr lang="en-US" sz="1700" dirty="0"/>
          </a:p>
        </p:txBody>
      </p:sp>
      <p:sp>
        <p:nvSpPr>
          <p:cNvPr id="21" name="Shape 19"/>
          <p:cNvSpPr/>
          <p:nvPr/>
        </p:nvSpPr>
        <p:spPr>
          <a:xfrm>
            <a:off x="9509760" y="2331720"/>
            <a:ext cx="2084832" cy="2011680"/>
          </a:xfrm>
          <a:prstGeom prst="roundRect">
            <a:avLst>
              <a:gd name="adj" fmla="val 5455"/>
            </a:avLst>
          </a:prstGeom>
          <a:solidFill>
            <a:srgbClr val="EEF3F6"/>
          </a:solidFill>
          <a:ln w="12700">
            <a:solidFill>
              <a:srgbClr val="EEF3F6"/>
            </a:solidFill>
            <a:prstDash val="solid"/>
          </a:ln>
        </p:spPr>
      </p:sp>
      <p:sp>
        <p:nvSpPr>
          <p:cNvPr id="22" name="Text 20"/>
          <p:cNvSpPr txBox="1"/>
          <p:nvPr/>
        </p:nvSpPr>
        <p:spPr>
          <a:xfrm>
            <a:off x="9692640" y="2468880"/>
            <a:ext cx="1719072" cy="173736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Repeat the checks each week or month and track the scores.</a:t>
            </a:r>
            <a:endParaRPr lang="en-US" sz="2000" dirty="0"/>
          </a:p>
        </p:txBody>
      </p:sp>
      <p:sp>
        <p:nvSpPr>
          <p:cNvPr id="23" name="Shape 21"/>
          <p:cNvSpPr/>
          <p:nvPr/>
        </p:nvSpPr>
        <p:spPr>
          <a:xfrm>
            <a:off x="548640" y="4617720"/>
            <a:ext cx="11091672" cy="777240"/>
          </a:xfrm>
          <a:prstGeom prst="roundRect">
            <a:avLst>
              <a:gd name="adj" fmla="val 14118"/>
            </a:avLst>
          </a:prstGeom>
          <a:solidFill>
            <a:srgbClr val="DDF0F0"/>
          </a:solidFill>
          <a:ln w="12700">
            <a:solidFill>
              <a:srgbClr val="DDF0F0"/>
            </a:solidFill>
            <a:prstDash val="solid"/>
          </a:ln>
        </p:spPr>
      </p:sp>
      <p:sp>
        <p:nvSpPr>
          <p:cNvPr id="24" name="Text 22"/>
          <p:cNvSpPr txBox="1"/>
          <p:nvPr/>
        </p:nvSpPr>
        <p:spPr>
          <a:xfrm>
            <a:off x="822960" y="4617720"/>
            <a:ext cx="10543032" cy="77724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Profile first, then clean. You cannot fix what you have not measured.</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Prevention versus cleaning</a:t>
            </a:r>
            <a:endParaRPr lang="en-US" sz="2800" dirty="0"/>
          </a:p>
        </p:txBody>
      </p:sp>
      <p:sp>
        <p:nvSpPr>
          <p:cNvPr id="3" name="Shape 1"/>
          <p:cNvSpPr/>
          <p:nvPr/>
        </p:nvSpPr>
        <p:spPr>
          <a:xfrm>
            <a:off x="548640" y="1417320"/>
            <a:ext cx="5385816" cy="3886200"/>
          </a:xfrm>
          <a:prstGeom prst="roundRect">
            <a:avLst>
              <a:gd name="adj" fmla="val 2824"/>
            </a:avLst>
          </a:prstGeom>
          <a:solidFill>
            <a:srgbClr val="EEF3F6"/>
          </a:solidFill>
          <a:ln w="12700">
            <a:solidFill>
              <a:srgbClr val="EEF3F6"/>
            </a:solidFill>
            <a:prstDash val="solid"/>
          </a:ln>
        </p:spPr>
      </p:sp>
      <p:sp>
        <p:nvSpPr>
          <p:cNvPr id="4" name="Shape 2"/>
          <p:cNvSpPr/>
          <p:nvPr/>
        </p:nvSpPr>
        <p:spPr>
          <a:xfrm>
            <a:off x="548640" y="1417320"/>
            <a:ext cx="5385816" cy="640080"/>
          </a:xfrm>
          <a:prstGeom prst="roundRect">
            <a:avLst>
              <a:gd name="adj" fmla="val 17143"/>
            </a:avLst>
          </a:prstGeom>
          <a:solidFill>
            <a:srgbClr val="0F8B8D"/>
          </a:solidFill>
          <a:ln w="12700">
            <a:solidFill>
              <a:srgbClr val="0F8B8D"/>
            </a:solidFill>
            <a:prstDash val="solid"/>
          </a:ln>
        </p:spPr>
      </p:sp>
      <p:sp>
        <p:nvSpPr>
          <p:cNvPr id="5" name="Text 3"/>
          <p:cNvSpPr txBox="1"/>
          <p:nvPr/>
        </p:nvSpPr>
        <p:spPr>
          <a:xfrm>
            <a:off x="822960"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Prevent errors at entry</a:t>
            </a:r>
            <a:endParaRPr lang="en-US" sz="2000" dirty="0"/>
          </a:p>
        </p:txBody>
      </p:sp>
      <p:sp>
        <p:nvSpPr>
          <p:cNvPr id="6" name="Text 4"/>
          <p:cNvSpPr txBox="1"/>
          <p:nvPr/>
        </p:nvSpPr>
        <p:spPr>
          <a:xfrm>
            <a:off x="822960"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Stops bad data before it is stored.</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Tools: </a:t>
            </a:r>
            <a:pPr indent="0" marL="0">
              <a:buNone/>
            </a:pPr>
            <a:r>
              <a:rPr lang="en-US" sz="2100" dirty="0">
                <a:solidFill>
                  <a:srgbClr val="2B3A4F"/>
                </a:solidFill>
                <a:latin typeface="Calibri" pitchFamily="34" charset="0"/>
                <a:ea typeface="Calibri" pitchFamily="34" charset="-122"/>
                <a:cs typeface="Calibri" pitchFamily="34" charset="-120"/>
              </a:rPr>
              <a:t>Data Validation, drop-down lists, required fields.</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Cost: </a:t>
            </a:r>
            <a:pPr indent="0" marL="0">
              <a:buNone/>
            </a:pPr>
            <a:r>
              <a:rPr lang="en-US" sz="2100" dirty="0">
                <a:solidFill>
                  <a:srgbClr val="2B3A4F"/>
                </a:solidFill>
                <a:latin typeface="Calibri" pitchFamily="34" charset="0"/>
                <a:ea typeface="Calibri" pitchFamily="34" charset="-122"/>
                <a:cs typeface="Calibri" pitchFamily="34" charset="-120"/>
              </a:rPr>
              <a:t>low, done once when the form is built.</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Limit: </a:t>
            </a:r>
            <a:pPr indent="0" marL="0">
              <a:buNone/>
            </a:pPr>
            <a:r>
              <a:rPr lang="en-US" sz="2100" dirty="0">
                <a:solidFill>
                  <a:srgbClr val="2B3A4F"/>
                </a:solidFill>
                <a:latin typeface="Calibri" pitchFamily="34" charset="0"/>
                <a:ea typeface="Calibri" pitchFamily="34" charset="-122"/>
                <a:cs typeface="Calibri" pitchFamily="34" charset="-120"/>
              </a:rPr>
              <a:t>cannot fix data that already exists.</a:t>
            </a:r>
            <a:endParaRPr lang="en-US" sz="2100" dirty="0"/>
          </a:p>
        </p:txBody>
      </p:sp>
      <p:sp>
        <p:nvSpPr>
          <p:cNvPr id="7" name="Shape 5"/>
          <p:cNvSpPr/>
          <p:nvPr/>
        </p:nvSpPr>
        <p:spPr>
          <a:xfrm>
            <a:off x="6254496" y="1417320"/>
            <a:ext cx="5385816" cy="3886200"/>
          </a:xfrm>
          <a:prstGeom prst="roundRect">
            <a:avLst>
              <a:gd name="adj" fmla="val 2824"/>
            </a:avLst>
          </a:prstGeom>
          <a:solidFill>
            <a:srgbClr val="EEF3F6"/>
          </a:solidFill>
          <a:ln w="12700">
            <a:solidFill>
              <a:srgbClr val="EEF3F6"/>
            </a:solidFill>
            <a:prstDash val="solid"/>
          </a:ln>
        </p:spPr>
      </p:sp>
      <p:sp>
        <p:nvSpPr>
          <p:cNvPr id="8" name="Shape 6"/>
          <p:cNvSpPr/>
          <p:nvPr/>
        </p:nvSpPr>
        <p:spPr>
          <a:xfrm>
            <a:off x="6254496" y="1417320"/>
            <a:ext cx="5385816" cy="640080"/>
          </a:xfrm>
          <a:prstGeom prst="roundRect">
            <a:avLst>
              <a:gd name="adj" fmla="val 17143"/>
            </a:avLst>
          </a:prstGeom>
          <a:solidFill>
            <a:srgbClr val="3A5BA0"/>
          </a:solidFill>
          <a:ln w="12700">
            <a:solidFill>
              <a:srgbClr val="3A5BA0"/>
            </a:solidFill>
            <a:prstDash val="solid"/>
          </a:ln>
        </p:spPr>
      </p:sp>
      <p:sp>
        <p:nvSpPr>
          <p:cNvPr id="9" name="Text 7"/>
          <p:cNvSpPr txBox="1"/>
          <p:nvPr/>
        </p:nvSpPr>
        <p:spPr>
          <a:xfrm>
            <a:off x="6528816" y="1417320"/>
            <a:ext cx="4837176" cy="640080"/>
          </a:xfrm>
          <a:prstGeom prst="rect">
            <a:avLst/>
          </a:prstGeom>
          <a:noFill/>
          <a:ln/>
        </p:spPr>
        <p:txBody>
          <a:bodyPr wrap="square" lIns="0" tIns="0" rIns="0" bIns="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Clean existing data</a:t>
            </a:r>
            <a:endParaRPr lang="en-US" sz="2000" dirty="0"/>
          </a:p>
        </p:txBody>
      </p:sp>
      <p:sp>
        <p:nvSpPr>
          <p:cNvPr id="10" name="Text 8"/>
          <p:cNvSpPr txBox="1"/>
          <p:nvPr/>
        </p:nvSpPr>
        <p:spPr>
          <a:xfrm>
            <a:off x="6528816" y="2240280"/>
            <a:ext cx="4837176" cy="2926080"/>
          </a:xfrm>
          <a:prstGeom prst="rect">
            <a:avLst/>
          </a:prstGeom>
          <a:noFill/>
          <a:ln/>
        </p:spPr>
        <p:txBody>
          <a:bodyPr wrap="square" lIns="0" tIns="0" rIns="0" bIns="0" rtlCol="0" anchor="t"/>
          <a:lstStyle/>
          <a:p>
            <a:pPr marL="228600" indent="-228600">
              <a:spcAft>
                <a:spcPts val="800"/>
              </a:spcAft>
              <a:buSzPct val="100000"/>
              <a:buChar char="•"/>
            </a:pPr>
            <a:r>
              <a:rPr lang="en-US" sz="2100" dirty="0">
                <a:solidFill>
                  <a:srgbClr val="2B3A4F"/>
                </a:solidFill>
                <a:latin typeface="Calibri" pitchFamily="34" charset="0"/>
                <a:ea typeface="Calibri" pitchFamily="34" charset="-122"/>
                <a:cs typeface="Calibri" pitchFamily="34" charset="-120"/>
              </a:rPr>
              <a:t>Repairs errors that are already stored.</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Tools: </a:t>
            </a:r>
            <a:pPr indent="0" marL="0">
              <a:buNone/>
            </a:pPr>
            <a:r>
              <a:rPr lang="en-US" sz="2100" dirty="0">
                <a:solidFill>
                  <a:srgbClr val="2B3A4F"/>
                </a:solidFill>
                <a:latin typeface="Calibri" pitchFamily="34" charset="0"/>
                <a:ea typeface="Calibri" pitchFamily="34" charset="-122"/>
                <a:cs typeface="Calibri" pitchFamily="34" charset="-120"/>
              </a:rPr>
              <a:t>TRIM, PROPER, Remove Duplicates, Power Query.</a:t>
            </a:r>
            <a:endParaRPr lang="en-US" sz="2100" dirty="0"/>
          </a:p>
          <a:p>
            <a:pPr marL="228600" indent="-228600">
              <a:spcAft>
                <a:spcPts val="800"/>
              </a:spcAft>
              <a:buSzPct val="100000"/>
              <a:buChar char="•"/>
            </a:pPr>
            <a:r>
              <a:rPr lang="en-US" sz="2100" b="1" dirty="0">
                <a:solidFill>
                  <a:srgbClr val="14213D"/>
                </a:solidFill>
                <a:latin typeface="Calibri" pitchFamily="34" charset="0"/>
                <a:ea typeface="Calibri" pitchFamily="34" charset="-122"/>
                <a:cs typeface="Calibri" pitchFamily="34" charset="-120"/>
              </a:rPr>
              <a:t>Cost: </a:t>
            </a:r>
            <a:pPr indent="0" marL="0">
              <a:buNone/>
            </a:pPr>
            <a:r>
              <a:rPr lang="en-US" sz="2100" dirty="0">
                <a:solidFill>
                  <a:srgbClr val="2B3A4F"/>
                </a:solidFill>
                <a:latin typeface="Calibri" pitchFamily="34" charset="0"/>
                <a:ea typeface="Calibri" pitchFamily="34" charset="-122"/>
                <a:cs typeface="Calibri" pitchFamily="34" charset="-120"/>
              </a:rPr>
              <a:t>higher, repeated every time new bad data arrives.</a:t>
            </a:r>
            <a:endParaRPr lang="en-US" sz="2100" dirty="0"/>
          </a:p>
          <a:p>
            <a:pPr marL="228600" indent="-228600">
              <a:buSzPct val="100000"/>
              <a:buChar char="•"/>
            </a:pPr>
            <a:r>
              <a:rPr lang="en-US" sz="2100" b="1" dirty="0">
                <a:solidFill>
                  <a:srgbClr val="14213D"/>
                </a:solidFill>
                <a:latin typeface="Calibri" pitchFamily="34" charset="0"/>
                <a:ea typeface="Calibri" pitchFamily="34" charset="-122"/>
                <a:cs typeface="Calibri" pitchFamily="34" charset="-120"/>
              </a:rPr>
              <a:t>Limit: </a:t>
            </a:r>
            <a:pPr indent="0" marL="0">
              <a:buNone/>
            </a:pPr>
            <a:r>
              <a:rPr lang="en-US" sz="2100" dirty="0">
                <a:solidFill>
                  <a:srgbClr val="2B3A4F"/>
                </a:solidFill>
                <a:latin typeface="Calibri" pitchFamily="34" charset="0"/>
                <a:ea typeface="Calibri" pitchFamily="34" charset="-122"/>
                <a:cs typeface="Calibri" pitchFamily="34" charset="-120"/>
              </a:rPr>
              <a:t>some errors cannot be fixed without the source.</a:t>
            </a:r>
            <a:endParaRPr lang="en-US" sz="2100" dirty="0"/>
          </a:p>
        </p:txBody>
      </p:sp>
      <p:sp>
        <p:nvSpPr>
          <p:cNvPr id="11" name="Shape 9"/>
          <p:cNvSpPr/>
          <p:nvPr/>
        </p:nvSpPr>
        <p:spPr>
          <a:xfrm>
            <a:off x="548640" y="5532120"/>
            <a:ext cx="11091672" cy="731520"/>
          </a:xfrm>
          <a:prstGeom prst="roundRect">
            <a:avLst>
              <a:gd name="adj" fmla="val 15000"/>
            </a:avLst>
          </a:prstGeom>
          <a:solidFill>
            <a:srgbClr val="FDEBD6"/>
          </a:solidFill>
          <a:ln w="12700">
            <a:solidFill>
              <a:srgbClr val="FDEBD6"/>
            </a:solidFill>
            <a:prstDash val="solid"/>
          </a:ln>
        </p:spPr>
      </p:sp>
      <p:sp>
        <p:nvSpPr>
          <p:cNvPr id="12" name="Text 10"/>
          <p:cNvSpPr txBox="1"/>
          <p:nvPr/>
        </p:nvSpPr>
        <p:spPr>
          <a:xfrm>
            <a:off x="822960" y="5532120"/>
            <a:ext cx="10543032" cy="731520"/>
          </a:xfrm>
          <a:prstGeom prst="rect">
            <a:avLst/>
          </a:prstGeom>
          <a:noFill/>
          <a:ln/>
        </p:spPr>
        <p:txBody>
          <a:bodyPr wrap="square" lIns="0" tIns="0" rIns="0" bIns="0" rtlCol="0" anchor="ctr"/>
          <a:lstStyle/>
          <a:p>
            <a:pPr indent="0" marL="0">
              <a:buNone/>
            </a:pPr>
            <a:r>
              <a:rPr lang="en-US" sz="1700" dirty="0">
                <a:solidFill>
                  <a:srgbClr val="14213D"/>
                </a:solidFill>
                <a:latin typeface="Calibri" pitchFamily="34" charset="0"/>
                <a:ea typeface="Calibri" pitchFamily="34" charset="-122"/>
                <a:cs typeface="Calibri" pitchFamily="34" charset="-120"/>
              </a:rPr>
              <a:t>Best practice is both: prevent as much as you can, and clean what still gets through.</a:t>
            </a:r>
            <a:endParaRPr lang="en-US" sz="17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Excel tools for quality checks</a:t>
            </a:r>
            <a:endParaRPr lang="en-US" sz="2800" dirty="0"/>
          </a:p>
        </p:txBody>
      </p:sp>
      <p:sp>
        <p:nvSpPr>
          <p:cNvPr id="3" name="Shape 1"/>
          <p:cNvSpPr/>
          <p:nvPr/>
        </p:nvSpPr>
        <p:spPr>
          <a:xfrm>
            <a:off x="548640" y="1417320"/>
            <a:ext cx="6675120" cy="4846320"/>
          </a:xfrm>
          <a:prstGeom prst="roundRect">
            <a:avLst>
              <a:gd name="adj" fmla="val 2264"/>
            </a:avLst>
          </a:prstGeom>
          <a:solidFill>
            <a:srgbClr val="14213D"/>
          </a:solidFill>
          <a:ln w="12700">
            <a:solidFill>
              <a:srgbClr val="14213D"/>
            </a:solidFill>
            <a:prstDash val="solid"/>
          </a:ln>
        </p:spPr>
      </p:sp>
      <p:sp>
        <p:nvSpPr>
          <p:cNvPr id="4" name="Text 2"/>
          <p:cNvSpPr txBox="1"/>
          <p:nvPr/>
        </p:nvSpPr>
        <p:spPr>
          <a:xfrm>
            <a:off x="822960" y="1645920"/>
            <a:ext cx="2743200"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EXCEL</a:t>
            </a:r>
            <a:endParaRPr lang="en-US" sz="1200" dirty="0"/>
          </a:p>
        </p:txBody>
      </p:sp>
      <p:sp>
        <p:nvSpPr>
          <p:cNvPr id="5" name="Text 3"/>
          <p:cNvSpPr txBox="1"/>
          <p:nvPr/>
        </p:nvSpPr>
        <p:spPr>
          <a:xfrm>
            <a:off x="822960" y="2103120"/>
            <a:ext cx="6126480" cy="3931920"/>
          </a:xfrm>
          <a:prstGeom prst="rect">
            <a:avLst/>
          </a:prstGeom>
          <a:noFill/>
          <a:ln/>
        </p:spPr>
        <p:txBody>
          <a:bodyPr wrap="square" lIns="0" tIns="0" rIns="0" bIns="0" rtlCol="0" anchor="t"/>
          <a:lstStyle/>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=TRIM(PROPER(B2))</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=LEN(C2)=10</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=COUNTIF($A$2:$A$251,A2)&gt;1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=COUNTBLANK(C2:C251)</a:t>
            </a:r>
            <a:endParaRPr lang="en-US" sz="1700" dirty="0"/>
          </a:p>
          <a:p>
            <a:pPr indent="0" marL="0">
              <a:spcAft>
                <a:spcPts val="600"/>
              </a:spcAft>
              <a:buNone/>
            </a:pPr>
            <a:r>
              <a:rPr lang="en-US" sz="1700" dirty="0">
                <a:solidFill>
                  <a:srgbClr val="E8F1F2"/>
                </a:solidFill>
                <a:latin typeface="Courier New" pitchFamily="34" charset="0"/>
                <a:ea typeface="Courier New" pitchFamily="34" charset="-122"/>
                <a:cs typeface="Courier New" pitchFamily="34" charset="-120"/>
              </a:rPr>
              <a:t>=IF(ISNUMBER(D2),D2,"")</a:t>
            </a:r>
            <a:endParaRPr lang="en-US" sz="1700" dirty="0"/>
          </a:p>
        </p:txBody>
      </p:sp>
      <p:sp>
        <p:nvSpPr>
          <p:cNvPr id="6" name="Text 4"/>
          <p:cNvSpPr txBox="1"/>
          <p:nvPr/>
        </p:nvSpPr>
        <p:spPr>
          <a:xfrm>
            <a:off x="7498080" y="1463040"/>
            <a:ext cx="4142232" cy="4754880"/>
          </a:xfrm>
          <a:prstGeom prst="rect">
            <a:avLst/>
          </a:prstGeom>
          <a:noFill/>
          <a:ln/>
        </p:spPr>
        <p:txBody>
          <a:bodyPr wrap="square" lIns="0" tIns="0" rIns="0" bIns="0" rtlCol="0" anchor="t"/>
          <a:lstStyle/>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TRIM and PROPER: </a:t>
            </a:r>
            <a:pPr indent="0" marL="0">
              <a:buNone/>
            </a:pPr>
            <a:r>
              <a:rPr lang="en-US" sz="2200" dirty="0">
                <a:solidFill>
                  <a:srgbClr val="2B3A4F"/>
                </a:solidFill>
                <a:latin typeface="Calibri" pitchFamily="34" charset="0"/>
                <a:ea typeface="Calibri" pitchFamily="34" charset="-122"/>
                <a:cs typeface="Calibri" pitchFamily="34" charset="-120"/>
              </a:rPr>
              <a:t>remove extra spaces and fix capital letters.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LEN check: </a:t>
            </a:r>
            <a:pPr indent="0" marL="0">
              <a:buNone/>
            </a:pPr>
            <a:r>
              <a:rPr lang="en-US" sz="2200" dirty="0">
                <a:solidFill>
                  <a:srgbClr val="2B3A4F"/>
                </a:solidFill>
                <a:latin typeface="Calibri" pitchFamily="34" charset="0"/>
                <a:ea typeface="Calibri" pitchFamily="34" charset="-122"/>
                <a:cs typeface="Calibri" pitchFamily="34" charset="-120"/>
              </a:rPr>
              <a:t>TRUE if a phone number has exactly 10 characters.</a:t>
            </a:r>
            <a:endParaRPr lang="en-US" sz="2200" dirty="0"/>
          </a:p>
          <a:p>
            <a:pPr marL="228600" indent="-228600">
              <a:spcAft>
                <a:spcPts val="1000"/>
              </a:spcAft>
              <a:buSzPct val="100000"/>
              <a:buChar char="•"/>
            </a:pPr>
            <a:r>
              <a:rPr lang="en-US" sz="2200" b="1" dirty="0">
                <a:solidFill>
                  <a:srgbClr val="14213D"/>
                </a:solidFill>
                <a:latin typeface="Calibri" pitchFamily="34" charset="0"/>
                <a:ea typeface="Calibri" pitchFamily="34" charset="-122"/>
                <a:cs typeface="Calibri" pitchFamily="34" charset="-120"/>
              </a:rPr>
              <a:t>COUNTIF above 1: </a:t>
            </a:r>
            <a:pPr indent="0" marL="0">
              <a:buNone/>
            </a:pPr>
            <a:r>
              <a:rPr lang="en-US" sz="2200" dirty="0">
                <a:solidFill>
                  <a:srgbClr val="2B3A4F"/>
                </a:solidFill>
                <a:latin typeface="Calibri" pitchFamily="34" charset="0"/>
                <a:ea typeface="Calibri" pitchFamily="34" charset="-122"/>
                <a:cs typeface="Calibri" pitchFamily="34" charset="-120"/>
              </a:rPr>
              <a:t>flags a repeated ID as a duplicate.</a:t>
            </a:r>
            <a:endParaRPr lang="en-US" sz="2200" dirty="0"/>
          </a:p>
          <a:p>
            <a:pPr marL="228600" indent="-228600">
              <a:buSzPct val="100000"/>
              <a:buChar char="•"/>
            </a:pPr>
            <a:r>
              <a:rPr lang="en-US" sz="2200" b="1" dirty="0">
                <a:solidFill>
                  <a:srgbClr val="14213D"/>
                </a:solidFill>
                <a:latin typeface="Calibri" pitchFamily="34" charset="0"/>
                <a:ea typeface="Calibri" pitchFamily="34" charset="-122"/>
                <a:cs typeface="Calibri" pitchFamily="34" charset="-120"/>
              </a:rPr>
              <a:t>COUNTBLANK: </a:t>
            </a:r>
            <a:pPr indent="0" marL="0">
              <a:buNone/>
            </a:pPr>
            <a:r>
              <a:rPr lang="en-US" sz="2200" dirty="0">
                <a:solidFill>
                  <a:srgbClr val="2B3A4F"/>
                </a:solidFill>
                <a:latin typeface="Calibri" pitchFamily="34" charset="0"/>
                <a:ea typeface="Calibri" pitchFamily="34" charset="-122"/>
                <a:cs typeface="Calibri" pitchFamily="34" charset="-120"/>
              </a:rPr>
              <a:t>counts empty cells, which is a completeness check.</a:t>
            </a:r>
            <a:endParaRPr lang="en-US" sz="22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Issue, fix and Excel tool</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3246343"/>
                <a:gridCol w="3246343"/>
                <a:gridCol w="4598986"/>
              </a:tblGrid>
              <a:tr h="451104">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Issue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Fix</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Excel tool</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14213D"/>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Extra spaces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Remove them</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TRIM, or Power Query Trim</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Mixed capitals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Standardise case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PROPER, UPPER, LOWER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Duplicate rows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Keep one copy</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Data &gt; Remove Duplicates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Number stored as text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Convert to number</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VALUE, or Text to Columns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Invalid format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Flag and correct</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Conditional Formatting, LEN</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451104">
                <a:tc>
                  <a:txBody>
                    <a:bodyPr/>
                    <a:lstStyle/>
                    <a:p>
                      <a:pPr algn="l" indent="0" marL="0">
                        <a:buNone/>
                      </a:pPr>
                      <a:r>
                        <a:rPr lang="en-US" sz="2000" b="1" dirty="0">
                          <a:solidFill>
                            <a:srgbClr val="0B6E6E"/>
                          </a:solidFill>
                          <a:latin typeface="Calibri" pitchFamily="34" charset="0"/>
                          <a:ea typeface="Calibri" pitchFamily="34" charset="-122"/>
                          <a:cs typeface="Calibri" pitchFamily="34" charset="-120"/>
                        </a:rPr>
                        <a:t>Missing values</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Investigate, then decide</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2000" dirty="0">
                          <a:solidFill>
                            <a:srgbClr val="2B3A4F"/>
                          </a:solidFill>
                          <a:latin typeface="Calibri" pitchFamily="34" charset="0"/>
                          <a:ea typeface="Calibri" pitchFamily="34" charset="-122"/>
                          <a:cs typeface="Calibri" pitchFamily="34" charset="-120"/>
                        </a:rPr>
                        <a:t>Filter blanks, COUNTBLANK</a:t>
                      </a:r>
                      <a:endParaRPr lang="en-US" sz="20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4" name="Text 1"/>
          <p:cNvSpPr txBox="1"/>
          <p:nvPr/>
        </p:nvSpPr>
        <p:spPr>
          <a:xfrm>
            <a:off x="548640" y="4803648"/>
            <a:ext cx="11091672" cy="548640"/>
          </a:xfrm>
          <a:prstGeom prst="rect">
            <a:avLst/>
          </a:prstGeom>
          <a:noFill/>
          <a:ln/>
        </p:spPr>
        <p:txBody>
          <a:bodyPr wrap="square" lIns="0" tIns="0" rIns="0" bIns="0" rtlCol="0" anchor="t"/>
          <a:lstStyle/>
          <a:p>
            <a:pPr indent="0" marL="0">
              <a:buNone/>
            </a:pPr>
            <a:r>
              <a:rPr lang="en-US" sz="1600" i="1" dirty="0">
                <a:solidFill>
                  <a:srgbClr val="56667A"/>
                </a:solidFill>
                <a:latin typeface="Calibri" pitchFamily="34" charset="0"/>
                <a:ea typeface="Calibri" pitchFamily="34" charset="-122"/>
                <a:cs typeface="Calibri" pitchFamily="34" charset="-120"/>
              </a:rPr>
              <a:t>Always work on a copy of the raw data. Keep the original sheet untouched.</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fixing names and cities</a:t>
            </a:r>
            <a:endParaRPr lang="en-US" sz="2800" dirty="0"/>
          </a:p>
        </p:txBody>
      </p:sp>
      <p:sp>
        <p:nvSpPr>
          <p:cNvPr id="3" name="Shape 1"/>
          <p:cNvSpPr/>
          <p:nvPr/>
        </p:nvSpPr>
        <p:spPr>
          <a:xfrm>
            <a:off x="548640" y="1417320"/>
            <a:ext cx="5385816" cy="457200"/>
          </a:xfrm>
          <a:prstGeom prst="roundRect">
            <a:avLst>
              <a:gd name="adj" fmla="val 24000"/>
            </a:avLst>
          </a:prstGeom>
          <a:solidFill>
            <a:srgbClr val="C8553D"/>
          </a:solidFill>
          <a:ln w="12700">
            <a:solidFill>
              <a:srgbClr val="C8553D"/>
            </a:solidFill>
            <a:prstDash val="solid"/>
          </a:ln>
        </p:spPr>
      </p:sp>
      <p:sp>
        <p:nvSpPr>
          <p:cNvPr id="4" name="Text 2"/>
          <p:cNvSpPr txBox="1"/>
          <p:nvPr/>
        </p:nvSpPr>
        <p:spPr>
          <a:xfrm>
            <a:off x="731520"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Before</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5385816" cy="914400"/>
        </p:xfrm>
        <a:graphic>
          <a:graphicData uri="http://schemas.openxmlformats.org/drawingml/2006/table">
            <a:tbl>
              <a:tblPr/>
              <a:tblGrid>
                <a:gridCol w="1584064"/>
                <a:gridCol w="2217689"/>
                <a:gridCol w="1584064"/>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Name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8A3A29"/>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 rahul SHARMA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PRIYA verma</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amit  jain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Neha  Singh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 </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6" name="Shape 3"/>
          <p:cNvSpPr/>
          <p:nvPr/>
        </p:nvSpPr>
        <p:spPr>
          <a:xfrm>
            <a:off x="6254496" y="1417320"/>
            <a:ext cx="5385816" cy="457200"/>
          </a:xfrm>
          <a:prstGeom prst="roundRect">
            <a:avLst>
              <a:gd name="adj" fmla="val 24000"/>
            </a:avLst>
          </a:prstGeom>
          <a:solidFill>
            <a:srgbClr val="0F8B8D"/>
          </a:solidFill>
          <a:ln w="12700">
            <a:solidFill>
              <a:srgbClr val="0F8B8D"/>
            </a:solidFill>
            <a:prstDash val="solid"/>
          </a:ln>
        </p:spPr>
      </p:sp>
      <p:sp>
        <p:nvSpPr>
          <p:cNvPr id="7" name="Text 4"/>
          <p:cNvSpPr txBox="1"/>
          <p:nvPr/>
        </p:nvSpPr>
        <p:spPr>
          <a:xfrm>
            <a:off x="6437376" y="1417320"/>
            <a:ext cx="5020056" cy="457200"/>
          </a:xfrm>
          <a:prstGeom prst="rect">
            <a:avLst/>
          </a:prstGeom>
          <a:noFill/>
          <a:ln/>
        </p:spPr>
        <p:txBody>
          <a:bodyPr wrap="square" lIns="0" tIns="0" rIns="0" bIns="0" rtlCol="0" anchor="ctr"/>
          <a:lstStyle/>
          <a:p>
            <a:pPr algn="l" indent="0" marL="0">
              <a:buNone/>
            </a:pPr>
            <a:r>
              <a:rPr lang="en-US" sz="1600" b="1" dirty="0">
                <a:solidFill>
                  <a:srgbClr val="FFFFFF"/>
                </a:solidFill>
                <a:latin typeface="Calibri" pitchFamily="34" charset="0"/>
                <a:ea typeface="Calibri" pitchFamily="34" charset="-122"/>
                <a:cs typeface="Calibri" pitchFamily="34" charset="-120"/>
              </a:rPr>
              <a:t>After =TRIM(PROPER())</a:t>
            </a:r>
            <a:endParaRPr lang="en-US" sz="16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254496" y="2011680"/>
          <a:ext cx="5385816" cy="914400"/>
        </p:xfrm>
        <a:graphic>
          <a:graphicData uri="http://schemas.openxmlformats.org/drawingml/2006/table">
            <a:tbl>
              <a:tblPr/>
              <a:tblGrid>
                <a:gridCol w="1683068"/>
                <a:gridCol w="2019681"/>
                <a:gridCol w="1683068"/>
              </a:tblGrid>
              <a:tr h="38404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ID</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Name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City</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0B6E6E"/>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Rahul Sharma</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Priya Verma</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Bhopal</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Amit Jain</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Neha Singh</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c>
                  <a:txBody>
                    <a:bodyPr/>
                    <a:lstStyle/>
                    <a:p>
                      <a:pPr algn="l" indent="0" marL="0">
                        <a:buNone/>
                      </a:pPr>
                      <a:r>
                        <a:rPr lang="en-US" sz="1500" dirty="0">
                          <a:solidFill>
                            <a:srgbClr val="2B3A4F"/>
                          </a:solidFill>
                          <a:latin typeface="Calibri" pitchFamily="34" charset="0"/>
                          <a:ea typeface="Calibri" pitchFamily="34" charset="-122"/>
                          <a:cs typeface="Calibri" pitchFamily="34" charset="-120"/>
                        </a:rPr>
                        <a:t>Indore</a:t>
                      </a:r>
                      <a:endParaRPr lang="en-US" sz="1500" dirty="0">
                        <a:latin typeface="Calibri" charset="0"/>
                        <a:ea typeface="Calibri" charset="0"/>
                        <a:cs typeface="Calibri" charset="0"/>
                      </a:endParaRPr>
                    </a:p>
                  </a:txBody>
                  <a:tcPr marL="101600" marR="101600" marT="50800" marB="50800" anchor="ctr">
                    <a:lnL w="9525" cap="flat" cmpd="sng" algn="ctr">
                      <a:solidFill>
                        <a:srgbClr val="D5DEE6"/>
                      </a:solidFill>
                      <a:prstDash val="solid"/>
                      <a:round/>
                      <a:headEnd type="none" w="med" len="med"/>
                      <a:tailEnd type="none" w="med" len="med"/>
                    </a:lnL>
                    <a:lnR w="9525" cap="flat" cmpd="sng" algn="ctr">
                      <a:solidFill>
                        <a:srgbClr val="D5DEE6"/>
                      </a:solidFill>
                      <a:prstDash val="solid"/>
                      <a:round/>
                      <a:headEnd type="none" w="med" len="med"/>
                      <a:tailEnd type="none" w="med" len="med"/>
                    </a:lnR>
                    <a:lnT w="9525" cap="flat" cmpd="sng" algn="ctr">
                      <a:solidFill>
                        <a:srgbClr val="D5DEE6"/>
                      </a:solidFill>
                      <a:prstDash val="solid"/>
                      <a:round/>
                      <a:headEnd type="none" w="med" len="med"/>
                      <a:tailEnd type="none" w="med" len="med"/>
                    </a:lnT>
                    <a:lnB w="9525" cap="flat" cmpd="sng" algn="ctr">
                      <a:solidFill>
                        <a:srgbClr val="D5DEE6"/>
                      </a:solidFill>
                      <a:prstDash val="solid"/>
                      <a:round/>
                      <a:headEnd type="none" w="med" len="med"/>
                      <a:tailEnd type="none" w="med" len="med"/>
                    </a:lnB>
                    <a:solidFill>
                      <a:srgbClr val="F6F9FB"/>
                    </a:solidFill>
                  </a:tcPr>
                </a:tc>
              </a:tr>
            </a:tbl>
          </a:graphicData>
        </a:graphic>
      </p:graphicFrame>
      <p:sp>
        <p:nvSpPr>
          <p:cNvPr id="9" name="Shape 5"/>
          <p:cNvSpPr/>
          <p:nvPr/>
        </p:nvSpPr>
        <p:spPr>
          <a:xfrm>
            <a:off x="548640" y="5623560"/>
            <a:ext cx="11091672" cy="640080"/>
          </a:xfrm>
          <a:prstGeom prst="roundRect">
            <a:avLst>
              <a:gd name="adj" fmla="val 17143"/>
            </a:avLst>
          </a:prstGeom>
          <a:solidFill>
            <a:srgbClr val="FDEBD6"/>
          </a:solidFill>
          <a:ln w="12700">
            <a:solidFill>
              <a:srgbClr val="FDEBD6"/>
            </a:solidFill>
            <a:prstDash val="solid"/>
          </a:ln>
        </p:spPr>
      </p:sp>
      <p:sp>
        <p:nvSpPr>
          <p:cNvPr id="10" name="Text 6"/>
          <p:cNvSpPr txBox="1"/>
          <p:nvPr/>
        </p:nvSpPr>
        <p:spPr>
          <a:xfrm>
            <a:off x="822960" y="5623560"/>
            <a:ext cx="10543032" cy="640080"/>
          </a:xfrm>
          <a:prstGeom prst="rect">
            <a:avLst/>
          </a:prstGeom>
          <a:noFill/>
          <a:ln/>
        </p:spPr>
        <p:txBody>
          <a:bodyPr wrap="square" lIns="0" tIns="0" rIns="0" bIns="0" rtlCol="0" anchor="ctr"/>
          <a:lstStyle/>
          <a:p>
            <a:pPr indent="0" marL="0">
              <a:buNone/>
            </a:pPr>
            <a:r>
              <a:rPr lang="en-US" sz="1600" dirty="0">
                <a:solidFill>
                  <a:srgbClr val="14213D"/>
                </a:solidFill>
                <a:latin typeface="Calibri" pitchFamily="34" charset="0"/>
                <a:ea typeface="Calibri" pitchFamily="34" charset="-122"/>
                <a:cs typeface="Calibri" pitchFamily="34" charset="-120"/>
              </a:rPr>
              <a:t>TRIM removes leading, trailing and double spaces. PROPER capitalises each word. A PivotTable now shows 2 cities, not 4 spellings.</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Measure quality with a scorecard</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A customer sheet has 250 rows (illustrative). Checks find 18 blank phones, 7 filled phones that are not 10 digits and 12 duplicate rows.</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Completeness: </a:t>
            </a:r>
            <a:pPr indent="0" marL="0">
              <a:buNone/>
            </a:pPr>
            <a:r>
              <a:rPr lang="en-US" sz="2200" dirty="0">
                <a:solidFill>
                  <a:srgbClr val="2B3A4F"/>
                </a:solidFill>
                <a:latin typeface="Calibri" pitchFamily="34" charset="0"/>
                <a:ea typeface="Calibri" pitchFamily="34" charset="-122"/>
                <a:cs typeface="Calibri" pitchFamily="34" charset="-120"/>
              </a:rPr>
              <a:t>(250 - 18) / 250 = 232 / 250 = 92.8%.</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Validity of filled phones: </a:t>
            </a:r>
            <a:pPr indent="0" marL="0">
              <a:buNone/>
            </a:pPr>
            <a:r>
              <a:rPr lang="en-US" sz="2200" dirty="0">
                <a:solidFill>
                  <a:srgbClr val="2B3A4F"/>
                </a:solidFill>
                <a:latin typeface="Calibri" pitchFamily="34" charset="0"/>
                <a:ea typeface="Calibri" pitchFamily="34" charset="-122"/>
                <a:cs typeface="Calibri" pitchFamily="34" charset="-120"/>
              </a:rPr>
              <a:t>(232 - 7) / 232 = 225 / 232 ≈ 97.0%.</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Uniqueness: </a:t>
            </a:r>
            <a:pPr indent="0" marL="0">
              <a:buNone/>
            </a:pPr>
            <a:r>
              <a:rPr lang="en-US" sz="2200" dirty="0">
                <a:solidFill>
                  <a:srgbClr val="2B3A4F"/>
                </a:solidFill>
                <a:latin typeface="Calibri" pitchFamily="34" charset="0"/>
                <a:ea typeface="Calibri" pitchFamily="34" charset="-122"/>
                <a:cs typeface="Calibri" pitchFamily="34" charset="-120"/>
              </a:rPr>
              <a:t>(250 - 12) / 250 = 238 / 250 = 95.2%.</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Rows after removing duplicates: </a:t>
            </a:r>
            <a:pPr indent="0" marL="0">
              <a:buNone/>
            </a:pPr>
            <a:r>
              <a:rPr lang="en-US" sz="2200" dirty="0">
                <a:solidFill>
                  <a:srgbClr val="2B3A4F"/>
                </a:solidFill>
                <a:latin typeface="Calibri" pitchFamily="34" charset="0"/>
                <a:ea typeface="Calibri" pitchFamily="34" charset="-122"/>
                <a:cs typeface="Calibri" pitchFamily="34" charset="-120"/>
              </a:rPr>
              <a:t>250 - 12 = 238 records.</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Phone completeness is the weakest score at 92.8%. Fix the 18 blanks first, then re-run the checks to confirm the scores improve.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Handling one missing value</a:t>
            </a:r>
            <a:endParaRPr lang="en-US" sz="2800" dirty="0"/>
          </a:p>
        </p:txBody>
      </p:sp>
      <p:sp>
        <p:nvSpPr>
          <p:cNvPr id="3" name="Shape 1"/>
          <p:cNvSpPr/>
          <p:nvPr/>
        </p:nvSpPr>
        <p:spPr>
          <a:xfrm>
            <a:off x="548640" y="1417320"/>
            <a:ext cx="11091672" cy="914400"/>
          </a:xfrm>
          <a:prstGeom prst="roundRect">
            <a:avLst>
              <a:gd name="adj" fmla="val 12000"/>
            </a:avLst>
          </a:prstGeom>
          <a:solidFill>
            <a:srgbClr val="FDEBD6"/>
          </a:solidFill>
          <a:ln w="12700">
            <a:solidFill>
              <a:srgbClr val="FDEBD6"/>
            </a:solidFill>
            <a:prstDash val="solid"/>
          </a:ln>
        </p:spPr>
      </p:sp>
      <p:sp>
        <p:nvSpPr>
          <p:cNvPr id="4" name="Text 2"/>
          <p:cNvSpPr txBox="1"/>
          <p:nvPr/>
        </p:nvSpPr>
        <p:spPr>
          <a:xfrm>
            <a:off x="777240" y="1417320"/>
            <a:ext cx="1554480" cy="914400"/>
          </a:xfrm>
          <a:prstGeom prst="rect">
            <a:avLst/>
          </a:prstGeom>
          <a:noFill/>
          <a:ln/>
        </p:spPr>
        <p:txBody>
          <a:bodyPr wrap="square" lIns="0" tIns="0" rIns="0" bIns="0" rtlCol="0" anchor="ctr"/>
          <a:lstStyle/>
          <a:p>
            <a:pPr indent="0" marL="0">
              <a:buNone/>
            </a:pPr>
            <a:r>
              <a:rPr lang="en-US" sz="1200" b="1" spc="200" kern="0" dirty="0">
                <a:solidFill>
                  <a:srgbClr val="A55A0A"/>
                </a:solidFill>
                <a:latin typeface="Calibri" pitchFamily="34" charset="0"/>
                <a:ea typeface="Calibri" pitchFamily="34" charset="-122"/>
                <a:cs typeface="Calibri" pitchFamily="34" charset="-120"/>
              </a:rPr>
              <a:t>WORKED EXAMPLE</a:t>
            </a:r>
            <a:endParaRPr lang="en-US" sz="1200" dirty="0"/>
          </a:p>
        </p:txBody>
      </p:sp>
      <p:sp>
        <p:nvSpPr>
          <p:cNvPr id="5" name="Text 3"/>
          <p:cNvSpPr txBox="1"/>
          <p:nvPr/>
        </p:nvSpPr>
        <p:spPr>
          <a:xfrm>
            <a:off x="2468880" y="1417320"/>
            <a:ext cx="8988552" cy="914400"/>
          </a:xfrm>
          <a:prstGeom prst="rect">
            <a:avLst/>
          </a:prstGeom>
          <a:noFill/>
          <a:ln/>
        </p:spPr>
        <p:txBody>
          <a:bodyPr wrap="square" lIns="0" tIns="0" rIns="0" bIns="0" rtlCol="0" anchor="ctr"/>
          <a:lstStyle/>
          <a:p>
            <a:pPr indent="0" marL="0">
              <a:buNone/>
            </a:pPr>
            <a:r>
              <a:rPr lang="en-US" sz="1800" dirty="0">
                <a:solidFill>
                  <a:srgbClr val="14213D"/>
                </a:solidFill>
                <a:latin typeface="Calibri" pitchFamily="34" charset="0"/>
                <a:ea typeface="Calibri" pitchFamily="34" charset="-122"/>
                <a:cs typeface="Calibri" pitchFamily="34" charset="-120"/>
              </a:rPr>
              <a:t>Four of five stores report monthly sales in ₹ thousand: 42, 38, 45, 40. Store C is blank. Choose how to handle it.</a:t>
            </a:r>
            <a:endParaRPr lang="en-US" sz="1800" dirty="0"/>
          </a:p>
        </p:txBody>
      </p:sp>
      <p:sp>
        <p:nvSpPr>
          <p:cNvPr id="6" name="Text 4"/>
          <p:cNvSpPr txBox="1"/>
          <p:nvPr/>
        </p:nvSpPr>
        <p:spPr>
          <a:xfrm>
            <a:off x="548640" y="2606040"/>
            <a:ext cx="6675120" cy="3657600"/>
          </a:xfrm>
          <a:prstGeom prst="rect">
            <a:avLst/>
          </a:prstGeom>
          <a:noFill/>
          <a:ln/>
        </p:spPr>
        <p:txBody>
          <a:bodyPr wrap="square" lIns="0" tIns="0" rIns="0" bIns="0" rtlCol="0" anchor="t"/>
          <a:lstStyle/>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Option 1, exclude: </a:t>
            </a:r>
            <a:pPr indent="0" marL="0">
              <a:buNone/>
            </a:pPr>
            <a:r>
              <a:rPr lang="en-US" sz="2200" dirty="0">
                <a:solidFill>
                  <a:srgbClr val="2B3A4F"/>
                </a:solidFill>
                <a:latin typeface="Calibri" pitchFamily="34" charset="0"/>
                <a:ea typeface="Calibri" pitchFamily="34" charset="-122"/>
                <a:cs typeface="Calibri" pitchFamily="34" charset="-120"/>
              </a:rPr>
              <a:t>average of 4 stores = 165 / 4 = 41.25. Say that 4 of 5 are included.</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Option 2, fill with 0: </a:t>
            </a:r>
            <a:pPr indent="0" marL="0">
              <a:buNone/>
            </a:pPr>
            <a:r>
              <a:rPr lang="en-US" sz="2200" dirty="0">
                <a:solidFill>
                  <a:srgbClr val="2B3A4F"/>
                </a:solidFill>
                <a:latin typeface="Calibri" pitchFamily="34" charset="0"/>
                <a:ea typeface="Calibri" pitchFamily="34" charset="-122"/>
                <a:cs typeface="Calibri" pitchFamily="34" charset="-120"/>
              </a:rPr>
              <a:t>average = 165 / 5 = 33. Wrong, 0 means no sales.</a:t>
            </a:r>
            <a:endParaRPr lang="en-US" sz="2200" dirty="0"/>
          </a:p>
          <a:p>
            <a:pPr marL="304800" indent="-304800">
              <a:spcAft>
                <a:spcPts val="800"/>
              </a:spcAft>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Option 3, estimate: </a:t>
            </a:r>
            <a:pPr indent="0" marL="0">
              <a:buNone/>
            </a:pPr>
            <a:r>
              <a:rPr lang="en-US" sz="2200" dirty="0">
                <a:solidFill>
                  <a:srgbClr val="2B3A4F"/>
                </a:solidFill>
                <a:latin typeface="Calibri" pitchFamily="34" charset="0"/>
                <a:ea typeface="Calibri" pitchFamily="34" charset="-122"/>
                <a:cs typeface="Calibri" pitchFamily="34" charset="-120"/>
              </a:rPr>
              <a:t>fill with 41.25, so the total is 206.25. Mark it as an estimate.</a:t>
            </a:r>
            <a:endParaRPr lang="en-US" sz="2200" dirty="0"/>
          </a:p>
          <a:p>
            <a:pPr marL="304800" indent="-304800">
              <a:buSzPct val="100000"/>
              <a:buFont typeface="+mj-lt"/>
              <a:buAutoNum type="arabicPeriod" startAt="1"/>
            </a:pPr>
            <a:r>
              <a:rPr lang="en-US" sz="2200" b="1" dirty="0">
                <a:solidFill>
                  <a:srgbClr val="14213D"/>
                </a:solidFill>
                <a:latin typeface="Calibri" pitchFamily="34" charset="0"/>
                <a:ea typeface="Calibri" pitchFamily="34" charset="-122"/>
                <a:cs typeface="Calibri" pitchFamily="34" charset="-120"/>
              </a:rPr>
              <a:t>Best first step: </a:t>
            </a:r>
            <a:pPr indent="0" marL="0">
              <a:buNone/>
            </a:pPr>
            <a:r>
              <a:rPr lang="en-US" sz="2200" dirty="0">
                <a:solidFill>
                  <a:srgbClr val="2B3A4F"/>
                </a:solidFill>
                <a:latin typeface="Calibri" pitchFamily="34" charset="0"/>
                <a:ea typeface="Calibri" pitchFamily="34" charset="-122"/>
                <a:cs typeface="Calibri" pitchFamily="34" charset="-120"/>
              </a:rPr>
              <a:t>ask Store C for the real figure.</a:t>
            </a:r>
            <a:endParaRPr lang="en-US" sz="2200" dirty="0"/>
          </a:p>
        </p:txBody>
      </p:sp>
      <p:sp>
        <p:nvSpPr>
          <p:cNvPr id="7" name="Shape 5"/>
          <p:cNvSpPr/>
          <p:nvPr/>
        </p:nvSpPr>
        <p:spPr>
          <a:xfrm>
            <a:off x="7498080" y="2606040"/>
            <a:ext cx="4142232" cy="3657600"/>
          </a:xfrm>
          <a:prstGeom prst="roundRect">
            <a:avLst>
              <a:gd name="adj" fmla="val 3000"/>
            </a:avLst>
          </a:prstGeom>
          <a:solidFill>
            <a:srgbClr val="14213D"/>
          </a:solidFill>
          <a:ln w="12700">
            <a:solidFill>
              <a:srgbClr val="14213D"/>
            </a:solidFill>
            <a:prstDash val="solid"/>
          </a:ln>
        </p:spPr>
      </p:sp>
      <p:sp>
        <p:nvSpPr>
          <p:cNvPr id="8" name="Text 6"/>
          <p:cNvSpPr txBox="1"/>
          <p:nvPr/>
        </p:nvSpPr>
        <p:spPr>
          <a:xfrm>
            <a:off x="7772400" y="2834640"/>
            <a:ext cx="3593592" cy="274320"/>
          </a:xfrm>
          <a:prstGeom prst="rect">
            <a:avLst/>
          </a:prstGeom>
          <a:noFill/>
          <a:ln/>
        </p:spPr>
        <p:txBody>
          <a:bodyPr wrap="square" lIns="0" tIns="0" rIns="0" bIns="0" rtlCol="0" anchor="ctr"/>
          <a:lstStyle/>
          <a:p>
            <a:pPr indent="0" marL="0">
              <a:buNone/>
            </a:pPr>
            <a:r>
              <a:rPr lang="en-US" sz="1200" b="1" spc="200" kern="0" dirty="0">
                <a:solidFill>
                  <a:srgbClr val="F29E4C"/>
                </a:solidFill>
                <a:latin typeface="Calibri" pitchFamily="34" charset="0"/>
                <a:ea typeface="Calibri" pitchFamily="34" charset="-122"/>
                <a:cs typeface="Calibri" pitchFamily="34" charset="-120"/>
              </a:rPr>
              <a:t>RESULT</a:t>
            </a:r>
            <a:endParaRPr lang="en-US" sz="1200" dirty="0"/>
          </a:p>
        </p:txBody>
      </p:sp>
      <p:sp>
        <p:nvSpPr>
          <p:cNvPr id="9" name="Text 7"/>
          <p:cNvSpPr txBox="1"/>
          <p:nvPr/>
        </p:nvSpPr>
        <p:spPr>
          <a:xfrm>
            <a:off x="7772400" y="3246120"/>
            <a:ext cx="3593592" cy="2834640"/>
          </a:xfrm>
          <a:prstGeom prst="rect">
            <a:avLst/>
          </a:prstGeom>
          <a:noFill/>
          <a:ln/>
        </p:spPr>
        <p:txBody>
          <a:bodyPr wrap="square" lIns="0" tIns="0" rIns="0" bIns="0" rtlCol="0" anchor="t"/>
          <a:lstStyle/>
          <a:p>
            <a:pPr indent="0" marL="0">
              <a:buNone/>
            </a:pPr>
            <a:r>
              <a:rPr lang="en-US" sz="2000" dirty="0">
                <a:solidFill>
                  <a:srgbClr val="FFFFFF"/>
                </a:solidFill>
                <a:latin typeface="Calibri" pitchFamily="34" charset="0"/>
                <a:ea typeface="Calibri" pitchFamily="34" charset="-122"/>
                <a:cs typeface="Calibri" pitchFamily="34" charset="-120"/>
              </a:rPr>
              <a:t>Exclude or estimate, but never use 0. Write down the method so readers know what was done.</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Example: issues found by check</a:t>
            </a:r>
            <a:endParaRPr lang="en-US" sz="2800" dirty="0"/>
          </a:p>
        </p:txBody>
      </p:sp>
      <p:graphicFrame>
        <p:nvGraphicFramePr>
          <p:cNvPr id="3" name="Chart 0" descr=""/>
          <p:cNvGraphicFramePr/>
          <p:nvPr/>
        </p:nvGraphicFramePr>
        <p:xfrm>
          <a:off x="548640" y="1417320"/>
          <a:ext cx="7040880" cy="4846320"/>
        </p:xfrm>
        <a:graphic xmlns:a="http://schemas.openxmlformats.org/drawingml/2006/main">
          <a:graphicData uri="http://schemas.openxmlformats.org/drawingml/2006/chart">
            <c:chart xmlns:c="http://schemas.openxmlformats.org/drawingml/2006/chart" r:id="rId1"/>
          </a:graphicData>
        </a:graphic>
      </p:graphicFrame>
      <p:sp>
        <p:nvSpPr>
          <p:cNvPr id="4" name="Shape 1"/>
          <p:cNvSpPr/>
          <p:nvPr/>
        </p:nvSpPr>
        <p:spPr>
          <a:xfrm>
            <a:off x="7863840" y="1417320"/>
            <a:ext cx="3776472" cy="4846320"/>
          </a:xfrm>
          <a:prstGeom prst="roundRect">
            <a:avLst>
              <a:gd name="adj" fmla="val 2906"/>
            </a:avLst>
          </a:prstGeom>
          <a:solidFill>
            <a:srgbClr val="EEF3F6"/>
          </a:solidFill>
          <a:ln w="12700">
            <a:solidFill>
              <a:srgbClr val="EEF3F6"/>
            </a:solidFill>
            <a:prstDash val="solid"/>
          </a:ln>
        </p:spPr>
      </p:sp>
      <p:sp>
        <p:nvSpPr>
          <p:cNvPr id="5" name="Text 2"/>
          <p:cNvSpPr txBox="1"/>
          <p:nvPr/>
        </p:nvSpPr>
        <p:spPr>
          <a:xfrm>
            <a:off x="8138160" y="1691640"/>
            <a:ext cx="3227832" cy="274320"/>
          </a:xfrm>
          <a:prstGeom prst="rect">
            <a:avLst/>
          </a:prstGeom>
          <a:noFill/>
          <a:ln/>
        </p:spPr>
        <p:txBody>
          <a:bodyPr wrap="square" lIns="0" tIns="0" rIns="0" bIns="0" rtlCol="0" anchor="ctr"/>
          <a:lstStyle/>
          <a:p>
            <a:pPr indent="0" marL="0">
              <a:buNone/>
            </a:pPr>
            <a:r>
              <a:rPr lang="en-US" sz="1200" b="1" spc="200" kern="0" dirty="0">
                <a:solidFill>
                  <a:srgbClr val="0B6E6E"/>
                </a:solidFill>
                <a:latin typeface="Calibri" pitchFamily="34" charset="0"/>
                <a:ea typeface="Calibri" pitchFamily="34" charset="-122"/>
                <a:cs typeface="Calibri" pitchFamily="34" charset="-120"/>
              </a:rPr>
              <a:t>WHAT IT SHOWS</a:t>
            </a:r>
            <a:endParaRPr lang="en-US" sz="1200" dirty="0"/>
          </a:p>
        </p:txBody>
      </p:sp>
      <p:sp>
        <p:nvSpPr>
          <p:cNvPr id="6" name="Text 3"/>
          <p:cNvSpPr txBox="1"/>
          <p:nvPr/>
        </p:nvSpPr>
        <p:spPr>
          <a:xfrm>
            <a:off x="8138160" y="2148840"/>
            <a:ext cx="3227832" cy="3886200"/>
          </a:xfrm>
          <a:prstGeom prst="rect">
            <a:avLst/>
          </a:prstGeom>
          <a:noFill/>
          <a:ln/>
        </p:spPr>
        <p:txBody>
          <a:bodyPr wrap="square" lIns="0" tIns="0" rIns="0" bIns="0" rtlCol="0" anchor="t"/>
          <a:lstStyle/>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City spelling affects 21 of 250 records (8.4%), the biggest issue.</a:t>
            </a:r>
            <a:endParaRPr lang="en-US" sz="1800" dirty="0"/>
          </a:p>
          <a:p>
            <a:pPr marL="228600" indent="-228600">
              <a:spcAft>
                <a:spcPts val="1000"/>
              </a:spcAft>
              <a:buSzPct val="100000"/>
              <a:buChar char="•"/>
            </a:pPr>
            <a:r>
              <a:rPr lang="en-US" sz="1800" dirty="0">
                <a:solidFill>
                  <a:srgbClr val="2B3A4F"/>
                </a:solidFill>
                <a:latin typeface="Calibri" pitchFamily="34" charset="0"/>
                <a:ea typeface="Calibri" pitchFamily="34" charset="-122"/>
                <a:cs typeface="Calibri" pitchFamily="34" charset="-120"/>
              </a:rPr>
              <a:t>It is also the quickest fix: one TRIM(PROPER()) formula.</a:t>
            </a:r>
            <a:endParaRPr lang="en-US" sz="1800" dirty="0"/>
          </a:p>
          <a:p>
            <a:pPr marL="228600" indent="-228600">
              <a:buSzPct val="100000"/>
              <a:buChar char="•"/>
            </a:pPr>
            <a:r>
              <a:rPr lang="en-US" sz="1800" dirty="0">
                <a:solidFill>
                  <a:srgbClr val="2B3A4F"/>
                </a:solidFill>
                <a:latin typeface="Calibri" pitchFamily="34" charset="0"/>
                <a:ea typeface="Calibri" pitchFamily="34" charset="-122"/>
                <a:cs typeface="Calibri" pitchFamily="34" charset="-120"/>
              </a:rPr>
              <a:t>Rank issues by size and effort, then fix the cheap, large ones first.</a:t>
            </a:r>
            <a:endParaRPr lang="en-US" sz="18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Traps and edge cases</a:t>
            </a:r>
            <a:endParaRPr lang="en-US" sz="2800" dirty="0"/>
          </a:p>
        </p:txBody>
      </p:sp>
      <p:sp>
        <p:nvSpPr>
          <p:cNvPr id="3" name="Shape 1"/>
          <p:cNvSpPr/>
          <p:nvPr/>
        </p:nvSpPr>
        <p:spPr>
          <a:xfrm>
            <a:off x="548640" y="1417320"/>
            <a:ext cx="5408676" cy="2286000"/>
          </a:xfrm>
          <a:prstGeom prst="roundRect">
            <a:avLst>
              <a:gd name="adj" fmla="val 4800"/>
            </a:avLst>
          </a:prstGeom>
          <a:solidFill>
            <a:srgbClr val="EEF3F6"/>
          </a:solidFill>
          <a:ln w="12700">
            <a:solidFill>
              <a:srgbClr val="EEF3F6"/>
            </a:solidFill>
            <a:prstDash val="solid"/>
          </a:ln>
        </p:spPr>
      </p:sp>
      <p:sp>
        <p:nvSpPr>
          <p:cNvPr id="4" name="Text 2"/>
          <p:cNvSpPr/>
          <p:nvPr/>
        </p:nvSpPr>
        <p:spPr>
          <a:xfrm>
            <a:off x="777240" y="164592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371600"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Overwriting the raw data</a:t>
            </a:r>
            <a:endParaRPr lang="en-US" sz="2000" dirty="0"/>
          </a:p>
        </p:txBody>
      </p:sp>
      <p:sp>
        <p:nvSpPr>
          <p:cNvPr id="6" name="Text 4"/>
          <p:cNvSpPr txBox="1"/>
          <p:nvPr/>
        </p:nvSpPr>
        <p:spPr>
          <a:xfrm>
            <a:off x="777240"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Cleaning the only copy removes any chance to undo a mistake. Keep the raw sheet and clean a copy.</a:t>
            </a:r>
            <a:endParaRPr lang="en-US" sz="2000" dirty="0"/>
          </a:p>
        </p:txBody>
      </p:sp>
      <p:sp>
        <p:nvSpPr>
          <p:cNvPr id="7" name="Shape 5"/>
          <p:cNvSpPr/>
          <p:nvPr/>
        </p:nvSpPr>
        <p:spPr>
          <a:xfrm>
            <a:off x="6231636" y="1417320"/>
            <a:ext cx="5408676" cy="2286000"/>
          </a:xfrm>
          <a:prstGeom prst="roundRect">
            <a:avLst>
              <a:gd name="adj" fmla="val 4800"/>
            </a:avLst>
          </a:prstGeom>
          <a:solidFill>
            <a:srgbClr val="EEF3F6"/>
          </a:solidFill>
          <a:ln w="12700">
            <a:solidFill>
              <a:srgbClr val="EEF3F6"/>
            </a:solidFill>
            <a:prstDash val="solid"/>
          </a:ln>
        </p:spPr>
      </p:sp>
      <p:sp>
        <p:nvSpPr>
          <p:cNvPr id="8" name="Text 6"/>
          <p:cNvSpPr/>
          <p:nvPr/>
        </p:nvSpPr>
        <p:spPr>
          <a:xfrm>
            <a:off x="6460236" y="164592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7"/>
          <p:cNvSpPr txBox="1"/>
          <p:nvPr/>
        </p:nvSpPr>
        <p:spPr>
          <a:xfrm>
            <a:off x="7054596" y="155448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Removing too much</a:t>
            </a:r>
            <a:endParaRPr lang="en-US" sz="2000" dirty="0"/>
          </a:p>
        </p:txBody>
      </p:sp>
      <p:sp>
        <p:nvSpPr>
          <p:cNvPr id="10" name="Text 8"/>
          <p:cNvSpPr txBox="1"/>
          <p:nvPr/>
        </p:nvSpPr>
        <p:spPr>
          <a:xfrm>
            <a:off x="6460236" y="233172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Two customers with the same name are not duplicates. Match on a unique ID or several columns.</a:t>
            </a:r>
            <a:endParaRPr lang="en-US" sz="2000" dirty="0"/>
          </a:p>
        </p:txBody>
      </p:sp>
      <p:sp>
        <p:nvSpPr>
          <p:cNvPr id="11" name="Shape 9"/>
          <p:cNvSpPr/>
          <p:nvPr/>
        </p:nvSpPr>
        <p:spPr>
          <a:xfrm>
            <a:off x="548640" y="3977640"/>
            <a:ext cx="5408676" cy="2286000"/>
          </a:xfrm>
          <a:prstGeom prst="roundRect">
            <a:avLst>
              <a:gd name="adj" fmla="val 4800"/>
            </a:avLst>
          </a:prstGeom>
          <a:solidFill>
            <a:srgbClr val="EEF3F6"/>
          </a:solidFill>
          <a:ln w="12700">
            <a:solidFill>
              <a:srgbClr val="EEF3F6"/>
            </a:solidFill>
            <a:prstDash val="solid"/>
          </a:ln>
        </p:spPr>
      </p:sp>
      <p:sp>
        <p:nvSpPr>
          <p:cNvPr id="12" name="Text 10"/>
          <p:cNvSpPr/>
          <p:nvPr/>
        </p:nvSpPr>
        <p:spPr>
          <a:xfrm>
            <a:off x="777240" y="420624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1"/>
          <p:cNvSpPr txBox="1"/>
          <p:nvPr/>
        </p:nvSpPr>
        <p:spPr>
          <a:xfrm>
            <a:off x="1371600"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Silent changes</a:t>
            </a:r>
            <a:endParaRPr lang="en-US" sz="2000" dirty="0"/>
          </a:p>
        </p:txBody>
      </p:sp>
      <p:sp>
        <p:nvSpPr>
          <p:cNvPr id="14" name="Text 12"/>
          <p:cNvSpPr txBox="1"/>
          <p:nvPr/>
        </p:nvSpPr>
        <p:spPr>
          <a:xfrm>
            <a:off x="777240"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Fixes made without a log cannot be explained later. Record what changed, why and when.</a:t>
            </a:r>
            <a:endParaRPr lang="en-US" sz="2000" dirty="0"/>
          </a:p>
        </p:txBody>
      </p:sp>
      <p:sp>
        <p:nvSpPr>
          <p:cNvPr id="15" name="Shape 13"/>
          <p:cNvSpPr/>
          <p:nvPr/>
        </p:nvSpPr>
        <p:spPr>
          <a:xfrm>
            <a:off x="6231636" y="3977640"/>
            <a:ext cx="5408676" cy="2286000"/>
          </a:xfrm>
          <a:prstGeom prst="roundRect">
            <a:avLst>
              <a:gd name="adj" fmla="val 4800"/>
            </a:avLst>
          </a:prstGeom>
          <a:solidFill>
            <a:srgbClr val="EEF3F6"/>
          </a:solidFill>
          <a:ln w="12700">
            <a:solidFill>
              <a:srgbClr val="EEF3F6"/>
            </a:solidFill>
            <a:prstDash val="solid"/>
          </a:ln>
        </p:spPr>
      </p:sp>
      <p:sp>
        <p:nvSpPr>
          <p:cNvPr id="16" name="Text 14"/>
          <p:cNvSpPr/>
          <p:nvPr/>
        </p:nvSpPr>
        <p:spPr>
          <a:xfrm>
            <a:off x="6460236" y="420624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7" name="Text 15"/>
          <p:cNvSpPr txBox="1"/>
          <p:nvPr/>
        </p:nvSpPr>
        <p:spPr>
          <a:xfrm>
            <a:off x="7054596" y="4114800"/>
            <a:ext cx="4402836" cy="640080"/>
          </a:xfrm>
          <a:prstGeom prst="rect">
            <a:avLst/>
          </a:prstGeom>
          <a:noFill/>
          <a:ln/>
        </p:spPr>
        <p:txBody>
          <a:bodyPr wrap="square" lIns="0" tIns="0" rIns="0" bIns="0" rtlCol="0" anchor="ctr"/>
          <a:lstStyle/>
          <a:p>
            <a:pPr indent="0" marL="0">
              <a:buNone/>
            </a:pPr>
            <a:r>
              <a:rPr lang="en-US" sz="2000" b="1" dirty="0">
                <a:solidFill>
                  <a:srgbClr val="14213D"/>
                </a:solidFill>
                <a:latin typeface="Calibri" pitchFamily="34" charset="0"/>
                <a:ea typeface="Calibri" pitchFamily="34" charset="-122"/>
                <a:cs typeface="Calibri" pitchFamily="34" charset="-120"/>
              </a:rPr>
              <a:t>Clean once, never again</a:t>
            </a:r>
            <a:endParaRPr lang="en-US" sz="2000" dirty="0"/>
          </a:p>
        </p:txBody>
      </p:sp>
      <p:sp>
        <p:nvSpPr>
          <p:cNvPr id="18" name="Text 16"/>
          <p:cNvSpPr txBox="1"/>
          <p:nvPr/>
        </p:nvSpPr>
        <p:spPr>
          <a:xfrm>
            <a:off x="6460236" y="4892040"/>
            <a:ext cx="4951476" cy="1234440"/>
          </a:xfrm>
          <a:prstGeom prst="rect">
            <a:avLst/>
          </a:prstGeom>
          <a:noFill/>
          <a:ln/>
        </p:spPr>
        <p:txBody>
          <a:bodyPr wrap="square" lIns="0" tIns="0" rIns="0" bIns="0" rtlCol="0" anchor="t"/>
          <a:lstStyle/>
          <a:p>
            <a:pPr indent="0" marL="0">
              <a:buNone/>
            </a:pPr>
            <a:r>
              <a:rPr lang="en-US" sz="2000" dirty="0">
                <a:solidFill>
                  <a:srgbClr val="2B3A4F"/>
                </a:solidFill>
                <a:latin typeface="Calibri" pitchFamily="34" charset="0"/>
                <a:ea typeface="Calibri" pitchFamily="34" charset="-122"/>
                <a:cs typeface="Calibri" pitchFamily="34" charset="-120"/>
              </a:rPr>
              <a:t>New data brings new errors. Schedule the checks, and re-measure the scorecard each month.</a:t>
            </a:r>
            <a:endParaRPr lang="en-US" sz="20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14213D"/>
                </a:solidFill>
                <a:latin typeface="Cambria" pitchFamily="34" charset="0"/>
                <a:ea typeface="Cambria" pitchFamily="34" charset="-122"/>
                <a:cs typeface="Cambria" pitchFamily="34" charset="-120"/>
              </a:rPr>
              <a:t>Practice questions</a:t>
            </a:r>
            <a:endParaRPr lang="en-US" sz="2800" dirty="0"/>
          </a:p>
        </p:txBody>
      </p:sp>
      <p:sp>
        <p:nvSpPr>
          <p:cNvPr id="3" name="Shape 1"/>
          <p:cNvSpPr/>
          <p:nvPr/>
        </p:nvSpPr>
        <p:spPr>
          <a:xfrm>
            <a:off x="548640" y="1417320"/>
            <a:ext cx="11091672" cy="1074420"/>
          </a:xfrm>
          <a:prstGeom prst="roundRect">
            <a:avLst>
              <a:gd name="adj" fmla="val 10213"/>
            </a:avLst>
          </a:prstGeom>
          <a:solidFill>
            <a:srgbClr val="EEF3F6"/>
          </a:solidFill>
          <a:ln w="12700">
            <a:solidFill>
              <a:srgbClr val="EEF3F6"/>
            </a:solidFill>
            <a:prstDash val="solid"/>
          </a:ln>
        </p:spPr>
      </p:sp>
      <p:sp>
        <p:nvSpPr>
          <p:cNvPr id="4" name="Text 2"/>
          <p:cNvSpPr/>
          <p:nvPr/>
        </p:nvSpPr>
        <p:spPr>
          <a:xfrm>
            <a:off x="777240" y="1725930"/>
            <a:ext cx="457200" cy="457200"/>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5" name="Text 3"/>
          <p:cNvSpPr txBox="1"/>
          <p:nvPr/>
        </p:nvSpPr>
        <p:spPr>
          <a:xfrm>
            <a:off x="1463040" y="14173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column holds " amit  JAIN ". Which formula gives "Amit Jain"?</a:t>
            </a:r>
            <a:endParaRPr lang="en-US" sz="1900" dirty="0"/>
          </a:p>
        </p:txBody>
      </p:sp>
      <p:sp>
        <p:nvSpPr>
          <p:cNvPr id="6" name="Shape 4"/>
          <p:cNvSpPr/>
          <p:nvPr/>
        </p:nvSpPr>
        <p:spPr>
          <a:xfrm>
            <a:off x="548640" y="2674620"/>
            <a:ext cx="11091672" cy="1074420"/>
          </a:xfrm>
          <a:prstGeom prst="roundRect">
            <a:avLst>
              <a:gd name="adj" fmla="val 10213"/>
            </a:avLst>
          </a:prstGeom>
          <a:solidFill>
            <a:srgbClr val="EEF3F6"/>
          </a:solidFill>
          <a:ln w="12700">
            <a:solidFill>
              <a:srgbClr val="EEF3F6"/>
            </a:solidFill>
            <a:prstDash val="solid"/>
          </a:ln>
        </p:spPr>
      </p:sp>
      <p:sp>
        <p:nvSpPr>
          <p:cNvPr id="7" name="Text 5"/>
          <p:cNvSpPr/>
          <p:nvPr/>
        </p:nvSpPr>
        <p:spPr>
          <a:xfrm>
            <a:off x="777240" y="2983230"/>
            <a:ext cx="457200" cy="457200"/>
          </a:xfrm>
          <a:prstGeom prst="ellipse">
            <a:avLst/>
          </a:prstGeom>
          <a:solidFill>
            <a:srgbClr val="F29E4C"/>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8" name="Text 6"/>
          <p:cNvSpPr txBox="1"/>
          <p:nvPr/>
        </p:nvSpPr>
        <p:spPr>
          <a:xfrm>
            <a:off x="1463040" y="26746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A list has 400 rows, 20 blank emails and 16 duplicate rows. Find email completeness and uniqueness.</a:t>
            </a:r>
            <a:endParaRPr lang="en-US" sz="1900" dirty="0"/>
          </a:p>
        </p:txBody>
      </p:sp>
      <p:sp>
        <p:nvSpPr>
          <p:cNvPr id="9" name="Shape 7"/>
          <p:cNvSpPr/>
          <p:nvPr/>
        </p:nvSpPr>
        <p:spPr>
          <a:xfrm>
            <a:off x="548640" y="3931920"/>
            <a:ext cx="11091672" cy="1074420"/>
          </a:xfrm>
          <a:prstGeom prst="roundRect">
            <a:avLst>
              <a:gd name="adj" fmla="val 10213"/>
            </a:avLst>
          </a:prstGeom>
          <a:solidFill>
            <a:srgbClr val="EEF3F6"/>
          </a:solidFill>
          <a:ln w="12700">
            <a:solidFill>
              <a:srgbClr val="EEF3F6"/>
            </a:solidFill>
            <a:prstDash val="solid"/>
          </a:ln>
        </p:spPr>
      </p:sp>
      <p:sp>
        <p:nvSpPr>
          <p:cNvPr id="10" name="Text 8"/>
          <p:cNvSpPr/>
          <p:nvPr/>
        </p:nvSpPr>
        <p:spPr>
          <a:xfrm>
            <a:off x="777240" y="4240530"/>
            <a:ext cx="457200" cy="457200"/>
          </a:xfrm>
          <a:prstGeom prst="ellipse">
            <a:avLst/>
          </a:prstGeom>
          <a:solidFill>
            <a:srgbClr val="3A5BA0"/>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1" name="Text 9"/>
          <p:cNvSpPr txBox="1"/>
          <p:nvPr/>
        </p:nvSpPr>
        <p:spPr>
          <a:xfrm>
            <a:off x="1463040" y="39319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Why should you not enter 0 for a store that did not report?</a:t>
            </a:r>
            <a:endParaRPr lang="en-US" sz="1900" dirty="0"/>
          </a:p>
        </p:txBody>
      </p:sp>
      <p:sp>
        <p:nvSpPr>
          <p:cNvPr id="12" name="Shape 10"/>
          <p:cNvSpPr/>
          <p:nvPr/>
        </p:nvSpPr>
        <p:spPr>
          <a:xfrm>
            <a:off x="548640" y="5189220"/>
            <a:ext cx="11091672" cy="1074420"/>
          </a:xfrm>
          <a:prstGeom prst="roundRect">
            <a:avLst>
              <a:gd name="adj" fmla="val 10213"/>
            </a:avLst>
          </a:prstGeom>
          <a:solidFill>
            <a:srgbClr val="EEF3F6"/>
          </a:solidFill>
          <a:ln w="12700">
            <a:solidFill>
              <a:srgbClr val="EEF3F6"/>
            </a:solidFill>
            <a:prstDash val="solid"/>
          </a:ln>
        </p:spPr>
      </p:sp>
      <p:sp>
        <p:nvSpPr>
          <p:cNvPr id="13" name="Text 11"/>
          <p:cNvSpPr/>
          <p:nvPr/>
        </p:nvSpPr>
        <p:spPr>
          <a:xfrm>
            <a:off x="777240" y="5497830"/>
            <a:ext cx="457200" cy="457200"/>
          </a:xfrm>
          <a:prstGeom prst="ellipse">
            <a:avLst/>
          </a:prstGeom>
          <a:solidFill>
            <a:srgbClr val="C8553D"/>
          </a:solid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4" name="Text 12"/>
          <p:cNvSpPr txBox="1"/>
          <p:nvPr/>
        </p:nvSpPr>
        <p:spPr>
          <a:xfrm>
            <a:off x="1463040" y="5189220"/>
            <a:ext cx="9902952" cy="1074420"/>
          </a:xfrm>
          <a:prstGeom prst="rect">
            <a:avLst/>
          </a:prstGeom>
          <a:noFill/>
          <a:ln/>
        </p:spPr>
        <p:txBody>
          <a:bodyPr wrap="square" lIns="0" tIns="0" rIns="0" bIns="0" rtlCol="0" anchor="ctr"/>
          <a:lstStyle/>
          <a:p>
            <a:pPr indent="0" marL="0">
              <a:buNone/>
            </a:pPr>
            <a:r>
              <a:rPr lang="en-US" sz="1900" dirty="0">
                <a:solidFill>
                  <a:srgbClr val="14213D"/>
                </a:solidFill>
                <a:latin typeface="Calibri" pitchFamily="34" charset="0"/>
                <a:ea typeface="Calibri" pitchFamily="34" charset="-122"/>
                <a:cs typeface="Calibri" pitchFamily="34" charset="-120"/>
              </a:rPr>
              <a:t>Give two ways to prevent wrong city names at entry.</a:t>
            </a:r>
            <a:endParaRPr lang="en-US" sz="19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666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4" type="title" hasCustomPrompt="1"/>
          </p:nvPr>
        </p:nvSpPr>
        <p:spPr>
          <a:xfrm>
            <a:off x="548640" y="365760"/>
            <a:ext cx="10241280" cy="82296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ea typeface="Cambria" pitchFamily="34" charset="-122"/>
                <a:cs typeface="Cambria" pitchFamily="34" charset="-120"/>
              </a:rPr>
              <a:t>Key takeaways</a:t>
            </a:r>
            <a:endParaRPr lang="en-US" sz="2800" dirty="0"/>
          </a:p>
        </p:txBody>
      </p:sp>
      <p:sp>
        <p:nvSpPr>
          <p:cNvPr id="3" name="Text 1"/>
          <p:cNvSpPr/>
          <p:nvPr/>
        </p:nvSpPr>
        <p:spPr>
          <a:xfrm>
            <a:off x="548640" y="1561795"/>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4" name="Text 2"/>
          <p:cNvSpPr txBox="1"/>
          <p:nvPr/>
        </p:nvSpPr>
        <p:spPr>
          <a:xfrm>
            <a:off x="1234440" y="1417320"/>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Prevent first: </a:t>
            </a:r>
            <a:pPr indent="0" marL="0">
              <a:buNone/>
            </a:pPr>
            <a:r>
              <a:rPr lang="en-US" sz="2000" dirty="0">
                <a:solidFill>
                  <a:srgbClr val="FFFFFF"/>
                </a:solidFill>
                <a:latin typeface="Calibri" pitchFamily="34" charset="0"/>
                <a:ea typeface="Calibri" pitchFamily="34" charset="-122"/>
                <a:cs typeface="Calibri" pitchFamily="34" charset="-120"/>
              </a:rPr>
              <a:t>Data Validation, drop-downs and required fields.</a:t>
            </a:r>
            <a:endParaRPr lang="en-US" sz="2000" dirty="0"/>
          </a:p>
        </p:txBody>
      </p:sp>
      <p:sp>
        <p:nvSpPr>
          <p:cNvPr id="5" name="Text 3"/>
          <p:cNvSpPr/>
          <p:nvPr/>
        </p:nvSpPr>
        <p:spPr>
          <a:xfrm>
            <a:off x="548640" y="2435962"/>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6" name="Text 4"/>
          <p:cNvSpPr txBox="1"/>
          <p:nvPr/>
        </p:nvSpPr>
        <p:spPr>
          <a:xfrm>
            <a:off x="1234440" y="2291486"/>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Profile before cleaning: </a:t>
            </a:r>
            <a:pPr indent="0" marL="0">
              <a:buNone/>
            </a:pPr>
            <a:r>
              <a:rPr lang="en-US" sz="2000" dirty="0">
                <a:solidFill>
                  <a:srgbClr val="FFFFFF"/>
                </a:solidFill>
                <a:latin typeface="Calibri" pitchFamily="34" charset="0"/>
                <a:ea typeface="Calibri" pitchFamily="34" charset="-122"/>
                <a:cs typeface="Calibri" pitchFamily="34" charset="-120"/>
              </a:rPr>
              <a:t>measure blanks, duplicates and invalid values.</a:t>
            </a:r>
            <a:endParaRPr lang="en-US" sz="2000" dirty="0"/>
          </a:p>
        </p:txBody>
      </p:sp>
      <p:sp>
        <p:nvSpPr>
          <p:cNvPr id="7" name="Text 5"/>
          <p:cNvSpPr/>
          <p:nvPr/>
        </p:nvSpPr>
        <p:spPr>
          <a:xfrm>
            <a:off x="548640" y="3310128"/>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txBox="1"/>
          <p:nvPr/>
        </p:nvSpPr>
        <p:spPr>
          <a:xfrm>
            <a:off x="1234440" y="3165653"/>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Clean a copy: </a:t>
            </a:r>
            <a:pPr indent="0" marL="0">
              <a:buNone/>
            </a:pPr>
            <a:r>
              <a:rPr lang="en-US" sz="2000" dirty="0">
                <a:solidFill>
                  <a:srgbClr val="FFFFFF"/>
                </a:solidFill>
                <a:latin typeface="Calibri" pitchFamily="34" charset="0"/>
                <a:ea typeface="Calibri" pitchFamily="34" charset="-122"/>
                <a:cs typeface="Calibri" pitchFamily="34" charset="-120"/>
              </a:rPr>
              <a:t>TRIM, PROPER, Remove Duplicates, and log each change.</a:t>
            </a:r>
            <a:endParaRPr lang="en-US" sz="2000" dirty="0"/>
          </a:p>
        </p:txBody>
      </p:sp>
      <p:sp>
        <p:nvSpPr>
          <p:cNvPr id="9" name="Text 7"/>
          <p:cNvSpPr/>
          <p:nvPr/>
        </p:nvSpPr>
        <p:spPr>
          <a:xfrm>
            <a:off x="548640" y="4184294"/>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0" name="Text 8"/>
          <p:cNvSpPr txBox="1"/>
          <p:nvPr/>
        </p:nvSpPr>
        <p:spPr>
          <a:xfrm>
            <a:off x="1234440" y="4039819"/>
            <a:ext cx="10405872" cy="709574"/>
          </a:xfrm>
          <a:prstGeom prst="rect">
            <a:avLst/>
          </a:prstGeom>
          <a:noFill/>
          <a:ln/>
        </p:spPr>
        <p:txBody>
          <a:bodyPr wrap="square" lIns="0" tIns="0" rIns="0" bIns="0" rtlCol="0" anchor="ctr"/>
          <a:lstStyle/>
          <a:p>
            <a:pPr indent="0" marL="0">
              <a:buNone/>
            </a:pPr>
            <a:r>
              <a:rPr lang="en-US" sz="2000" b="1" dirty="0">
                <a:solidFill>
                  <a:srgbClr val="F29E4C"/>
                </a:solidFill>
                <a:latin typeface="Calibri" pitchFamily="34" charset="0"/>
                <a:ea typeface="Calibri" pitchFamily="34" charset="-122"/>
                <a:cs typeface="Calibri" pitchFamily="34" charset="-120"/>
              </a:rPr>
              <a:t>Never use 0 for unknown. </a:t>
            </a:r>
            <a:pPr indent="0" marL="0">
              <a:buNone/>
            </a:pPr>
            <a:r>
              <a:rPr lang="en-US" sz="2000" dirty="0">
                <a:solidFill>
                  <a:srgbClr val="FFFFFF"/>
                </a:solidFill>
                <a:latin typeface="Calibri" pitchFamily="34" charset="0"/>
                <a:ea typeface="Calibri" pitchFamily="34" charset="-122"/>
                <a:cs typeface="Calibri" pitchFamily="34" charset="-120"/>
              </a:rPr>
              <a:t>Exclude, estimate with a note, or ask for the real value.</a:t>
            </a:r>
            <a:endParaRPr lang="en-US" sz="2000" dirty="0"/>
          </a:p>
        </p:txBody>
      </p:sp>
      <p:sp>
        <p:nvSpPr>
          <p:cNvPr id="11" name="Text 9"/>
          <p:cNvSpPr/>
          <p:nvPr/>
        </p:nvSpPr>
        <p:spPr>
          <a:xfrm>
            <a:off x="548640" y="5058461"/>
            <a:ext cx="420624" cy="420624"/>
          </a:xfrm>
          <a:prstGeom prst="ellipse">
            <a:avLst/>
          </a:prstGeom>
          <a:solidFill>
            <a:srgbClr val="0F8B8D"/>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txBox="1"/>
          <p:nvPr/>
        </p:nvSpPr>
        <p:spPr>
          <a:xfrm>
            <a:off x="1234440" y="4913986"/>
            <a:ext cx="10405872" cy="709574"/>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Quality is a routine, not a one-time task. Monitor it regularly.</a:t>
            </a:r>
            <a:endParaRPr lang="en-US" sz="2000" dirty="0"/>
          </a:p>
        </p:txBody>
      </p:sp>
      <p:sp>
        <p:nvSpPr>
          <p:cNvPr id="13" name="Text 11"/>
          <p:cNvSpPr txBox="1"/>
          <p:nvPr/>
        </p:nvSpPr>
        <p:spPr>
          <a:xfrm>
            <a:off x="548640" y="5806440"/>
            <a:ext cx="11091672" cy="457200"/>
          </a:xfrm>
          <a:prstGeom prst="rect">
            <a:avLst/>
          </a:prstGeom>
          <a:noFill/>
          <a:ln/>
        </p:spPr>
        <p:txBody>
          <a:bodyPr wrap="square" lIns="0" tIns="0" rIns="0" bIns="0" rtlCol="0" anchor="ctr"/>
          <a:lstStyle/>
          <a:p>
            <a:pPr indent="0" marL="0">
              <a:buNone/>
            </a:pPr>
            <a:r>
              <a:rPr lang="en-US" sz="1600" i="1" dirty="0">
                <a:solidFill>
                  <a:srgbClr val="B8C7D9"/>
                </a:solidFill>
                <a:latin typeface="Calibri" pitchFamily="34" charset="0"/>
                <a:ea typeface="Calibri" pitchFamily="34" charset="-122"/>
                <a:cs typeface="Calibri" pitchFamily="34" charset="-120"/>
              </a:rPr>
              <a:t>Next: Primary Data</a:t>
            </a:r>
            <a:endParaRPr lang="en-US" sz="1600" dirty="0"/>
          </a:p>
        </p:txBody>
      </p:sp>
      <p:sp>
        <p:nvSpPr>
          <p:cNvPr id="25" name="Slide Number Placeholder 0"/>
          <p:cNvSpPr>
            <a:spLocks noGrp="1"/>
          </p:cNvSpPr>
          <p:nvPr>
            <p:ph type="sldNum" sz="quarter" idx="4294967295"/>
          </p:nvPr>
        </p:nvSpPr>
        <p:spPr>
          <a:xfrm>
            <a:off x="11064240" y="6419088"/>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9FB1C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BMT Data">
  <a:themeElements>
    <a:clrScheme name="BMT Data">
      <a:dk1>
        <a:srgbClr val="14213D"/>
      </a:dk1>
      <a:lt1>
        <a:srgbClr val="FFFFFF"/>
      </a:lt1>
      <a:dk2>
        <a:srgbClr val="0B6E6E"/>
      </a:dk2>
      <a:lt2>
        <a:srgbClr val="EEF3F6"/>
      </a:lt2>
      <a:accent1>
        <a:srgbClr val="0F8B8D"/>
      </a:accent1>
      <a:accent2>
        <a:srgbClr val="F29E4C"/>
      </a:accent2>
      <a:accent3>
        <a:srgbClr val="3A5BA0"/>
      </a:accent3>
      <a:accent4>
        <a:srgbClr val="C8553D"/>
      </a:accent4>
      <a:accent5>
        <a:srgbClr val="6E9B2F"/>
      </a:accent5>
      <a:accent6>
        <a:srgbClr val="8E6BBF"/>
      </a:accent6>
      <a:hlink>
        <a:srgbClr val="0F8B8D"/>
      </a:hlink>
      <a:folHlink>
        <a:srgbClr val="8E6BBF"/>
      </a:folHlink>
    </a:clrScheme>
    <a:fontScheme name="BMT Dat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SAGE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Ensuring Data Quality</dc:title>
  <dc:subject>Business Management Tools I</dc:subject>
  <dc:creator>Sushant Bhargav</dc:creator>
  <cp:lastModifiedBy>Sushant Bhargav</cp:lastModifiedBy>
  <cp:revision>1</cp:revision>
  <dcterms:created xsi:type="dcterms:W3CDTF">2026-10-07T01:36:11Z</dcterms:created>
  <dcterms:modified xsi:type="dcterms:W3CDTF">2026-10-07T01:36:11Z</dcterms:modified>
</cp:coreProperties>
</file>