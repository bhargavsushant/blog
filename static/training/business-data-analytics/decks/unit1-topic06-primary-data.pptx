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6: Primary Data" id="{d30b0001-8bf7-fc1d-3ce4-6726f82a630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UPI</c:v>
                  </c:pt>
                  <c:pt idx="1">
                    <c:v>Cash</c:v>
                  </c:pt>
                  <c:pt idx="2">
                    <c:v>Card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117</c:v>
                </c:pt>
                <c:pt idx="1">
                  <c:v>36</c:v>
                </c:pt>
                <c:pt idx="2">
                  <c:v>27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Number of students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session covers primary data: data you collect yourself for your own question. We look at surveys, interviews, observation and experiments, and weigh their strengths and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if you wanted to know why customers skip your cafe, would you read a report or ask them? Most will say ask them. That is primary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word is "first-hand". The same Excel file is primary for the person who collected it and secondary for everyone who downloads it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each card to a verb: ask many, ask deeply, watch, test. Ask students which one they would use to learn why a shop is losing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across each row. Point out that people often say one thing and do another, which is why observation and experiments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structured means a fixed script, unstructured means a free chat, and semi-structured sits between. The interview-then-survey pattern is how many real projects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pilot test is the step students skip. Ask them to find the leading words in the bad example. Tell them it saves hours of cleaning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divide by respondents, not by people invited, when reporting shares. Ask: could the 70 silent students prefer cash? Yes, which is why response rate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output of the previous example. Ask what the canteen should do: maybe add a second UPI counter and keep one cash counter.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difference between percentage points (6) and percent change (50%). Students often mix these. Ask what would go wrong if group B visited only on weekends.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rewrite the first two questions. Mention consent: for any personal data you should say what it is used for and let people refuse.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four minutes. Walk through question 4 on the board because the percentage point idea needs a second look.
ANSWERS
1. 120 / 400 = 30%. A low rate means non-response bias is a worry.
2. (a) interview (b) observation (c) experiment.
3. Ask neutrally: "How would you rate our delivery speed?" with a scale from very slow to very fast.
4. 15% vs 10%. Difference is 5 percentage points, and the relative lift is 5 / 10 = 50%.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I: Introduction to Data Analysis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I: Introduction to Data Analysis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 ·  TOPIC 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Data</a:t>
            </a:r>
            <a:endParaRPr lang="en-US" sz="4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Analysis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(AE25UCBM001)  ·  SAGE University, Bhopal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and say how it differs from data someone else collected.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methods: surveys, interviews, observation and experiments.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advantages and disadvantages of each method.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response rate and compare two groups in a simple experiment.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problems such as leading questions and small samples.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4846320"/>
          </a:xfrm>
          <a:prstGeom prst="roundRect">
            <a:avLst>
              <a:gd name="adj" fmla="val 277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48840"/>
            <a:ext cx="3410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315468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and each one trades depth, cost and control differently.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primary data?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collected first-hand by you, for your own specific question.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asked, who is asked, when, and in what format.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fresh: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describes today, not last year.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costs more: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for design, collection, cleaning and your own time.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form: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usually arrives messy and needs cleaning before analysis.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4846320"/>
          </a:xfrm>
          <a:prstGeom prst="roundRect">
            <a:avLst>
              <a:gd name="adj" fmla="val 2771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48840"/>
            <a:ext cx="34107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kirana owner asks 50 customers which brand of tea they prefer. The answers are primary data.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main methods of primary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set of questions given to many people, on paper, online or by phone. Gives numbers you can count.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1636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0236" y="164592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54596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with one person or a small group. Gives reasons and stories, not just counts.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what people do without asking. Shows real behaviour, such as which shelf gets picked.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1636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0236" y="420624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54596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thing, keep the rest the same, and compare results. The best way to test cause and effect.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and limits of each method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88979"/>
                <a:gridCol w="3577959"/>
                <a:gridCol w="3577959"/>
                <a:gridCol w="2146775"/>
              </a:tblGrid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strength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limit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cost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55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many people cheaply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answers, low response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reasons and detail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small sample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to high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real behaviour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see motives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5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cause and effect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control, can be costly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to high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11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method is best. The question you are asking decides the method.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Surveys and interviews: asking people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85816" cy="3886200"/>
          </a:xfrm>
          <a:prstGeom prst="roundRect">
            <a:avLst>
              <a:gd name="adj" fmla="val 28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385816" cy="640080"/>
          </a:xfrm>
          <a:prstGeom prst="roundRect">
            <a:avLst>
              <a:gd name="adj" fmla="val 17143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questions for everyone, so answers are easy to compare.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many, how often, how much.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non-response. Silent people may differ from those who reply.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Forms, phone calls, paper forms.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254496" y="1417320"/>
            <a:ext cx="5385816" cy="3886200"/>
          </a:xfrm>
          <a:prstGeom prst="roundRect">
            <a:avLst>
              <a:gd name="adj" fmla="val 28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54496" y="1417320"/>
            <a:ext cx="5385816" cy="640080"/>
          </a:xfrm>
          <a:prstGeom prst="roundRect">
            <a:avLst>
              <a:gd name="adj" fmla="val 17143"/>
            </a:avLst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141732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224028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conversation that can follow up on interesting answers.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why, how and what it feels like.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bias. Tone and reactions can steer answers.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semi-structured, unstructured.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pattern: interview 10 people to find the right questions, then survey 300 to measure them.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to run a simple survey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130552" cy="777240"/>
          </a:xfrm>
          <a:prstGeom prst="homePlat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Define the question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the decision the data will support.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88920" y="1417320"/>
            <a:ext cx="2130552" cy="777240"/>
          </a:xfrm>
          <a:prstGeom prst="homePlate">
            <a:avLst/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Write short questions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8892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question. Avoid leading words.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0" y="1417320"/>
            <a:ext cx="2130552" cy="777240"/>
          </a:xfrm>
          <a:prstGeom prst="homePlate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Pick the sample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who and how many. Cover all customer types.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269480" y="1417320"/>
            <a:ext cx="2130552" cy="777240"/>
          </a:xfrm>
          <a:prstGeom prst="homePlat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Pilot test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26948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5 people and fix confusing items.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09760" y="1417320"/>
            <a:ext cx="2130552" cy="777240"/>
          </a:xfrm>
          <a:prstGeom prst="homePlate">
            <a:avLst/>
          </a:prstGeom>
          <a:solidFill>
            <a:srgbClr val="6E9B2F"/>
          </a:solidFill>
          <a:ln w="12700">
            <a:solidFill>
              <a:srgbClr val="6E9B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Collect and clean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50976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it, chase replies, then remove errors.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6177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"Don't you agree our service is excellent?" Better: "How would you rate our service?"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survey and response rate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college canteen sends a payment survey to 250 students. 180 reply. Of these, 117 use UPI, 36 cash and 27 card. (Illustrative data.)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/ 250 = 0.72, so 72%.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Non-response: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250 - 180 = 70 students (28%) did not reply.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share: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/ 180 = 65% of respondents.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and card: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180 = 20% and 27 / 180 = 15%. Total 100%.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606040"/>
            <a:ext cx="4142232" cy="36576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8346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46120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the 180 who replied use UPI. This is not proven for all 250, because 70 students stayed silent.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survey answers by payment mode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leads with 117 of 180 replies (65%).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and card together are 63 students (35%).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 is a category, so a bar chart of counts fits.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 simple experiment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cafe tests a combo offer. Group A sees the normal menu, group B sees the combo. 400 visitors each. (Illustrative data.)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of 400 order a combo, so 48 / 400 = 12%.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of 400 order a combo, so 72 / 400 = 18%.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- 12% = 6 percentage points.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lift: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 = 50% more combo orders than before.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606040"/>
            <a:ext cx="4142232" cy="36576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8346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46120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 lifted combo orders from 12% to 18%. Groups were similar and the test ran the same days, so the offer is the likely cause.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and edge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questions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057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great was our service?" pushes people toward a good rating. Use neutral wording.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7304" y="141732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5904" y="164592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60264" y="155448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Double-barrelled items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331720"/>
            <a:ext cx="3057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 food tasty and cheap?" asks two things. A person may say yes to one and no to the other.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5968" y="141732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4568" y="164592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948928" y="155448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or biased sample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54568" y="2331720"/>
            <a:ext cx="3057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only your friends or only morning customers gives a picture of them, not of all customers.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148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Say-do gap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92040"/>
            <a:ext cx="3057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report what they think they do. Pair surveys with observation or sales records.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337304" y="3977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5904" y="4206240"/>
            <a:ext cx="457200" cy="457200"/>
          </a:xfrm>
          <a:prstGeom prst="ellipse">
            <a:avLst/>
          </a:prstGeom>
          <a:solidFill>
            <a:srgbClr val="6E9B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160264" y="41148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effect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892040"/>
            <a:ext cx="3057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act differently when they know they are watched. Staff may behave better on audit day.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125968" y="3977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4568" y="4206240"/>
            <a:ext cx="457200" cy="457200"/>
          </a:xfrm>
          <a:prstGeom prst="ellipse">
            <a:avLst/>
          </a:prstGeom>
          <a:solidFill>
            <a:srgbClr val="8E6B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948928" y="41148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privacy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354568" y="4892040"/>
            <a:ext cx="3057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people why you collect data and keep names private. Never collect more than you need.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2593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173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goes to 400 customers and 120 reply. What is the response rate?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6746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8323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746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fits best: (a) why do customers leave (b) which shelf is touched most (c) does a new price raise sales?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4053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9319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to remove the bias: "Don't you think our delivery is very fast?"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51892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49783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51892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group converts 30 of 200, control converts 20 of 200. Find the lift.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61795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17320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collected first-hand for your own question.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35962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914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people, short answers. Interview: few people, deep reasons.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165653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behaviour. Experiments test cause and effect.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184294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4039819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shares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respondents, and always state the response rate.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058461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9139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your questions, keep wording neutral, and get consent.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Secondary 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MT Data">
  <a:themeElements>
    <a:clrScheme name="BMT Data">
      <a:dk1>
        <a:srgbClr val="14213D"/>
      </a:dk1>
      <a:lt1>
        <a:srgbClr val="FFFFFF"/>
      </a:lt1>
      <a:dk2>
        <a:srgbClr val="0B6E6E"/>
      </a:dk2>
      <a:lt2>
        <a:srgbClr val="EEF3F6"/>
      </a:lt2>
      <a:accent1>
        <a:srgbClr val="0F8B8D"/>
      </a:accent1>
      <a:accent2>
        <a:srgbClr val="F29E4C"/>
      </a:accent2>
      <a:accent3>
        <a:srgbClr val="3A5BA0"/>
      </a:accent3>
      <a:accent4>
        <a:srgbClr val="C8553D"/>
      </a:accent4>
      <a:accent5>
        <a:srgbClr val="6E9B2F"/>
      </a:accent5>
      <a:accent6>
        <a:srgbClr val="8E6BBF"/>
      </a:accent6>
      <a:hlink>
        <a:srgbClr val="0F8B8D"/>
      </a:hlink>
      <a:folHlink>
        <a:srgbClr val="8E6BBF"/>
      </a:folHlink>
    </a:clrScheme>
    <a:fontScheme name="BMT Da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SAGE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Primary Data</dc:title>
  <dc:subject>Business Management Tools I</dc:subject>
  <dc:creator>Sushant Bhargav</dc:creator>
  <cp:lastModifiedBy>Sushant Bhargav</cp:lastModifiedBy>
  <cp:revision>1</cp:revision>
  <dcterms:created xsi:type="dcterms:W3CDTF">2026-10-07T01:36:11Z</dcterms:created>
  <dcterms:modified xsi:type="dcterms:W3CDTF">2026-10-07T01:36:11Z</dcterms:modified>
</cp:coreProperties>
</file>