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ic 8: Choosing the Right Data Collection Method" id="{502ba2b6-1973-b09a-599c-61036da65c32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 of error (±%)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 = 100</c:v>
                  </c:pt>
                  <c:pt idx="1">
                    <c:v>n = 200</c:v>
                  </c:pt>
                  <c:pt idx="2">
                    <c:v>n = 400</c:v>
                  </c:pt>
                  <c:pt idx="3">
                    <c:v>n = 900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9.8</c:v>
                </c:pt>
                <c:pt idx="1">
                  <c:v>6.9</c:v>
                </c:pt>
                <c:pt idx="2">
                  <c:v>4.9</c:v>
                </c:pt>
                <c:pt idx="3">
                  <c:v>3.3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6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6667A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6667A"/>
                    </a:solidFill>
                    <a:latin typeface="Arial"/>
                  </a:rPr>
                  <a:t>Margin of error (±%)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6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session brings the last two together. Given a business question, a budget and a deadline, how do you choose between primary and secondary data and between the four primary methods?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if a friend says "let us do a survey", what is the first thing you ask them? The answer should be: what do we want to find out?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students of the say-do gap from the primary data session. The method must suit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with the class using one question, such as "why are weekday sales low?". Ask at which step the plan could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which criterion is most often forgotten. Usually time and cleaning effort. Ethics is also easy to skip.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clearly these ratings are rules of thumb. A huge survey can cost more than a small experiment. Ask students to defend one cell they disagree with.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sum: 9,000 + 1,800 = 10,800 and 12,000 - 10,800 = 1,200. Ask students to name one risk of the mix, for example that 3 interviews are too few to generalise.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rule assumes a random sample and a result near 50%. It is a planning tool, not a guarantee. In practice a 72% response rate means you must invite about 385 / 0.72 = 535 people.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values are 0.98 divided by the square root of n. Point out that the bars fall quickly then flatten, which is the law of diminishing returns.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pick before you reveal the middle column. Then ask for a second-best method for each. Many have a defensible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for a time they saw a poll that was clearly biased. Link it to sampling from the earlier primary data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five minutes. In question 3 note that the sample size needed shrinks quickly when you accept lower accuracy.
ANSWERS
1. Experiment. Change the layout in one store, keep another unchanged, and compare sales.
2. 7,500 / 300 = ₹25 per response.
3. n = (0.98 / 0.10)² = 9.8² = 96.04, so about 97 responses.
4. Check secondary and internal data. A tiny survey of 30 people can fill gaps if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731520" y="2103120"/>
            <a:ext cx="78638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731520" y="411480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Management Tools I · AE25UCBM001  |  Unit I: Introduction to Data Analysis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Management Tools I · AE25UCBM001  |  Unit I: Introduction to Data Analysis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1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554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 ·  TOPIC 8</a:t>
            </a:r>
            <a:endParaRPr lang="en-US" sz="14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731520" y="210312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Data Collection Method</a:t>
            </a:r>
            <a:endParaRPr lang="en-US" sz="42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731520" y="41148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Data Analysis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Management Tools I (AE25UCBM001)  ·  SAGE University, Bhopal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learn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7665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criteria for choosing a method: question, cost, time, accuracy and access.</a:t>
            </a:r>
            <a:endParaRPr lang="en-US" sz="2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surveys, interviews, observation, experiments and secondary data.</a:t>
            </a:r>
            <a:endParaRPr lang="en-US" sz="2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response and the sample size for a target accuracy.</a:t>
            </a:r>
            <a:endParaRPr lang="en-US" sz="2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method to a real business scenario and defend the choice.</a:t>
            </a:r>
            <a:endParaRPr lang="en-US" sz="2400" dirty="0"/>
          </a:p>
          <a:p>
            <a:pPr marL="228600" indent="-228600"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and common mistakes in method selection.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680960" y="1417320"/>
            <a:ext cx="3959352" cy="4846320"/>
          </a:xfrm>
          <a:prstGeom prst="roundRect">
            <a:avLst>
              <a:gd name="adj" fmla="val 2771"/>
            </a:avLst>
          </a:prstGeom>
          <a:solidFill>
            <a:srgbClr val="DDF0F0"/>
          </a:solidFill>
          <a:ln w="12700">
            <a:solidFill>
              <a:srgbClr val="DDF0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0" y="169164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IDEA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955280" y="2148840"/>
            <a:ext cx="3410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1st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3154680"/>
            <a:ext cx="341071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question, not the method. The question decides what data you need.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choice of method matters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7665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wrong method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an answer to a different question than the one you asked.</a:t>
            </a:r>
            <a:endParaRPr lang="en-US" sz="2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and time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limited, so the cheapest method that is good enough wins.</a:t>
            </a:r>
            <a:endParaRPr lang="en-US" sz="2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limits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analysis you can run later. You cannot fix poor data in Excel.</a:t>
            </a:r>
            <a:endParaRPr lang="en-US" sz="2400" dirty="0"/>
          </a:p>
          <a:p>
            <a:pPr marL="228600" indent="-228600"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methods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common. Use secondary data first, then primary data for gaps.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680960" y="1417320"/>
            <a:ext cx="3959352" cy="4846320"/>
          </a:xfrm>
          <a:prstGeom prst="roundRect">
            <a:avLst>
              <a:gd name="adj" fmla="val 2771"/>
            </a:avLst>
          </a:prstGeom>
          <a:solidFill>
            <a:srgbClr val="FDEBD6"/>
          </a:solidFill>
          <a:ln w="12700">
            <a:solidFill>
              <a:srgbClr val="FDEB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0" y="169164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5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955280" y="2148840"/>
            <a:ext cx="341071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customers "will you buy at ₹499?" often overstates demand. A trial at ₹499 shows what they really do.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five-step decision path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130552" cy="777240"/>
          </a:xfrm>
          <a:prstGeom prst="homePlat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1581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State the question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084832" cy="2011680"/>
          </a:xfrm>
          <a:prstGeom prst="roundRect">
            <a:avLst>
              <a:gd name="adj" fmla="val 545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468880"/>
            <a:ext cx="1719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decision. Is it what, how many, why, or does it work?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88920" y="1417320"/>
            <a:ext cx="2130552" cy="777240"/>
          </a:xfrm>
          <a:prstGeom prst="homePlate">
            <a:avLst/>
          </a:prstGeom>
          <a:solidFill>
            <a:srgbClr val="F29E4C"/>
          </a:solidFill>
          <a:ln w="12700">
            <a:solidFill>
              <a:srgbClr val="F29E4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71800" y="1417320"/>
            <a:ext cx="1581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Check existing data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88920" y="2331720"/>
            <a:ext cx="2084832" cy="2011680"/>
          </a:xfrm>
          <a:prstGeom prst="roundRect">
            <a:avLst>
              <a:gd name="adj" fmla="val 545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71800" y="2468880"/>
            <a:ext cx="1719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in your files and public sources first.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029200" y="1417320"/>
            <a:ext cx="2130552" cy="777240"/>
          </a:xfrm>
          <a:prstGeom prst="homePlate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12080" y="1417320"/>
            <a:ext cx="1581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Set the limits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029200" y="2331720"/>
            <a:ext cx="2084832" cy="2011680"/>
          </a:xfrm>
          <a:prstGeom prst="roundRect">
            <a:avLst>
              <a:gd name="adj" fmla="val 545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12080" y="2468880"/>
            <a:ext cx="1719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budget, deadline, and accuracy needed.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269480" y="1417320"/>
            <a:ext cx="2130552" cy="777240"/>
          </a:xfrm>
          <a:prstGeom prst="homePlat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52360" y="1417320"/>
            <a:ext cx="1581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Pick the method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269480" y="2331720"/>
            <a:ext cx="2084832" cy="2011680"/>
          </a:xfrm>
          <a:prstGeom prst="roundRect">
            <a:avLst>
              <a:gd name="adj" fmla="val 545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52360" y="2468880"/>
            <a:ext cx="1719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cheapest method that meets the limits.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509760" y="1417320"/>
            <a:ext cx="2130552" cy="777240"/>
          </a:xfrm>
          <a:prstGeom prst="homePlate">
            <a:avLst/>
          </a:prstGeom>
          <a:solidFill>
            <a:srgbClr val="6E9B2F"/>
          </a:solidFill>
          <a:ln w="12700">
            <a:solidFill>
              <a:srgbClr val="6E9B2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92640" y="1417320"/>
            <a:ext cx="1581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Pilot and adjust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9509760" y="2331720"/>
            <a:ext cx="2084832" cy="2011680"/>
          </a:xfrm>
          <a:prstGeom prst="roundRect">
            <a:avLst>
              <a:gd name="adj" fmla="val 545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92640" y="2468880"/>
            <a:ext cx="1719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a few cases before full collection.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48640" y="461772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DDF0F0"/>
          </a:solidFill>
          <a:ln w="12700">
            <a:solidFill>
              <a:srgbClr val="DD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61772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secondary data answers the question well enough, stop. Do not collect what you already have.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Criteria for choosing a method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14344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554480"/>
            <a:ext cx="2508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of question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30571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or how much needs numbers (survey). Why needs depth (interview). Does it work needs a test (experiment).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37304" y="1417320"/>
            <a:ext cx="3514344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5904" y="1645920"/>
            <a:ext cx="457200" cy="457200"/>
          </a:xfrm>
          <a:prstGeom prst="ellipse">
            <a:avLst/>
          </a:prstGeom>
          <a:solidFill>
            <a:srgbClr val="F29E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160264" y="1554480"/>
            <a:ext cx="2508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65904" y="2331720"/>
            <a:ext cx="30571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tools, incentives, travel, staff time and cleaning. Primary data is rarely free.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25968" y="1417320"/>
            <a:ext cx="3514344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54568" y="1645920"/>
            <a:ext cx="457200" cy="457200"/>
          </a:xfrm>
          <a:prstGeom prst="ellipse">
            <a:avLst/>
          </a:prstGeom>
          <a:solidFill>
            <a:srgbClr val="3A5B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948928" y="1554480"/>
            <a:ext cx="2508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354568" y="2331720"/>
            <a:ext cx="30571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data takes days. A survey takes weeks. An experiment may take a full sales cycle.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3514344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206240"/>
            <a:ext cx="457200" cy="457200"/>
          </a:xfrm>
          <a:prstGeom prst="ellipse">
            <a:avLst/>
          </a:prstGeom>
          <a:solidFill>
            <a:srgbClr val="C855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114800"/>
            <a:ext cx="2508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892040"/>
            <a:ext cx="30571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samples and careful design reduce error. Higher accuracy costs more.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337304" y="3977640"/>
            <a:ext cx="3514344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65904" y="4206240"/>
            <a:ext cx="457200" cy="457200"/>
          </a:xfrm>
          <a:prstGeom prst="ellipse">
            <a:avLst/>
          </a:prstGeom>
          <a:solidFill>
            <a:srgbClr val="6E9B2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160264" y="4114800"/>
            <a:ext cx="2508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people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565904" y="4892040"/>
            <a:ext cx="30571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reach the right people? Hard-to-reach groups may need interviews or a field visit.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125968" y="3977640"/>
            <a:ext cx="3514344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54568" y="4206240"/>
            <a:ext cx="457200" cy="457200"/>
          </a:xfrm>
          <a:prstGeom prst="ellipse">
            <a:avLst/>
          </a:prstGeom>
          <a:solidFill>
            <a:srgbClr val="8E6BB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948928" y="4114800"/>
            <a:ext cx="2508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and privacy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8354568" y="4892040"/>
            <a:ext cx="30571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consent. Observation of private spaces or sensitive data needs special care.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 compared on cost, time and accuracy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2286943"/>
                <a:gridCol w="2058248"/>
                <a:gridCol w="2172596"/>
                <a:gridCol w="2973025"/>
                <a:gridCol w="1600860"/>
              </a:tblGrid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B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Secondary data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low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 source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5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B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with large sample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B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Interview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to high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sample, rich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B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to weeks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for behaviour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B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to high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to months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for cause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657344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6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guide only. Real cost and time depend on scale and local conditions.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budget and deadline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FDEBD6"/>
          </a:solidFill>
          <a:ln w="12700">
            <a:solidFill>
              <a:srgbClr val="FDEB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5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1417320"/>
            <a:ext cx="8988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cafe wants to know customer preferences. Budget ₹12,000, deadline 2 weeks. Three options are on the table. (Illustrative costs.)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66751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₹9,000 for 240 responses in 10 days. ₹9,000 / 240 = ₹37.50 per response.</a:t>
            </a:r>
            <a:endParaRPr lang="en-US" sz="2200" dirty="0"/>
          </a:p>
          <a:p>
            <a:pPr marL="304800" indent="-3048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interviews at ₹600 = ₹12,000, but 20 days. Misses the deadline.</a:t>
            </a:r>
            <a:endParaRPr lang="en-US" sz="2200" dirty="0"/>
          </a:p>
          <a:p>
            <a:pPr marL="304800" indent="-3048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report: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₹1,500 and 2 days, but it covers another city and is 2 years old.</a:t>
            </a:r>
            <a:endParaRPr lang="en-US" sz="2200" dirty="0"/>
          </a:p>
          <a:p>
            <a:pPr marL="304800" indent="-304800"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₹9,000 plus 3 short interviews at ₹600 = ₹10,800. Fits both limits.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498080" y="2606040"/>
            <a:ext cx="4142232" cy="3657600"/>
          </a:xfrm>
          <a:prstGeom prst="roundRect">
            <a:avLst>
              <a:gd name="adj" fmla="val 3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0" y="283464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3246120"/>
            <a:ext cx="359359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survey with 3 follow-up interviews fits the ₹12,000 budget and 2-week deadline, with ₹1,200 to spare.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sample size and accuracy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FDEBD6"/>
          </a:solidFill>
          <a:ln w="12700">
            <a:solidFill>
              <a:srgbClr val="FDEB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5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1417320"/>
            <a:ext cx="8988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cafe wants its survey result within about ±5 percentage points. Rule of thumb: margin ≈ 0.98 / √n. Each response costs ₹40.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66751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for n: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(0.98 / 0.05)² = 19.6² = 384.2, so round up to 385.</a:t>
            </a:r>
            <a:endParaRPr lang="en-US" sz="2200" dirty="0"/>
          </a:p>
          <a:p>
            <a:pPr marL="304800" indent="-3048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385 × ₹40 = ₹15,400.</a:t>
            </a:r>
            <a:endParaRPr lang="en-US" sz="2200" dirty="0"/>
          </a:p>
          <a:p>
            <a:pPr marL="304800" indent="-3048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n = 100: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 / 10 = 9.8%. Cost ₹4,000.</a:t>
            </a:r>
            <a:endParaRPr lang="en-US" sz="2200" dirty="0"/>
          </a:p>
          <a:p>
            <a:pPr marL="304800" indent="-304800"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n = 900: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 / 30 = 3.3%. Cost ₹36,000.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498080" y="2606040"/>
            <a:ext cx="4142232" cy="3657600"/>
          </a:xfrm>
          <a:prstGeom prst="roundRect">
            <a:avLst>
              <a:gd name="adj" fmla="val 3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0" y="283464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3246120"/>
            <a:ext cx="359359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±5% needs about 385 responses and ₹15,400. To halve the error to ±2.5% you need four times the sample.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more accuracy costs much more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17320"/>
          <a:ext cx="70408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863840" y="1417320"/>
            <a:ext cx="3776472" cy="4846320"/>
          </a:xfrm>
          <a:prstGeom prst="roundRect">
            <a:avLst>
              <a:gd name="adj" fmla="val 290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38160" y="169164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2148840"/>
            <a:ext cx="3227832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from 100 to 400 responses halves the error from 9.8% to 4.9%.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rises from ₹4,000 to ₹16,000, four times as much.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a point, extra accuracy is not worth the money. Decide the accuracy you need first.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methods to business scenarios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4225399"/>
                <a:gridCol w="2376787"/>
                <a:gridCol w="4489486"/>
              </a:tblGrid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method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755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of the coaching market in Bhopal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B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Secondary data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Census and trade data are free and quick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5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students who prefer online classes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B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counts from many people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755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do staff leave in the first year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B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Interview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honest reasons and detail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shoppers pause in a store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B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 cannot recall such habits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755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a ₹20 discount raise orders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B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cause by comparing two groups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571744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6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more than one method fits. Defend your choice with the criteria.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Pitfalls and edge cases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08676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554480"/>
            <a:ext cx="44028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first, question later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49514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"Let us run a survey" with no clear question produces data nobody can use.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31636" y="1417320"/>
            <a:ext cx="5408676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60236" y="1645920"/>
            <a:ext cx="457200" cy="457200"/>
          </a:xfrm>
          <a:prstGeom prst="ellipse">
            <a:avLst/>
          </a:prstGeom>
          <a:solidFill>
            <a:srgbClr val="F29E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54596" y="1554480"/>
            <a:ext cx="44028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existing data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60236" y="2331720"/>
            <a:ext cx="49514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for a survey when your own sales records already answer the question wastes budget.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08676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206240"/>
            <a:ext cx="457200" cy="457200"/>
          </a:xfrm>
          <a:prstGeom prst="ellipse">
            <a:avLst/>
          </a:prstGeom>
          <a:solidFill>
            <a:srgbClr val="3A5B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4114800"/>
            <a:ext cx="44028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but wrong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892040"/>
            <a:ext cx="49514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poll on social media reaches only your followers. A cheap method with bias is worse than none.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31636" y="3977640"/>
            <a:ext cx="5408676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60236" y="4206240"/>
            <a:ext cx="457200" cy="457200"/>
          </a:xfrm>
          <a:prstGeom prst="ellipse">
            <a:avLst/>
          </a:prstGeom>
          <a:solidFill>
            <a:srgbClr val="C855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054596" y="4114800"/>
            <a:ext cx="44028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hidden costs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460236" y="4892040"/>
            <a:ext cx="49514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follow-up and analysis time often equals the collection cost.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questions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1074420"/>
          </a:xfrm>
          <a:prstGeom prst="roundRect">
            <a:avLst>
              <a:gd name="adj" fmla="val 1021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2593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417320"/>
            <a:ext cx="9902952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shop wants to test if a new shelf layout boosts sales. Which method and why?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674620"/>
            <a:ext cx="11091672" cy="1074420"/>
          </a:xfrm>
          <a:prstGeom prst="roundRect">
            <a:avLst>
              <a:gd name="adj" fmla="val 1021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983230"/>
            <a:ext cx="457200" cy="457200"/>
          </a:xfrm>
          <a:prstGeom prst="ellipse">
            <a:avLst/>
          </a:prstGeom>
          <a:solidFill>
            <a:srgbClr val="F29E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674620"/>
            <a:ext cx="9902952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cost is ₹7,500 for 300 responses. Find cost per response.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11091672" cy="1074420"/>
          </a:xfrm>
          <a:prstGeom prst="roundRect">
            <a:avLst>
              <a:gd name="adj" fmla="val 1021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240530"/>
            <a:ext cx="457200" cy="457200"/>
          </a:xfrm>
          <a:prstGeom prst="ellipse">
            <a:avLst/>
          </a:prstGeom>
          <a:solidFill>
            <a:srgbClr val="3A5B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931920"/>
            <a:ext cx="9902952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±10% accuracy. Estimate n with margin ≈ 0.98 / √n.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48640" y="5189220"/>
            <a:ext cx="11091672" cy="1074420"/>
          </a:xfrm>
          <a:prstGeom prst="roundRect">
            <a:avLst>
              <a:gd name="adj" fmla="val 1021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497830"/>
            <a:ext cx="457200" cy="457200"/>
          </a:xfrm>
          <a:prstGeom prst="ellipse">
            <a:avLst/>
          </a:prstGeom>
          <a:solidFill>
            <a:srgbClr val="C855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5189220"/>
            <a:ext cx="9902952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results in 3 days with almost no budget. What first?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561795"/>
            <a:ext cx="420624" cy="420624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17320"/>
            <a:ext cx="10405872" cy="709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business question, then check existing data.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435962"/>
            <a:ext cx="420624" cy="420624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291486"/>
            <a:ext cx="10405872" cy="709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Criteria: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type, cost, time, accuracy, access and ethics.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310128"/>
            <a:ext cx="420624" cy="420624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165653"/>
            <a:ext cx="10405872" cy="709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response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total cost divided by usable responses.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4184294"/>
            <a:ext cx="420624" cy="420624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4039819"/>
            <a:ext cx="10405872" cy="709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with the square root of sample size. Four times the sample halves the error.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5058461"/>
            <a:ext cx="420624" cy="420624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913986"/>
            <a:ext cx="10405872" cy="709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methods when one cannot answer the whole question.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Ethical Considerations in Data Collection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1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MT Data">
  <a:themeElements>
    <a:clrScheme name="BMT Data">
      <a:dk1>
        <a:srgbClr val="14213D"/>
      </a:dk1>
      <a:lt1>
        <a:srgbClr val="FFFFFF"/>
      </a:lt1>
      <a:dk2>
        <a:srgbClr val="0B6E6E"/>
      </a:dk2>
      <a:lt2>
        <a:srgbClr val="EEF3F6"/>
      </a:lt2>
      <a:accent1>
        <a:srgbClr val="0F8B8D"/>
      </a:accent1>
      <a:accent2>
        <a:srgbClr val="F29E4C"/>
      </a:accent2>
      <a:accent3>
        <a:srgbClr val="3A5BA0"/>
      </a:accent3>
      <a:accent4>
        <a:srgbClr val="C8553D"/>
      </a:accent4>
      <a:accent5>
        <a:srgbClr val="6E9B2F"/>
      </a:accent5>
      <a:accent6>
        <a:srgbClr val="8E6BBF"/>
      </a:accent6>
      <a:hlink>
        <a:srgbClr val="0F8B8D"/>
      </a:hlink>
      <a:folHlink>
        <a:srgbClr val="8E6BBF"/>
      </a:folHlink>
    </a:clrScheme>
    <a:fontScheme name="BMT Dat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SAGE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Choosing the Right Data Collection Method</dc:title>
  <dc:subject>Business Management Tools I</dc:subject>
  <dc:creator>Sushant Bhargav</dc:creator>
  <cp:lastModifiedBy>Sushant Bhargav</cp:lastModifiedBy>
  <cp:revision>1</cp:revision>
  <dcterms:created xsi:type="dcterms:W3CDTF">2026-10-07T01:36:12Z</dcterms:created>
  <dcterms:modified xsi:type="dcterms:W3CDTF">2026-10-07T01:36:12Z</dcterms:modified>
</cp:coreProperties>
</file>