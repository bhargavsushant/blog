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5: Exporting and Sharing Visualizations" id="{10803c30-c0df-7451-e28c-699f7da29739}">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Deck size (MB)</c:v>
                </c:pt>
              </c:strCache>
            </c:strRef>
          </c:tx>
          <c:spPr>
            <a:solidFill>
              <a:srgbClr val="C8553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Embed workbook</c:v>
                  </c:pt>
                  <c:pt idx="1">
                    <c:v>Linked data</c:v>
                  </c:pt>
                  <c:pt idx="2">
                    <c:v>Picture</c:v>
                  </c:pt>
                </c:lvl>
              </c:multiLvlStrCache>
            </c:multiLvlStrRef>
          </c:cat>
          <c:val>
            <c:numRef>
              <c:f>Sheet1!$B$2:$B$4</c:f>
              <c:numCache>
                <c:formatCode>General</c:formatCode>
                <c:ptCount val="3"/>
                <c:pt idx="0">
                  <c:v>120</c:v>
                </c:pt>
                <c:pt idx="1">
                  <c:v>2</c:v>
                </c:pt>
                <c:pt idx="2">
                  <c:v>2</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Deck size (MB)</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chart only helps if the right people can see it, in a format that works for them. This session covers copying to Word and PowerPoint, exporting images and PDF, link versus embed, Power BI sharing, file size and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how they usually send a chart to a friend. Most say screenshot. Today they learn when that is fine and when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map for the whole session. Each later slide expands one row. Ask which option they would pick for a printed board pack, which is PDF or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all five paste options on one chart. Show that Destination Theme changes colours to match the deck, while Keep Source Formatting keeps the Excel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privacy point surprises people. If your workbook has salary data on a hidden sheet, embedding the chart sends that hidden sheet too. Ask students how they would check: right click the chart and choose Edit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120 divided by 2 is 60. Real sizes depend on the workbook and charts, so measure with File &gt; Info. The 25 MB email cap is common but varies by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horizontal bar suits long category names. Ask what the cost of the small options is: pictures cannot be edited, links can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export the same chart as PNG and JPG and zoom in to compare. PNG stays crisp on text and lines. JPG blurs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licensing change over time, so tell students to confirm with their IT team. The key lesson is the difference between sharing inside an organisation and a public link. Ask: would you put payroll on a public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text is read aloud by a screen reader for blind and low vision users. It also helps when images fail to load. Mark purely decorative images as decorative. Ask students to write alt text for the chart of their choice 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 in 12 figure is a commonly cited estimate for red-green colour blindness in men. Say it is approximate. Accessibility checker also flags missing alt text and table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has hurt students already. Broken links in a deck on a college computer are a very common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3, accept any accurate sentence that names the type, measure and trend.
ANSWERS
1. Paste as picture. It keeps the deck small (about 2 MB in the example), and does not expose your data.
2. The link breaks and the chart cannot update. You must re-link or paste again.
3. Line chart of monthly sales in Rs lakh: sales fall from 80 in January to 66 in October.
4. It makes a public link that anyone can open. Use workspace or app sharing with named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15</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Exporting and Sharing Visualizations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Copy </a:t>
            </a:r>
            <a:pPr indent="0" marL="0">
              <a:buNone/>
            </a:pPr>
            <a:r>
              <a:rPr lang="en-US" sz="2400" dirty="0">
                <a:solidFill>
                  <a:srgbClr val="2B3A4F"/>
                </a:solidFill>
                <a:latin typeface="Calibri" pitchFamily="34" charset="0"/>
                <a:ea typeface="Calibri" pitchFamily="34" charset="-122"/>
                <a:cs typeface="Calibri" pitchFamily="34" charset="-120"/>
              </a:rPr>
              <a:t>a chart into Word or PowerPoint using the right paste option.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Export </a:t>
            </a:r>
            <a:pPr indent="0" marL="0">
              <a:buNone/>
            </a:pPr>
            <a:r>
              <a:rPr lang="en-US" sz="2400" dirty="0">
                <a:solidFill>
                  <a:srgbClr val="2B3A4F"/>
                </a:solidFill>
                <a:latin typeface="Calibri" pitchFamily="34" charset="0"/>
                <a:ea typeface="Calibri" pitchFamily="34" charset="-122"/>
                <a:cs typeface="Calibri" pitchFamily="34" charset="-120"/>
              </a:rPr>
              <a:t>a chart as an image and a workbook or report as a PDF.</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the difference between linking and embedding.</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Share </a:t>
            </a:r>
            <a:pPr indent="0" marL="0">
              <a:buNone/>
            </a:pPr>
            <a:r>
              <a:rPr lang="en-US" sz="2400" dirty="0">
                <a:solidFill>
                  <a:srgbClr val="2B3A4F"/>
                </a:solidFill>
                <a:latin typeface="Calibri" pitchFamily="34" charset="0"/>
                <a:ea typeface="Calibri" pitchFamily="34" charset="-122"/>
                <a:cs typeface="Calibri" pitchFamily="34" charset="-120"/>
              </a:rPr>
              <a:t>a Power BI report by publishing it to the Power BI service.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Write </a:t>
            </a:r>
            <a:pPr indent="0" marL="0">
              <a:buNone/>
            </a:pPr>
            <a:r>
              <a:rPr lang="en-US" sz="2400" dirty="0">
                <a:solidFill>
                  <a:srgbClr val="2B3A4F"/>
                </a:solidFill>
                <a:latin typeface="Calibri" pitchFamily="34" charset="0"/>
                <a:ea typeface="Calibri" pitchFamily="34" charset="-122"/>
                <a:cs typeface="Calibri" pitchFamily="34" charset="-120"/>
              </a:rPr>
              <a:t>alt text so that screen reader users can understand your chart.</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question decides the format: who will open this, on what device, and does it need to update?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Ways to share a chart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025001"/>
                <a:gridCol w="3025001"/>
                <a:gridCol w="2016668"/>
                <a:gridCol w="3025001"/>
              </a:tblGrid>
              <a:tr h="435864">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Method</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Stays live?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File size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Best for</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Paste as picture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Small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Final reports, email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Paste linked chart</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 needs source file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Small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Your own recurring decks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Paste embedded workbook</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 data inside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Large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Sharing editable data</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Export PNG or JPG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Small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Web, social, chat</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Export PDF</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Small to medium</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Print, formal sharing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Power BI publish</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 refreshes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Online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Team dashboards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4986528"/>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Pick the lightest option that still gives the reader what they need.</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Copy a chart into Word or PowerPoint</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Select the chart</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Click the chart border in Excel, then press Ctrl + C.</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Paste Special options</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In Word or PowerPoint, press Ctrl + V and open the Paste Options icon.</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Choose the paste type</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Use Destination Theme, Keep Source Formatting, Embed Workbook, Link Data or Picture.</a:t>
            </a:r>
            <a:endParaRPr lang="en-US" sz="19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Resize and check</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Resize from a corner so the shape stays correct. Check fonts on the slide.</a:t>
            </a:r>
            <a:endParaRPr lang="en-US" sz="19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Picture is the safest option for anything you send outside your team.</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Link versus embed</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Link Data</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The chart points to the original Excel file.</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Strength: </a:t>
            </a:r>
            <a:pPr indent="0" marL="0">
              <a:buNone/>
            </a:pPr>
            <a:r>
              <a:rPr lang="en-US" sz="2100" dirty="0">
                <a:solidFill>
                  <a:srgbClr val="2B3A4F"/>
                </a:solidFill>
                <a:latin typeface="Calibri" pitchFamily="34" charset="0"/>
                <a:ea typeface="Calibri" pitchFamily="34" charset="-122"/>
                <a:cs typeface="Calibri" pitchFamily="34" charset="-120"/>
              </a:rPr>
              <a:t>small deck, updates when the source changes.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Weakness: </a:t>
            </a:r>
            <a:pPr indent="0" marL="0">
              <a:buNone/>
            </a:pPr>
            <a:r>
              <a:rPr lang="en-US" sz="2100" dirty="0">
                <a:solidFill>
                  <a:srgbClr val="2B3A4F"/>
                </a:solidFill>
                <a:latin typeface="Calibri" pitchFamily="34" charset="0"/>
                <a:ea typeface="Calibri" pitchFamily="34" charset="-122"/>
                <a:cs typeface="Calibri" pitchFamily="34" charset="-120"/>
              </a:rPr>
              <a:t>breaks if the Excel file is moved or renamed.</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Use: </a:t>
            </a:r>
            <a:pPr indent="0" marL="0">
              <a:buNone/>
            </a:pPr>
            <a:r>
              <a:rPr lang="en-US" sz="2100" dirty="0">
                <a:solidFill>
                  <a:srgbClr val="2B3A4F"/>
                </a:solidFill>
                <a:latin typeface="Calibri" pitchFamily="34" charset="0"/>
                <a:ea typeface="Calibri" pitchFamily="34" charset="-122"/>
                <a:cs typeface="Calibri" pitchFamily="34" charset="-120"/>
              </a:rPr>
              <a:t>a deck you refresh every month on the same computer.</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Embed Workbook</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A full copy of the workbook travels inside the chart.</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Strength: </a:t>
            </a:r>
            <a:pPr indent="0" marL="0">
              <a:buNone/>
            </a:pPr>
            <a:r>
              <a:rPr lang="en-US" sz="2100" dirty="0">
                <a:solidFill>
                  <a:srgbClr val="2B3A4F"/>
                </a:solidFill>
                <a:latin typeface="Calibri" pitchFamily="34" charset="0"/>
                <a:ea typeface="Calibri" pitchFamily="34" charset="-122"/>
                <a:cs typeface="Calibri" pitchFamily="34" charset="-120"/>
              </a:rPr>
              <a:t>works anywhere, data is editable.</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Weakness: </a:t>
            </a:r>
            <a:pPr indent="0" marL="0">
              <a:buNone/>
            </a:pPr>
            <a:r>
              <a:rPr lang="en-US" sz="2100" dirty="0">
                <a:solidFill>
                  <a:srgbClr val="2B3A4F"/>
                </a:solidFill>
                <a:latin typeface="Calibri" pitchFamily="34" charset="0"/>
                <a:ea typeface="Calibri" pitchFamily="34" charset="-122"/>
                <a:cs typeface="Calibri" pitchFamily="34" charset="-120"/>
              </a:rPr>
              <a:t>file grows, and all your data goes to the reader.</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Use: </a:t>
            </a:r>
            <a:pPr indent="0" marL="0">
              <a:buNone/>
            </a:pPr>
            <a:r>
              <a:rPr lang="en-US" sz="2100" dirty="0">
                <a:solidFill>
                  <a:srgbClr val="2B3A4F"/>
                </a:solidFill>
                <a:latin typeface="Calibri" pitchFamily="34" charset="0"/>
                <a:ea typeface="Calibri" pitchFamily="34" charset="-122"/>
                <a:cs typeface="Calibri" pitchFamily="34" charset="-120"/>
              </a:rPr>
              <a:t>when a colleague must edit the numbers.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Privacy warning: an embedded workbook holds every sheet, including ones you did not mean to share.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how file size can balloon</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An analyst pastes 10 charts into a PowerPoint deck. The source workbook is 12 MB. Sizes are illustrative.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Embed Workbook: </a:t>
            </a:r>
            <a:pPr indent="0" marL="0">
              <a:buNone/>
            </a:pPr>
            <a:r>
              <a:rPr lang="en-US" sz="2200" dirty="0">
                <a:solidFill>
                  <a:srgbClr val="2B3A4F"/>
                </a:solidFill>
                <a:latin typeface="Calibri" pitchFamily="34" charset="0"/>
                <a:ea typeface="Calibri" pitchFamily="34" charset="-122"/>
                <a:cs typeface="Calibri" pitchFamily="34" charset="-120"/>
              </a:rPr>
              <a:t>each chart carries a copy, so 10 × 12 MB = 120 MB.</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Picture: </a:t>
            </a:r>
            <a:pPr indent="0" marL="0">
              <a:buNone/>
            </a:pPr>
            <a:r>
              <a:rPr lang="en-US" sz="2200" dirty="0">
                <a:solidFill>
                  <a:srgbClr val="2B3A4F"/>
                </a:solidFill>
                <a:latin typeface="Calibri" pitchFamily="34" charset="0"/>
                <a:ea typeface="Calibri" pitchFamily="34" charset="-122"/>
                <a:cs typeface="Calibri" pitchFamily="34" charset="-120"/>
              </a:rPr>
              <a:t>each chart is about 0.2 MB, so 10 × 0.2 = 2 MB.</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Linked data: </a:t>
            </a:r>
            <a:pPr indent="0" marL="0">
              <a:buNone/>
            </a:pPr>
            <a:r>
              <a:rPr lang="en-US" sz="2200" dirty="0">
                <a:solidFill>
                  <a:srgbClr val="2B3A4F"/>
                </a:solidFill>
                <a:latin typeface="Calibri" pitchFamily="34" charset="0"/>
                <a:ea typeface="Calibri" pitchFamily="34" charset="-122"/>
                <a:cs typeface="Calibri" pitchFamily="34" charset="-120"/>
              </a:rPr>
              <a:t>the deck stores only a link and a small cache, roughly 2 MB.</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Email limit: </a:t>
            </a:r>
            <a:pPr indent="0" marL="0">
              <a:buNone/>
            </a:pPr>
            <a:r>
              <a:rPr lang="en-US" sz="2200" dirty="0">
                <a:solidFill>
                  <a:srgbClr val="2B3A4F"/>
                </a:solidFill>
                <a:latin typeface="Calibri" pitchFamily="34" charset="0"/>
                <a:ea typeface="Calibri" pitchFamily="34" charset="-122"/>
                <a:cs typeface="Calibri" pitchFamily="34" charset="-120"/>
              </a:rPr>
              <a:t>many mail systems cap attachments near 25 MB, so 120 MB cannot be sent.</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Pasting as picture shrinks the deck to about 1/60 of the embedded size (2 MB against 120 MB) and leaves data private.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deck size by paste method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Embedding gives a 120 MB deck for the same 10 charts.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Linked data and pictures both stay near 2 MB.</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Illustrative figures for a 12 MB workbook, not measured values.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Export as image or PDF</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Image from a chart</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Right click the chart &gt; Save as Picture. Choose PNG for sharp lines, JPG for photos.</a:t>
            </a:r>
            <a:endParaRPr lang="en-US" sz="19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Image from a slide</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In PowerPoint use File &gt; Export &gt; Change File Type &gt; PNG or JPEG.</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PDF from Excel or Word</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File &gt; Save As &gt; PDF, or File &gt; Export &gt; Create PDF. Set the print area first.</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Check the result</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Open the file. Look for cut-off charts, small text and page breaks inside charts.</a:t>
            </a:r>
            <a:endParaRPr lang="en-US" sz="19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PDF keeps layout the same on every device, but readers cannot edit or filter it.</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Publish and share in Power BI</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Build </a:t>
            </a:r>
            <a:pPr indent="0" marL="0">
              <a:buNone/>
            </a:pPr>
            <a:r>
              <a:rPr lang="en-US" sz="2000" dirty="0">
                <a:solidFill>
                  <a:srgbClr val="2B3A4F"/>
                </a:solidFill>
                <a:latin typeface="Calibri" pitchFamily="34" charset="0"/>
                <a:ea typeface="Calibri" pitchFamily="34" charset="-122"/>
                <a:cs typeface="Calibri" pitchFamily="34" charset="-120"/>
              </a:rPr>
              <a:t>the report in Power BI Desktop, a free download, on your computer.</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Publish </a:t>
            </a:r>
            <a:pPr indent="0" marL="0">
              <a:buNone/>
            </a:pPr>
            <a:r>
              <a:rPr lang="en-US" sz="2000" dirty="0">
                <a:solidFill>
                  <a:srgbClr val="2B3A4F"/>
                </a:solidFill>
                <a:latin typeface="Calibri" pitchFamily="34" charset="0"/>
                <a:ea typeface="Calibri" pitchFamily="34" charset="-122"/>
                <a:cs typeface="Calibri" pitchFamily="34" charset="-120"/>
              </a:rPr>
              <a:t>with Home &gt; Publish. It uploads the report to a workspace in the Power BI service online.</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Share </a:t>
            </a:r>
            <a:pPr indent="0" marL="0">
              <a:buNone/>
            </a:pPr>
            <a:r>
              <a:rPr lang="en-US" sz="2000" dirty="0">
                <a:solidFill>
                  <a:srgbClr val="2B3A4F"/>
                </a:solidFill>
                <a:latin typeface="Calibri" pitchFamily="34" charset="0"/>
                <a:ea typeface="Calibri" pitchFamily="34" charset="-122"/>
                <a:cs typeface="Calibri" pitchFamily="34" charset="-120"/>
              </a:rPr>
              <a:t>from the service with a link, or give colleagues access to the workspace or an app.</a:t>
            </a:r>
            <a:endParaRPr lang="en-US" sz="2000" dirty="0"/>
          </a:p>
          <a:p>
            <a:pPr marL="228600" indent="-228600">
              <a:spcAft>
                <a:spcPts val="1000"/>
              </a:spcAft>
              <a:buSzPct val="100000"/>
              <a:buChar char="•"/>
            </a:pPr>
            <a:r>
              <a:rPr lang="en-US" sz="2000" b="1" dirty="0">
                <a:solidFill>
                  <a:srgbClr val="14213D"/>
                </a:solidFill>
                <a:latin typeface="Calibri" pitchFamily="34" charset="0"/>
                <a:ea typeface="Calibri" pitchFamily="34" charset="-122"/>
                <a:cs typeface="Calibri" pitchFamily="34" charset="-120"/>
              </a:rPr>
              <a:t>Licences: </a:t>
            </a:r>
            <a:pPr indent="0" marL="0">
              <a:buNone/>
            </a:pPr>
            <a:r>
              <a:rPr lang="en-US" sz="2000" dirty="0">
                <a:solidFill>
                  <a:srgbClr val="2B3A4F"/>
                </a:solidFill>
                <a:latin typeface="Calibri" pitchFamily="34" charset="0"/>
                <a:ea typeface="Calibri" pitchFamily="34" charset="-122"/>
                <a:cs typeface="Calibri" pitchFamily="34" charset="-120"/>
              </a:rPr>
              <a:t>viewers usually need a Power BI licence or the workspace on suitable capacity. Check your organisation.</a:t>
            </a:r>
            <a:endParaRPr lang="en-US" sz="2000" dirty="0"/>
          </a:p>
          <a:p>
            <a:pPr marL="228600" indent="-228600">
              <a:buSzPct val="100000"/>
              <a:buChar char="•"/>
            </a:pPr>
            <a:r>
              <a:rPr lang="en-US" sz="2000" b="1" dirty="0">
                <a:solidFill>
                  <a:srgbClr val="14213D"/>
                </a:solidFill>
                <a:latin typeface="Calibri" pitchFamily="34" charset="0"/>
                <a:ea typeface="Calibri" pitchFamily="34" charset="-122"/>
                <a:cs typeface="Calibri" pitchFamily="34" charset="-120"/>
              </a:rPr>
              <a:t>Refresh: </a:t>
            </a:r>
            <a:pPr indent="0" marL="0">
              <a:buNone/>
            </a:pPr>
            <a:r>
              <a:rPr lang="en-US" sz="2000" dirty="0">
                <a:solidFill>
                  <a:srgbClr val="2B3A4F"/>
                </a:solidFill>
                <a:latin typeface="Calibri" pitchFamily="34" charset="0"/>
                <a:ea typeface="Calibri" pitchFamily="34" charset="-122"/>
                <a:cs typeface="Calibri" pitchFamily="34" charset="-120"/>
              </a:rPr>
              <a:t>set a scheduled refresh so the data stays current. A gateway may be needed for local files.</a:t>
            </a:r>
            <a:endParaRPr lang="en-US" sz="20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DO NOT CONFUSE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Publish to web creates a public link that anyone can open. Never use it for private data.</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Write alt text for a chart</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ALT TEXT</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WEAK:</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"Bar chart"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BETTER:</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"Bar chart of monthly sales in Rs lakh, Jan</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to Jun. Sales rise from 42 to 60 with one</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dip in April to 48."</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State the type </a:t>
            </a:r>
            <a:pPr indent="0" marL="0">
              <a:buNone/>
            </a:pPr>
            <a:r>
              <a:rPr lang="en-US" sz="2200" dirty="0">
                <a:solidFill>
                  <a:srgbClr val="2B3A4F"/>
                </a:solidFill>
                <a:latin typeface="Calibri" pitchFamily="34" charset="0"/>
                <a:ea typeface="Calibri" pitchFamily="34" charset="-122"/>
                <a:cs typeface="Calibri" pitchFamily="34" charset="-120"/>
              </a:rPr>
              <a:t>and what is measured.</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Give the main message </a:t>
            </a:r>
            <a:pPr indent="0" marL="0">
              <a:buNone/>
            </a:pPr>
            <a:r>
              <a:rPr lang="en-US" sz="2200" dirty="0">
                <a:solidFill>
                  <a:srgbClr val="2B3A4F"/>
                </a:solidFill>
                <a:latin typeface="Calibri" pitchFamily="34" charset="0"/>
                <a:ea typeface="Calibri" pitchFamily="34" charset="-122"/>
                <a:cs typeface="Calibri" pitchFamily="34" charset="-120"/>
              </a:rPr>
              <a:t>in one or two sentences, with key numbers.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Add it in Excel or Word: </a:t>
            </a:r>
            <a:pPr indent="0" marL="0">
              <a:buNone/>
            </a:pPr>
            <a:r>
              <a:rPr lang="en-US" sz="2200" dirty="0">
                <a:solidFill>
                  <a:srgbClr val="2B3A4F"/>
                </a:solidFill>
                <a:latin typeface="Calibri" pitchFamily="34" charset="0"/>
                <a:ea typeface="Calibri" pitchFamily="34" charset="-122"/>
                <a:cs typeface="Calibri" pitchFamily="34" charset="-120"/>
              </a:rPr>
              <a:t>right click chart &gt; View Alt Text.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Do not start with "Image of". Screen readers already say it.</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make a shared report accessible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6-page PDF report has 4 charts, light grey text on white and red and green lines. Make it accessible.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Alt text: </a:t>
            </a:r>
            <a:pPr indent="0" marL="0">
              <a:buNone/>
            </a:pPr>
            <a:r>
              <a:rPr lang="en-US" sz="2200" dirty="0">
                <a:solidFill>
                  <a:srgbClr val="2B3A4F"/>
                </a:solidFill>
                <a:latin typeface="Calibri" pitchFamily="34" charset="0"/>
                <a:ea typeface="Calibri" pitchFamily="34" charset="-122"/>
                <a:cs typeface="Calibri" pitchFamily="34" charset="-120"/>
              </a:rPr>
              <a:t>add a one or two sentence description to all 4 charts.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Colour: </a:t>
            </a:r>
            <a:pPr indent="0" marL="0">
              <a:buNone/>
            </a:pPr>
            <a:r>
              <a:rPr lang="en-US" sz="2200" dirty="0">
                <a:solidFill>
                  <a:srgbClr val="2B3A4F"/>
                </a:solidFill>
                <a:latin typeface="Calibri" pitchFamily="34" charset="0"/>
                <a:ea typeface="Calibri" pitchFamily="34" charset="-122"/>
                <a:cs typeface="Calibri" pitchFamily="34" charset="-120"/>
              </a:rPr>
              <a:t>do not rely on red against green. Add labels or use blue and orange.</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Contrast: </a:t>
            </a:r>
            <a:pPr indent="0" marL="0">
              <a:buNone/>
            </a:pPr>
            <a:r>
              <a:rPr lang="en-US" sz="2200" dirty="0">
                <a:solidFill>
                  <a:srgbClr val="2B3A4F"/>
                </a:solidFill>
                <a:latin typeface="Calibri" pitchFamily="34" charset="0"/>
                <a:ea typeface="Calibri" pitchFamily="34" charset="-122"/>
                <a:cs typeface="Calibri" pitchFamily="34" charset="-120"/>
              </a:rPr>
              <a:t>change light grey text to dark grey or black.</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Check: </a:t>
            </a:r>
            <a:pPr indent="0" marL="0">
              <a:buNone/>
            </a:pPr>
            <a:r>
              <a:rPr lang="en-US" sz="2200" dirty="0">
                <a:solidFill>
                  <a:srgbClr val="2B3A4F"/>
                </a:solidFill>
                <a:latin typeface="Calibri" pitchFamily="34" charset="0"/>
                <a:ea typeface="Calibri" pitchFamily="34" charset="-122"/>
                <a:cs typeface="Calibri" pitchFamily="34" charset="-120"/>
              </a:rPr>
              <a:t>run Review &gt; Check Accessibility in Word or Excel before exporting.</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About 1 in 12 men has some colour vision deficiency, so labels and contrast help real readers.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Broken links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linked chart shows "linked file not available" if the Excel file is moved, renamed or on another computer.</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Hidden data leaks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Embedded workbooks and Excel files carry hidden sheets and comments. Check or paste as picture.</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Blurry images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Screenshots of small charts look soft when enlarged. Export at full size or use PDF.</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Public Power BI links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Publish to web is open to anyone with the link. Use workspace sharing for private data.</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You must email a 10-chart deck to a client with a 25 MB limit. Which paste type and why?</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What happens to a linked chart if you rename the Excel file?</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Write one sentence of alt text for a line chart showing monthly sales falling from 80 to 66 lakh.</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Publish to web a bad choice for staff salary data?</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Picture or PDF: </a:t>
            </a:r>
            <a:pPr indent="0" marL="0">
              <a:buNone/>
            </a:pPr>
            <a:r>
              <a:rPr lang="en-US" sz="2000" dirty="0">
                <a:solidFill>
                  <a:srgbClr val="FFFFFF"/>
                </a:solidFill>
                <a:latin typeface="Calibri" pitchFamily="34" charset="0"/>
                <a:ea typeface="Calibri" pitchFamily="34" charset="-122"/>
                <a:cs typeface="Calibri" pitchFamily="34" charset="-120"/>
              </a:rPr>
              <a:t>small, safe, not editable. Best for final delivery.</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Link: </a:t>
            </a:r>
            <a:pPr indent="0" marL="0">
              <a:buNone/>
            </a:pPr>
            <a:r>
              <a:rPr lang="en-US" sz="2000" dirty="0">
                <a:solidFill>
                  <a:srgbClr val="FFFFFF"/>
                </a:solidFill>
                <a:latin typeface="Calibri" pitchFamily="34" charset="0"/>
                <a:ea typeface="Calibri" pitchFamily="34" charset="-122"/>
                <a:cs typeface="Calibri" pitchFamily="34" charset="-120"/>
              </a:rPr>
              <a:t>small and live, but breaks if the file moves.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Embed: </a:t>
            </a:r>
            <a:pPr indent="0" marL="0">
              <a:buNone/>
            </a:pPr>
            <a:r>
              <a:rPr lang="en-US" sz="2000" dirty="0">
                <a:solidFill>
                  <a:srgbClr val="FFFFFF"/>
                </a:solidFill>
                <a:latin typeface="Calibri" pitchFamily="34" charset="0"/>
                <a:ea typeface="Calibri" pitchFamily="34" charset="-122"/>
                <a:cs typeface="Calibri" pitchFamily="34" charset="-120"/>
              </a:rPr>
              <a:t>portable but big and carries all your data.</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Power BI: </a:t>
            </a:r>
            <a:pPr indent="0" marL="0">
              <a:buNone/>
            </a:pPr>
            <a:r>
              <a:rPr lang="en-US" sz="2000" dirty="0">
                <a:solidFill>
                  <a:srgbClr val="FFFFFF"/>
                </a:solidFill>
                <a:latin typeface="Calibri" pitchFamily="34" charset="0"/>
                <a:ea typeface="Calibri" pitchFamily="34" charset="-122"/>
                <a:cs typeface="Calibri" pitchFamily="34" charset="-120"/>
              </a:rPr>
              <a:t>publish to the service, share with named people.</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Write alt text and avoid colour-only meaning.</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Ethical Considerations in Data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Exporting and Sharing Visualizations</dc:title>
  <dc:subject>Business Management Tools I</dc:subject>
  <dc:creator>Sushant Bhargav</dc:creator>
  <cp:lastModifiedBy>Sushant Bhargav</cp:lastModifiedBy>
  <cp:revision>1</cp:revision>
  <dcterms:created xsi:type="dcterms:W3CDTF">2026-10-07T01:36:21Z</dcterms:created>
  <dcterms:modified xsi:type="dcterms:W3CDTF">2026-10-07T01:36:21Z</dcterms:modified>
</cp:coreProperties>
</file>