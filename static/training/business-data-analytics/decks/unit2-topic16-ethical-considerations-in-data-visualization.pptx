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16: Ethical Considerations in Data Visualization" id="{03ff85f3-7806-9418-f1ac-a59b6d1b493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Customer satisfaction (axis starts at 94)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(%)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Brand A</c:v>
                  </c:pt>
                  <c:pt idx="1">
                    <c:v>Brand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100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94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Satisfaction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Customer satisfaction (axis starts at 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Satisfaction (%)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Brand A</c:v>
                  </c:pt>
                  <c:pt idx="1">
                    <c:v>Brand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100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Satisfaction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Calibri"/>
              </a:rPr>
              <a:t>Monthly sales, full year (₹ lakh)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</c:v>
                </c:pt>
                <c:pt idx="1">
                  <c:v>86</c:v>
                </c:pt>
                <c:pt idx="2">
                  <c:v>92</c:v>
                </c:pt>
                <c:pt idx="3">
                  <c:v>95</c:v>
                </c:pt>
                <c:pt idx="4">
                  <c:v>90</c:v>
                </c:pt>
                <c:pt idx="5">
                  <c:v>84</c:v>
                </c:pt>
                <c:pt idx="6">
                  <c:v>78</c:v>
                </c:pt>
                <c:pt idx="7">
                  <c:v>74</c:v>
                </c:pt>
                <c:pt idx="8">
                  <c:v>70</c:v>
                </c:pt>
                <c:pt idx="9">
                  <c:v>66</c:v>
                </c:pt>
                <c:pt idx="10">
                  <c:v>72</c:v>
                </c:pt>
                <c:pt idx="11">
                  <c:v>76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Calibr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6667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6667A"/>
                    </a:solidFill>
                    <a:latin typeface="Arial"/>
                  </a:rPr>
                  <a:t>Sales (₹ lakh)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6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chart can be accurate in every number and still mislead. This session shows common distortions, with bad and good versions of the same data, and the habits that keep a chart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this: you are the author, so you decide what the reader sees first. That is power and it comes with responsibility. Ask students when they last saw a chart that felt too dramatic.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business setting. A manager who sees a distorted sales chart may cut or add budget wrongly. Ask who is harmed.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pairs organise the rest of the session. Each of the next slides shows one pair with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scores. The numbers are correct and the labels are printed, but the shape tells a different story. Ask students what a reader who ignores the labels will think.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applies to bars because their length encodes the value. For lines, where position and slope matter, a zoomed axis can be fair if clearly marked.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10 divided by 66 is 0.1515. 4 divided by 80 is 0.05. 95 minus 76 is 19, and 19 divided by 95 is 0.20. Ask students: is a seasonal recovery after a trough a fair story? Only with the full context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this with the three-month window. The same data, a very different message. If a cut is needed, say why, for example comparing only festive months in each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trap appears with icons scaled in both height and width, and with 3D pie and 3D column charts where the front slice looks bigger. Ask students to find a 3D chart in a newspaper and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a checklist. A chart with no source, unit or sample size cannot be checked by the reader. Ask students to score a chart from any recent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standard normal approximation for a proportion. Bigger samples shrink the margin but only with the square root: 4 times the sample halves the margin. Ask: would you open a new branch on 52 percent?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this checklist and keep it by the desk. Run it on the bad truncated chart from earlier to show it fails the first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is judgement, not a single rule. Ask for an example of a chart where starting at zero would hide an important small change, such as body temperature. Explain the labelled-axis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five minutes. In question 1, check the arithmetic: axis 97 to 101 gives bar heights 1 and 3.
ANSWERS
1. The 2 lakh gap (2%) looks like 3 times (3/1). Bars should start at zero.
2. The full-year chart, or both shown together with a note explaining the recent recovery.
3. 3² = 9 times. The circle suggests nine times, not three. Scale area, or use bars.
4. The margin of error (about ± 9.5 points) and the sample size, shown as an error bar or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· AE25UCBM001  |  Unit II: Data Visualization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  ·  TOPIC 16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731520" y="21031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 in Data Visualization</a:t>
            </a:r>
            <a:endParaRPr lang="en-US" sz="42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731520" y="4114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C9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Tools I (AE25UCBM001)  ·  SAGE University, Bhopal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chart with correct numbers can still mislead.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axes, cherry-picked ranges, size distortion and missing context.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misleading chart by redrawing it honestly.</a:t>
            </a:r>
            <a:endParaRPr lang="en-US" sz="2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uncertainty, such as a margin of error, instead of hiding it.</a:t>
            </a:r>
            <a:endParaRPr lang="en-US" sz="2400" dirty="0"/>
          </a:p>
          <a:p>
            <a:pPr marL="228600" indent="-228600">
              <a:buSzPct val="100000"/>
              <a:buChar char="•"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24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checklist before you publish any chart.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680960" y="1417320"/>
            <a:ext cx="3959352" cy="4846320"/>
          </a:xfrm>
          <a:prstGeom prst="roundRect">
            <a:avLst>
              <a:gd name="adj" fmla="val 2771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6916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48840"/>
            <a:ext cx="3410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15468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numbers are needed to mislead. Choices of axis, range and shape are enough.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ethics matters in charts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14344" cy="4206240"/>
          </a:xfrm>
          <a:prstGeom prst="roundRect">
            <a:avLst>
              <a:gd name="adj" fmla="val 312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645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trust pictures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571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read a chart in seconds and rarely check the axis. The first impression becomes the conclusion.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7304" y="1508760"/>
            <a:ext cx="3514344" cy="4206240"/>
          </a:xfrm>
          <a:prstGeom prst="roundRect">
            <a:avLst>
              <a:gd name="adj" fmla="val 312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73736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0264" y="1645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follow charts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23160"/>
            <a:ext cx="30571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hiring and investment are decided from charts. A distorted picture leads to a poor decision.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5968" y="1508760"/>
            <a:ext cx="3514344" cy="4206240"/>
          </a:xfrm>
          <a:prstGeom prst="roundRect">
            <a:avLst>
              <a:gd name="adj" fmla="val 3122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4568" y="173736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948928" y="164592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hard to rebuild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423160"/>
            <a:ext cx="305714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misleading chart makes readers doubt every later report from you or your team.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Misleading versus honest: the main tests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habits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axis starts above zero.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picked to suit the story.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or circles scaled by both height and width.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source, unit or sample size.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shown where data is noisy.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54496" y="1417320"/>
            <a:ext cx="5385816" cy="3886200"/>
          </a:xfrm>
          <a:prstGeom prst="roundRect">
            <a:avLst>
              <a:gd name="adj" fmla="val 2824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54496" y="1417320"/>
            <a:ext cx="5385816" cy="640080"/>
          </a:xfrm>
          <a:prstGeom prst="roundRect">
            <a:avLst>
              <a:gd name="adj" fmla="val 17143"/>
            </a:avLst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1417320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habits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2240280"/>
            <a:ext cx="483717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axis starts at zero.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period, or explain the cut.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area correctly, or use bars.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unit, date and sample size on the chart.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 bars or a range.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every chart: would a reader reach the same conclusion if they saw all the data?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Bad: truncated axis exaggerates a gap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WRONG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 starts at 94, so Brand A looks only a third as tall as Brand B.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gap: 4 points, or 4.2% of 96.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bars imply a 3 times difference, because (100 - 94) / (96 - 94) = 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Good: the same data from zero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FAIRER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is proportional to the value, so 96 looks close to 100.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small gap matters, say so in words: "4 points ahead".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 may use a non-zero axis, but label it clearly.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cherry-picked time range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(₹ lakh) Jan to Dec: 80, 86, 92, 95, 90, 84, 78, 74, 70, 66, 72, 76. A speaker picks Oct to Dec only. Data is hypothetical.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window, Oct to Dec: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 72, 76. Rise of 10 lakh, or 15.2%.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year, Jan to Dec: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down to 76, a fall of 4 lakh, or 5.0%.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was April: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lakh. December is 20% below the peak.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trick: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chart at the lowest point to get "growth".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3-month chart says "sales up 15%". The full year says sales are lower than January and well below the April peak.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Good: show the full year for context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76472" cy="4846320"/>
          </a:xfrm>
          <a:prstGeom prst="roundRect">
            <a:avLst>
              <a:gd name="adj" fmla="val 290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916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FULL VIEW SHOWS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2783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peaked in April at 95 lakh and bottomed in October at 66.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 recovery is real but small next to the earlier fall.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all twelve months lets the reader judge for themselves.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area and size distortion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doubles from ₹100 crore to ₹200 crore. A designer draws two circles and doubles the radius. Illustrative numbers.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a circle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π r². Doubling r multiplies area by 2² = 4.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sees: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circle takes 4 times the space, not 2 times.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area to the value, so the radius grows by √2 ≈ 1.41.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two bars. Length is easy to compare, area is not.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 times rise is drawn as 4 times. Bars show 100 and 200 honestly, with no extra arithmetic for the reader.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context: what to add to a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5816" cy="457200"/>
          </a:xfrm>
          <a:prstGeom prst="roundRect">
            <a:avLst>
              <a:gd name="adj" fmla="val 24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chart (weak)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85816" cy="914400"/>
        </p:xfrm>
        <a:graphic>
          <a:graphicData uri="http://schemas.openxmlformats.org/drawingml/2006/table">
            <a:tbl>
              <a:tblPr/>
              <a:tblGrid>
                <a:gridCol w="3702749"/>
                <a:gridCol w="168306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A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3A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says the finding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(₹, %, lakh)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and 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starts at zero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54496" y="1417320"/>
            <a:ext cx="5385816" cy="457200"/>
          </a:xfrm>
          <a:prstGeom prst="roundRect">
            <a:avLst>
              <a:gd name="adj" fmla="val 24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37376" y="1417320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chart (strong)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4496" y="2011680"/>
          <a:ext cx="5385816" cy="914400"/>
        </p:xfrm>
        <a:graphic>
          <a:graphicData uri="http://schemas.openxmlformats.org/drawingml/2006/table">
            <a:tbl>
              <a:tblPr/>
              <a:tblGrid>
                <a:gridCol w="3702749"/>
                <a:gridCol w="168306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says the finding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(₹, %, lakh)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and 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starts at zero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B3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56235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footnote like "Source: store billing data, Jan to Dec, 14 branches" takes ten seconds to write.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show honest uncertainty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417320"/>
            <a:ext cx="8988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100 customers finds 62% prefer a new menu. The margin of error at 95% confidence is ± 9.5 points. Hypothetical survey.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6675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 × √(0.62 × 0.38 / 100) = 1.96 × 0.0485 ≈ 0.095.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± 9.5 gives about 52.5% to 71.5%.</a:t>
            </a:r>
            <a:endParaRPr lang="en-US" sz="2200" dirty="0"/>
          </a:p>
          <a:p>
            <a:pPr marL="304800" indent="-3048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likes it, but the true share could be near 52%.</a:t>
            </a:r>
            <a:endParaRPr lang="en-US" sz="2200" dirty="0"/>
          </a:p>
          <a:p>
            <a:pPr marL="304800" indent="-304800"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400 customers: </a:t>
            </a:r>
            <a:pPr indent="0" marL="0">
              <a:buNone/>
            </a:pPr>
            <a:r>
              <a:rPr lang="en-US" sz="22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falls to ± 4.8 points, a tighter range.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0" y="26060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283464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3246120"/>
            <a:ext cx="3593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62% with an error bar from 52.5% to 71.5%. A bare "62%" claims more precision than 100 answers can give.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pre-publish ethics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30552" cy="777240"/>
          </a:xfrm>
          <a:prstGeom prst="homePlat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Check the axis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zero. Any non-zero axis on a line chart is clearly labelled.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130552" cy="777240"/>
          </a:xfrm>
          <a:prstGeom prst="homePlate">
            <a:avLst/>
          </a:prstGeom>
          <a:solidFill>
            <a:srgbClr val="F29E4C"/>
          </a:solidFill>
          <a:ln w="12700">
            <a:solidFill>
              <a:srgbClr val="F29E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Check the range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8892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period show the full story? If cut, say why.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130552" cy="777240"/>
          </a:xfrm>
          <a:prstGeom prst="homePlate">
            <a:avLst/>
          </a:prstGeom>
          <a:solidFill>
            <a:srgbClr val="3A5BA0"/>
          </a:solidFill>
          <a:ln w="12700">
            <a:solidFill>
              <a:srgbClr val="3A5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Check the shapes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area correctly or use bars. Remove 3D effects.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130552" cy="777240"/>
          </a:xfrm>
          <a:prstGeom prst="homePlat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Add the context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6948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units, source, date, sample size and uncertainty.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130552" cy="777240"/>
          </a:xfrm>
          <a:prstGeom prst="homePlate">
            <a:avLst/>
          </a:prstGeom>
          <a:solidFill>
            <a:srgbClr val="6E9B2F"/>
          </a:solidFill>
          <a:ln w="12700">
            <a:solidFill>
              <a:srgbClr val="6E9B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41732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 with a stranger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09760" y="2331720"/>
            <a:ext cx="2084832" cy="2011680"/>
          </a:xfrm>
          <a:prstGeom prst="roundRect">
            <a:avLst>
              <a:gd name="adj" fmla="val 5455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0" y="2468880"/>
            <a:ext cx="171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someone to explain the chart. If their message differs from yours, redraw.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DDF0F0"/>
          </a:solidFill>
          <a:ln w="12700">
            <a:solidFill>
              <a:srgbClr val="DD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would be uncomfortable explaining your design choice to the reader, change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Traps and edge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but cluttered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opposite error: too much data hides the message. Simple is not the same as dishonest.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1636" y="141732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64592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54596" y="155448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baseline on a line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33172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lines, a zoomed axis can be fair when changes are small and the axis is clearly marked.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on one chart let you make any two lines look correlated. Avoid, or label with extreme care.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1636" y="3977640"/>
            <a:ext cx="5408676" cy="2286000"/>
          </a:xfrm>
          <a:prstGeom prst="roundRect">
            <a:avLst>
              <a:gd name="adj" fmla="val 480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0236" y="420624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54596" y="4114800"/>
            <a:ext cx="4402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not cause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60236" y="4892040"/>
            <a:ext cx="49514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B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rising together do not show one drives the other. Do not imply it in the title.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2593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4173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of ₹98 and ₹100 lakh sales has an axis from 97 to 101. What is misleading?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746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83230"/>
            <a:ext cx="457200" cy="457200"/>
          </a:xfrm>
          <a:prstGeom prst="ellipse">
            <a:avLst/>
          </a:prstGeom>
          <a:solidFill>
            <a:srgbClr val="F29E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46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rose 15% over the last 3 months but fell 5% over the year. Which chart is honest?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40530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9319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triples. A designer triples the radius of a circle. By how much does the area grow?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5189220"/>
            <a:ext cx="11091672" cy="1074420"/>
          </a:xfrm>
          <a:prstGeom prst="roundRect">
            <a:avLst>
              <a:gd name="adj" fmla="val 10213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97830"/>
            <a:ext cx="457200" cy="457200"/>
          </a:xfrm>
          <a:prstGeom prst="ellipse">
            <a:avLst/>
          </a:prstGeom>
          <a:solidFill>
            <a:srgbClr val="C855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5189220"/>
            <a:ext cx="990295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100 people shows 62% yes. What should you add to the chart?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548640" y="3657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61795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17320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numbers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give a false picture through axis and range choices.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435962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2914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zero.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any zoomed axis clearly.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165653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period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 any cut.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84294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039819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9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by area correctly,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bars. Avoid 3D.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058461"/>
            <a:ext cx="420624" cy="420624"/>
          </a:xfrm>
          <a:prstGeom prst="ellipse">
            <a:avLst/>
          </a:prstGeom>
          <a:solidFill>
            <a:srgbClr val="0F8B8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13986"/>
            <a:ext cx="10405872" cy="709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title, units, source, sample size and uncertainty.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Unit III: Probability and Sampling Techniques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1C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MT Data">
  <a:themeElements>
    <a:clrScheme name="BMT Data">
      <a:dk1>
        <a:srgbClr val="14213D"/>
      </a:dk1>
      <a:lt1>
        <a:srgbClr val="FFFFFF"/>
      </a:lt1>
      <a:dk2>
        <a:srgbClr val="0B6E6E"/>
      </a:dk2>
      <a:lt2>
        <a:srgbClr val="EEF3F6"/>
      </a:lt2>
      <a:accent1>
        <a:srgbClr val="0F8B8D"/>
      </a:accent1>
      <a:accent2>
        <a:srgbClr val="F29E4C"/>
      </a:accent2>
      <a:accent3>
        <a:srgbClr val="3A5BA0"/>
      </a:accent3>
      <a:accent4>
        <a:srgbClr val="C8553D"/>
      </a:accent4>
      <a:accent5>
        <a:srgbClr val="6E9B2F"/>
      </a:accent5>
      <a:accent6>
        <a:srgbClr val="8E6BBF"/>
      </a:accent6>
      <a:hlink>
        <a:srgbClr val="0F8B8D"/>
      </a:hlink>
      <a:folHlink>
        <a:srgbClr val="8E6BBF"/>
      </a:folHlink>
    </a:clrScheme>
    <a:fontScheme name="BMT D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SAGE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Considerations in Data Visualization</dc:title>
  <dc:subject>Business Management Tools I</dc:subject>
  <dc:creator>Sushant Bhargav</dc:creator>
  <cp:lastModifiedBy>Sushant Bhargav</cp:lastModifiedBy>
  <cp:revision>1</cp:revision>
  <dcterms:created xsi:type="dcterms:W3CDTF">2026-10-07T01:36:22Z</dcterms:created>
  <dcterms:modified xsi:type="dcterms:W3CDTF">2026-10-07T01:36:22Z</dcterms:modified>
</cp:coreProperties>
</file>