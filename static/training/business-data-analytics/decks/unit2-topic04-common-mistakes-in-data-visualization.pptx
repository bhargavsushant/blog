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4: Common Mistakes in Data Visualization" id="{2ef82c35-92bf-4975-aeef-c526f4986eae}">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C8553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Bhopal</c:v>
                  </c:pt>
                  <c:pt idx="1">
                    <c:v>Indore</c:v>
                  </c:pt>
                  <c:pt idx="2">
                    <c:v>Jabalpur</c:v>
                  </c:pt>
                  <c:pt idx="3">
                    <c:v>Gwalior</c:v>
                  </c:pt>
                </c:lvl>
              </c:multiLvlStrCache>
            </c:multiLvlStrRef>
          </c:cat>
          <c:val>
            <c:numRef>
              <c:f>Sheet1!$B$2:$B$5</c:f>
              <c:numCache>
                <c:formatCode>General</c:formatCode>
                <c:ptCount val="4"/>
                <c:pt idx="0">
                  <c:v>92</c:v>
                </c:pt>
                <c:pt idx="1">
                  <c:v>94</c:v>
                </c:pt>
                <c:pt idx="2">
                  <c:v>95</c:v>
                </c:pt>
                <c:pt idx="3">
                  <c:v>97</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ax val="98"/>
          <c:min val="90"/>
        </c:scaling>
        <c:delete val="0"/>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Bhopal</c:v>
                  </c:pt>
                  <c:pt idx="1">
                    <c:v>Indore</c:v>
                  </c:pt>
                  <c:pt idx="2">
                    <c:v>Jabalpur</c:v>
                  </c:pt>
                  <c:pt idx="3">
                    <c:v>Gwalior</c:v>
                  </c:pt>
                </c:lvl>
              </c:multiLvlStrCache>
            </c:multiLvlStrRef>
          </c:cat>
          <c:val>
            <c:numRef>
              <c:f>Sheet1!$B$2:$B$5</c:f>
              <c:numCache>
                <c:formatCode>General</c:formatCode>
                <c:ptCount val="4"/>
                <c:pt idx="0">
                  <c:v>92</c:v>
                </c:pt>
                <c:pt idx="1">
                  <c:v>94</c:v>
                </c:pt>
                <c:pt idx="2">
                  <c:v>95</c:v>
                </c:pt>
                <c:pt idx="3">
                  <c:v>97</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 lakh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F8B8D"/>
              </a:solidFill>
              <a:ln w="19050" cap="flat">
                <a:solidFill>
                  <a:srgbClr val="FFFFFF"/>
                </a:solidFill>
                <a:prstDash val="solid"/>
                <a:round/>
              </a:ln>
              <a:effectLst/>
            </c:spPr>
          </c:dPt>
          <c:dPt>
            <c:idx val="1"/>
            <c:bubble3D val="0"/>
            <c:spPr>
              <a:solidFill>
                <a:srgbClr val="F29E4C"/>
              </a:solidFill>
              <a:ln w="19050" cap="flat">
                <a:solidFill>
                  <a:srgbClr val="FFFFFF"/>
                </a:solidFill>
                <a:prstDash val="solid"/>
                <a:round/>
              </a:ln>
              <a:effectLst/>
            </c:spPr>
          </c:dPt>
          <c:dPt>
            <c:idx val="2"/>
            <c:bubble3D val="0"/>
            <c:spPr>
              <a:solidFill>
                <a:srgbClr val="3A5BA0"/>
              </a:solidFill>
              <a:ln w="19050" cap="flat">
                <a:solidFill>
                  <a:srgbClr val="FFFFFF"/>
                </a:solidFill>
                <a:prstDash val="solid"/>
                <a:round/>
              </a:ln>
              <a:effectLst/>
            </c:spPr>
          </c:dPt>
          <c:dPt>
            <c:idx val="3"/>
            <c:bubble3D val="0"/>
            <c:spPr>
              <a:solidFill>
                <a:srgbClr val="C8553D"/>
              </a:solidFill>
              <a:ln w="19050" cap="flat">
                <a:solidFill>
                  <a:srgbClr val="FFFFFF"/>
                </a:solidFill>
                <a:prstDash val="solid"/>
                <a:round/>
              </a:ln>
              <a:effectLst/>
            </c:spPr>
          </c:dPt>
          <c:dPt>
            <c:idx val="4"/>
            <c:bubble3D val="0"/>
            <c:spPr>
              <a:solidFill>
                <a:srgbClr val="6E9B2F"/>
              </a:solidFill>
              <a:ln w="19050" cap="flat">
                <a:solidFill>
                  <a:srgbClr val="FFFFFF"/>
                </a:solidFill>
                <a:prstDash val="solid"/>
                <a:round/>
              </a:ln>
              <a:effectLst/>
            </c:spPr>
          </c:dPt>
          <c:dPt>
            <c:idx val="5"/>
            <c:bubble3D val="0"/>
            <c:spPr>
              <a:solidFill>
                <a:srgbClr val="8E6BBF"/>
              </a:solidFill>
              <a:ln w="19050" cap="flat">
                <a:solidFill>
                  <a:srgbClr val="FFFFFF"/>
                </a:solidFill>
                <a:prstDash val="solid"/>
                <a:round/>
              </a:ln>
              <a:effectLst/>
            </c:spPr>
          </c:dPt>
          <c:dPt>
            <c:idx val="6"/>
            <c:bubble3D val="0"/>
            <c:spPr>
              <a:solidFill>
                <a:srgbClr val="56667A"/>
              </a:solidFill>
              <a:ln w="19050" cap="flat">
                <a:solidFill>
                  <a:srgbClr val="FFFFFF"/>
                </a:solidFill>
                <a:prstDash val="solid"/>
                <a:round/>
              </a:ln>
              <a:effectLst/>
            </c:spPr>
          </c:dPt>
          <c:dPt>
            <c:idx val="7"/>
            <c:bubble3D val="0"/>
            <c:spPr>
              <a:solidFill>
                <a:srgbClr val="E0B000"/>
              </a:solidFill>
              <a:ln w="19050" cap="flat">
                <a:solidFill>
                  <a:srgbClr val="FFFFFF"/>
                </a:solidFill>
                <a:prstDash val="solid"/>
                <a:round/>
              </a:ln>
              <a:effectLst/>
            </c:spPr>
          </c:dPt>
          <c:dPt>
            <c:idx val="8"/>
            <c:bubble3D val="0"/>
            <c:spPr>
              <a:solidFill>
                <a:srgbClr val="2BB3C0"/>
              </a:solidFill>
              <a:ln w="19050" cap="flat">
                <a:solidFill>
                  <a:srgbClr val="FFFFFF"/>
                </a:solidFill>
                <a:prstDash val="solid"/>
                <a:round/>
              </a:ln>
              <a:effectLst/>
            </c:spPr>
          </c:dPt>
          <c:dLbls>
            <c:dLbl>
              <c:idx val="0"/>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1"/>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2"/>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3"/>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4"/>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5"/>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6"/>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7"/>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dLbl>
              <c:idx val="8"/>
              <c:numFmt formatCode="General" sourceLinked="0"/>
              <c:spPr/>
              <c:txPr>
                <a:bodyPr/>
                <a:lstStyle/>
                <a:p>
                  <a:pPr>
                    <a:defRPr sz="1400" b="0" i="0" u="none" strike="noStrike">
                      <a:solidFill>
                        <a:srgbClr val="14213D"/>
                      </a:solidFill>
                      <a:latin typeface="Calibri"/>
                    </a:defRPr>
                  </a:pPr>
                </a:p>
              </c:txPr>
              <c:dLblPos val="outEnd"/>
              <c:showLegendKey val="0"/>
              <c:showVal val="0"/>
              <c:showCatName val="0"/>
              <c:showSerName val="0"/>
              <c:showPercent val="1"/>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A</c:v>
                </c:pt>
                <c:pt idx="1">
                  <c:v>B</c:v>
                </c:pt>
                <c:pt idx="2">
                  <c:v>C</c:v>
                </c:pt>
                <c:pt idx="3">
                  <c:v>D</c:v>
                </c:pt>
                <c:pt idx="4">
                  <c:v>E</c:v>
                </c:pt>
                <c:pt idx="5">
                  <c:v>F</c:v>
                </c:pt>
                <c:pt idx="6">
                  <c:v>G</c:v>
                </c:pt>
                <c:pt idx="7">
                  <c:v>H</c:v>
                </c:pt>
                <c:pt idx="8">
                  <c:v>I</c:v>
                </c:pt>
              </c:strCache>
            </c:strRef>
          </c:cat>
          <c:val>
            <c:numRef>
              <c:f>Sheet1!$B$2:$B$10</c:f>
              <c:numCache>
                <c:ptCount val="9"/>
                <c:pt idx="0">
                  <c:v>22</c:v>
                </c:pt>
                <c:pt idx="1">
                  <c:v>18</c:v>
                </c:pt>
                <c:pt idx="2">
                  <c:v>14</c:v>
                </c:pt>
                <c:pt idx="3">
                  <c:v>12</c:v>
                </c:pt>
                <c:pt idx="4">
                  <c:v>10</c:v>
                </c:pt>
                <c:pt idx="5">
                  <c:v>8</c:v>
                </c:pt>
                <c:pt idx="6">
                  <c:v>7</c:v>
                </c:pt>
                <c:pt idx="7">
                  <c:v>5</c:v>
                </c:pt>
                <c:pt idx="8">
                  <c:v>4</c:v>
                </c:pt>
              </c:numCache>
            </c:numRef>
          </c:val>
        </c:ser>
        <c:firstSliceAng val="0"/>
      </c:pieChart>
      <c:spPr>
        <a:noFill/>
        <a:ln>
          <a:noFill/>
        </a:ln>
        <a:effectLst/>
      </c:spPr>
    </c:plotArea>
    <c:legend>
      <c:legendPos val="r"/>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c:v>
                </c:pt>
              </c:strCache>
            </c:strRef>
          </c:tx>
          <c:spPr>
            <a:solidFill>
              <a:srgbClr val="0F8B8D"/>
            </a:solidFill>
            <a:effectLst/>
          </c:spPr>
          <c:invertIfNegative val="0"/>
          <c:dLbls>
            <c:numFmt formatCode="0&quot;%&quot;"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I</c:v>
                  </c:pt>
                  <c:pt idx="1">
                    <c:v>H</c:v>
                  </c:pt>
                  <c:pt idx="2">
                    <c:v>G</c:v>
                  </c:pt>
                  <c:pt idx="3">
                    <c:v>F</c:v>
                  </c:pt>
                  <c:pt idx="4">
                    <c:v>E</c:v>
                  </c:pt>
                  <c:pt idx="5">
                    <c:v>D</c:v>
                  </c:pt>
                  <c:pt idx="6">
                    <c:v>C</c:v>
                  </c:pt>
                  <c:pt idx="7">
                    <c:v>B</c:v>
                  </c:pt>
                  <c:pt idx="8">
                    <c:v>A</c:v>
                  </c:pt>
                </c:lvl>
              </c:multiLvlStrCache>
            </c:multiLvlStrRef>
          </c:cat>
          <c:val>
            <c:numRef>
              <c:f>Sheet1!$B$2:$B$10</c:f>
              <c:numCache>
                <c:formatCode>General</c:formatCode>
                <c:ptCount val="9"/>
                <c:pt idx="0">
                  <c:v>4</c:v>
                </c:pt>
                <c:pt idx="1">
                  <c:v>5</c:v>
                </c:pt>
                <c:pt idx="2">
                  <c:v>7</c:v>
                </c:pt>
                <c:pt idx="3">
                  <c:v>8</c:v>
                </c:pt>
                <c:pt idx="4">
                  <c:v>10</c:v>
                </c:pt>
                <c:pt idx="5">
                  <c:v>12</c:v>
                </c:pt>
                <c:pt idx="6">
                  <c:v>14</c:v>
                </c:pt>
                <c:pt idx="7">
                  <c:v>18</c:v>
                </c:pt>
                <c:pt idx="8">
                  <c:v>22</c:v>
                </c:pt>
              </c:numCache>
            </c:numRef>
          </c:val>
        </c:ser>
        <c:dLbls>
          <c:numFmt formatCode="0&quot;%&quot;"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Orders</c:v>
                </c:pt>
              </c:strCache>
            </c:strRef>
          </c:tx>
          <c:spPr>
            <a:solidFill>
              <a:srgbClr val="E63946"/>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dPt>
            <c:idx val="0"/>
            <c:invertIfNegative val="0"/>
            <c:bubble3D val="0"/>
            <c:spPr>
              <a:solidFill>
                <a:srgbClr val="E63946"/>
              </a:solidFill>
              <a:effectLst/>
            </c:spPr>
          </c:dPt>
          <c:dPt>
            <c:idx val="1"/>
            <c:invertIfNegative val="0"/>
            <c:bubble3D val="0"/>
            <c:spPr>
              <a:solidFill>
                <a:srgbClr val="F29E4C"/>
              </a:solidFill>
              <a:effectLst/>
            </c:spPr>
          </c:dPt>
          <c:dPt>
            <c:idx val="2"/>
            <c:invertIfNegative val="0"/>
            <c:bubble3D val="0"/>
            <c:spPr>
              <a:solidFill>
                <a:srgbClr val="F4D35E"/>
              </a:solidFill>
              <a:effectLst/>
            </c:spPr>
          </c:dPt>
          <c:dPt>
            <c:idx val="3"/>
            <c:invertIfNegative val="0"/>
            <c:bubble3D val="0"/>
            <c:spPr>
              <a:solidFill>
                <a:srgbClr val="6E9B2F"/>
              </a:solidFill>
              <a:effectLst/>
            </c:spPr>
          </c:dPt>
          <c:dPt>
            <c:idx val="4"/>
            <c:invertIfNegative val="0"/>
            <c:bubble3D val="0"/>
            <c:spPr>
              <a:solidFill>
                <a:srgbClr val="0F8B8D"/>
              </a:solidFill>
              <a:effectLst/>
            </c:spPr>
          </c:dPt>
          <c:dPt>
            <c:idx val="5"/>
            <c:invertIfNegative val="0"/>
            <c:bubble3D val="0"/>
            <c:spPr>
              <a:solidFill>
                <a:srgbClr val="3A5BA0"/>
              </a:solidFill>
              <a:effectLst/>
            </c:spPr>
          </c:dPt>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120</c:v>
                </c:pt>
                <c:pt idx="1">
                  <c:v>135</c:v>
                </c:pt>
                <c:pt idx="2">
                  <c:v>150</c:v>
                </c:pt>
                <c:pt idx="3">
                  <c:v>160</c:v>
                </c:pt>
                <c:pt idx="4">
                  <c:v>175</c:v>
                </c:pt>
                <c:pt idx="5">
                  <c:v>190</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Orders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Ad spend (index)</c:v>
                </c:pt>
              </c:strCache>
            </c:strRef>
          </c:tx>
          <c:spPr>
            <a:solidFill>
              <a:srgbClr val="F29E4C"/>
            </a:solidFill>
            <a:ln w="38100" cap="flat">
              <a:solidFill>
                <a:srgbClr val="F29E4C"/>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F29E4C"/>
              </a:solidFill>
              <a:ln w="9525" cap="flat">
                <a:solidFill>
                  <a:srgbClr val="F29E4C"/>
                </a:solidFill>
                <a:prstDash val="solid"/>
                <a:round/>
              </a:ln>
              <a:effectLst/>
            </c:spPr>
          </c:marker>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100</c:v>
                </c:pt>
                <c:pt idx="1">
                  <c:v>110</c:v>
                </c:pt>
                <c:pt idx="2">
                  <c:v>120</c:v>
                </c:pt>
                <c:pt idx="3">
                  <c:v>130</c:v>
                </c:pt>
                <c:pt idx="4">
                  <c:v>140</c:v>
                </c:pt>
                <c:pt idx="5">
                  <c:v>150</c:v>
                </c:pt>
              </c:numCache>
            </c:numRef>
          </c:val>
          <c:smooth val="0"/>
        </c:ser>
        <c:ser>
          <c:idx val="1"/>
          <c:order val="1"/>
          <c:tx>
            <c:strRef>
              <c:f>Sheet1!$C$1</c:f>
              <c:strCache>
                <c:ptCount val="1"/>
                <c:pt idx="0">
                  <c:v>Orders (index)</c:v>
                </c:pt>
              </c:strCache>
            </c:strRef>
          </c:tx>
          <c:spPr>
            <a:solidFill>
              <a:srgbClr val="3A5BA0"/>
            </a:solidFill>
            <a:ln w="38100" cap="flat">
              <a:solidFill>
                <a:srgbClr val="3A5BA0"/>
              </a:solidFill>
              <a:prstDash val="solid"/>
              <a:round/>
            </a:ln>
            <a:effectLst/>
          </c:spPr>
          <c:invertIfNegative val="0"/>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c:symbol val="circle"/>
            <c:size val="8"/>
            <c:spPr>
              <a:solidFill>
                <a:srgbClr val="3A5BA0"/>
              </a:solidFill>
              <a:ln w="9525" cap="flat">
                <a:solidFill>
                  <a:srgbClr val="3A5BA0"/>
                </a:solidFill>
                <a:prstDash val="solid"/>
                <a:round/>
              </a:ln>
              <a:effectLst/>
            </c:spPr>
          </c:marker>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100</c:v>
                </c:pt>
                <c:pt idx="1">
                  <c:v>102</c:v>
                </c:pt>
                <c:pt idx="2">
                  <c:v>105</c:v>
                </c:pt>
                <c:pt idx="3">
                  <c:v>103</c:v>
                </c:pt>
                <c:pt idx="4">
                  <c:v>109</c:v>
                </c:pt>
                <c:pt idx="5">
                  <c:v>112</c:v>
                </c:pt>
              </c:numCache>
            </c:numRef>
          </c:val>
          <c:smooth val="0"/>
        </c:ser>
        <c:dLbls>
          <c:numFmt formatCode="General" sourceLinked="0"/>
          <c:txPr>
            <a:bodyPr/>
            <a:lstStyle/>
            <a:p>
              <a:pPr>
                <a:defRPr b="0" i="0" strike="noStrike" sz="1200" u="none">
                  <a:solidFill>
                    <a:srgbClr val="14213D"/>
                  </a:solidFill>
                  <a:latin typeface="Calibri"/>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max val="160"/>
          <c:min val="9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Index (month 1 = 100)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shows five common chart mistakes side by side with a better version of each. Students should leave able to spot these mistakes in the news, in company decks and in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most bad charts are not made to cheat. They come from software defaults and habit. The effect on the reader is the same, so the analyst is still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as the map for the session. Ask students which of the five they have used in a college assignment. Most will admit to at least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3D picture is drawn from three equal values of 50. Ask students which branch looks biggest. Everyone says the front one. The flat charts on the next slides cost nothing and remove the problem. There is no native chart for this because the fix is to avoid 3D.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drawn are 2, 4, 5 and 7 units tall above the baseline of 90. Ask students to guess how much bigger Gwalior is. They will say three or four times. The real gap is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honest picture. A manager now sees that the branches are close. If the small gap is important, state it in words, for example Gwalior is 5.4% above Bhopal.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numbers: 5 / 92 = 0.0543. On a zero baseline the heights are 92 and 97 so the graphic shows 5.4% as well, giving a factor of 1. Ask students where they have seen axes cut in advertisements.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product category shares that add to 100. Ask the class to say which slice is larger, E or F. Few can do it quickly. People compare angles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nine numbers as a sorted horizontal bar. Look how easy it is to see that A is more than five times I. For long lists, group the smallest items as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grew every month from 120 to 190, which is +58%. The rainbow turns that simple growth story into decoration. Colour should carry meaning: use it to highlight, not to decorate. Also remember that red and green together fail for colour-blind readers.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 of a dual-axis chart chooses the two scales, so the author can make any two lines match. Indexing divides each value by its first value and multiplies by 100. Check: 44 / 40 × 100 = 110 and 1020 / 1000 × 100 =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line chart with a cut axis from 90. That is acceptable here because it is a line chart comparing growth, and the axis title says what it is. Compare this with the dual-axis picture where both lines seemed to move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judgement, not rules by rote. Ask the class: if you cut a line chart axis, how do you warn the reader? The answer is a clear axis label and perhaps a note under the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(50 - 45) / 45 = 11.1%, drawn (10 - 5) / 5 = 100%, 100 / 11.1 = 9.0. Give about four minutes in pairs.
ANSWERS
1. Heights 5 and 10 give 100% taller. 100 / 11.1 ≈ 9.
2. Angles are hard to compare and the legend is hard to match. Use a sorted bar chart, or group small items as Other.
3. Spend: 30 / 20 × 100 = 150. Sales: 220 / 200 × 100 = 110.
4. Acceptable: line charts of growth or small changes, if labelled. Not acceptable: bar charts, where length equals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4</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Common Mistakes in Data Visualization</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Identify </a:t>
            </a:r>
            <a:pPr indent="0" marL="0">
              <a:buNone/>
            </a:pPr>
            <a:r>
              <a:rPr lang="en-US" sz="2400" dirty="0">
                <a:solidFill>
                  <a:srgbClr val="2B3A4F"/>
                </a:solidFill>
                <a:latin typeface="Calibri" pitchFamily="34" charset="0"/>
                <a:ea typeface="Calibri" pitchFamily="34" charset="-122"/>
                <a:cs typeface="Calibri" pitchFamily="34" charset="-120"/>
              </a:rPr>
              <a:t>five common mistakes: 3D, cut axes, too many slices, rainbow colours and dual axes.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how each mistake changes what the reader believes.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Compute </a:t>
            </a:r>
            <a:pPr indent="0" marL="0">
              <a:buNone/>
            </a:pPr>
            <a:r>
              <a:rPr lang="en-US" sz="2400" dirty="0">
                <a:solidFill>
                  <a:srgbClr val="2B3A4F"/>
                </a:solidFill>
                <a:latin typeface="Calibri" pitchFamily="34" charset="0"/>
                <a:ea typeface="Calibri" pitchFamily="34" charset="-122"/>
                <a:cs typeface="Calibri" pitchFamily="34" charset="-120"/>
              </a:rPr>
              <a:t>the lie factor to measure how much a chart exaggerates.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Fix </a:t>
            </a:r>
            <a:pPr indent="0" marL="0">
              <a:buNone/>
            </a:pPr>
            <a:r>
              <a:rPr lang="en-US" sz="2400" dirty="0">
                <a:solidFill>
                  <a:srgbClr val="2B3A4F"/>
                </a:solidFill>
                <a:latin typeface="Calibri" pitchFamily="34" charset="0"/>
                <a:ea typeface="Calibri" pitchFamily="34" charset="-122"/>
                <a:cs typeface="Calibri" pitchFamily="34" charset="-120"/>
              </a:rPr>
              <a:t>each bad chart using a simple, honest alternative.</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Judge </a:t>
            </a:r>
            <a:pPr indent="0" marL="0">
              <a:buNone/>
            </a:pPr>
            <a:r>
              <a:rPr lang="en-US" sz="2400" dirty="0">
                <a:solidFill>
                  <a:srgbClr val="2B3A4F"/>
                </a:solidFill>
                <a:latin typeface="Calibri" pitchFamily="34" charset="0"/>
                <a:ea typeface="Calibri" pitchFamily="34" charset="-122"/>
                <a:cs typeface="Calibri" pitchFamily="34" charset="-120"/>
              </a:rPr>
              <a:t>the edge cases where a rule can bend, for example line charts.</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5</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mistakes cause most misleading charts. Most are accidents from default software settings, not lies.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Five common mistakes at a glance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541842"/>
                <a:gridCol w="4852607"/>
                <a:gridCol w="3697224"/>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Mistake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Why it misleads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3D effects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Depth distorts size and hides values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Use flat 2D bars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Truncated axis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Small gaps look huge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Start bars at zero</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Too many slices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Angles cannot be compared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Sorted bar chart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Rainbow colours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Colour implies false categories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One colour plus one accent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Dual axes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Two scales can fake a link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Index both to 100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5254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Each mistake is shown with a bad and a good version on the next slides.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1: 3D effects</a:t>
            </a:r>
            <a:endParaRPr lang="en-US" sz="2800" dirty="0"/>
          </a:p>
        </p:txBody>
      </p:sp>
      <p:pic>
        <p:nvPicPr>
          <p:cNvPr id="3" name="Image 0" descr="img/u2_t04_3d.png">    </p:cNvPr>
          <p:cNvPicPr>
            <a:picLocks noChangeAspect="1"/>
          </p:cNvPicPr>
          <p:nvPr/>
        </p:nvPicPr>
        <p:blipFill>
          <a:blip r:embed="rId1"/>
          <a:srcRect l="0" r="0" t="0" b="0"/>
          <a:stretch/>
        </p:blipFill>
        <p:spPr>
          <a:xfrm>
            <a:off x="548640" y="1417320"/>
            <a:ext cx="7040880" cy="4846320"/>
          </a:xfrm>
          <a:prstGeom prst="rect">
            <a:avLst/>
          </a:prstGeom>
        </p:spPr>
      </p:pic>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GOES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All three bars equal ₹50 lakh, yet the back bars look smaller.</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Perspective changes the size by distance, not by value.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top of a 3D bar cannot be read against the axis.</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Fix: a flat 2D bar chart. Never use 3D pies.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2: truncated axis (bad)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GOES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axis starts at 90, so the bars show only the part above 90.</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Gwalior looks 3.5 times taller than Bhopal.</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Real difference: 97 against 92, only 5.4% more.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2: truncated axis (fixed)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Bars start at zero, so length equals value.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four branches look nearly equal, which is the truth.</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If small gaps matter, show the percent difference in a label.</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Measure the damage: lie factor</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Use the branch sales: Bhopal ₹92 lakh and Gwalior ₹97 lakh, drawn on an axis that starts at ₹90 lakh.</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Effect in the data: </a:t>
            </a:r>
            <a:pPr indent="0" marL="0">
              <a:buNone/>
            </a:pPr>
            <a:r>
              <a:rPr lang="en-US" sz="2200" dirty="0">
                <a:solidFill>
                  <a:srgbClr val="2B3A4F"/>
                </a:solidFill>
                <a:latin typeface="Calibri" pitchFamily="34" charset="0"/>
                <a:ea typeface="Calibri" pitchFamily="34" charset="-122"/>
                <a:cs typeface="Calibri" pitchFamily="34" charset="-120"/>
              </a:rPr>
              <a:t>(97 - 92) / 92 = 5.4% more.</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Bar heights drawn: </a:t>
            </a:r>
            <a:pPr indent="0" marL="0">
              <a:buNone/>
            </a:pPr>
            <a:r>
              <a:rPr lang="en-US" sz="2200" dirty="0">
                <a:solidFill>
                  <a:srgbClr val="2B3A4F"/>
                </a:solidFill>
                <a:latin typeface="Calibri" pitchFamily="34" charset="0"/>
                <a:ea typeface="Calibri" pitchFamily="34" charset="-122"/>
                <a:cs typeface="Calibri" pitchFamily="34" charset="-120"/>
              </a:rPr>
              <a:t>from baseline 90, Bhopal is 2 units and Gwalior is 7 units.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Effect in the graphic: </a:t>
            </a:r>
            <a:pPr indent="0" marL="0">
              <a:buNone/>
            </a:pPr>
            <a:r>
              <a:rPr lang="en-US" sz="2200" dirty="0">
                <a:solidFill>
                  <a:srgbClr val="2B3A4F"/>
                </a:solidFill>
                <a:latin typeface="Calibri" pitchFamily="34" charset="0"/>
                <a:ea typeface="Calibri" pitchFamily="34" charset="-122"/>
                <a:cs typeface="Calibri" pitchFamily="34" charset="-120"/>
              </a:rPr>
              <a:t>(7 - 2) / 2 = 250% taller.</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Lie factor: </a:t>
            </a:r>
            <a:pPr indent="0" marL="0">
              <a:buNone/>
            </a:pPr>
            <a:r>
              <a:rPr lang="en-US" sz="2200" dirty="0">
                <a:solidFill>
                  <a:srgbClr val="2B3A4F"/>
                </a:solidFill>
                <a:latin typeface="Calibri" pitchFamily="34" charset="0"/>
                <a:ea typeface="Calibri" pitchFamily="34" charset="-122"/>
                <a:cs typeface="Calibri" pitchFamily="34" charset="-120"/>
              </a:rPr>
              <a:t>250 / 5.4 ≈ 46, against an honest value of 1.</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truncated chart exaggerates the gap about 46 times. On a zero axis the lie factor is 1.</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3: too many slices (bad)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GOES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Nine slices need nine colours and a legend lookup.</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Is slice D (12%) bigger than E (10%)? Hard to say.</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Small slices of 4% and 5% are almost unreadable.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3: too many slices (fixed)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Sorted bars show the ranking with no legend.</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Every share can be read from its label.</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Rule of thumb: use a pie only for 2 to 4 parts.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4: rainbow colours (bad)</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GOES WRONG</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Six colours for one measure suggest six different things.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eye jumps to red and yellow, not to the message.</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Fix: one colour for all bars, and one accent for the point you want noticed, such as June.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5: dual axes can fake a link</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Six months of ad spend (₹ thousand): 40, 44, 48, 52, 56, 60. Orders: 1000, 1020, 1050, 1030, 1090, 1120 (illustrative).</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Dual axes: </a:t>
            </a:r>
            <a:pPr indent="0" marL="0">
              <a:buNone/>
            </a:pPr>
            <a:r>
              <a:rPr lang="en-US" sz="2200" dirty="0">
                <a:solidFill>
                  <a:srgbClr val="2B3A4F"/>
                </a:solidFill>
                <a:latin typeface="Calibri" pitchFamily="34" charset="0"/>
                <a:ea typeface="Calibri" pitchFamily="34" charset="-122"/>
                <a:cs typeface="Calibri" pitchFamily="34" charset="-120"/>
              </a:rPr>
              <a:t>put spend on the left axis and orders on a right axis chosen to overlap.</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Picture: </a:t>
            </a:r>
            <a:pPr indent="0" marL="0">
              <a:buNone/>
            </a:pPr>
            <a:r>
              <a:rPr lang="en-US" sz="2200" dirty="0">
                <a:solidFill>
                  <a:srgbClr val="2B3A4F"/>
                </a:solidFill>
                <a:latin typeface="Calibri" pitchFamily="34" charset="0"/>
                <a:ea typeface="Calibri" pitchFamily="34" charset="-122"/>
                <a:cs typeface="Calibri" pitchFamily="34" charset="-120"/>
              </a:rPr>
              <a:t>the two lines lie almost on top of each other. Changing the right scale changes the story.</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Real change: </a:t>
            </a:r>
            <a:pPr indent="0" marL="0">
              <a:buNone/>
            </a:pPr>
            <a:r>
              <a:rPr lang="en-US" sz="2200" dirty="0">
                <a:solidFill>
                  <a:srgbClr val="2B3A4F"/>
                </a:solidFill>
                <a:latin typeface="Calibri" pitchFamily="34" charset="0"/>
                <a:ea typeface="Calibri" pitchFamily="34" charset="-122"/>
                <a:cs typeface="Calibri" pitchFamily="34" charset="-120"/>
              </a:rPr>
              <a:t>spend rose 50% (60 / 40), but orders rose only 12% (1120 / 1000).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Honest fix: </a:t>
            </a:r>
            <a:pPr indent="0" marL="0">
              <a:buNone/>
            </a:pPr>
            <a:r>
              <a:rPr lang="en-US" sz="2200" dirty="0">
                <a:solidFill>
                  <a:srgbClr val="2B3A4F"/>
                </a:solidFill>
                <a:latin typeface="Calibri" pitchFamily="34" charset="0"/>
                <a:ea typeface="Calibri" pitchFamily="34" charset="-122"/>
                <a:cs typeface="Calibri" pitchFamily="34" charset="-120"/>
              </a:rPr>
              <a:t>index both to 100 in month 1 and plot them on one axis.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Indexed, spend reaches 150 while orders reach 112. The chart now shows that ads grew far faster than orders.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Mistake 5: dual axes (fixed with an index)</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WHY IT WORKS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axis, one scale, no choice to manipulate.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Ad spend ends at 150 and orders at 112.</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The gap tells the manager that extra spend is not turning into proportional orders.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Edge cases: when a rule can bend</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Line charts may skip zero</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line shows change, not length. An axis from 90 to 160 is fine if it is labelled. Bars must always start at zero.</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Small pies can work</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Two or three slices, such as 70% against 30%, read well. The rule is about many slices, not pies as such.</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Dual axes with care</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Sometimes two units must share a chart. Use clear axis colours and labels, or use two stacked charts.</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Strong colour has a job</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Red for loss and green for gain is fine if labels also carry the meaning, so colour-blind readers are not lost.</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bar chart starts at ₹40 and shows bars for 45 and 50. The data gap is 11.1%. What is the lie factor?</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a pie with ten slices a poor choice, and what replaces it?</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Ad spend rises from 20 to 30 (₹ thousand) and sales from 200 to 220. Index both to 100 in period 1.</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Name two uses where a non-zero axis is acceptable and one where it is not.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3D: </a:t>
            </a:r>
            <a:pPr indent="0" marL="0">
              <a:buNone/>
            </a:pPr>
            <a:r>
              <a:rPr lang="en-US" sz="2000" dirty="0">
                <a:solidFill>
                  <a:srgbClr val="FFFFFF"/>
                </a:solidFill>
                <a:latin typeface="Calibri" pitchFamily="34" charset="0"/>
                <a:ea typeface="Calibri" pitchFamily="34" charset="-122"/>
                <a:cs typeface="Calibri" pitchFamily="34" charset="-120"/>
              </a:rPr>
              <a:t>distorts size, so use flat charts.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Cut axes: </a:t>
            </a:r>
            <a:pPr indent="0" marL="0">
              <a:buNone/>
            </a:pPr>
            <a:r>
              <a:rPr lang="en-US" sz="2000" dirty="0">
                <a:solidFill>
                  <a:srgbClr val="FFFFFF"/>
                </a:solidFill>
                <a:latin typeface="Calibri" pitchFamily="34" charset="0"/>
                <a:ea typeface="Calibri" pitchFamily="34" charset="-122"/>
                <a:cs typeface="Calibri" pitchFamily="34" charset="-120"/>
              </a:rPr>
              <a:t>bars start at zero, and the lie factor should be near 1.</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Slices: </a:t>
            </a:r>
            <a:pPr indent="0" marL="0">
              <a:buNone/>
            </a:pPr>
            <a:r>
              <a:rPr lang="en-US" sz="2000" dirty="0">
                <a:solidFill>
                  <a:srgbClr val="FFFFFF"/>
                </a:solidFill>
                <a:latin typeface="Calibri" pitchFamily="34" charset="0"/>
                <a:ea typeface="Calibri" pitchFamily="34" charset="-122"/>
                <a:cs typeface="Calibri" pitchFamily="34" charset="-120"/>
              </a:rPr>
              <a:t>a pie suits 2 to 4 parts, otherwise a sorted bar.</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Colour and dual axes: </a:t>
            </a:r>
            <a:pPr indent="0" marL="0">
              <a:buNone/>
            </a:pPr>
            <a:r>
              <a:rPr lang="en-US" sz="2000" dirty="0">
                <a:solidFill>
                  <a:srgbClr val="FFFFFF"/>
                </a:solidFill>
                <a:latin typeface="Calibri" pitchFamily="34" charset="0"/>
                <a:ea typeface="Calibri" pitchFamily="34" charset="-122"/>
                <a:cs typeface="Calibri" pitchFamily="34" charset="-120"/>
              </a:rPr>
              <a:t>one colour plus an accent, and index to 100 to compare growth.</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Most bad charts come from defaults, so check every chart before sharing it.</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Categorical Data Visualization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Mistakes in Data Visualization</dc:title>
  <dc:subject>Business Management Tools I</dc:subject>
  <dc:creator>Sushant Bhargav</dc:creator>
  <cp:lastModifiedBy>Sushant Bhargav</cp:lastModifiedBy>
  <cp:revision>1</cp:revision>
  <dcterms:created xsi:type="dcterms:W3CDTF">2026-10-07T01:36:16Z</dcterms:created>
  <dcterms:modified xsi:type="dcterms:W3CDTF">2026-10-07T01:36:16Z</dcterms:modified>
</cp:coreProperties>
</file>