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3: Choosing the Right Type of Visualization" id="{4ab0f9ee-291d-6e67-07ba-30c2a65365c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Gwalior</c:v>
                  </c:pt>
                  <c:pt idx="1">
                    <c:v>Jabalpur</c:v>
                  </c:pt>
                  <c:pt idx="2">
                    <c:v>Indore</c:v>
                  </c:pt>
                  <c:pt idx="3">
                    <c:v>Bhopal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52</c:v>
                </c:pt>
                <c:pt idx="2">
                  <c:v>64</c:v>
                </c:pt>
                <c:pt idx="3">
                  <c:v>88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₹ lakh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3A5BA0"/>
            </a:solidFill>
            <a:ln w="38100" cap="flat">
              <a:solidFill>
                <a:srgbClr val="3A5BA0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A5BA0"/>
              </a:solidFill>
              <a:ln w="9525" cap="flat">
                <a:solidFill>
                  <a:srgbClr val="3A5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310</c:v>
                </c:pt>
                <c:pt idx="1">
                  <c:v>325</c:v>
                </c:pt>
                <c:pt idx="2">
                  <c:v>340</c:v>
                </c:pt>
                <c:pt idx="3">
                  <c:v>320</c:v>
                </c:pt>
                <c:pt idx="4">
                  <c:v>360</c:v>
                </c:pt>
                <c:pt idx="5">
                  <c:v>390</c:v>
                </c:pt>
                <c:pt idx="6">
                  <c:v>410</c:v>
                </c:pt>
                <c:pt idx="7">
                  <c:v>430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Orders per week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8553D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120</c:v>
                </c:pt>
                <c:pt idx="1">
                  <c:v>140</c:v>
                </c:pt>
                <c:pt idx="2">
                  <c:v>165</c:v>
                </c:pt>
                <c:pt idx="3">
                  <c:v>170</c:v>
                </c:pt>
                <c:pt idx="4">
                  <c:v>200</c:v>
                </c:pt>
                <c:pt idx="5">
                  <c:v>215</c:v>
                </c:pt>
                <c:pt idx="6">
                  <c:v>230</c:v>
                </c:pt>
                <c:pt idx="7">
                  <c:v>260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Ad spend (₹ thousand)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280"/>
          <c:min val="100"/>
        </c:scaling>
        <c:delete val="0"/>
        <c:axPos val="l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Sales (₹ thousand)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8B8D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9E4C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3A5BA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8553D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4213D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4213D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4213D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4213D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Cash</c:v>
                </c:pt>
                <c:pt idx="2">
                  <c:v>Card</c:v>
                </c:pt>
                <c:pt idx="3">
                  <c:v>Wallet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55</c:v>
                </c:pt>
                <c:pt idx="1">
                  <c:v>25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5666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teaches students to pick a chart from the question, not from habit. They get a decision table and a short process they can use on any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chart they use most in Excel and why. Usually the answer is "the first one in the list". Today they replace habit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questions cover most business charts. Read each one aloud and ask the class to suggest a chart before showing the table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Best chart column. Then ask why bars beat pies for comparing: our eyes judge length much better than angle. The map row is for geographic data and needs Power BI or Excel map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matters most. Count the categories first, because a chart that works with four categories may be unreadable with forty. Step 4 is the five-second test from the last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cover the right-hand side and answer before reading it. Point out that the data does not choose the chart alone. The question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data. Bhopal holds 36% of the total (88 / 244). A bar chart answers "who is largest and by how much" in one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line implies that the points are connected in order, so use it only when the x axis has a natural order such as time. 430 / 310 = 1.387. Ask what might have caused the week 4 dip.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in Excel with =CORREL(B2:B9,C2:C9) and =SLOPE(C2:C9,B2:B9). Stress the last box: correlation is not causation. Ask students for a third factor that could drive both advertising and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Anscombe-style thinking from the first session: plot first. A scatter plot is the only basic chart that shows the link between two numeric variables for many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shares. A pie or doughnut is acceptable only when there are few slices and the point is "part of a whole". If the reader must compare Card (15%) with Cash (25%) closely, a bar is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connection back to the five-second test. The decision table is a guide and not a law. Ask for a dataset where two chart types could both be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three minutes. For question 2, add that one could keep the top four and group the rest as Other, but state that in the chart note.
ANSWERS
1. A line chart. Time is on the x axis, so the line shows direction and seasonal ups and downs.
2. A sorted bar. Ten slices are hard to compare, while bar lengths are easy.
3. A scatter plot. Look for a trend, a curve, clusters or outliers.
4. A line chart. (500 - 400) / 400 = 25%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II: Data Visualization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II: Data Visualization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·  TOPIC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Type of Visualization</a:t>
            </a:r>
            <a:endParaRPr lang="en-US" sz="4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(AE25UCBM001)  ·  SAGE University, Bhopal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question into one of five chart questions: compare, trend, share, spread or link.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to a suitable chart type using a decision table.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four-step process to choose, build and test a chart.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bar, a line, a scatter plot or a doughnut suits a given dataset.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matches such as a pie with many slices or a line across unordered categories.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315468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one chart. Choose the chart from what you want the reader to see.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question, not the chart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city sells more? Look at sizes side by side.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orders change over eight weeks? Look at a path over time.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of orders is paid by UPI? Look at parts of a whole.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order values distributed? Look at the shape of the data.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more advertising go with more sales? Look at two numbers together.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say the question in one sentence, you are not ready to choose a chart.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table: question to chart type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662001"/>
                <a:gridCol w="2662001"/>
                <a:gridCol w="3105668"/>
                <a:gridCol w="2662001"/>
              </a:tblGrid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chart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categories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by city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Bar, sorted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Pie, 3D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over 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orders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Pie, unordered bars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of a whole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mode share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Doughnut or stacked bar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with 8+ slices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of values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values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Histogram, box plot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of averages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of two numbers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spend and sales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separate bars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products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by state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only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47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as a first guess, then test the chart on a reader.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choose a chart in four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90622" cy="777240"/>
          </a:xfrm>
          <a:prstGeom prst="homePlat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419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Name the question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4490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227914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in one sentence: compare, trend, share, spread or link.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48990" y="1417320"/>
            <a:ext cx="2690622" cy="777240"/>
          </a:xfrm>
          <a:prstGeom prst="homePlate">
            <a:avLst/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1870" y="1417320"/>
            <a:ext cx="21419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Look at the data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48990" y="2331720"/>
            <a:ext cx="264490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1870" y="2468880"/>
            <a:ext cx="227914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categories? Is one axis time? Is it a count or a number?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49340" y="1417320"/>
            <a:ext cx="2690622" cy="777240"/>
          </a:xfrm>
          <a:prstGeom prst="homePlate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2220" y="1417320"/>
            <a:ext cx="21419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Pick and build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49340" y="2331720"/>
            <a:ext cx="264490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32220" y="2468880"/>
            <a:ext cx="227914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decision table, then build the simplest chart.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49690" y="1417320"/>
            <a:ext cx="2690622" cy="777240"/>
          </a:xfrm>
          <a:prstGeom prst="homePlat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32570" y="1417320"/>
            <a:ext cx="21419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Test with a reader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49690" y="2331720"/>
            <a:ext cx="264490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32570" y="2468880"/>
            <a:ext cx="227914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they see. If it is not your message, change the chart.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6177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category on one axis and a number on the other gives a bar. Time on the x axis gives a line.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chart for three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kitchen in Bhopal has order data. Choose a chart for each question and say why.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"Which of 4 cities sells most?"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chart, sorted. Four categories compared by length.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"How did orders move over 8 weeks?"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chart. Time runs on the x axis.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"What share of orders is each payment mode?"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Doughnut, as there are only 4 parts.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"Do ads go with sales?"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plot, two numbers for each week.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questions, four chart types. The next slides build each one with illustrative data.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Compare: sales by city (bar)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BAR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is the easiest thing for the eye to compare.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Sorted, the rank order is visible at once.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across cities: 88 + 64 + 52 + 40 = ₹244 lakh.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Trend: weekly orders (line)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LINE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joins points in time order, so direction is clear.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dip in week 4, then steady growth.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rose from 310 to 430, which is +38.7%.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Link: does ad spend go with sales?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8 weeks a shop records ad spend and sales in ₹ thousand (illustrative). Spend: 10, 15, 20, 25, 30, 35, 40, 45. Sales: 120, 140, 165, 170, 200, 215, 230, 260.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each week as a dot: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ad spend, y = sales. That is a scatter plot.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shape: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dots climb steadily from bottom left to top right.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it (Python):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 = 0.995, a very strong positive link.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line: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≈ 82.1 + 3.83 × spend, about ₹3.8k more sales per ₹1k of ads.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880360"/>
            <a:ext cx="4142232" cy="3383280"/>
          </a:xfrm>
          <a:prstGeom prst="roundRect">
            <a:avLst>
              <a:gd name="adj" fmla="val 324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310896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520440"/>
            <a:ext cx="35935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link is not proof of cause. A festival season could raise both. Treat it as a lead to test.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Link: ad spend against sales (scatter)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SCATTER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week, with two numbers at once.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cannot show how two numbers move together.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 line, a curve, clusters or outliers.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Share: orders by payment mode (doughnut)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PARTS 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slices that add to 100% suits a doughnut.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at 55% is clearly more than half.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 or more slices, switch to a sorted bar.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Traps and edge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across categories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Bhopal, Indore and Jabalpur with a line suggests a trend that does not exist. Use bars.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1636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0236" y="164592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54596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with many slices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five slices the angles are hard to compare. Group small items as "Other" or use a sorted bar.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hide spread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of average order value hides whether orders range from ₹50 to ₹5,000. Use a histogram or box plot.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1636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0236" y="420624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54596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right answer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can both work. Pick the one your reader decodes fastest and test 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2593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173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chart suits "monthly sales for 12 months" and why?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746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8323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746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wants the share of 10 product categories. A pie, or something else?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4053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9319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age and monthly spend for 200 customers. Which chart, and what do you look for?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51892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49783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1892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orders went from 400 to 500. Which chart, and what is the percent growth?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61795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17320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first: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compare, trend, share, spread or link.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35962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914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comparing categories, line for time.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65653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link between two numbers.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184294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039819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or doughnut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a few parts of a whole.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058461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9139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chart on a reader, because two types may both work.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Common Mistakes in Data Visualization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MT Data">
  <a:themeElements>
    <a:clrScheme name="BMT Data">
      <a:dk1>
        <a:srgbClr val="14213D"/>
      </a:dk1>
      <a:lt1>
        <a:srgbClr val="FFFFFF"/>
      </a:lt1>
      <a:dk2>
        <a:srgbClr val="0B6E6E"/>
      </a:dk2>
      <a:lt2>
        <a:srgbClr val="EEF3F6"/>
      </a:lt2>
      <a:accent1>
        <a:srgbClr val="0F8B8D"/>
      </a:accent1>
      <a:accent2>
        <a:srgbClr val="F29E4C"/>
      </a:accent2>
      <a:accent3>
        <a:srgbClr val="3A5BA0"/>
      </a:accent3>
      <a:accent4>
        <a:srgbClr val="C8553D"/>
      </a:accent4>
      <a:accent5>
        <a:srgbClr val="6E9B2F"/>
      </a:accent5>
      <a:accent6>
        <a:srgbClr val="8E6BBF"/>
      </a:accent6>
      <a:hlink>
        <a:srgbClr val="0F8B8D"/>
      </a:hlink>
      <a:folHlink>
        <a:srgbClr val="8E6BBF"/>
      </a:folHlink>
    </a:clrScheme>
    <a:fontScheme name="BMT Da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SAGE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the Right Type of Visualization</dc:title>
  <dc:subject>Business Management Tools I</dc:subject>
  <dc:creator>Sushant Bhargav</dc:creator>
  <cp:lastModifiedBy>Sushant Bhargav</cp:lastModifiedBy>
  <cp:revision>1</cp:revision>
  <dcterms:created xsi:type="dcterms:W3CDTF">2026-10-07T01:36:16Z</dcterms:created>
  <dcterms:modified xsi:type="dcterms:W3CDTF">2026-10-07T01:36:16Z</dcterms:modified>
</cp:coreProperties>
</file>