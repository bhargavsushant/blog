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7: Secondary Data" id="{83e09370-337a-3b54-bed6-0934d1c8eb4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session covers secondary data: data that someone else collected for another purpose. We look at where it comes from, how to judge whether to trust it, and what it can and cannot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where they last looked up a number, such as a phone price or a city population. That lookup was secondary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phrase "for a different purpose" is the heart of it. Ask what could go wrong if the original purpose differed from yours.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internal data because it is cheapest. Mention that annual reports of listed companies are public and a good source for BBA projects.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row by row. Ask students which row they would use to size the market for a new coaching centre in Bhopal. Census plus internal data is a good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WWWHD on the board if it helps memory, or just the five questions. Ask students to apply them to a social media post claiming a percentage.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students this is the mirror of the last session. The decision of which to use is the topic of the next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last disadvantage. If everyone reads the same report, it gives no edge. Your own primary data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Excel this is =1200*1.05^5. Note the 5% is an assumption. Ask: what if a new competitor changed how people spend? Then no inflation formula helps and you need fresh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Indian financial year runs April to March. Many global reports use calendar years. Ask students why this matters when comparing a company report with an industry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SUMIFS on a small sheet. The source age formula turns the "when" check into a number you can sort on. Stress documenting the source so anyone can retrace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copied numbers point is common online. Tell students to trace a statistic back to the original publisher before using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four minutes. For question 2, ask students what they would search for to find the real origin of the claim.
ANSWERS
1. Internal: billing records, loyalty card data. External: Census data, industry reports.
2. Who, when and how all fail. Do not use it unless you find the original source.
3. 400 × 1.06^3 = 400 × 1.1910 = ₹476.4, about ₹476.
4. It describes past products and other buyers. Your product and customers may differ, so you may need primary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731520" y="2103120"/>
            <a:ext cx="78638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731520" y="411480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Management Tools I · AE25UCBM001  |  Unit I: Introduction to Data Analysis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Management Tools I · AE25UCBM001  |  Unit I: Introduction to Data Analysis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1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 ·  TOPIC 7</a:t>
            </a:r>
            <a:endParaRPr lang="en-US" sz="14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731520" y="210312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Secondary Data</a:t>
            </a:r>
            <a:endParaRPr lang="en-US" sz="42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731520" y="4114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Data Analysis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Management Tools I (AE25UCBM001)  ·  SAGE University, Bhopal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learn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7665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data and give examples from business.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and external sources of secondary data.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reliability of a source using five checks.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or mismatched data, such as inflation and financial years.</a:t>
            </a:r>
            <a:endParaRPr lang="en-US" sz="2400" dirty="0"/>
          </a:p>
          <a:p>
            <a:pPr marL="228600" indent="-228600"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secondary data is enough and when to collect your own.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80960" y="1417320"/>
            <a:ext cx="3959352" cy="4846320"/>
          </a:xfrm>
          <a:prstGeom prst="roundRect">
            <a:avLst>
              <a:gd name="adj" fmla="val 2771"/>
            </a:avLst>
          </a:prstGeom>
          <a:solidFill>
            <a:srgbClr val="DDF0F0"/>
          </a:solidFill>
          <a:ln w="12700">
            <a:solidFill>
              <a:srgbClr val="DDF0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0" y="169164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955280" y="2148840"/>
            <a:ext cx="3410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3154680"/>
            <a:ext cx="341071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checks: who, why, when, how and can you cross-check. Never trust a number without them.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secondary data?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7665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data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collected by someone else, for a different purpose.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reuse it: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did not design the questions or choose the sample.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cheap and fast: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sources are free or already in your own files.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made for you: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definitions, time period and groups may not match your need.</a:t>
            </a:r>
            <a:endParaRPr lang="en-US" sz="2400" dirty="0"/>
          </a:p>
          <a:p>
            <a:pPr marL="228600" indent="-228600"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file, new role: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old survey becomes secondary data for next year's team.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80960" y="1417320"/>
            <a:ext cx="3959352" cy="4846320"/>
          </a:xfrm>
          <a:prstGeom prst="roundRect">
            <a:avLst>
              <a:gd name="adj" fmla="val 2771"/>
            </a:avLst>
          </a:prstGeom>
          <a:solidFill>
            <a:srgbClr val="FDEBD6"/>
          </a:solidFill>
          <a:ln w="12700">
            <a:solidFill>
              <a:srgbClr val="FDEB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0" y="169164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955280" y="2148840"/>
            <a:ext cx="341071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retailer studies last year's billing records to plan stock. The records were made for accounting, not planning.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secondary data comes from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55448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sources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sales ledger, billing system, CRM, website logs and past surveys. Free and closest to your business.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1636" y="141732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0236" y="1645920"/>
            <a:ext cx="457200" cy="457200"/>
          </a:xfrm>
          <a:prstGeom prst="ellipse">
            <a:avLst/>
          </a:prstGeom>
          <a:solidFill>
            <a:srgbClr val="F29E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54596" y="155448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sources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60236" y="233172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of India, ministry reports and the open data portal data.gov.in. Wide coverage, often updated slowly.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3A5B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11480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research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89204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Journals, industry reports, trade body papers and company annual reports. Check the method used.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1636" y="397764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0236" y="4206240"/>
            <a:ext cx="457200" cy="457200"/>
          </a:xfrm>
          <a:prstGeom prst="ellipse">
            <a:avLst/>
          </a:prstGeom>
          <a:solidFill>
            <a:srgbClr val="C855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054596" y="411480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and online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60236" y="489204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market research, news sites, social media and web data. Fast, but quality varies a lot.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and what they are good for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808425"/>
                <a:gridCol w="3375726"/>
                <a:gridCol w="3014041"/>
                <a:gridCol w="2893480"/>
              </a:tblGrid>
              <a:tr h="4358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for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out for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358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0B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sales ledger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Trends in your own firm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Errors, missing fields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0B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Census population counts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size, demographics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data, broad groups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0B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report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body sector review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Benchmarks, growth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Paywall, sponsor bias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0B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report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report of a listed firm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 revenue, profit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 choices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0B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 or social media posts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signals, sentiment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Unverified, biased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419344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6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source to the question, then check 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checks for a reliable source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130552" cy="777240"/>
          </a:xfrm>
          <a:prstGeom prst="homePlat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158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Who collected it?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084832" cy="2011680"/>
          </a:xfrm>
          <a:prstGeom prst="roundRect">
            <a:avLst>
              <a:gd name="adj" fmla="val 545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468880"/>
            <a:ext cx="1719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a known, expert body that names itself.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88920" y="1417320"/>
            <a:ext cx="2130552" cy="777240"/>
          </a:xfrm>
          <a:prstGeom prst="homePlate">
            <a:avLst/>
          </a:prstGeom>
          <a:solidFill>
            <a:srgbClr val="F29E4C"/>
          </a:solidFill>
          <a:ln w="12700">
            <a:solidFill>
              <a:srgbClr val="F29E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71800" y="1417320"/>
            <a:ext cx="158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Why was it collected?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88920" y="2331720"/>
            <a:ext cx="2084832" cy="2011680"/>
          </a:xfrm>
          <a:prstGeom prst="roundRect">
            <a:avLst>
              <a:gd name="adj" fmla="val 545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71800" y="2468880"/>
            <a:ext cx="1719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sponsor with a goal may shape what is shown.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029200" y="1417320"/>
            <a:ext cx="2130552" cy="777240"/>
          </a:xfrm>
          <a:prstGeom prst="homePlate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12080" y="1417320"/>
            <a:ext cx="158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When was it collected?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029200" y="2331720"/>
            <a:ext cx="2084832" cy="2011680"/>
          </a:xfrm>
          <a:prstGeom prst="roundRect">
            <a:avLst>
              <a:gd name="adj" fmla="val 545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0" y="2468880"/>
            <a:ext cx="1719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data may no longer describe today.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269480" y="1417320"/>
            <a:ext cx="2130552" cy="777240"/>
          </a:xfrm>
          <a:prstGeom prst="homePlat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52360" y="1417320"/>
            <a:ext cx="158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How was it collected?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269480" y="2331720"/>
            <a:ext cx="2084832" cy="2011680"/>
          </a:xfrm>
          <a:prstGeom prst="roundRect">
            <a:avLst>
              <a:gd name="adj" fmla="val 545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52360" y="2468880"/>
            <a:ext cx="1719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sample size, method and definitions.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509760" y="1417320"/>
            <a:ext cx="2130552" cy="777240"/>
          </a:xfrm>
          <a:prstGeom prst="homePlate">
            <a:avLst/>
          </a:prstGeom>
          <a:solidFill>
            <a:srgbClr val="6E9B2F"/>
          </a:solidFill>
          <a:ln w="12700">
            <a:solidFill>
              <a:srgbClr val="6E9B2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92640" y="1417320"/>
            <a:ext cx="158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Does it agree?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509760" y="2331720"/>
            <a:ext cx="2084832" cy="2011680"/>
          </a:xfrm>
          <a:prstGeom prst="roundRect">
            <a:avLst>
              <a:gd name="adj" fmla="val 545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92640" y="2468880"/>
            <a:ext cx="1719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at least one other source.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DDF0F0"/>
          </a:solidFill>
          <a:ln w="12700">
            <a:solidFill>
              <a:srgbClr val="DD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61772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source hides who, why, when or how, treat the numbers as a rumour.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versus secondary data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85816" cy="3886200"/>
          </a:xfrm>
          <a:prstGeom prst="roundRect">
            <a:avLst>
              <a:gd name="adj" fmla="val 282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5385816" cy="640080"/>
          </a:xfrm>
          <a:prstGeom prst="roundRect">
            <a:avLst>
              <a:gd name="adj" fmla="val 17143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4837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data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48371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by others, for another purpose.</a:t>
            </a:r>
            <a:endParaRPr lang="en-US" sz="21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time: </a:t>
            </a:r>
            <a:pPr indent="0" marL="0">
              <a:buNone/>
            </a:pPr>
            <a:r>
              <a:rPr lang="en-US" sz="2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low, often instant.</a:t>
            </a:r>
            <a:endParaRPr lang="en-US" sz="21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Fit: </a:t>
            </a:r>
            <a:pPr indent="0" marL="0">
              <a:buNone/>
            </a:pPr>
            <a:r>
              <a:rPr lang="en-US" sz="2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not match your exact question.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</a:t>
            </a:r>
            <a:pPr indent="0" marL="0">
              <a:buNone/>
            </a:pPr>
            <a:r>
              <a:rPr lang="en-US" sz="2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over method or quality.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254496" y="1417320"/>
            <a:ext cx="5385816" cy="3886200"/>
          </a:xfrm>
          <a:prstGeom prst="roundRect">
            <a:avLst>
              <a:gd name="adj" fmla="val 282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54496" y="1417320"/>
            <a:ext cx="5385816" cy="640080"/>
          </a:xfrm>
          <a:prstGeom prst="roundRect">
            <a:avLst>
              <a:gd name="adj" fmla="val 17143"/>
            </a:avLst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1417320"/>
            <a:ext cx="4837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28816" y="2240280"/>
            <a:ext cx="48371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by you, for your question.</a:t>
            </a:r>
            <a:endParaRPr lang="en-US" sz="21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time: </a:t>
            </a:r>
            <a:pPr indent="0" marL="0">
              <a:buNone/>
            </a:pPr>
            <a:r>
              <a:rPr lang="en-US" sz="2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higher, needs design and fieldwork.</a:t>
            </a:r>
            <a:endParaRPr lang="en-US" sz="21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Fit: </a:t>
            </a:r>
            <a:pPr indent="0" marL="0">
              <a:buNone/>
            </a:pPr>
            <a:r>
              <a:rPr lang="en-US" sz="2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exact, because you wrote the questions.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</a:t>
            </a:r>
            <a:pPr indent="0" marL="0">
              <a:buNone/>
            </a:pPr>
            <a:r>
              <a:rPr lang="en-US" sz="2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method and quality.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DEBD6"/>
          </a:solidFill>
          <a:ln w="12700">
            <a:solidFill>
              <a:srgbClr val="FDEB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53212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practice: start with secondary data, then collect primary data only for the gaps.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and disadvantages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85816" cy="3886200"/>
          </a:xfrm>
          <a:prstGeom prst="roundRect">
            <a:avLst>
              <a:gd name="adj" fmla="val 282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5385816" cy="640080"/>
          </a:xfrm>
          <a:prstGeom prst="roundRect">
            <a:avLst>
              <a:gd name="adj" fmla="val 17143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4837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48371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money and time.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long-run trends over many years.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large areas you could never survey yourself.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you define the problem before fieldwork.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54496" y="1417320"/>
            <a:ext cx="5385816" cy="3886200"/>
          </a:xfrm>
          <a:prstGeom prst="roundRect">
            <a:avLst>
              <a:gd name="adj" fmla="val 282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54496" y="1417320"/>
            <a:ext cx="5385816" cy="640080"/>
          </a:xfrm>
          <a:prstGeom prst="roundRect">
            <a:avLst>
              <a:gd name="adj" fmla="val 17143"/>
            </a:avLst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1417320"/>
            <a:ext cx="4837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28816" y="2240280"/>
            <a:ext cx="48371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 or units may differ from yours.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be out of date.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and errors may be unknown.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Others, including competitors, have the same data.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DEBD6"/>
          </a:solidFill>
          <a:ln w="12700">
            <a:solidFill>
              <a:srgbClr val="FDEB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53212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data answers "what is known?". It rarely answers "what do my customers think today?".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bring old data up to date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FDEBD6"/>
          </a:solidFill>
          <a:ln w="12700">
            <a:solidFill>
              <a:srgbClr val="FDEB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417320"/>
            <a:ext cx="8988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2019 report says the average monthly spend per household on a service was ₹1,200. It is now 2024. Assume prices rose 5% a year. (Illustrative.)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66751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passed: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2024 - 2019 = 5 years.</a:t>
            </a:r>
            <a:endParaRPr lang="en-US" sz="2200" dirty="0"/>
          </a:p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factor: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1.05 × 1.05 × 1.05 × 1.05 × 1.05 = 1.2763.</a:t>
            </a:r>
            <a:endParaRPr lang="en-US" sz="2200" dirty="0"/>
          </a:p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spend: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₹1,200 × 1.2763 = ₹1,531.54, about ₹1,532.</a:t>
            </a:r>
            <a:endParaRPr lang="en-US" sz="2200" dirty="0"/>
          </a:p>
          <a:p>
            <a:pPr marL="304800" indent="-304800"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check: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₹1,532 is 27.6% above ₹1,200. Five years of 5% is a bit more than 25%.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98080" y="2606040"/>
            <a:ext cx="4142232" cy="3657600"/>
          </a:xfrm>
          <a:prstGeom prst="roundRect">
            <a:avLst>
              <a:gd name="adj" fmla="val 3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0" y="283464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3246120"/>
            <a:ext cx="359359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₹1,200 would understate today's spend by about ₹332. This only fixes price changes. Habits may have changed too.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mismatched time periods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FDEBD6"/>
          </a:solidFill>
          <a:ln w="12700">
            <a:solidFill>
              <a:srgbClr val="FDEB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417320"/>
            <a:ext cx="8988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firm's source reports quarterly sales (₹ lakh) by calendar quarter. You need the financial year April 2024 to March 2025. (Illustrative.)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66751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Quarters (₹ lakh):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Jan-Mar 24: 10, Apr-Jun 24: 11, Jul-Sep 24: 13, Oct-Dec 24: 14, Jan-Mar 25: 12.</a:t>
            </a:r>
            <a:endParaRPr lang="en-US" sz="2200" dirty="0"/>
          </a:p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2024: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+ 11 + 13 + 14 = ₹48 lakh.</a:t>
            </a:r>
            <a:endParaRPr lang="en-US" sz="2200" dirty="0"/>
          </a:p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2024-25: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Jan-Mar 24, add Jan-Mar 25: 11 + 13 + 14 + 12 = ₹50 lakh.</a:t>
            </a:r>
            <a:endParaRPr lang="en-US" sz="2200" dirty="0"/>
          </a:p>
          <a:p>
            <a:pPr marL="304800" indent="-304800"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50 - 48 = ₹2 lakh, about 4.2% of the calendar figure.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98080" y="2606040"/>
            <a:ext cx="4142232" cy="3657600"/>
          </a:xfrm>
          <a:prstGeom prst="roundRect">
            <a:avLst>
              <a:gd name="adj" fmla="val 3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0" y="283464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3246120"/>
            <a:ext cx="359359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Quoting the calendar total as the financial year figure would understate sales by ₹2 lakh. Always check the period definition.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secondary data in Excel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675120" cy="4846320"/>
          </a:xfrm>
          <a:prstGeom prst="roundRect">
            <a:avLst>
              <a:gd name="adj" fmla="val 2264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6126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=SUMIFS(C:C,B:B,"&gt;="&amp;DATE(2024,4,1),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B:B,"&lt;="&amp;DATE(2025,3,31))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=YEAR(TODAY())-D2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=XLOOKUP(A2,Ref!A:A,Ref!B:B,"not found")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1463040"/>
            <a:ext cx="4142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SUMIFS: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 date range, here the financial year.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age: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the data year from today's year.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XLOOKUP: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records to a reference list, with a clear fallback.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column naming the source, date and link for every table.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Pitfalls and edge cases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55448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definitions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"Urban" or "active user" can mean different things in two reports. Read the definitions page.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1636" y="141732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0236" y="1645920"/>
            <a:ext cx="457200" cy="457200"/>
          </a:xfrm>
          <a:prstGeom prst="ellipse">
            <a:avLst/>
          </a:prstGeom>
          <a:solidFill>
            <a:srgbClr val="F29E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54596" y="155448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hide groups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60236" y="233172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national average may not describe Bhopal. Look for city or state tables.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3A5B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11480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Copied numbers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89204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sites repeat one original figure. Three links may be one source, not three.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1636" y="397764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0236" y="4206240"/>
            <a:ext cx="457200" cy="457200"/>
          </a:xfrm>
          <a:prstGeom prst="ellipse">
            <a:avLst/>
          </a:prstGeom>
          <a:solidFill>
            <a:srgbClr val="C855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054596" y="411480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bias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60236" y="489204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report paid for by a seller may highlight good news only. Check who funded it.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1074420"/>
          </a:xfrm>
          <a:prstGeom prst="roundRect">
            <a:avLst>
              <a:gd name="adj" fmla="val 1021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2593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417320"/>
            <a:ext cx="9902952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two internal and two external sources of secondary data for a retailer.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674620"/>
            <a:ext cx="11091672" cy="1074420"/>
          </a:xfrm>
          <a:prstGeom prst="roundRect">
            <a:avLst>
              <a:gd name="adj" fmla="val 1021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983230"/>
            <a:ext cx="457200" cy="457200"/>
          </a:xfrm>
          <a:prstGeom prst="ellipse">
            <a:avLst/>
          </a:prstGeom>
          <a:solidFill>
            <a:srgbClr val="F29E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674620"/>
            <a:ext cx="9902952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blog quotes "70% of buyers prefer app orders" with no author, date or method. Which checks fail?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1091672" cy="1074420"/>
          </a:xfrm>
          <a:prstGeom prst="roundRect">
            <a:avLst>
              <a:gd name="adj" fmla="val 1021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240530"/>
            <a:ext cx="457200" cy="457200"/>
          </a:xfrm>
          <a:prstGeom prst="ellipse">
            <a:avLst/>
          </a:prstGeom>
          <a:solidFill>
            <a:srgbClr val="3A5B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931920"/>
            <a:ext cx="9902952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2020 average bill is ₹400. Prices rose 6% a year for 3 years. Estimate the updated bill.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" y="5189220"/>
            <a:ext cx="11091672" cy="1074420"/>
          </a:xfrm>
          <a:prstGeom prst="roundRect">
            <a:avLst>
              <a:gd name="adj" fmla="val 1021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497830"/>
            <a:ext cx="457200" cy="457200"/>
          </a:xfrm>
          <a:prstGeom prst="ellipse">
            <a:avLst/>
          </a:prstGeom>
          <a:solidFill>
            <a:srgbClr val="C855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5189220"/>
            <a:ext cx="9902952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 secondary data be a poor fit for a new product launch?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561795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17320"/>
            <a:ext cx="10405872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data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collected by others for another purpose.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435962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291486"/>
            <a:ext cx="10405872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records, government, published reports, commercial and online.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310128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165653"/>
            <a:ext cx="10405872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who, why, when, how, and cross-check with another source.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4184294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4039819"/>
            <a:ext cx="10405872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values and mismatched periods before you compare.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5058461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913986"/>
            <a:ext cx="10405872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secondary data, then collect primary data for the gaps.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Choosing the Right Data Collection Method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1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MT Data">
  <a:themeElements>
    <a:clrScheme name="BMT Data">
      <a:dk1>
        <a:srgbClr val="14213D"/>
      </a:dk1>
      <a:lt1>
        <a:srgbClr val="FFFFFF"/>
      </a:lt1>
      <a:dk2>
        <a:srgbClr val="0B6E6E"/>
      </a:dk2>
      <a:lt2>
        <a:srgbClr val="EEF3F6"/>
      </a:lt2>
      <a:accent1>
        <a:srgbClr val="0F8B8D"/>
      </a:accent1>
      <a:accent2>
        <a:srgbClr val="F29E4C"/>
      </a:accent2>
      <a:accent3>
        <a:srgbClr val="3A5BA0"/>
      </a:accent3>
      <a:accent4>
        <a:srgbClr val="C8553D"/>
      </a:accent4>
      <a:accent5>
        <a:srgbClr val="6E9B2F"/>
      </a:accent5>
      <a:accent6>
        <a:srgbClr val="8E6BBF"/>
      </a:accent6>
      <a:hlink>
        <a:srgbClr val="0F8B8D"/>
      </a:hlink>
      <a:folHlink>
        <a:srgbClr val="8E6BBF"/>
      </a:folHlink>
    </a:clrScheme>
    <a:fontScheme name="BMT Dat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SAGE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Secondary Data</dc:title>
  <dc:subject>Business Management Tools I</dc:subject>
  <dc:creator>Sushant Bhargav</dc:creator>
  <cp:lastModifiedBy>Sushant Bhargav</cp:lastModifiedBy>
  <cp:revision>1</cp:revision>
  <dcterms:created xsi:type="dcterms:W3CDTF">2026-10-07T01:36:12Z</dcterms:created>
  <dcterms:modified xsi:type="dcterms:W3CDTF">2026-10-07T01:36:12Z</dcterms:modified>
</cp:coreProperties>
</file>