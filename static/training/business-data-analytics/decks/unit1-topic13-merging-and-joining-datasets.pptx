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pic 13: Merging and Joining Datasets" id="{9b256ef1-e29d-6260-33c9-cca9a9e718dc}">
          <p14:sldIdLst>
            <p14:sldId id="256"/>
            <p14:sldId id="257"/>
            <p14:sldId id="258"/>
            <p14:sldId id="259"/>
            <p14:sldId id="260"/>
            <p14:sldId id="261"/>
            <p14:sldId id="262"/>
            <p14:sldId id="263"/>
            <p14:sldId id="264"/>
            <p14:sldId id="265"/>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analysis needs data from more than one table. This session covers keys, the four join types, lookup formulas and the edge cases that quietly corrupt totals.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an orders sheet holds customer IDs but not city. How would you find sales by city? That is a join. Predicting row counts before running a join is the skill we are building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test: can two rows in the lookup table share the same key? If yes, the join will duplicate rows. We return to this in the duplicate key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confuse the two. Draw two rectangles: append makes the rectangle taller, merge makes it wider. Before appending, check that column names and types match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tables are used on every following slide. Look for the two traps: C4 appears only in Orders, and C3 appears only in Customers. Ask students to predict what each join will do with those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Power Query these are called Inner, Left Outer, Right Outer and Full Outer. Left and right depend on which table you picked first, so say clearly which is which. Most real work uses the left join.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with the two tables on the earlier slide in mind. The inner join silently drops order O4, so the total falls from 1950 to 1250. That is a missing ₹700 of sales. Ask the class which join to use for a sales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Percentage check: 700 divided by 1950 is about 35.9 percent, so we say 36 percent. The blank city row is a data quality issue to fix at the source, not a reason to hide the sale. Always reconcile the joined total with the original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lookup behaves like a left join: every row of the current sheet stays. The VLOOKUP column number 3 breaks if someone inserts a column, one more reason to prefer XLOOKUP. Without FALSE, VLOOKUP assumes sorted data and may return a wrong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#N/A in VLOOKUP first, then wrap it with IFERROR. Warn that IFERROR also hides other errors such as a wrong sheet name, so XLOOKUP with a not-found text is safer. Ask what you would do about O4 in real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match count message in the merge window is a quick check: it says "The selection matched 3 of 4 rows from the first table". Read it aloud. The merge is stored as steps, so it refreshes when either table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dangerous join error because nothing looks broken. Row count rises from 4 to 6 and the total jumps. Percent check: 750 divided by 1950 is about 38.5 percent, shown as 38. The fix is to remove duplicates from the lookup table first, or check with COUNTIF.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causes explain most wrong joins. Cleaning keys with TRIM and consistent data types is the same skill from the cleaning topic. Ask students to give a check for each 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five minutes. Question 1 is a good one to draw on the board with two boxes. Question 2 reuses the duplicate key idea from the worked example.
ANSWERS
1. Inner 3. Left 5. Full 5 (A has 2 unmatched rows, B has 0 unmatched: 3 + 2 + 0 = 5).
2. 2 orders × 3 customer rows = 6 rows. The duplicate keys inflate the result.
3. Left join. It keeps every order, including those with missing customer data. An inner join silently drops sales.
4. Append, because the records are different and the columns are the same. 120 + 95 = 215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p:bgPr>
    </p:bg>
    <p:spTree>
      <p:nvGrpSpPr>
        <p:cNvPr id="1" name=""/>
        <p:cNvGrpSpPr/>
        <p:nvPr/>
      </p:nvGrpSpPr>
      <p:grpSpPr>
        <a:xfrm>
          <a:off x="0" y="0"/>
          <a:ext cx="0" cy="0"/>
          <a:chOff x="0" y="0"/>
          <a:chExt cx="0" cy="0"/>
        </a:xfrm>
      </p:grpSpPr>
      <p:sp>
        <p:nvSpPr>
          <p:cNvPr id="2" name="Text 0"/>
          <p:cNvSpPr/>
          <p:nvPr>
            <p:ph idx="103" type="title" hasCustomPrompt="1"/>
          </p:nvPr>
        </p:nvSpPr>
        <p:spPr>
          <a:xfrm>
            <a:off x="731520" y="2103120"/>
            <a:ext cx="7863840" cy="1828800"/>
          </a:xfrm>
          <a:prstGeom prst="rect">
            <a:avLst/>
          </a:prstGeom>
          <a:noFill/>
          <a:ln/>
        </p:spPr>
        <p:txBody>
          <a:bodyPr wrap="square" rtlCol="0"/>
          <a:lstStyle>
            <a:lvl1pPr algn="l" indent="0" marL="0">
              <a:buNone/>
              <a:defRPr lang="en-US" sz="4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4" type="body" hasCustomPrompt="1"/>
          </p:nvPr>
        </p:nvSpPr>
        <p:spPr>
          <a:xfrm>
            <a:off x="731520" y="4114800"/>
            <a:ext cx="7680960" cy="914400"/>
          </a:xfrm>
          <a:prstGeom prst="rect">
            <a:avLst/>
          </a:prstGeom>
          <a:noFill/>
          <a:ln/>
        </p:spPr>
        <p:txBody>
          <a:bodyPr wrap="square" rtlCol="0"/>
          <a:lstStyle>
            <a:lvl1pPr algn="l" indent="0" marL="0">
              <a:buNone/>
              <a:defRPr lang="en-US" sz="2000" dirty="0">
                <a:solidFill>
                  <a:srgbClr val="C9D6E6"/>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56667A"/>
                </a:solidFill>
                <a:latin typeface="Calibri" pitchFamily="34" charset="0"/>
                <a:ea typeface="Calibri" pitchFamily="34" charset="-122"/>
                <a:cs typeface="Calibri" pitchFamily="34" charset="-120"/>
              </a:rPr>
              <a:t>Business Management Tools I · AE25UCBM001  |  Unit I: Introduction to Data Analysis</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9FB1C8"/>
                </a:solidFill>
                <a:latin typeface="Calibri" pitchFamily="34" charset="0"/>
                <a:ea typeface="Calibri" pitchFamily="34" charset="-122"/>
                <a:cs typeface="Calibri" pitchFamily="34" charset="-120"/>
              </a:rPr>
              <a:t>Business Management Tools I · AE25UCBM001  |  Unit I: Introduction to Data Analysis</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554480"/>
            <a:ext cx="7863840" cy="365760"/>
          </a:xfrm>
          <a:prstGeom prst="rect">
            <a:avLst/>
          </a:prstGeom>
          <a:noFill/>
          <a:ln/>
        </p:spPr>
        <p:txBody>
          <a:bodyPr wrap="square" lIns="0" tIns="0" rIns="0" bIns="0" rtlCol="0" anchor="ctr"/>
          <a:lstStyle/>
          <a:p>
            <a:pPr indent="0" marL="0">
              <a:buNone/>
            </a:pPr>
            <a:r>
              <a:rPr lang="en-US" sz="1400" b="1" spc="300" kern="0" dirty="0">
                <a:solidFill>
                  <a:srgbClr val="F29E4C"/>
                </a:solidFill>
                <a:latin typeface="Calibri" pitchFamily="34" charset="0"/>
                <a:ea typeface="Calibri" pitchFamily="34" charset="-122"/>
                <a:cs typeface="Calibri" pitchFamily="34" charset="-120"/>
              </a:rPr>
              <a:t>UNIT I  ·  TOPIC 13</a:t>
            </a:r>
            <a:endParaRPr lang="en-US" sz="1400" dirty="0"/>
          </a:p>
        </p:txBody>
      </p:sp>
      <p:sp>
        <p:nvSpPr>
          <p:cNvPr id="3" name="Text 0"/>
          <p:cNvSpPr/>
          <p:nvPr>
            <p:ph idx="103" type="title" hasCustomPrompt="1"/>
          </p:nvPr>
        </p:nvSpPr>
        <p:spPr>
          <a:xfrm>
            <a:off x="731520" y="2103120"/>
            <a:ext cx="7863840" cy="1828800"/>
          </a:xfrm>
          <a:prstGeom prst="rect">
            <a:avLst/>
          </a:prstGeom>
          <a:noFill/>
          <a:ln/>
        </p:spPr>
        <p:txBody>
          <a:bodyPr wrap="square" lIns="0" tIns="0" rIns="0" bIns="0" rtlCol="0" anchor="t"/>
          <a:lstStyle/>
          <a:p>
            <a:pPr algn="l" indent="0" marL="0">
              <a:buNone/>
            </a:pPr>
            <a:r>
              <a:rPr lang="en-US" sz="4200" b="1" dirty="0">
                <a:solidFill>
                  <a:srgbClr val="FFFFFF"/>
                </a:solidFill>
                <a:latin typeface="Cambria" pitchFamily="34" charset="0"/>
                <a:ea typeface="Cambria" pitchFamily="34" charset="-122"/>
                <a:cs typeface="Cambria" pitchFamily="34" charset="-120"/>
              </a:rPr>
              <a:t>Merging and Joining Datasets</a:t>
            </a:r>
            <a:endParaRPr lang="en-US" sz="4200" dirty="0"/>
          </a:p>
        </p:txBody>
      </p:sp>
      <p:sp>
        <p:nvSpPr>
          <p:cNvPr id="4" name="Text 0"/>
          <p:cNvSpPr/>
          <p:nvPr>
            <p:ph idx="104" type="body" hasCustomPrompt="1"/>
          </p:nvPr>
        </p:nvSpPr>
        <p:spPr>
          <a:xfrm>
            <a:off x="731520" y="4114800"/>
            <a:ext cx="7680960" cy="914400"/>
          </a:xfrm>
          <a:prstGeom prst="rect">
            <a:avLst/>
          </a:prstGeom>
          <a:noFill/>
          <a:ln/>
        </p:spPr>
        <p:txBody>
          <a:bodyPr wrap="square" lIns="0" tIns="0" rIns="0" bIns="0" rtlCol="0" anchor="t"/>
          <a:lstStyle/>
          <a:p>
            <a:pPr algn="l" indent="0" marL="0">
              <a:buNone/>
            </a:pPr>
            <a:r>
              <a:rPr lang="en-US" sz="2000" dirty="0">
                <a:solidFill>
                  <a:srgbClr val="C9D6E6"/>
                </a:solidFill>
                <a:latin typeface="Calibri" pitchFamily="34" charset="0"/>
                <a:ea typeface="Calibri" pitchFamily="34" charset="-122"/>
                <a:cs typeface="Calibri" pitchFamily="34" charset="-120"/>
              </a:rPr>
              <a:t>Introduction to Data Analysis</a:t>
            </a:r>
            <a:endParaRPr lang="en-US" sz="2000" dirty="0"/>
          </a:p>
          <a:p>
            <a:pPr algn="l" indent="0" marL="0">
              <a:buNone/>
            </a:pPr>
            <a:r>
              <a:rPr lang="en-US" sz="2000" dirty="0">
                <a:solidFill>
                  <a:srgbClr val="C9D6E6"/>
                </a:solidFill>
                <a:latin typeface="Calibri" pitchFamily="34" charset="0"/>
                <a:ea typeface="Calibri" pitchFamily="34" charset="-122"/>
                <a:cs typeface="Calibri" pitchFamily="34" charset="-120"/>
              </a:rPr>
              <a:t>Business Management Tools I (AE25UCBM001)  ·  SAGE University, Bhopal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What you will learn</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Define </a:t>
            </a:r>
            <a:pPr indent="0" marL="0">
              <a:buNone/>
            </a:pPr>
            <a:r>
              <a:rPr lang="en-US" sz="2400" dirty="0">
                <a:solidFill>
                  <a:srgbClr val="2B3A4F"/>
                </a:solidFill>
                <a:latin typeface="Calibri" pitchFamily="34" charset="0"/>
                <a:ea typeface="Calibri" pitchFamily="34" charset="-122"/>
                <a:cs typeface="Calibri" pitchFamily="34" charset="-120"/>
              </a:rPr>
              <a:t>a key and explain why it must match across tables.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Distinguish </a:t>
            </a:r>
            <a:pPr indent="0" marL="0">
              <a:buNone/>
            </a:pPr>
            <a:r>
              <a:rPr lang="en-US" sz="2400" dirty="0">
                <a:solidFill>
                  <a:srgbClr val="2B3A4F"/>
                </a:solidFill>
                <a:latin typeface="Calibri" pitchFamily="34" charset="0"/>
                <a:ea typeface="Calibri" pitchFamily="34" charset="-122"/>
                <a:cs typeface="Calibri" pitchFamily="34" charset="-120"/>
              </a:rPr>
              <a:t>append (stack rows) from merge (add columns).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Predict </a:t>
            </a:r>
            <a:pPr indent="0" marL="0">
              <a:buNone/>
            </a:pPr>
            <a:r>
              <a:rPr lang="en-US" sz="2400" dirty="0">
                <a:solidFill>
                  <a:srgbClr val="2B3A4F"/>
                </a:solidFill>
                <a:latin typeface="Calibri" pitchFamily="34" charset="0"/>
                <a:ea typeface="Calibri" pitchFamily="34" charset="-122"/>
                <a:cs typeface="Calibri" pitchFamily="34" charset="-120"/>
              </a:rPr>
              <a:t>row counts for inner, left, right and full joins.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Use </a:t>
            </a:r>
            <a:pPr indent="0" marL="0">
              <a:buNone/>
            </a:pPr>
            <a:r>
              <a:rPr lang="en-US" sz="2400" dirty="0">
                <a:solidFill>
                  <a:srgbClr val="2B3A4F"/>
                </a:solidFill>
                <a:latin typeface="Calibri" pitchFamily="34" charset="0"/>
                <a:ea typeface="Calibri" pitchFamily="34" charset="-122"/>
                <a:cs typeface="Calibri" pitchFamily="34" charset="-120"/>
              </a:rPr>
              <a:t>XLOOKUP, VLOOKUP and Power Query Merge.</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Detect </a:t>
            </a:r>
            <a:pPr indent="0" marL="0">
              <a:buNone/>
            </a:pPr>
            <a:r>
              <a:rPr lang="en-US" sz="2400" dirty="0">
                <a:solidFill>
                  <a:srgbClr val="2B3A4F"/>
                </a:solidFill>
                <a:latin typeface="Calibri" pitchFamily="34" charset="0"/>
                <a:ea typeface="Calibri" pitchFamily="34" charset="-122"/>
                <a:cs typeface="Calibri" pitchFamily="34" charset="-120"/>
              </a:rPr>
              <a:t>unmatched rows and duplicate keys before they distort totals.</a:t>
            </a:r>
            <a:endParaRPr lang="en-US" sz="2400" dirty="0"/>
          </a:p>
        </p:txBody>
      </p:sp>
      <p:sp>
        <p:nvSpPr>
          <p:cNvPr id="4" name="Shape 2"/>
          <p:cNvSpPr/>
          <p:nvPr/>
        </p:nvSpPr>
        <p:spPr>
          <a:xfrm>
            <a:off x="7680960" y="1417320"/>
            <a:ext cx="3959352" cy="4846320"/>
          </a:xfrm>
          <a:prstGeom prst="roundRect">
            <a:avLst>
              <a:gd name="adj" fmla="val 2771"/>
            </a:avLst>
          </a:prstGeom>
          <a:solidFill>
            <a:srgbClr val="DDF0F0"/>
          </a:solidFill>
          <a:ln w="12700">
            <a:solidFill>
              <a:srgbClr val="DDF0F0"/>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BIG IDEA</a:t>
            </a:r>
            <a:endParaRPr lang="en-US" sz="1200" dirty="0"/>
          </a:p>
        </p:txBody>
      </p:sp>
      <p:sp>
        <p:nvSpPr>
          <p:cNvPr id="6" name="Text 4"/>
          <p:cNvSpPr txBox="1"/>
          <p:nvPr/>
        </p:nvSpPr>
        <p:spPr>
          <a:xfrm>
            <a:off x="7955280" y="2148840"/>
            <a:ext cx="3410712" cy="914400"/>
          </a:xfrm>
          <a:prstGeom prst="rect">
            <a:avLst/>
          </a:prstGeom>
          <a:noFill/>
          <a:ln/>
        </p:spPr>
        <p:txBody>
          <a:bodyPr wrap="square" lIns="0" tIns="0" rIns="0" bIns="0" rtlCol="0" anchor="ctr"/>
          <a:lstStyle/>
          <a:p>
            <a:pPr indent="0" marL="0">
              <a:buNone/>
            </a:pPr>
            <a:r>
              <a:rPr lang="en-US" sz="4800" b="1" dirty="0">
                <a:solidFill>
                  <a:srgbClr val="14213D"/>
                </a:solidFill>
                <a:latin typeface="Cambria" pitchFamily="34" charset="0"/>
                <a:ea typeface="Cambria" pitchFamily="34" charset="-122"/>
                <a:cs typeface="Cambria" pitchFamily="34" charset="-120"/>
              </a:rPr>
              <a:t>1</a:t>
            </a:r>
            <a:endParaRPr lang="en-US" sz="4800" dirty="0"/>
          </a:p>
        </p:txBody>
      </p:sp>
      <p:sp>
        <p:nvSpPr>
          <p:cNvPr id="7" name="Text 5"/>
          <p:cNvSpPr txBox="1"/>
          <p:nvPr/>
        </p:nvSpPr>
        <p:spPr>
          <a:xfrm>
            <a:off x="7955280" y="3154680"/>
            <a:ext cx="3410712" cy="283464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key column links two tables. If the key is wrong or duplicated, every number built on the join is wrong.</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Keys: the link between tables</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300" b="1" dirty="0">
                <a:solidFill>
                  <a:srgbClr val="14213D"/>
                </a:solidFill>
                <a:latin typeface="Calibri" pitchFamily="34" charset="0"/>
                <a:ea typeface="Calibri" pitchFamily="34" charset="-122"/>
                <a:cs typeface="Calibri" pitchFamily="34" charset="-120"/>
              </a:rPr>
              <a:t>A key </a:t>
            </a:r>
            <a:pPr indent="0" marL="0">
              <a:buNone/>
            </a:pPr>
            <a:r>
              <a:rPr lang="en-US" sz="2300" dirty="0">
                <a:solidFill>
                  <a:srgbClr val="2B3A4F"/>
                </a:solidFill>
                <a:latin typeface="Calibri" pitchFamily="34" charset="0"/>
                <a:ea typeface="Calibri" pitchFamily="34" charset="-122"/>
                <a:cs typeface="Calibri" pitchFamily="34" charset="-120"/>
              </a:rPr>
              <a:t>is a column that identifies a record, such as CustomerID or product code.</a:t>
            </a:r>
            <a:endParaRPr lang="en-US" sz="2300" dirty="0"/>
          </a:p>
          <a:p>
            <a:pPr marL="228600" indent="-228600">
              <a:spcAft>
                <a:spcPts val="1000"/>
              </a:spcAft>
              <a:buSzPct val="100000"/>
              <a:buChar char="•"/>
            </a:pPr>
            <a:r>
              <a:rPr lang="en-US" sz="2300" b="1" dirty="0">
                <a:solidFill>
                  <a:srgbClr val="14213D"/>
                </a:solidFill>
                <a:latin typeface="Calibri" pitchFamily="34" charset="0"/>
                <a:ea typeface="Calibri" pitchFamily="34" charset="-122"/>
                <a:cs typeface="Calibri" pitchFamily="34" charset="-120"/>
              </a:rPr>
              <a:t>Primary key: </a:t>
            </a:r>
            <a:pPr indent="0" marL="0">
              <a:buNone/>
            </a:pPr>
            <a:r>
              <a:rPr lang="en-US" sz="2300" dirty="0">
                <a:solidFill>
                  <a:srgbClr val="2B3A4F"/>
                </a:solidFill>
                <a:latin typeface="Calibri" pitchFamily="34" charset="0"/>
                <a:ea typeface="Calibri" pitchFamily="34" charset="-122"/>
                <a:cs typeface="Calibri" pitchFamily="34" charset="-120"/>
              </a:rPr>
              <a:t>unique in its own table, so each customer appears once.</a:t>
            </a:r>
            <a:endParaRPr lang="en-US" sz="2300" dirty="0"/>
          </a:p>
          <a:p>
            <a:pPr marL="228600" indent="-228600">
              <a:spcAft>
                <a:spcPts val="1000"/>
              </a:spcAft>
              <a:buSzPct val="100000"/>
              <a:buChar char="•"/>
            </a:pPr>
            <a:r>
              <a:rPr lang="en-US" sz="2300" b="1" dirty="0">
                <a:solidFill>
                  <a:srgbClr val="14213D"/>
                </a:solidFill>
                <a:latin typeface="Calibri" pitchFamily="34" charset="0"/>
                <a:ea typeface="Calibri" pitchFamily="34" charset="-122"/>
                <a:cs typeface="Calibri" pitchFamily="34" charset="-120"/>
              </a:rPr>
              <a:t>Foreign key: </a:t>
            </a:r>
            <a:pPr indent="0" marL="0">
              <a:buNone/>
            </a:pPr>
            <a:r>
              <a:rPr lang="en-US" sz="2300" dirty="0">
                <a:solidFill>
                  <a:srgbClr val="2B3A4F"/>
                </a:solidFill>
                <a:latin typeface="Calibri" pitchFamily="34" charset="0"/>
                <a:ea typeface="Calibri" pitchFamily="34" charset="-122"/>
                <a:cs typeface="Calibri" pitchFamily="34" charset="-120"/>
              </a:rPr>
              <a:t>the same ID used in another table, so many orders can share one customer.</a:t>
            </a:r>
            <a:endParaRPr lang="en-US" sz="2300" dirty="0"/>
          </a:p>
          <a:p>
            <a:pPr marL="228600" indent="-228600">
              <a:spcAft>
                <a:spcPts val="1000"/>
              </a:spcAft>
              <a:buSzPct val="100000"/>
              <a:buChar char="•"/>
            </a:pPr>
            <a:r>
              <a:rPr lang="en-US" sz="2300" b="1" dirty="0">
                <a:solidFill>
                  <a:srgbClr val="14213D"/>
                </a:solidFill>
                <a:latin typeface="Calibri" pitchFamily="34" charset="0"/>
                <a:ea typeface="Calibri" pitchFamily="34" charset="-122"/>
                <a:cs typeface="Calibri" pitchFamily="34" charset="-120"/>
              </a:rPr>
              <a:t>Match rules: </a:t>
            </a:r>
            <a:pPr indent="0" marL="0">
              <a:buNone/>
            </a:pPr>
            <a:r>
              <a:rPr lang="en-US" sz="2300" dirty="0">
                <a:solidFill>
                  <a:srgbClr val="2B3A4F"/>
                </a:solidFill>
                <a:latin typeface="Calibri" pitchFamily="34" charset="0"/>
                <a:ea typeface="Calibri" pitchFamily="34" charset="-122"/>
                <a:cs typeface="Calibri" pitchFamily="34" charset="-120"/>
              </a:rPr>
              <a:t>values must be identical in type, spelling and spaces.</a:t>
            </a:r>
            <a:endParaRPr lang="en-US" sz="2300" dirty="0"/>
          </a:p>
          <a:p>
            <a:pPr marL="228600" indent="-228600">
              <a:buSzPct val="100000"/>
              <a:buChar char="•"/>
            </a:pPr>
            <a:r>
              <a:rPr lang="en-US" sz="2300" b="1" dirty="0">
                <a:solidFill>
                  <a:srgbClr val="14213D"/>
                </a:solidFill>
                <a:latin typeface="Calibri" pitchFamily="34" charset="0"/>
                <a:ea typeface="Calibri" pitchFamily="34" charset="-122"/>
                <a:cs typeface="Calibri" pitchFamily="34" charset="-120"/>
              </a:rPr>
              <a:t>One-to-many </a:t>
            </a:r>
            <a:pPr indent="0" marL="0">
              <a:buNone/>
            </a:pPr>
            <a:r>
              <a:rPr lang="en-US" sz="2300" dirty="0">
                <a:solidFill>
                  <a:srgbClr val="2B3A4F"/>
                </a:solidFill>
                <a:latin typeface="Calibri" pitchFamily="34" charset="0"/>
                <a:ea typeface="Calibri" pitchFamily="34" charset="-122"/>
                <a:cs typeface="Calibri" pitchFamily="34" charset="-120"/>
              </a:rPr>
              <a:t>is the usual shape: one customer, many orders.</a:t>
            </a:r>
            <a:endParaRPr lang="en-US" sz="2300" dirty="0"/>
          </a:p>
        </p:txBody>
      </p:sp>
      <p:sp>
        <p:nvSpPr>
          <p:cNvPr id="4" name="Shape 2"/>
          <p:cNvSpPr/>
          <p:nvPr/>
        </p:nvSpPr>
        <p:spPr>
          <a:xfrm>
            <a:off x="7680960" y="1417320"/>
            <a:ext cx="3959352" cy="4846320"/>
          </a:xfrm>
          <a:prstGeom prst="roundRect">
            <a:avLst>
              <a:gd name="adj" fmla="val 2771"/>
            </a:avLst>
          </a:prstGeom>
          <a:solidFill>
            <a:srgbClr val="FDEBD6"/>
          </a:solidFill>
          <a:ln w="12700">
            <a:solidFill>
              <a:srgbClr val="FDEBD6"/>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EXAMPLE</a:t>
            </a:r>
            <a:endParaRPr lang="en-US" sz="1200" dirty="0"/>
          </a:p>
        </p:txBody>
      </p:sp>
      <p:sp>
        <p:nvSpPr>
          <p:cNvPr id="6" name="Text 4"/>
          <p:cNvSpPr txBox="1"/>
          <p:nvPr/>
        </p:nvSpPr>
        <p:spPr>
          <a:xfrm>
            <a:off x="7955280" y="2148840"/>
            <a:ext cx="3410712" cy="384048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CustomerID 101 stored as the number 101 in one file and as the text "101" in another will not match.</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Append versus merge</a:t>
            </a:r>
            <a:endParaRPr lang="en-US" sz="2800" dirty="0"/>
          </a:p>
        </p:txBody>
      </p:sp>
      <p:sp>
        <p:nvSpPr>
          <p:cNvPr id="3" name="Shape 1"/>
          <p:cNvSpPr/>
          <p:nvPr/>
        </p:nvSpPr>
        <p:spPr>
          <a:xfrm>
            <a:off x="548640" y="1417320"/>
            <a:ext cx="5385816" cy="3886200"/>
          </a:xfrm>
          <a:prstGeom prst="roundRect">
            <a:avLst>
              <a:gd name="adj" fmla="val 2824"/>
            </a:avLst>
          </a:prstGeom>
          <a:solidFill>
            <a:srgbClr val="EEF3F6"/>
          </a:solidFill>
          <a:ln w="12700">
            <a:solidFill>
              <a:srgbClr val="EEF3F6"/>
            </a:solidFill>
            <a:prstDash val="solid"/>
          </a:ln>
        </p:spPr>
      </p:sp>
      <p:sp>
        <p:nvSpPr>
          <p:cNvPr id="4" name="Shape 2"/>
          <p:cNvSpPr/>
          <p:nvPr/>
        </p:nvSpPr>
        <p:spPr>
          <a:xfrm>
            <a:off x="548640" y="1417320"/>
            <a:ext cx="5385816" cy="640080"/>
          </a:xfrm>
          <a:prstGeom prst="roundRect">
            <a:avLst>
              <a:gd name="adj" fmla="val 17143"/>
            </a:avLst>
          </a:prstGeom>
          <a:solidFill>
            <a:srgbClr val="0F8B8D"/>
          </a:solidFill>
          <a:ln w="12700">
            <a:solidFill>
              <a:srgbClr val="0F8B8D"/>
            </a:solidFill>
            <a:prstDash val="solid"/>
          </a:ln>
        </p:spPr>
      </p:sp>
      <p:sp>
        <p:nvSpPr>
          <p:cNvPr id="5" name="Text 3"/>
          <p:cNvSpPr txBox="1"/>
          <p:nvPr/>
        </p:nvSpPr>
        <p:spPr>
          <a:xfrm>
            <a:off x="822960"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Append: stack rows</a:t>
            </a:r>
            <a:endParaRPr lang="en-US" sz="2000" dirty="0"/>
          </a:p>
        </p:txBody>
      </p:sp>
      <p:sp>
        <p:nvSpPr>
          <p:cNvPr id="6" name="Text 4"/>
          <p:cNvSpPr txBox="1"/>
          <p:nvPr/>
        </p:nvSpPr>
        <p:spPr>
          <a:xfrm>
            <a:off x="822960"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100" dirty="0">
                <a:solidFill>
                  <a:srgbClr val="2B3A4F"/>
                </a:solidFill>
                <a:latin typeface="Calibri" pitchFamily="34" charset="0"/>
                <a:ea typeface="Calibri" pitchFamily="34" charset="-122"/>
                <a:cs typeface="Calibri" pitchFamily="34" charset="-120"/>
              </a:rPr>
              <a:t>Same columns, different rows.</a:t>
            </a:r>
            <a:endParaRPr lang="en-US" sz="2100" dirty="0"/>
          </a:p>
          <a:p>
            <a:pPr marL="228600" indent="-228600">
              <a:spcAft>
                <a:spcPts val="800"/>
              </a:spcAft>
              <a:buSzPct val="100000"/>
              <a:buChar char="•"/>
            </a:pPr>
            <a:r>
              <a:rPr lang="en-US" sz="2100" b="1" dirty="0">
                <a:solidFill>
                  <a:srgbClr val="14213D"/>
                </a:solidFill>
                <a:latin typeface="Calibri" pitchFamily="34" charset="0"/>
                <a:ea typeface="Calibri" pitchFamily="34" charset="-122"/>
                <a:cs typeface="Calibri" pitchFamily="34" charset="-120"/>
              </a:rPr>
              <a:t>Example: </a:t>
            </a:r>
            <a:pPr indent="0" marL="0">
              <a:buNone/>
            </a:pPr>
            <a:r>
              <a:rPr lang="en-US" sz="2100" dirty="0">
                <a:solidFill>
                  <a:srgbClr val="2B3A4F"/>
                </a:solidFill>
                <a:latin typeface="Calibri" pitchFamily="34" charset="0"/>
                <a:ea typeface="Calibri" pitchFamily="34" charset="-122"/>
                <a:cs typeface="Calibri" pitchFamily="34" charset="-120"/>
              </a:rPr>
              <a:t>January file with 4 orders and February file with 3 orders.</a:t>
            </a:r>
            <a:endParaRPr lang="en-US" sz="2100" dirty="0"/>
          </a:p>
          <a:p>
            <a:pPr marL="228600" indent="-228600">
              <a:spcAft>
                <a:spcPts val="800"/>
              </a:spcAft>
              <a:buSzPct val="100000"/>
              <a:buChar char="•"/>
            </a:pPr>
            <a:r>
              <a:rPr lang="en-US" sz="2100" b="1" dirty="0">
                <a:solidFill>
                  <a:srgbClr val="14213D"/>
                </a:solidFill>
                <a:latin typeface="Calibri" pitchFamily="34" charset="0"/>
                <a:ea typeface="Calibri" pitchFamily="34" charset="-122"/>
                <a:cs typeface="Calibri" pitchFamily="34" charset="-120"/>
              </a:rPr>
              <a:t>Result: </a:t>
            </a:r>
            <a:pPr indent="0" marL="0">
              <a:buNone/>
            </a:pPr>
            <a:r>
              <a:rPr lang="en-US" sz="2100" dirty="0">
                <a:solidFill>
                  <a:srgbClr val="2B3A4F"/>
                </a:solidFill>
                <a:latin typeface="Calibri" pitchFamily="34" charset="0"/>
                <a:ea typeface="Calibri" pitchFamily="34" charset="-122"/>
                <a:cs typeface="Calibri" pitchFamily="34" charset="-120"/>
              </a:rPr>
              <a:t>7 rows, same columns as before.</a:t>
            </a:r>
            <a:endParaRPr lang="en-US" sz="2100" dirty="0"/>
          </a:p>
          <a:p>
            <a:pPr marL="228600" indent="-228600">
              <a:buSzPct val="100000"/>
              <a:buChar char="•"/>
            </a:pPr>
            <a:r>
              <a:rPr lang="en-US" sz="2100" b="1" dirty="0">
                <a:solidFill>
                  <a:srgbClr val="14213D"/>
                </a:solidFill>
                <a:latin typeface="Calibri" pitchFamily="34" charset="0"/>
                <a:ea typeface="Calibri" pitchFamily="34" charset="-122"/>
                <a:cs typeface="Calibri" pitchFamily="34" charset="-120"/>
              </a:rPr>
              <a:t>Excel: </a:t>
            </a:r>
            <a:pPr indent="0" marL="0">
              <a:buNone/>
            </a:pPr>
            <a:r>
              <a:rPr lang="en-US" sz="2100" dirty="0">
                <a:solidFill>
                  <a:srgbClr val="2B3A4F"/>
                </a:solidFill>
                <a:latin typeface="Calibri" pitchFamily="34" charset="0"/>
                <a:ea typeface="Calibri" pitchFamily="34" charset="-122"/>
                <a:cs typeface="Calibri" pitchFamily="34" charset="-120"/>
              </a:rPr>
              <a:t>Power Query Append Queries, or copy and paste.</a:t>
            </a:r>
            <a:endParaRPr lang="en-US" sz="2100" dirty="0"/>
          </a:p>
        </p:txBody>
      </p:sp>
      <p:sp>
        <p:nvSpPr>
          <p:cNvPr id="7" name="Shape 5"/>
          <p:cNvSpPr/>
          <p:nvPr/>
        </p:nvSpPr>
        <p:spPr>
          <a:xfrm>
            <a:off x="6254496" y="1417320"/>
            <a:ext cx="5385816" cy="3886200"/>
          </a:xfrm>
          <a:prstGeom prst="roundRect">
            <a:avLst>
              <a:gd name="adj" fmla="val 2824"/>
            </a:avLst>
          </a:prstGeom>
          <a:solidFill>
            <a:srgbClr val="EEF3F6"/>
          </a:solidFill>
          <a:ln w="12700">
            <a:solidFill>
              <a:srgbClr val="EEF3F6"/>
            </a:solidFill>
            <a:prstDash val="solid"/>
          </a:ln>
        </p:spPr>
      </p:sp>
      <p:sp>
        <p:nvSpPr>
          <p:cNvPr id="8" name="Shape 6"/>
          <p:cNvSpPr/>
          <p:nvPr/>
        </p:nvSpPr>
        <p:spPr>
          <a:xfrm>
            <a:off x="6254496" y="1417320"/>
            <a:ext cx="5385816" cy="640080"/>
          </a:xfrm>
          <a:prstGeom prst="roundRect">
            <a:avLst>
              <a:gd name="adj" fmla="val 17143"/>
            </a:avLst>
          </a:prstGeom>
          <a:solidFill>
            <a:srgbClr val="3A5BA0"/>
          </a:solidFill>
          <a:ln w="12700">
            <a:solidFill>
              <a:srgbClr val="3A5BA0"/>
            </a:solidFill>
            <a:prstDash val="solid"/>
          </a:ln>
        </p:spPr>
      </p:sp>
      <p:sp>
        <p:nvSpPr>
          <p:cNvPr id="9" name="Text 7"/>
          <p:cNvSpPr txBox="1"/>
          <p:nvPr/>
        </p:nvSpPr>
        <p:spPr>
          <a:xfrm>
            <a:off x="6528816"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Merge: add columns</a:t>
            </a:r>
            <a:endParaRPr lang="en-US" sz="2000" dirty="0"/>
          </a:p>
        </p:txBody>
      </p:sp>
      <p:sp>
        <p:nvSpPr>
          <p:cNvPr id="10" name="Text 8"/>
          <p:cNvSpPr txBox="1"/>
          <p:nvPr/>
        </p:nvSpPr>
        <p:spPr>
          <a:xfrm>
            <a:off x="6528816"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rgbClr val="2B3A4F"/>
                </a:solidFill>
                <a:latin typeface="Calibri" pitchFamily="34" charset="0"/>
                <a:ea typeface="Calibri" pitchFamily="34" charset="-122"/>
                <a:cs typeface="Calibri" pitchFamily="34" charset="-120"/>
              </a:rPr>
              <a:t>Same records, different columns, matched by a key.</a:t>
            </a:r>
            <a:endParaRPr lang="en-US" sz="2000" dirty="0"/>
          </a:p>
          <a:p>
            <a:pPr marL="228600" indent="-228600">
              <a:spcAft>
                <a:spcPts val="800"/>
              </a:spcAft>
              <a:buSzPct val="100000"/>
              <a:buChar char="•"/>
            </a:pPr>
            <a:r>
              <a:rPr lang="en-US" sz="2000" b="1" dirty="0">
                <a:solidFill>
                  <a:srgbClr val="14213D"/>
                </a:solidFill>
                <a:latin typeface="Calibri" pitchFamily="34" charset="0"/>
                <a:ea typeface="Calibri" pitchFamily="34" charset="-122"/>
                <a:cs typeface="Calibri" pitchFamily="34" charset="-120"/>
              </a:rPr>
              <a:t>Example: </a:t>
            </a:r>
            <a:pPr indent="0" marL="0">
              <a:buNone/>
            </a:pPr>
            <a:r>
              <a:rPr lang="en-US" sz="2000" dirty="0">
                <a:solidFill>
                  <a:srgbClr val="2B3A4F"/>
                </a:solidFill>
                <a:latin typeface="Calibri" pitchFamily="34" charset="0"/>
                <a:ea typeface="Calibri" pitchFamily="34" charset="-122"/>
                <a:cs typeface="Calibri" pitchFamily="34" charset="-120"/>
              </a:rPr>
              <a:t>Orders table plus customer city, matched on CustomerID.</a:t>
            </a:r>
            <a:endParaRPr lang="en-US" sz="2000" dirty="0"/>
          </a:p>
          <a:p>
            <a:pPr marL="228600" indent="-228600">
              <a:spcAft>
                <a:spcPts val="800"/>
              </a:spcAft>
              <a:buSzPct val="100000"/>
              <a:buChar char="•"/>
            </a:pPr>
            <a:r>
              <a:rPr lang="en-US" sz="2000" b="1" dirty="0">
                <a:solidFill>
                  <a:srgbClr val="14213D"/>
                </a:solidFill>
                <a:latin typeface="Calibri" pitchFamily="34" charset="0"/>
                <a:ea typeface="Calibri" pitchFamily="34" charset="-122"/>
                <a:cs typeface="Calibri" pitchFamily="34" charset="-120"/>
              </a:rPr>
              <a:t>Result: </a:t>
            </a:r>
            <a:pPr indent="0" marL="0">
              <a:buNone/>
            </a:pPr>
            <a:r>
              <a:rPr lang="en-US" sz="2000" dirty="0">
                <a:solidFill>
                  <a:srgbClr val="2B3A4F"/>
                </a:solidFill>
                <a:latin typeface="Calibri" pitchFamily="34" charset="0"/>
                <a:ea typeface="Calibri" pitchFamily="34" charset="-122"/>
                <a:cs typeface="Calibri" pitchFamily="34" charset="-120"/>
              </a:rPr>
              <a:t>Row count depends on the join type and duplicate keys.</a:t>
            </a:r>
            <a:endParaRPr lang="en-US" sz="2000" dirty="0"/>
          </a:p>
          <a:p>
            <a:pPr marL="228600" indent="-228600">
              <a:buSzPct val="100000"/>
              <a:buChar char="•"/>
            </a:pPr>
            <a:r>
              <a:rPr lang="en-US" sz="2000" b="1" dirty="0">
                <a:solidFill>
                  <a:srgbClr val="14213D"/>
                </a:solidFill>
                <a:latin typeface="Calibri" pitchFamily="34" charset="0"/>
                <a:ea typeface="Calibri" pitchFamily="34" charset="-122"/>
                <a:cs typeface="Calibri" pitchFamily="34" charset="-120"/>
              </a:rPr>
              <a:t>Excel: </a:t>
            </a:r>
            <a:pPr indent="0" marL="0">
              <a:buNone/>
            </a:pPr>
            <a:r>
              <a:rPr lang="en-US" sz="2000" dirty="0">
                <a:solidFill>
                  <a:srgbClr val="2B3A4F"/>
                </a:solidFill>
                <a:latin typeface="Calibri" pitchFamily="34" charset="0"/>
                <a:ea typeface="Calibri" pitchFamily="34" charset="-122"/>
                <a:cs typeface="Calibri" pitchFamily="34" charset="-120"/>
              </a:rPr>
              <a:t>XLOOKUP, or Power Query Merge Queries.</a:t>
            </a:r>
            <a:endParaRPr lang="en-US" sz="2000" dirty="0"/>
          </a:p>
        </p:txBody>
      </p:sp>
      <p:sp>
        <p:nvSpPr>
          <p:cNvPr id="11" name="Shape 9"/>
          <p:cNvSpPr/>
          <p:nvPr/>
        </p:nvSpPr>
        <p:spPr>
          <a:xfrm>
            <a:off x="548640" y="5532120"/>
            <a:ext cx="11091672" cy="731520"/>
          </a:xfrm>
          <a:prstGeom prst="roundRect">
            <a:avLst>
              <a:gd name="adj" fmla="val 15000"/>
            </a:avLst>
          </a:prstGeom>
          <a:solidFill>
            <a:srgbClr val="FDEBD6"/>
          </a:solidFill>
          <a:ln w="12700">
            <a:solidFill>
              <a:srgbClr val="FDEBD6"/>
            </a:solidFill>
            <a:prstDash val="solid"/>
          </a:ln>
        </p:spPr>
      </p:sp>
      <p:sp>
        <p:nvSpPr>
          <p:cNvPr id="12" name="Text 10"/>
          <p:cNvSpPr txBox="1"/>
          <p:nvPr/>
        </p:nvSpPr>
        <p:spPr>
          <a:xfrm>
            <a:off x="822960" y="5532120"/>
            <a:ext cx="10543032" cy="73152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Ask: am I adding more records (append) or more information about the same records (merge)?</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Our two small tables</a:t>
            </a:r>
            <a:endParaRPr lang="en-US" sz="2800" dirty="0"/>
          </a:p>
        </p:txBody>
      </p:sp>
      <p:sp>
        <p:nvSpPr>
          <p:cNvPr id="3" name="Shape 1"/>
          <p:cNvSpPr/>
          <p:nvPr/>
        </p:nvSpPr>
        <p:spPr>
          <a:xfrm>
            <a:off x="548640" y="1417320"/>
            <a:ext cx="5385816" cy="457200"/>
          </a:xfrm>
          <a:prstGeom prst="roundRect">
            <a:avLst>
              <a:gd name="adj" fmla="val 24000"/>
            </a:avLst>
          </a:prstGeom>
          <a:solidFill>
            <a:srgbClr val="C8553D"/>
          </a:solidFill>
          <a:ln w="12700">
            <a:solidFill>
              <a:srgbClr val="C8553D"/>
            </a:solidFill>
            <a:prstDash val="solid"/>
          </a:ln>
        </p:spPr>
      </p:sp>
      <p:sp>
        <p:nvSpPr>
          <p:cNvPr id="4" name="Text 2"/>
          <p:cNvSpPr txBox="1"/>
          <p:nvPr/>
        </p:nvSpPr>
        <p:spPr>
          <a:xfrm>
            <a:off x="731520" y="1417320"/>
            <a:ext cx="5020056"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Orders</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5385816" cy="914400"/>
        </p:xfrm>
        <a:graphic>
          <a:graphicData uri="http://schemas.openxmlformats.org/drawingml/2006/table">
            <a:tbl>
              <a:tblPr/>
              <a:tblGrid>
                <a:gridCol w="1795272"/>
                <a:gridCol w="1795272"/>
                <a:gridCol w="1795272"/>
              </a:tblGrid>
              <a:tr h="38404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OrderID</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CustID</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Amount</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O1</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C1</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500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O2</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C2</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300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O3</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C2</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450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O4</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C4</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700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bl>
          </a:graphicData>
        </a:graphic>
      </p:graphicFrame>
      <p:sp>
        <p:nvSpPr>
          <p:cNvPr id="6" name="Shape 3"/>
          <p:cNvSpPr/>
          <p:nvPr/>
        </p:nvSpPr>
        <p:spPr>
          <a:xfrm>
            <a:off x="6254496" y="1417320"/>
            <a:ext cx="5385816" cy="457200"/>
          </a:xfrm>
          <a:prstGeom prst="roundRect">
            <a:avLst>
              <a:gd name="adj" fmla="val 24000"/>
            </a:avLst>
          </a:prstGeom>
          <a:solidFill>
            <a:srgbClr val="0F8B8D"/>
          </a:solidFill>
          <a:ln w="12700">
            <a:solidFill>
              <a:srgbClr val="0F8B8D"/>
            </a:solidFill>
            <a:prstDash val="solid"/>
          </a:ln>
        </p:spPr>
      </p:sp>
      <p:sp>
        <p:nvSpPr>
          <p:cNvPr id="7" name="Text 4"/>
          <p:cNvSpPr txBox="1"/>
          <p:nvPr/>
        </p:nvSpPr>
        <p:spPr>
          <a:xfrm>
            <a:off x="6437376" y="1417320"/>
            <a:ext cx="5020056"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Customers</a:t>
            </a:r>
            <a:endParaRPr lang="en-US" sz="16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254496" y="2011680"/>
          <a:ext cx="5385816" cy="914400"/>
        </p:xfrm>
        <a:graphic>
          <a:graphicData uri="http://schemas.openxmlformats.org/drawingml/2006/table">
            <a:tbl>
              <a:tblPr/>
              <a:tblGrid>
                <a:gridCol w="1795272"/>
                <a:gridCol w="1795272"/>
                <a:gridCol w="1795272"/>
              </a:tblGrid>
              <a:tr h="38404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CustID</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Name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City</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C1</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Asha</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Bhopal</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C2</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Ravi</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Indore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C3</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Meena</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Bhopal</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5623560"/>
            <a:ext cx="11091672" cy="640080"/>
          </a:xfrm>
          <a:prstGeom prst="roundRect">
            <a:avLst>
              <a:gd name="adj" fmla="val 17143"/>
            </a:avLst>
          </a:prstGeom>
          <a:solidFill>
            <a:srgbClr val="FDEBD6"/>
          </a:solidFill>
          <a:ln w="12700">
            <a:solidFill>
              <a:srgbClr val="FDEBD6"/>
            </a:solidFill>
            <a:prstDash val="solid"/>
          </a:ln>
        </p:spPr>
      </p:sp>
      <p:sp>
        <p:nvSpPr>
          <p:cNvPr id="10" name="Text 6"/>
          <p:cNvSpPr txBox="1"/>
          <p:nvPr/>
        </p:nvSpPr>
        <p:spPr>
          <a:xfrm>
            <a:off x="822960" y="5623560"/>
            <a:ext cx="10543032" cy="640080"/>
          </a:xfrm>
          <a:prstGeom prst="rect">
            <a:avLst/>
          </a:prstGeom>
          <a:noFill/>
          <a:ln/>
        </p:spPr>
        <p:txBody>
          <a:bodyPr wrap="square" lIns="0" tIns="0" rIns="0" bIns="0" rtlCol="0" anchor="ctr"/>
          <a:lstStyle/>
          <a:p>
            <a:pPr indent="0" marL="0">
              <a:buNone/>
            </a:pPr>
            <a:r>
              <a:rPr lang="en-US" sz="1600" dirty="0">
                <a:solidFill>
                  <a:srgbClr val="14213D"/>
                </a:solidFill>
                <a:latin typeface="Calibri" pitchFamily="34" charset="0"/>
                <a:ea typeface="Calibri" pitchFamily="34" charset="-122"/>
                <a:cs typeface="Calibri" pitchFamily="34" charset="-120"/>
              </a:rPr>
              <a:t>Illustrative data in ₹. Note: C4 has an order but no customer record. C3 has a customer record but no orders.</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The four join types</a:t>
            </a:r>
            <a:endParaRPr lang="en-US" sz="2800" dirty="0"/>
          </a:p>
        </p:txBody>
      </p:sp>
      <p:sp>
        <p:nvSpPr>
          <p:cNvPr id="3" name="Shape 1"/>
          <p:cNvSpPr/>
          <p:nvPr/>
        </p:nvSpPr>
        <p:spPr>
          <a:xfrm>
            <a:off x="548640" y="1417320"/>
            <a:ext cx="5408676"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Inner join</a:t>
            </a:r>
            <a:endParaRPr lang="en-US" sz="2000" dirty="0"/>
          </a:p>
        </p:txBody>
      </p:sp>
      <p:sp>
        <p:nvSpPr>
          <p:cNvPr id="6" name="Text 4"/>
          <p:cNvSpPr txBox="1"/>
          <p:nvPr/>
        </p:nvSpPr>
        <p:spPr>
          <a:xfrm>
            <a:off x="777240"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Keeps only rows whose key exists in both tables. Unmatched rows on either side are dropped.</a:t>
            </a:r>
            <a:endParaRPr lang="en-US" sz="2000" dirty="0"/>
          </a:p>
        </p:txBody>
      </p:sp>
      <p:sp>
        <p:nvSpPr>
          <p:cNvPr id="7" name="Shape 5"/>
          <p:cNvSpPr/>
          <p:nvPr/>
        </p:nvSpPr>
        <p:spPr>
          <a:xfrm>
            <a:off x="6231636" y="1417320"/>
            <a:ext cx="5408676"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6460236"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7054596"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Left join</a:t>
            </a:r>
            <a:endParaRPr lang="en-US" sz="2000" dirty="0"/>
          </a:p>
        </p:txBody>
      </p:sp>
      <p:sp>
        <p:nvSpPr>
          <p:cNvPr id="10" name="Text 8"/>
          <p:cNvSpPr txBox="1"/>
          <p:nvPr/>
        </p:nvSpPr>
        <p:spPr>
          <a:xfrm>
            <a:off x="6460236"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Keeps every row of the left table. Right-side columns are blank where there is no match.</a:t>
            </a:r>
            <a:endParaRPr lang="en-US" sz="2000" dirty="0"/>
          </a:p>
        </p:txBody>
      </p:sp>
      <p:sp>
        <p:nvSpPr>
          <p:cNvPr id="11" name="Shape 9"/>
          <p:cNvSpPr/>
          <p:nvPr/>
        </p:nvSpPr>
        <p:spPr>
          <a:xfrm>
            <a:off x="548640" y="3977640"/>
            <a:ext cx="5408676"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777240" y="420624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371600"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Right join</a:t>
            </a:r>
            <a:endParaRPr lang="en-US" sz="2000" dirty="0"/>
          </a:p>
        </p:txBody>
      </p:sp>
      <p:sp>
        <p:nvSpPr>
          <p:cNvPr id="14" name="Text 12"/>
          <p:cNvSpPr txBox="1"/>
          <p:nvPr/>
        </p:nvSpPr>
        <p:spPr>
          <a:xfrm>
            <a:off x="777240"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Keeps every row of the right table. Left-side columns are blank where there is no match.</a:t>
            </a:r>
            <a:endParaRPr lang="en-US" sz="2000" dirty="0"/>
          </a:p>
        </p:txBody>
      </p:sp>
      <p:sp>
        <p:nvSpPr>
          <p:cNvPr id="15" name="Shape 13"/>
          <p:cNvSpPr/>
          <p:nvPr/>
        </p:nvSpPr>
        <p:spPr>
          <a:xfrm>
            <a:off x="6231636" y="3977640"/>
            <a:ext cx="5408676"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6460236"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7054596"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Full outer join</a:t>
            </a:r>
            <a:endParaRPr lang="en-US" sz="2000" dirty="0"/>
          </a:p>
        </p:txBody>
      </p:sp>
      <p:sp>
        <p:nvSpPr>
          <p:cNvPr id="18" name="Text 16"/>
          <p:cNvSpPr txBox="1"/>
          <p:nvPr/>
        </p:nvSpPr>
        <p:spPr>
          <a:xfrm>
            <a:off x="6460236"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Keeps all rows from both tables. Blanks appear wherever a match is missing.</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Join results for Orders and Customers</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705286"/>
                <a:gridCol w="4869515"/>
                <a:gridCol w="1217379"/>
                <a:gridCol w="2299493"/>
              </a:tblGrid>
              <a:tr h="451104">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Join (Orders left)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Rows kept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Rows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Sum of Amount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Inner</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Matches only: O1, O2, O3</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3</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1250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Left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All orders, O4 has no name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4</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1950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Right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All customers, C3 has no order</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4</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1250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Full outer</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All orders and all customers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5</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1950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bl>
          </a:graphicData>
        </a:graphic>
      </p:graphicFrame>
      <p:sp>
        <p:nvSpPr>
          <p:cNvPr id="4" name="Text 1"/>
          <p:cNvSpPr txBox="1"/>
          <p:nvPr/>
        </p:nvSpPr>
        <p:spPr>
          <a:xfrm>
            <a:off x="548640" y="3901440"/>
            <a:ext cx="11091672" cy="548640"/>
          </a:xfrm>
          <a:prstGeom prst="rect">
            <a:avLst/>
          </a:prstGeom>
          <a:noFill/>
          <a:ln/>
        </p:spPr>
        <p:txBody>
          <a:bodyPr wrap="square" lIns="0" tIns="0" rIns="0" bIns="0" rtlCol="0" anchor="t"/>
          <a:lstStyle/>
          <a:p>
            <a:pPr indent="0" marL="0">
              <a:buNone/>
            </a:pPr>
            <a:r>
              <a:rPr lang="en-US" sz="1600" i="1" dirty="0">
                <a:solidFill>
                  <a:srgbClr val="56667A"/>
                </a:solidFill>
                <a:latin typeface="Calibri" pitchFamily="34" charset="0"/>
                <a:ea typeface="Calibri" pitchFamily="34" charset="-122"/>
                <a:cs typeface="Calibri" pitchFamily="34" charset="-120"/>
              </a:rPr>
              <a:t>Check: 500 + 300 + 450 = 1250. Adding O4 (700) gives 1950. C3 adds a row but no amount.</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Example: inner join drops sales</a:t>
            </a:r>
            <a:endParaRPr lang="en-US" sz="2800" dirty="0"/>
          </a:p>
        </p:txBody>
      </p:sp>
      <p:sp>
        <p:nvSpPr>
          <p:cNvPr id="3" name="Shape 1"/>
          <p:cNvSpPr/>
          <p:nvPr/>
        </p:nvSpPr>
        <p:spPr>
          <a:xfrm>
            <a:off x="548640" y="1417320"/>
            <a:ext cx="11091672" cy="822960"/>
          </a:xfrm>
          <a:prstGeom prst="roundRect">
            <a:avLst>
              <a:gd name="adj" fmla="val 13333"/>
            </a:avLst>
          </a:prstGeom>
          <a:solidFill>
            <a:srgbClr val="FDEBD6"/>
          </a:solidFill>
          <a:ln w="12700">
            <a:solidFill>
              <a:srgbClr val="FDEBD6"/>
            </a:solidFill>
            <a:prstDash val="solid"/>
          </a:ln>
        </p:spPr>
      </p:sp>
      <p:sp>
        <p:nvSpPr>
          <p:cNvPr id="4" name="Text 2"/>
          <p:cNvSpPr txBox="1"/>
          <p:nvPr/>
        </p:nvSpPr>
        <p:spPr>
          <a:xfrm>
            <a:off x="777240" y="1417320"/>
            <a:ext cx="1554480" cy="82296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82296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Management wants total sales by city. Join Orders to Customers on CustID.</a:t>
            </a:r>
            <a:endParaRPr lang="en-US" sz="1800" dirty="0"/>
          </a:p>
        </p:txBody>
      </p:sp>
      <p:sp>
        <p:nvSpPr>
          <p:cNvPr id="6" name="Text 4"/>
          <p:cNvSpPr txBox="1"/>
          <p:nvPr/>
        </p:nvSpPr>
        <p:spPr>
          <a:xfrm>
            <a:off x="548640" y="2514600"/>
            <a:ext cx="6675120" cy="374904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Inner join: </a:t>
            </a:r>
            <a:pPr indent="0" marL="0">
              <a:buNone/>
            </a:pPr>
            <a:r>
              <a:rPr lang="en-US" sz="2200" dirty="0">
                <a:solidFill>
                  <a:srgbClr val="2B3A4F"/>
                </a:solidFill>
                <a:latin typeface="Calibri" pitchFamily="34" charset="0"/>
                <a:ea typeface="Calibri" pitchFamily="34" charset="-122"/>
                <a:cs typeface="Calibri" pitchFamily="34" charset="-120"/>
              </a:rPr>
              <a:t>O1 Bhopal 500, O2 Indore 300, O3 Indore 450. Total 1250.</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Left join: </a:t>
            </a:r>
            <a:pPr indent="0" marL="0">
              <a:buNone/>
            </a:pPr>
            <a:r>
              <a:rPr lang="en-US" sz="2200" dirty="0">
                <a:solidFill>
                  <a:srgbClr val="2B3A4F"/>
                </a:solidFill>
                <a:latin typeface="Calibri" pitchFamily="34" charset="0"/>
                <a:ea typeface="Calibri" pitchFamily="34" charset="-122"/>
                <a:cs typeface="Calibri" pitchFamily="34" charset="-120"/>
              </a:rPr>
              <a:t>adds O4 with blank city and 700. Total 1950.</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By city (left join): </a:t>
            </a:r>
            <a:pPr indent="0" marL="0">
              <a:buNone/>
            </a:pPr>
            <a:r>
              <a:rPr lang="en-US" sz="2200" dirty="0">
                <a:solidFill>
                  <a:srgbClr val="2B3A4F"/>
                </a:solidFill>
                <a:latin typeface="Calibri" pitchFamily="34" charset="0"/>
                <a:ea typeface="Calibri" pitchFamily="34" charset="-122"/>
                <a:cs typeface="Calibri" pitchFamily="34" charset="-120"/>
              </a:rPr>
              <a:t>Bhopal 500, Indore 750, blank 700.</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Reconcile: </a:t>
            </a:r>
            <a:pPr indent="0" marL="0">
              <a:buNone/>
            </a:pPr>
            <a:r>
              <a:rPr lang="en-US" sz="2200" dirty="0">
                <a:solidFill>
                  <a:srgbClr val="2B3A4F"/>
                </a:solidFill>
                <a:latin typeface="Calibri" pitchFamily="34" charset="0"/>
                <a:ea typeface="Calibri" pitchFamily="34" charset="-122"/>
                <a:cs typeface="Calibri" pitchFamily="34" charset="-120"/>
              </a:rPr>
              <a:t>500 + 750 + 700 = 1950, which equals the raw orders total.</a:t>
            </a:r>
            <a:endParaRPr lang="en-US" sz="2200" dirty="0"/>
          </a:p>
        </p:txBody>
      </p:sp>
      <p:sp>
        <p:nvSpPr>
          <p:cNvPr id="7" name="Shape 5"/>
          <p:cNvSpPr/>
          <p:nvPr/>
        </p:nvSpPr>
        <p:spPr>
          <a:xfrm>
            <a:off x="7498080" y="2514600"/>
            <a:ext cx="4142232" cy="3749040"/>
          </a:xfrm>
          <a:prstGeom prst="roundRect">
            <a:avLst>
              <a:gd name="adj" fmla="val 2927"/>
            </a:avLst>
          </a:prstGeom>
          <a:solidFill>
            <a:srgbClr val="14213D"/>
          </a:solidFill>
          <a:ln w="12700">
            <a:solidFill>
              <a:srgbClr val="14213D"/>
            </a:solidFill>
            <a:prstDash val="solid"/>
          </a:ln>
        </p:spPr>
      </p:sp>
      <p:sp>
        <p:nvSpPr>
          <p:cNvPr id="8" name="Text 6"/>
          <p:cNvSpPr txBox="1"/>
          <p:nvPr/>
        </p:nvSpPr>
        <p:spPr>
          <a:xfrm>
            <a:off x="7772400" y="274320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TAKEAWAY</a:t>
            </a:r>
            <a:endParaRPr lang="en-US" sz="1200" dirty="0"/>
          </a:p>
        </p:txBody>
      </p:sp>
      <p:sp>
        <p:nvSpPr>
          <p:cNvPr id="9" name="Text 7"/>
          <p:cNvSpPr txBox="1"/>
          <p:nvPr/>
        </p:nvSpPr>
        <p:spPr>
          <a:xfrm>
            <a:off x="7772400" y="3154680"/>
            <a:ext cx="3593592" cy="29260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The inner join understates sales by 700 (36%). A left join with the orders table on the left keeps every sale.</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Lookup formulas for a merge</a:t>
            </a:r>
            <a:endParaRPr lang="en-US" sz="2800" dirty="0"/>
          </a:p>
        </p:txBody>
      </p:sp>
      <p:sp>
        <p:nvSpPr>
          <p:cNvPr id="3" name="Shape 1"/>
          <p:cNvSpPr/>
          <p:nvPr/>
        </p:nvSpPr>
        <p:spPr>
          <a:xfrm>
            <a:off x="548640" y="1417320"/>
            <a:ext cx="6675120" cy="4846320"/>
          </a:xfrm>
          <a:prstGeom prst="roundRect">
            <a:avLst>
              <a:gd name="adj" fmla="val 2264"/>
            </a:avLst>
          </a:prstGeom>
          <a:solidFill>
            <a:srgbClr val="14213D"/>
          </a:solidFill>
          <a:ln w="12700">
            <a:solidFill>
              <a:srgbClr val="14213D"/>
            </a:solidFill>
            <a:prstDash val="solid"/>
          </a:ln>
        </p:spPr>
      </p:sp>
      <p:sp>
        <p:nvSpPr>
          <p:cNvPr id="4" name="Text 2"/>
          <p:cNvSpPr txBox="1"/>
          <p:nvPr/>
        </p:nvSpPr>
        <p:spPr>
          <a:xfrm>
            <a:off x="822960" y="1645920"/>
            <a:ext cx="2743200"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EXCEL</a:t>
            </a:r>
            <a:endParaRPr lang="en-US" sz="1200" dirty="0"/>
          </a:p>
        </p:txBody>
      </p:sp>
      <p:sp>
        <p:nvSpPr>
          <p:cNvPr id="5" name="Text 3"/>
          <p:cNvSpPr txBox="1"/>
          <p:nvPr/>
        </p:nvSpPr>
        <p:spPr>
          <a:xfrm>
            <a:off x="822960" y="2103120"/>
            <a:ext cx="6126480" cy="3931920"/>
          </a:xfrm>
          <a:prstGeom prst="rect">
            <a:avLst/>
          </a:prstGeom>
          <a:noFill/>
          <a:ln/>
        </p:spPr>
        <p:txBody>
          <a:bodyPr wrap="square" lIns="0" tIns="0" rIns="0" bIns="0" rtlCol="0" anchor="t"/>
          <a:lstStyle/>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=XLOOKUP(B2,Cust[CustID],Cust[City])</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=XLOOKUP(B2,Cust[CustID],Cust[City],"Not found")</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=VLOOKUP(B2,Cust!A:C,3,FALSE)</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=IFERROR(VLOOKUP(B2,Cust!A:C,3,FALSE),"Not found")</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=COUNTIF(Cust[CustID],B2)</a:t>
            </a:r>
            <a:endParaRPr lang="en-US" sz="1700" dirty="0"/>
          </a:p>
        </p:txBody>
      </p:sp>
      <p:sp>
        <p:nvSpPr>
          <p:cNvPr id="6" name="Text 4"/>
          <p:cNvSpPr txBox="1"/>
          <p:nvPr/>
        </p:nvSpPr>
        <p:spPr>
          <a:xfrm>
            <a:off x="7498080" y="1463040"/>
            <a:ext cx="4142232" cy="4754880"/>
          </a:xfrm>
          <a:prstGeom prst="rect">
            <a:avLst/>
          </a:prstGeom>
          <a:noFill/>
          <a:ln/>
        </p:spPr>
        <p:txBody>
          <a:bodyPr wrap="square" lIns="0" tIns="0" rIns="0" bIns="0" rtlCol="0" anchor="t"/>
          <a:lstStyle/>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XLOOKUP: </a:t>
            </a:r>
            <a:pPr indent="0" marL="0">
              <a:buNone/>
            </a:pPr>
            <a:r>
              <a:rPr lang="en-US" sz="2200" dirty="0">
                <a:solidFill>
                  <a:srgbClr val="2B3A4F"/>
                </a:solidFill>
                <a:latin typeface="Calibri" pitchFamily="34" charset="0"/>
                <a:ea typeface="Calibri" pitchFamily="34" charset="-122"/>
                <a:cs typeface="Calibri" pitchFamily="34" charset="-120"/>
              </a:rPr>
              <a:t>finds the key, returns another column. Can look left.</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VLOOKUP: </a:t>
            </a:r>
            <a:pPr indent="0" marL="0">
              <a:buNone/>
            </a:pPr>
            <a:r>
              <a:rPr lang="en-US" sz="2200" dirty="0">
                <a:solidFill>
                  <a:srgbClr val="2B3A4F"/>
                </a:solidFill>
                <a:latin typeface="Calibri" pitchFamily="34" charset="0"/>
                <a:ea typeface="Calibri" pitchFamily="34" charset="-122"/>
                <a:cs typeface="Calibri" pitchFamily="34" charset="-120"/>
              </a:rPr>
              <a:t>older. The key must be the first column.</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FALSE </a:t>
            </a:r>
            <a:pPr indent="0" marL="0">
              <a:buNone/>
            </a:pPr>
            <a:r>
              <a:rPr lang="en-US" sz="2200" dirty="0">
                <a:solidFill>
                  <a:srgbClr val="2B3A4F"/>
                </a:solidFill>
                <a:latin typeface="Calibri" pitchFamily="34" charset="0"/>
                <a:ea typeface="Calibri" pitchFamily="34" charset="-122"/>
                <a:cs typeface="Calibri" pitchFamily="34" charset="-120"/>
              </a:rPr>
              <a:t>means exact match. Leaving it out can give wrong answers.</a:t>
            </a:r>
            <a:endParaRPr lang="en-US" sz="2200" dirty="0"/>
          </a:p>
          <a:p>
            <a:pPr marL="228600" indent="-228600">
              <a:buSzPct val="100000"/>
              <a:buChar char="•"/>
            </a:pPr>
            <a:r>
              <a:rPr lang="en-US" sz="2200" b="1" dirty="0">
                <a:solidFill>
                  <a:srgbClr val="14213D"/>
                </a:solidFill>
                <a:latin typeface="Calibri" pitchFamily="34" charset="0"/>
                <a:ea typeface="Calibri" pitchFamily="34" charset="-122"/>
                <a:cs typeface="Calibri" pitchFamily="34" charset="-120"/>
              </a:rPr>
              <a:t>COUNTIF </a:t>
            </a:r>
            <a:pPr indent="0" marL="0">
              <a:buNone/>
            </a:pPr>
            <a:r>
              <a:rPr lang="en-US" sz="2200" dirty="0">
                <a:solidFill>
                  <a:srgbClr val="2B3A4F"/>
                </a:solidFill>
                <a:latin typeface="Calibri" pitchFamily="34" charset="0"/>
                <a:ea typeface="Calibri" pitchFamily="34" charset="-122"/>
                <a:cs typeface="Calibri" pitchFamily="34" charset="-120"/>
              </a:rPr>
              <a:t>shows how many times a key appears. 0 means unmatched.</a:t>
            </a:r>
            <a:endParaRPr lang="en-US" sz="22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Example: city for every order with XLOOKUP</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In the Orders sheet, add a City column using the Customers table. Fill the formula down for all 4 orders.</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O1, key C1: </a:t>
            </a:r>
            <a:pPr indent="0" marL="0">
              <a:buNone/>
            </a:pPr>
            <a:r>
              <a:rPr lang="en-US" sz="2200" dirty="0">
                <a:solidFill>
                  <a:srgbClr val="2B3A4F"/>
                </a:solidFill>
                <a:latin typeface="Calibri" pitchFamily="34" charset="0"/>
                <a:ea typeface="Calibri" pitchFamily="34" charset="-122"/>
                <a:cs typeface="Calibri" pitchFamily="34" charset="-120"/>
              </a:rPr>
              <a:t>found in Customers, returns Bhopal.</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O2 and O3, key C2: </a:t>
            </a:r>
            <a:pPr indent="0" marL="0">
              <a:buNone/>
            </a:pPr>
            <a:r>
              <a:rPr lang="en-US" sz="2200" dirty="0">
                <a:solidFill>
                  <a:srgbClr val="2B3A4F"/>
                </a:solidFill>
                <a:latin typeface="Calibri" pitchFamily="34" charset="0"/>
                <a:ea typeface="Calibri" pitchFamily="34" charset="-122"/>
                <a:cs typeface="Calibri" pitchFamily="34" charset="-120"/>
              </a:rPr>
              <a:t>both return Indore. Many orders can share one customer.</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O4, key C4: </a:t>
            </a:r>
            <a:pPr indent="0" marL="0">
              <a:buNone/>
            </a:pPr>
            <a:r>
              <a:rPr lang="en-US" sz="2200" dirty="0">
                <a:solidFill>
                  <a:srgbClr val="2B3A4F"/>
                </a:solidFill>
                <a:latin typeface="Calibri" pitchFamily="34" charset="0"/>
                <a:ea typeface="Calibri" pitchFamily="34" charset="-122"/>
                <a:cs typeface="Calibri" pitchFamily="34" charset="-120"/>
              </a:rPr>
              <a:t>not in Customers. XLOOKUP returns "Not found". VLOOKUP gives #N/A.</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Filter City = "Not found": </a:t>
            </a:r>
            <a:pPr indent="0" marL="0">
              <a:buNone/>
            </a:pPr>
            <a:r>
              <a:rPr lang="en-US" sz="2200" dirty="0">
                <a:solidFill>
                  <a:srgbClr val="2B3A4F"/>
                </a:solidFill>
                <a:latin typeface="Calibri" pitchFamily="34" charset="0"/>
                <a:ea typeface="Calibri" pitchFamily="34" charset="-122"/>
                <a:cs typeface="Calibri" pitchFamily="34" charset="-120"/>
              </a:rPr>
              <a:t>finds the unmatched order quickly.</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Cities: Bhopal, Indore, Indore, Not found. The fourth argument of XLOOKUP is the clean way to handle the missing key.</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Merge Queries in Power Query</a:t>
            </a:r>
            <a:endParaRPr lang="en-US" sz="2800" dirty="0"/>
          </a:p>
        </p:txBody>
      </p:sp>
      <p:sp>
        <p:nvSpPr>
          <p:cNvPr id="3" name="Shape 1"/>
          <p:cNvSpPr/>
          <p:nvPr/>
        </p:nvSpPr>
        <p:spPr>
          <a:xfrm>
            <a:off x="548640" y="1417320"/>
            <a:ext cx="2130552" cy="777240"/>
          </a:xfrm>
          <a:prstGeom prst="homePlate">
            <a:avLst/>
          </a:prstGeom>
          <a:solidFill>
            <a:srgbClr val="0F8B8D"/>
          </a:solidFill>
          <a:ln w="12700">
            <a:solidFill>
              <a:srgbClr val="0F8B8D"/>
            </a:solidFill>
            <a:prstDash val="solid"/>
          </a:ln>
        </p:spPr>
      </p:sp>
      <p:sp>
        <p:nvSpPr>
          <p:cNvPr id="4" name="Text 2"/>
          <p:cNvSpPr txBox="1"/>
          <p:nvPr/>
        </p:nvSpPr>
        <p:spPr>
          <a:xfrm>
            <a:off x="73152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1  Load both tables</a:t>
            </a:r>
            <a:endParaRPr lang="en-US" sz="1700" dirty="0"/>
          </a:p>
        </p:txBody>
      </p:sp>
      <p:sp>
        <p:nvSpPr>
          <p:cNvPr id="5" name="Shape 3"/>
          <p:cNvSpPr/>
          <p:nvPr/>
        </p:nvSpPr>
        <p:spPr>
          <a:xfrm>
            <a:off x="548640" y="2331720"/>
            <a:ext cx="2084832" cy="2011680"/>
          </a:xfrm>
          <a:prstGeom prst="roundRect">
            <a:avLst>
              <a:gd name="adj" fmla="val 5455"/>
            </a:avLst>
          </a:prstGeom>
          <a:solidFill>
            <a:srgbClr val="EEF3F6"/>
          </a:solidFill>
          <a:ln w="12700">
            <a:solidFill>
              <a:srgbClr val="EEF3F6"/>
            </a:solidFill>
            <a:prstDash val="solid"/>
          </a:ln>
        </p:spPr>
      </p:sp>
      <p:sp>
        <p:nvSpPr>
          <p:cNvPr id="6" name="Text 4"/>
          <p:cNvSpPr txBox="1"/>
          <p:nvPr/>
        </p:nvSpPr>
        <p:spPr>
          <a:xfrm>
            <a:off x="731520" y="2468880"/>
            <a:ext cx="171907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Data &gt; From Table/Range for Orders and for Customers.</a:t>
            </a:r>
            <a:endParaRPr lang="en-US" sz="2000" dirty="0"/>
          </a:p>
        </p:txBody>
      </p:sp>
      <p:sp>
        <p:nvSpPr>
          <p:cNvPr id="7" name="Shape 5"/>
          <p:cNvSpPr/>
          <p:nvPr/>
        </p:nvSpPr>
        <p:spPr>
          <a:xfrm>
            <a:off x="2788920" y="1417320"/>
            <a:ext cx="2130552" cy="777240"/>
          </a:xfrm>
          <a:prstGeom prst="homePlate">
            <a:avLst/>
          </a:prstGeom>
          <a:solidFill>
            <a:srgbClr val="F29E4C"/>
          </a:solidFill>
          <a:ln w="12700">
            <a:solidFill>
              <a:srgbClr val="F29E4C"/>
            </a:solidFill>
            <a:prstDash val="solid"/>
          </a:ln>
        </p:spPr>
      </p:sp>
      <p:sp>
        <p:nvSpPr>
          <p:cNvPr id="8" name="Text 6"/>
          <p:cNvSpPr txBox="1"/>
          <p:nvPr/>
        </p:nvSpPr>
        <p:spPr>
          <a:xfrm>
            <a:off x="297180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2  Start the merge</a:t>
            </a:r>
            <a:endParaRPr lang="en-US" sz="1700" dirty="0"/>
          </a:p>
        </p:txBody>
      </p:sp>
      <p:sp>
        <p:nvSpPr>
          <p:cNvPr id="9" name="Shape 7"/>
          <p:cNvSpPr/>
          <p:nvPr/>
        </p:nvSpPr>
        <p:spPr>
          <a:xfrm>
            <a:off x="2788920" y="2331720"/>
            <a:ext cx="2084832" cy="2011680"/>
          </a:xfrm>
          <a:prstGeom prst="roundRect">
            <a:avLst>
              <a:gd name="adj" fmla="val 5455"/>
            </a:avLst>
          </a:prstGeom>
          <a:solidFill>
            <a:srgbClr val="EEF3F6"/>
          </a:solidFill>
          <a:ln w="12700">
            <a:solidFill>
              <a:srgbClr val="EEF3F6"/>
            </a:solidFill>
            <a:prstDash val="solid"/>
          </a:ln>
        </p:spPr>
      </p:sp>
      <p:sp>
        <p:nvSpPr>
          <p:cNvPr id="10" name="Text 8"/>
          <p:cNvSpPr txBox="1"/>
          <p:nvPr/>
        </p:nvSpPr>
        <p:spPr>
          <a:xfrm>
            <a:off x="2971800" y="2468880"/>
            <a:ext cx="171907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In Orders choose Home &gt; Merge Queries and pick Customers.</a:t>
            </a:r>
            <a:endParaRPr lang="en-US" sz="2000" dirty="0"/>
          </a:p>
        </p:txBody>
      </p:sp>
      <p:sp>
        <p:nvSpPr>
          <p:cNvPr id="11" name="Shape 9"/>
          <p:cNvSpPr/>
          <p:nvPr/>
        </p:nvSpPr>
        <p:spPr>
          <a:xfrm>
            <a:off x="5029200" y="1417320"/>
            <a:ext cx="2130552" cy="777240"/>
          </a:xfrm>
          <a:prstGeom prst="homePlate">
            <a:avLst/>
          </a:prstGeom>
          <a:solidFill>
            <a:srgbClr val="3A5BA0"/>
          </a:solidFill>
          <a:ln w="12700">
            <a:solidFill>
              <a:srgbClr val="3A5BA0"/>
            </a:solidFill>
            <a:prstDash val="solid"/>
          </a:ln>
        </p:spPr>
      </p:sp>
      <p:sp>
        <p:nvSpPr>
          <p:cNvPr id="12" name="Text 10"/>
          <p:cNvSpPr txBox="1"/>
          <p:nvPr/>
        </p:nvSpPr>
        <p:spPr>
          <a:xfrm>
            <a:off x="521208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3  Pick keys and join</a:t>
            </a:r>
            <a:endParaRPr lang="en-US" sz="1700" dirty="0"/>
          </a:p>
        </p:txBody>
      </p:sp>
      <p:sp>
        <p:nvSpPr>
          <p:cNvPr id="13" name="Shape 11"/>
          <p:cNvSpPr/>
          <p:nvPr/>
        </p:nvSpPr>
        <p:spPr>
          <a:xfrm>
            <a:off x="5029200" y="2331720"/>
            <a:ext cx="2084832" cy="2011680"/>
          </a:xfrm>
          <a:prstGeom prst="roundRect">
            <a:avLst>
              <a:gd name="adj" fmla="val 5455"/>
            </a:avLst>
          </a:prstGeom>
          <a:solidFill>
            <a:srgbClr val="EEF3F6"/>
          </a:solidFill>
          <a:ln w="12700">
            <a:solidFill>
              <a:srgbClr val="EEF3F6"/>
            </a:solidFill>
            <a:prstDash val="solid"/>
          </a:ln>
        </p:spPr>
      </p:sp>
      <p:sp>
        <p:nvSpPr>
          <p:cNvPr id="14" name="Text 12"/>
          <p:cNvSpPr txBox="1"/>
          <p:nvPr/>
        </p:nvSpPr>
        <p:spPr>
          <a:xfrm>
            <a:off x="5212080" y="2468880"/>
            <a:ext cx="171907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Click CustID in both. Choose Left Outer as the join kind.</a:t>
            </a:r>
            <a:endParaRPr lang="en-US" sz="2000" dirty="0"/>
          </a:p>
        </p:txBody>
      </p:sp>
      <p:sp>
        <p:nvSpPr>
          <p:cNvPr id="15" name="Shape 13"/>
          <p:cNvSpPr/>
          <p:nvPr/>
        </p:nvSpPr>
        <p:spPr>
          <a:xfrm>
            <a:off x="7269480" y="1417320"/>
            <a:ext cx="2130552" cy="777240"/>
          </a:xfrm>
          <a:prstGeom prst="homePlate">
            <a:avLst/>
          </a:prstGeom>
          <a:solidFill>
            <a:srgbClr val="C8553D"/>
          </a:solidFill>
          <a:ln w="12700">
            <a:solidFill>
              <a:srgbClr val="C8553D"/>
            </a:solidFill>
            <a:prstDash val="solid"/>
          </a:ln>
        </p:spPr>
      </p:sp>
      <p:sp>
        <p:nvSpPr>
          <p:cNvPr id="16" name="Text 14"/>
          <p:cNvSpPr txBox="1"/>
          <p:nvPr/>
        </p:nvSpPr>
        <p:spPr>
          <a:xfrm>
            <a:off x="745236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4  Expand columns</a:t>
            </a:r>
            <a:endParaRPr lang="en-US" sz="1700" dirty="0"/>
          </a:p>
        </p:txBody>
      </p:sp>
      <p:sp>
        <p:nvSpPr>
          <p:cNvPr id="17" name="Shape 15"/>
          <p:cNvSpPr/>
          <p:nvPr/>
        </p:nvSpPr>
        <p:spPr>
          <a:xfrm>
            <a:off x="7269480" y="2331720"/>
            <a:ext cx="2084832" cy="2011680"/>
          </a:xfrm>
          <a:prstGeom prst="roundRect">
            <a:avLst>
              <a:gd name="adj" fmla="val 5455"/>
            </a:avLst>
          </a:prstGeom>
          <a:solidFill>
            <a:srgbClr val="EEF3F6"/>
          </a:solidFill>
          <a:ln w="12700">
            <a:solidFill>
              <a:srgbClr val="EEF3F6"/>
            </a:solidFill>
            <a:prstDash val="solid"/>
          </a:ln>
        </p:spPr>
      </p:sp>
      <p:sp>
        <p:nvSpPr>
          <p:cNvPr id="18" name="Text 16"/>
          <p:cNvSpPr txBox="1"/>
          <p:nvPr/>
        </p:nvSpPr>
        <p:spPr>
          <a:xfrm>
            <a:off x="7452360" y="2468880"/>
            <a:ext cx="1719072" cy="1737360"/>
          </a:xfrm>
          <a:prstGeom prst="rect">
            <a:avLst/>
          </a:prstGeom>
          <a:noFill/>
          <a:ln/>
        </p:spPr>
        <p:txBody>
          <a:bodyPr wrap="square" lIns="0" tIns="0" rIns="0" bIns="0" rtlCol="0" anchor="t"/>
          <a:lstStyle/>
          <a:p>
            <a:pPr indent="0" marL="0">
              <a:buNone/>
            </a:pPr>
            <a:r>
              <a:rPr lang="en-US" sz="1900" dirty="0">
                <a:solidFill>
                  <a:srgbClr val="2B3A4F"/>
                </a:solidFill>
                <a:latin typeface="Calibri" pitchFamily="34" charset="0"/>
                <a:ea typeface="Calibri" pitchFamily="34" charset="-122"/>
                <a:cs typeface="Calibri" pitchFamily="34" charset="-120"/>
              </a:rPr>
              <a:t>Click the expand icon, tick City, untick the prefix option.</a:t>
            </a:r>
            <a:endParaRPr lang="en-US" sz="1900" dirty="0"/>
          </a:p>
        </p:txBody>
      </p:sp>
      <p:sp>
        <p:nvSpPr>
          <p:cNvPr id="19" name="Shape 17"/>
          <p:cNvSpPr/>
          <p:nvPr/>
        </p:nvSpPr>
        <p:spPr>
          <a:xfrm>
            <a:off x="9509760" y="1417320"/>
            <a:ext cx="2130552" cy="777240"/>
          </a:xfrm>
          <a:prstGeom prst="homePlate">
            <a:avLst/>
          </a:prstGeom>
          <a:solidFill>
            <a:srgbClr val="6E9B2F"/>
          </a:solidFill>
          <a:ln w="12700">
            <a:solidFill>
              <a:srgbClr val="6E9B2F"/>
            </a:solidFill>
            <a:prstDash val="solid"/>
          </a:ln>
        </p:spPr>
      </p:sp>
      <p:sp>
        <p:nvSpPr>
          <p:cNvPr id="20" name="Text 18"/>
          <p:cNvSpPr txBox="1"/>
          <p:nvPr/>
        </p:nvSpPr>
        <p:spPr>
          <a:xfrm>
            <a:off x="969264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5  Check and load</a:t>
            </a:r>
            <a:endParaRPr lang="en-US" sz="1700" dirty="0"/>
          </a:p>
        </p:txBody>
      </p:sp>
      <p:sp>
        <p:nvSpPr>
          <p:cNvPr id="21" name="Shape 19"/>
          <p:cNvSpPr/>
          <p:nvPr/>
        </p:nvSpPr>
        <p:spPr>
          <a:xfrm>
            <a:off x="9509760" y="2331720"/>
            <a:ext cx="2084832" cy="2011680"/>
          </a:xfrm>
          <a:prstGeom prst="roundRect">
            <a:avLst>
              <a:gd name="adj" fmla="val 5455"/>
            </a:avLst>
          </a:prstGeom>
          <a:solidFill>
            <a:srgbClr val="EEF3F6"/>
          </a:solidFill>
          <a:ln w="12700">
            <a:solidFill>
              <a:srgbClr val="EEF3F6"/>
            </a:solidFill>
            <a:prstDash val="solid"/>
          </a:ln>
        </p:spPr>
      </p:sp>
      <p:sp>
        <p:nvSpPr>
          <p:cNvPr id="22" name="Text 20"/>
          <p:cNvSpPr txBox="1"/>
          <p:nvPr/>
        </p:nvSpPr>
        <p:spPr>
          <a:xfrm>
            <a:off x="9692640" y="2468880"/>
            <a:ext cx="171907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Compare the row count, then Close and Load.</a:t>
            </a:r>
            <a:endParaRPr lang="en-US" sz="2000" dirty="0"/>
          </a:p>
        </p:txBody>
      </p:sp>
      <p:sp>
        <p:nvSpPr>
          <p:cNvPr id="23" name="Shape 21"/>
          <p:cNvSpPr/>
          <p:nvPr/>
        </p:nvSpPr>
        <p:spPr>
          <a:xfrm>
            <a:off x="548640" y="4617720"/>
            <a:ext cx="11091672" cy="777240"/>
          </a:xfrm>
          <a:prstGeom prst="roundRect">
            <a:avLst>
              <a:gd name="adj" fmla="val 14118"/>
            </a:avLst>
          </a:prstGeom>
          <a:solidFill>
            <a:srgbClr val="DDF0F0"/>
          </a:solidFill>
          <a:ln w="12700">
            <a:solidFill>
              <a:srgbClr val="DDF0F0"/>
            </a:solidFill>
            <a:prstDash val="solid"/>
          </a:ln>
        </p:spPr>
      </p:sp>
      <p:sp>
        <p:nvSpPr>
          <p:cNvPr id="24" name="Text 22"/>
          <p:cNvSpPr txBox="1"/>
          <p:nvPr/>
        </p:nvSpPr>
        <p:spPr>
          <a:xfrm>
            <a:off x="822960" y="4617720"/>
            <a:ext cx="10543032" cy="77724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Power Query shows how many rows matched at the bottom of the merge window.</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Example: duplicate keys inflate totals</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Customer C2 is entered twice in Customers: Ravi, Indore and Ravi, Mumbai. Left join Orders to this list.</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O1 (C1): </a:t>
            </a:r>
            <a:pPr indent="0" marL="0">
              <a:buNone/>
            </a:pPr>
            <a:r>
              <a:rPr lang="en-US" sz="2200" dirty="0">
                <a:solidFill>
                  <a:srgbClr val="2B3A4F"/>
                </a:solidFill>
                <a:latin typeface="Calibri" pitchFamily="34" charset="0"/>
                <a:ea typeface="Calibri" pitchFamily="34" charset="-122"/>
                <a:cs typeface="Calibri" pitchFamily="34" charset="-120"/>
              </a:rPr>
              <a:t>one match, 1 row. O4 (C4): no match, 1 row.</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O2 (C2): </a:t>
            </a:r>
            <a:pPr indent="0" marL="0">
              <a:buNone/>
            </a:pPr>
            <a:r>
              <a:rPr lang="en-US" sz="2200" dirty="0">
                <a:solidFill>
                  <a:srgbClr val="2B3A4F"/>
                </a:solidFill>
                <a:latin typeface="Calibri" pitchFamily="34" charset="0"/>
                <a:ea typeface="Calibri" pitchFamily="34" charset="-122"/>
                <a:cs typeface="Calibri" pitchFamily="34" charset="-120"/>
              </a:rPr>
              <a:t>matches 2 customer rows, so 2 result rows of 300.</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O3 (C2): </a:t>
            </a:r>
            <a:pPr indent="0" marL="0">
              <a:buNone/>
            </a:pPr>
            <a:r>
              <a:rPr lang="en-US" sz="2200" dirty="0">
                <a:solidFill>
                  <a:srgbClr val="2B3A4F"/>
                </a:solidFill>
                <a:latin typeface="Calibri" pitchFamily="34" charset="0"/>
                <a:ea typeface="Calibri" pitchFamily="34" charset="-122"/>
                <a:cs typeface="Calibri" pitchFamily="34" charset="-120"/>
              </a:rPr>
              <a:t>also 2 rows of 450. Result has 1 + 2 + 2 + 1 = 6 rows.</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Sum of Amount: </a:t>
            </a:r>
            <a:pPr indent="0" marL="0">
              <a:buNone/>
            </a:pPr>
            <a:r>
              <a:rPr lang="en-US" sz="2200" dirty="0">
                <a:solidFill>
                  <a:srgbClr val="2B3A4F"/>
                </a:solidFill>
                <a:latin typeface="Calibri" pitchFamily="34" charset="0"/>
                <a:ea typeface="Calibri" pitchFamily="34" charset="-122"/>
                <a:cs typeface="Calibri" pitchFamily="34" charset="-120"/>
              </a:rPr>
              <a:t>500 + 600 + 900 + 700 = 2700, not the true 1950.</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Sales appear 750 higher (38%) because C2 was duplicated. XLOOKUP would return only the first match and hide the problem.</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Traps and edge cases</a:t>
            </a:r>
            <a:endParaRPr lang="en-US" sz="2800" dirty="0"/>
          </a:p>
        </p:txBody>
      </p:sp>
      <p:sp>
        <p:nvSpPr>
          <p:cNvPr id="3" name="Shape 1"/>
          <p:cNvSpPr/>
          <p:nvPr/>
        </p:nvSpPr>
        <p:spPr>
          <a:xfrm>
            <a:off x="548640" y="1417320"/>
            <a:ext cx="5408676"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Key type mismatch</a:t>
            </a:r>
            <a:endParaRPr lang="en-US" sz="2000" dirty="0"/>
          </a:p>
        </p:txBody>
      </p:sp>
      <p:sp>
        <p:nvSpPr>
          <p:cNvPr id="6" name="Text 4"/>
          <p:cNvSpPr txBox="1"/>
          <p:nvPr/>
        </p:nvSpPr>
        <p:spPr>
          <a:xfrm>
            <a:off x="777240"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101 as a number will not match "101" as text. A trailing space also breaks the match. Clean keys first.</a:t>
            </a:r>
            <a:endParaRPr lang="en-US" sz="2000" dirty="0"/>
          </a:p>
        </p:txBody>
      </p:sp>
      <p:sp>
        <p:nvSpPr>
          <p:cNvPr id="7" name="Shape 5"/>
          <p:cNvSpPr/>
          <p:nvPr/>
        </p:nvSpPr>
        <p:spPr>
          <a:xfrm>
            <a:off x="6231636" y="1417320"/>
            <a:ext cx="5408676"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6460236"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7054596"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Duplicate keys</a:t>
            </a:r>
            <a:endParaRPr lang="en-US" sz="2000" dirty="0"/>
          </a:p>
        </p:txBody>
      </p:sp>
      <p:sp>
        <p:nvSpPr>
          <p:cNvPr id="10" name="Text 8"/>
          <p:cNvSpPr txBox="1"/>
          <p:nvPr/>
        </p:nvSpPr>
        <p:spPr>
          <a:xfrm>
            <a:off x="6460236"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Duplicates in the lookup table multiply rows. Check that keys are unique with COUNTIF or Remove Duplicates.</a:t>
            </a:r>
            <a:endParaRPr lang="en-US" sz="2000" dirty="0"/>
          </a:p>
        </p:txBody>
      </p:sp>
      <p:sp>
        <p:nvSpPr>
          <p:cNvPr id="11" name="Shape 9"/>
          <p:cNvSpPr/>
          <p:nvPr/>
        </p:nvSpPr>
        <p:spPr>
          <a:xfrm>
            <a:off x="548640" y="3977640"/>
            <a:ext cx="5408676"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777240" y="420624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371600"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Unmatched rows ignored</a:t>
            </a:r>
            <a:endParaRPr lang="en-US" sz="2000" dirty="0"/>
          </a:p>
        </p:txBody>
      </p:sp>
      <p:sp>
        <p:nvSpPr>
          <p:cNvPr id="14" name="Text 12"/>
          <p:cNvSpPr txBox="1"/>
          <p:nvPr/>
        </p:nvSpPr>
        <p:spPr>
          <a:xfrm>
            <a:off x="777240"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Inner joins drop rows without telling you. Compare row counts and totals before and after.</a:t>
            </a:r>
            <a:endParaRPr lang="en-US" sz="2000" dirty="0"/>
          </a:p>
        </p:txBody>
      </p:sp>
      <p:sp>
        <p:nvSpPr>
          <p:cNvPr id="15" name="Shape 13"/>
          <p:cNvSpPr/>
          <p:nvPr/>
        </p:nvSpPr>
        <p:spPr>
          <a:xfrm>
            <a:off x="6231636" y="3977640"/>
            <a:ext cx="5408676"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6460236"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7054596"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Wrong left and right</a:t>
            </a:r>
            <a:endParaRPr lang="en-US" sz="2000" dirty="0"/>
          </a:p>
        </p:txBody>
      </p:sp>
      <p:sp>
        <p:nvSpPr>
          <p:cNvPr id="18" name="Text 16"/>
          <p:cNvSpPr txBox="1"/>
          <p:nvPr/>
        </p:nvSpPr>
        <p:spPr>
          <a:xfrm>
            <a:off x="6460236"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Swapping the table order changes a left join into a right join. Name the table you want to keep whole.</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Practice questions</a:t>
            </a:r>
            <a:endParaRPr lang="en-US" sz="2800" dirty="0"/>
          </a:p>
        </p:txBody>
      </p:sp>
      <p:sp>
        <p:nvSpPr>
          <p:cNvPr id="3" name="Shape 1"/>
          <p:cNvSpPr/>
          <p:nvPr/>
        </p:nvSpPr>
        <p:spPr>
          <a:xfrm>
            <a:off x="548640" y="1417320"/>
            <a:ext cx="11091672" cy="1074420"/>
          </a:xfrm>
          <a:prstGeom prst="roundRect">
            <a:avLst>
              <a:gd name="adj" fmla="val 10213"/>
            </a:avLst>
          </a:prstGeom>
          <a:solidFill>
            <a:srgbClr val="EEF3F6"/>
          </a:solidFill>
          <a:ln w="12700">
            <a:solidFill>
              <a:srgbClr val="EEF3F6"/>
            </a:solidFill>
            <a:prstDash val="solid"/>
          </a:ln>
        </p:spPr>
      </p:sp>
      <p:sp>
        <p:nvSpPr>
          <p:cNvPr id="4" name="Text 2"/>
          <p:cNvSpPr/>
          <p:nvPr/>
        </p:nvSpPr>
        <p:spPr>
          <a:xfrm>
            <a:off x="777240" y="172593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463040" y="14173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Table A has 5 rows, table B has 3 rows. Keys are unique and 3 match. How many rows in inner, left (A left) and full joins?</a:t>
            </a:r>
            <a:endParaRPr lang="en-US" sz="1900" dirty="0"/>
          </a:p>
        </p:txBody>
      </p:sp>
      <p:sp>
        <p:nvSpPr>
          <p:cNvPr id="6" name="Shape 4"/>
          <p:cNvSpPr/>
          <p:nvPr/>
        </p:nvSpPr>
        <p:spPr>
          <a:xfrm>
            <a:off x="548640" y="2674620"/>
            <a:ext cx="11091672" cy="1074420"/>
          </a:xfrm>
          <a:prstGeom prst="roundRect">
            <a:avLst>
              <a:gd name="adj" fmla="val 10213"/>
            </a:avLst>
          </a:prstGeom>
          <a:solidFill>
            <a:srgbClr val="EEF3F6"/>
          </a:solidFill>
          <a:ln w="12700">
            <a:solidFill>
              <a:srgbClr val="EEF3F6"/>
            </a:solidFill>
            <a:prstDash val="solid"/>
          </a:ln>
        </p:spPr>
      </p:sp>
      <p:sp>
        <p:nvSpPr>
          <p:cNvPr id="7" name="Text 5"/>
          <p:cNvSpPr/>
          <p:nvPr/>
        </p:nvSpPr>
        <p:spPr>
          <a:xfrm>
            <a:off x="777240" y="298323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8" name="Text 6"/>
          <p:cNvSpPr txBox="1"/>
          <p:nvPr/>
        </p:nvSpPr>
        <p:spPr>
          <a:xfrm>
            <a:off x="1463040" y="26746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Orders and Customers: customer C2 appears 3 times in Customers and has 2 orders. How many rows does the join produce for C2?</a:t>
            </a:r>
            <a:endParaRPr lang="en-US" sz="1900" dirty="0"/>
          </a:p>
        </p:txBody>
      </p:sp>
      <p:sp>
        <p:nvSpPr>
          <p:cNvPr id="9" name="Shape 7"/>
          <p:cNvSpPr/>
          <p:nvPr/>
        </p:nvSpPr>
        <p:spPr>
          <a:xfrm>
            <a:off x="548640" y="3931920"/>
            <a:ext cx="11091672" cy="1074420"/>
          </a:xfrm>
          <a:prstGeom prst="roundRect">
            <a:avLst>
              <a:gd name="adj" fmla="val 10213"/>
            </a:avLst>
          </a:prstGeom>
          <a:solidFill>
            <a:srgbClr val="EEF3F6"/>
          </a:solidFill>
          <a:ln w="12700">
            <a:solidFill>
              <a:srgbClr val="EEF3F6"/>
            </a:solidFill>
            <a:prstDash val="solid"/>
          </a:ln>
        </p:spPr>
      </p:sp>
      <p:sp>
        <p:nvSpPr>
          <p:cNvPr id="10" name="Text 8"/>
          <p:cNvSpPr/>
          <p:nvPr/>
        </p:nvSpPr>
        <p:spPr>
          <a:xfrm>
            <a:off x="777240" y="424053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1" name="Text 9"/>
          <p:cNvSpPr txBox="1"/>
          <p:nvPr/>
        </p:nvSpPr>
        <p:spPr>
          <a:xfrm>
            <a:off x="1463040" y="39319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Which is safer for a sales report: inner or left join with orders on the left? Why?</a:t>
            </a:r>
            <a:endParaRPr lang="en-US" sz="1900" dirty="0"/>
          </a:p>
        </p:txBody>
      </p:sp>
      <p:sp>
        <p:nvSpPr>
          <p:cNvPr id="12" name="Shape 10"/>
          <p:cNvSpPr/>
          <p:nvPr/>
        </p:nvSpPr>
        <p:spPr>
          <a:xfrm>
            <a:off x="548640" y="5189220"/>
            <a:ext cx="11091672" cy="1074420"/>
          </a:xfrm>
          <a:prstGeom prst="roundRect">
            <a:avLst>
              <a:gd name="adj" fmla="val 10213"/>
            </a:avLst>
          </a:prstGeom>
          <a:solidFill>
            <a:srgbClr val="EEF3F6"/>
          </a:solidFill>
          <a:ln w="12700">
            <a:solidFill>
              <a:srgbClr val="EEF3F6"/>
            </a:solidFill>
            <a:prstDash val="solid"/>
          </a:ln>
        </p:spPr>
      </p:sp>
      <p:sp>
        <p:nvSpPr>
          <p:cNvPr id="13" name="Text 11"/>
          <p:cNvSpPr/>
          <p:nvPr/>
        </p:nvSpPr>
        <p:spPr>
          <a:xfrm>
            <a:off x="777240" y="549783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463040" y="51892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January has 120 rows and February has 95 rows with identical columns. Append or merge? How many rows?</a:t>
            </a:r>
            <a:endParaRPr lang="en-US" sz="19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Key takeaways</a:t>
            </a:r>
            <a:endParaRPr lang="en-US" sz="2800" dirty="0"/>
          </a:p>
        </p:txBody>
      </p:sp>
      <p:sp>
        <p:nvSpPr>
          <p:cNvPr id="3" name="Text 1"/>
          <p:cNvSpPr/>
          <p:nvPr/>
        </p:nvSpPr>
        <p:spPr>
          <a:xfrm>
            <a:off x="548640" y="1561795"/>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 name="Text 2"/>
          <p:cNvSpPr txBox="1"/>
          <p:nvPr/>
        </p:nvSpPr>
        <p:spPr>
          <a:xfrm>
            <a:off x="1234440" y="1417320"/>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Append </a:t>
            </a:r>
            <a:pPr indent="0" marL="0">
              <a:buNone/>
            </a:pPr>
            <a:r>
              <a:rPr lang="en-US" sz="2000" dirty="0">
                <a:solidFill>
                  <a:srgbClr val="FFFFFF"/>
                </a:solidFill>
                <a:latin typeface="Calibri" pitchFamily="34" charset="0"/>
                <a:ea typeface="Calibri" pitchFamily="34" charset="-122"/>
                <a:cs typeface="Calibri" pitchFamily="34" charset="-120"/>
              </a:rPr>
              <a:t>adds rows. Merge adds columns by matching a key.</a:t>
            </a:r>
            <a:endParaRPr lang="en-US" sz="2000" dirty="0"/>
          </a:p>
        </p:txBody>
      </p:sp>
      <p:sp>
        <p:nvSpPr>
          <p:cNvPr id="5" name="Text 3"/>
          <p:cNvSpPr/>
          <p:nvPr/>
        </p:nvSpPr>
        <p:spPr>
          <a:xfrm>
            <a:off x="548640" y="2435962"/>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txBox="1"/>
          <p:nvPr/>
        </p:nvSpPr>
        <p:spPr>
          <a:xfrm>
            <a:off x="1234440" y="2291486"/>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Joins: </a:t>
            </a:r>
            <a:pPr indent="0" marL="0">
              <a:buNone/>
            </a:pPr>
            <a:r>
              <a:rPr lang="en-US" sz="2000" dirty="0">
                <a:solidFill>
                  <a:srgbClr val="FFFFFF"/>
                </a:solidFill>
                <a:latin typeface="Calibri" pitchFamily="34" charset="0"/>
                <a:ea typeface="Calibri" pitchFamily="34" charset="-122"/>
                <a:cs typeface="Calibri" pitchFamily="34" charset="-120"/>
              </a:rPr>
              <a:t>inner keeps matches, left keeps the left table, full keeps everything.</a:t>
            </a:r>
            <a:endParaRPr lang="en-US" sz="2000" dirty="0"/>
          </a:p>
        </p:txBody>
      </p:sp>
      <p:sp>
        <p:nvSpPr>
          <p:cNvPr id="7" name="Text 5"/>
          <p:cNvSpPr/>
          <p:nvPr/>
        </p:nvSpPr>
        <p:spPr>
          <a:xfrm>
            <a:off x="548640" y="3310128"/>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234440" y="3165653"/>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Lookups: </a:t>
            </a:r>
            <a:pPr indent="0" marL="0">
              <a:buNone/>
            </a:pPr>
            <a:r>
              <a:rPr lang="en-US" sz="2000" dirty="0">
                <a:solidFill>
                  <a:srgbClr val="FFFFFF"/>
                </a:solidFill>
                <a:latin typeface="Calibri" pitchFamily="34" charset="0"/>
                <a:ea typeface="Calibri" pitchFamily="34" charset="-122"/>
                <a:cs typeface="Calibri" pitchFamily="34" charset="-120"/>
              </a:rPr>
              <a:t>XLOOKUP and Power Query Merge. Use exact match and handle not-found.</a:t>
            </a:r>
            <a:endParaRPr lang="en-US" sz="2000" dirty="0"/>
          </a:p>
        </p:txBody>
      </p:sp>
      <p:sp>
        <p:nvSpPr>
          <p:cNvPr id="9" name="Text 7"/>
          <p:cNvSpPr/>
          <p:nvPr/>
        </p:nvSpPr>
        <p:spPr>
          <a:xfrm>
            <a:off x="548640" y="4184294"/>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txBox="1"/>
          <p:nvPr/>
        </p:nvSpPr>
        <p:spPr>
          <a:xfrm>
            <a:off x="1234440" y="4039819"/>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Dangers: </a:t>
            </a:r>
            <a:pPr indent="0" marL="0">
              <a:buNone/>
            </a:pPr>
            <a:r>
              <a:rPr lang="en-US" sz="2000" dirty="0">
                <a:solidFill>
                  <a:srgbClr val="FFFFFF"/>
                </a:solidFill>
                <a:latin typeface="Calibri" pitchFamily="34" charset="0"/>
                <a:ea typeface="Calibri" pitchFamily="34" charset="-122"/>
                <a:cs typeface="Calibri" pitchFamily="34" charset="-120"/>
              </a:rPr>
              <a:t>unmatched rows drop out and duplicate keys inflate totals.</a:t>
            </a:r>
            <a:endParaRPr lang="en-US" sz="2000" dirty="0"/>
          </a:p>
        </p:txBody>
      </p:sp>
      <p:sp>
        <p:nvSpPr>
          <p:cNvPr id="11" name="Text 9"/>
          <p:cNvSpPr/>
          <p:nvPr/>
        </p:nvSpPr>
        <p:spPr>
          <a:xfrm>
            <a:off x="548640" y="5058461"/>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1234440" y="4913986"/>
            <a:ext cx="10405872" cy="709574"/>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Always compare row counts and totals before and after a join.</a:t>
            </a:r>
            <a:endParaRPr lang="en-US" sz="2000" dirty="0"/>
          </a:p>
        </p:txBody>
      </p:sp>
      <p:sp>
        <p:nvSpPr>
          <p:cNvPr id="13" name="Text 11"/>
          <p:cNvSpPr txBox="1"/>
          <p:nvPr/>
        </p:nvSpPr>
        <p:spPr>
          <a:xfrm>
            <a:off x="548640" y="5806440"/>
            <a:ext cx="11091672" cy="457200"/>
          </a:xfrm>
          <a:prstGeom prst="rect">
            <a:avLst/>
          </a:prstGeom>
          <a:noFill/>
          <a:ln/>
        </p:spPr>
        <p:txBody>
          <a:bodyPr wrap="square" lIns="0" tIns="0" rIns="0" bIns="0" rtlCol="0" anchor="ctr"/>
          <a:lstStyle/>
          <a:p>
            <a:pPr indent="0" marL="0">
              <a:buNone/>
            </a:pPr>
            <a:r>
              <a:rPr lang="en-US" sz="1600" i="1" dirty="0">
                <a:solidFill>
                  <a:srgbClr val="B8C7D9"/>
                </a:solidFill>
                <a:latin typeface="Calibri" pitchFamily="34" charset="0"/>
                <a:ea typeface="Calibri" pitchFamily="34" charset="-122"/>
                <a:cs typeface="Calibri" pitchFamily="34" charset="-120"/>
              </a:rPr>
              <a:t>Next: Unit II: Data Visualization</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BMT Data">
  <a:themeElements>
    <a:clrScheme name="BMT Data">
      <a:dk1>
        <a:srgbClr val="14213D"/>
      </a:dk1>
      <a:lt1>
        <a:srgbClr val="FFFFFF"/>
      </a:lt1>
      <a:dk2>
        <a:srgbClr val="0B6E6E"/>
      </a:dk2>
      <a:lt2>
        <a:srgbClr val="EEF3F6"/>
      </a:lt2>
      <a:accent1>
        <a:srgbClr val="0F8B8D"/>
      </a:accent1>
      <a:accent2>
        <a:srgbClr val="F29E4C"/>
      </a:accent2>
      <a:accent3>
        <a:srgbClr val="3A5BA0"/>
      </a:accent3>
      <a:accent4>
        <a:srgbClr val="C8553D"/>
      </a:accent4>
      <a:accent5>
        <a:srgbClr val="6E9B2F"/>
      </a:accent5>
      <a:accent6>
        <a:srgbClr val="8E6BBF"/>
      </a:accent6>
      <a:hlink>
        <a:srgbClr val="0F8B8D"/>
      </a:hlink>
      <a:folHlink>
        <a:srgbClr val="8E6BBF"/>
      </a:folHlink>
    </a:clrScheme>
    <a:fontScheme name="BMT Da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SAGE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Merging and Joining Datasets</dc:title>
  <dc:subject>Business Management Tools I</dc:subject>
  <dc:creator>Sushant Bhargav</dc:creator>
  <cp:lastModifiedBy>Sushant Bhargav</cp:lastModifiedBy>
  <cp:revision>1</cp:revision>
  <dcterms:created xsi:type="dcterms:W3CDTF">2026-10-07T01:36:15Z</dcterms:created>
  <dcterms:modified xsi:type="dcterms:W3CDTF">2026-10-07T01:36:15Z</dcterms:modified>
</cp:coreProperties>
</file>