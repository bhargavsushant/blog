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10: Basic Data Operations" id="{7850b8ef-ea6f-ed27-8166-3c999e005dcf}">
          <p14:sldIdLst>
            <p14:sldId id="256"/>
            <p14:sldId id="257"/>
            <p14:sldId id="258"/>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the first things you do with a table: sort, filter, group with subtotals, use simple formulas, and build a basic PivotTable in Excel. We use one small sales table of 8 orders throughout, so every answer can be checked by hand. The data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to keep the table open all session. Ask: if a shop owner gave you 8,000 rows instead of 8, which operations would you still do the same way? All of them. That is why we learn them on a small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shows seven rows to fit the screen. Write order 8 on the board: West, Bag, 3, 500, 1,500. Sales is Units times Price, so check row 1: 30 times 50 is 1,500. Total sales is 1500 + 1000 + 600 + 1000 + 2000 + 2500 + 800 + 1500 = 10,900.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cover most day to day spreadsheet work. Notice that filter hides and sort moves, but neither changes the data values. Ask: which of these could lose data if done carelessly? Sorting one column alone is the classic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sort live. Tick "My data has headers". If the sort ties, Excel keeps the original relative order, which is why we add a second level. Ask students what would happen if they selected only the Sales column and sorted. The sales would no longer match their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only the first six orders to fit the slide, so the full sorted list would also include Orders 7 and 8. Point out that every row moved as a unit. The Order, Region and Product columns followed the Sales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ribbon filter is for looking, and FILTER and SORT formulas are for building new live tables. Columns are A Order, B Region, C Product, D Units, E Price, F Sales, rows 2 to 9. Ask: what would SUM give if you filtered to East and used plain SUM on column F? It still gives 10,900.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boundary on purpose. If you type "greater than 1,000" instead of "at least 1,000", Order 4 drops out and the total becomes 3,500. Students should always say aloud whether the limit is included. Also remind them that the filter hides rows and nothing is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Subtotal command only works properly if the data is sorted by the grouping column first. Otherwise it creates a new subtotal each time the region changes. Percentages: 4600 over 10900 is 42.2 percent, 3500 over 10900 is 32.1 percent, 2800 over 10900 is 25.7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per row is a calculated column, so the number never needs typing. The dollar signs in the last formula are the key skill. Without them, the denominator moves down on each row and you get errors or wrong values. Ask what percentage order 6 is: 2500 over 10900 is 22.9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After building, double click a total cell to see the rows behind it, which is a good way to check the numbers. Ask: if we change Order 3 to 900 in the source, what does the PivotTable show before refresh? The old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with the class. The grand total matches our SUM, which is the key check. Blank is not zero: it means no orders at all. Check: Bag 2,500 plus 1,500 is 4,000, Notebook 4,500, Pen 2,400, and 4,000 plus 4,500 plus 2,400 is 10,900.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cause most beginner errors. Ask students to check a real sheet they own for text numbers. Show how SUM ignores a number typed with a leading apostrophe. Also remind them to keep a backup copy before sorting a large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five minutes. Question 3: 4500 divided by 10900 is 0.4128, so 41.3 percent. Walk through Question 4 by changing Order 3 live. Invite students to say which question needed filter and which needed grouping.
ANSWERS
1. 3 orders (2, 4, 8). 1,000 + 1,000 + 1,500 = ₹3,500.
2. =SUMIFS(F2:F9,C2:C9,"Pen"). The result is 600 + 1,000 + 800 = ₹2,400.
3. Notebook = 4,500. 4,500 / 10,900 = 41.3%.
4. A PivotTable keeps a stored copy until refreshed. Right click it and choose Refresh, or Data, Refresh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  ·  TOPIC 10</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Basic Data Operations</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Introduction to Data Analysis</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Sort </a:t>
            </a:r>
            <a:pPr indent="0" marL="0">
              <a:buNone/>
            </a:pPr>
            <a:r>
              <a:rPr lang="en-US" sz="2400" dirty="0">
                <a:solidFill>
                  <a:srgbClr val="2B3A4F"/>
                </a:solidFill>
                <a:latin typeface="Calibri" pitchFamily="34" charset="0"/>
                <a:ea typeface="Calibri" pitchFamily="34" charset="-122"/>
                <a:cs typeface="Calibri" pitchFamily="34" charset="-120"/>
              </a:rPr>
              <a:t>a table by one or more columns, in ascending or descending order.</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Filter </a:t>
            </a:r>
            <a:pPr indent="0" marL="0">
              <a:buNone/>
            </a:pPr>
            <a:r>
              <a:rPr lang="en-US" sz="2400" dirty="0">
                <a:solidFill>
                  <a:srgbClr val="2B3A4F"/>
                </a:solidFill>
                <a:latin typeface="Calibri" pitchFamily="34" charset="0"/>
                <a:ea typeface="Calibri" pitchFamily="34" charset="-122"/>
                <a:cs typeface="Calibri" pitchFamily="34" charset="-120"/>
              </a:rPr>
              <a:t>rows that meet one or several conditions.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Group </a:t>
            </a:r>
            <a:pPr indent="0" marL="0">
              <a:buNone/>
            </a:pPr>
            <a:r>
              <a:rPr lang="en-US" sz="2400" dirty="0">
                <a:solidFill>
                  <a:srgbClr val="2B3A4F"/>
                </a:solidFill>
                <a:latin typeface="Calibri" pitchFamily="34" charset="0"/>
                <a:ea typeface="Calibri" pitchFamily="34" charset="-122"/>
                <a:cs typeface="Calibri" pitchFamily="34" charset="-120"/>
              </a:rPr>
              <a:t>rows by a category and calculate subtotals.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Write </a:t>
            </a:r>
            <a:pPr indent="0" marL="0">
              <a:buNone/>
            </a:pPr>
            <a:r>
              <a:rPr lang="en-US" sz="2400" dirty="0">
                <a:solidFill>
                  <a:srgbClr val="2B3A4F"/>
                </a:solidFill>
                <a:latin typeface="Calibri" pitchFamily="34" charset="0"/>
                <a:ea typeface="Calibri" pitchFamily="34" charset="-122"/>
                <a:cs typeface="Calibri" pitchFamily="34" charset="-120"/>
              </a:rPr>
              <a:t>simple Excel formulas: SUM, AVERAGE, COUNTIF, SUMIFS and percentage of total.</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Build </a:t>
            </a:r>
            <a:pPr indent="0" marL="0">
              <a:buNone/>
            </a:pPr>
            <a:r>
              <a:rPr lang="en-US" sz="2400" dirty="0">
                <a:solidFill>
                  <a:srgbClr val="2B3A4F"/>
                </a:solidFill>
                <a:latin typeface="Calibri" pitchFamily="34" charset="0"/>
                <a:ea typeface="Calibri" pitchFamily="34" charset="-122"/>
                <a:cs typeface="Calibri" pitchFamily="34" charset="-120"/>
              </a:rPr>
              <a:t>a basic PivotTable and read it correctly.</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8</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orders, one small table. Every operation here is done by hand first, then in Excel.</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Our dataset: a stationery retailer</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404009"/>
                <a:gridCol w="1965613"/>
                <a:gridCol w="2527216"/>
                <a:gridCol w="1544410"/>
                <a:gridCol w="1684811"/>
                <a:gridCol w="1965613"/>
              </a:tblGrid>
              <a:tr h="4511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Order</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Region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Product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Units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Price ₹</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Sales ₹</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East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Notebook</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30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50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1,500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West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Pen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1,000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East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Pen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60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600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West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Notebook</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20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50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1,000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North</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Notebook</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40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50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2,000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6</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East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Bag</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5</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500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2,500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7</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North</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Pen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80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800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254752"/>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Order 8 (not shown): West, Bag, 3 units at ₹500 = ₹1,500. Total sales of all 8 orders: ₹10,900.</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Five basic operations</a:t>
            </a:r>
            <a:endParaRPr lang="en-US" sz="2800" dirty="0"/>
          </a:p>
        </p:txBody>
      </p:sp>
      <p:sp>
        <p:nvSpPr>
          <p:cNvPr id="3" name="Shape 1"/>
          <p:cNvSpPr/>
          <p:nvPr/>
        </p:nvSpPr>
        <p:spPr>
          <a:xfrm>
            <a:off x="548640" y="1417320"/>
            <a:ext cx="3514344"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Sort</a:t>
            </a:r>
            <a:endParaRPr lang="en-US" sz="2000" dirty="0"/>
          </a:p>
        </p:txBody>
      </p:sp>
      <p:sp>
        <p:nvSpPr>
          <p:cNvPr id="6" name="Text 4"/>
          <p:cNvSpPr txBox="1"/>
          <p:nvPr/>
        </p:nvSpPr>
        <p:spPr>
          <a:xfrm>
            <a:off x="777240" y="2331720"/>
            <a:ext cx="3057144" cy="123444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Put rows in order, for example highest sales first. Rows move together, never one column alone.</a:t>
            </a:r>
            <a:endParaRPr lang="en-US" sz="1800" dirty="0"/>
          </a:p>
        </p:txBody>
      </p:sp>
      <p:sp>
        <p:nvSpPr>
          <p:cNvPr id="7" name="Shape 5"/>
          <p:cNvSpPr/>
          <p:nvPr/>
        </p:nvSpPr>
        <p:spPr>
          <a:xfrm>
            <a:off x="4337304" y="1417320"/>
            <a:ext cx="3514344"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4565904"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5160264"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Filter</a:t>
            </a:r>
            <a:endParaRPr lang="en-US" sz="2000" dirty="0"/>
          </a:p>
        </p:txBody>
      </p:sp>
      <p:sp>
        <p:nvSpPr>
          <p:cNvPr id="10" name="Text 8"/>
          <p:cNvSpPr txBox="1"/>
          <p:nvPr/>
        </p:nvSpPr>
        <p:spPr>
          <a:xfrm>
            <a:off x="4565904" y="2331720"/>
            <a:ext cx="3057144" cy="123444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Show only rows that match a condition, such as Region = East. Other rows are hidden, not deleted.</a:t>
            </a:r>
            <a:endParaRPr lang="en-US" sz="1900" dirty="0"/>
          </a:p>
        </p:txBody>
      </p:sp>
      <p:sp>
        <p:nvSpPr>
          <p:cNvPr id="11" name="Shape 9"/>
          <p:cNvSpPr/>
          <p:nvPr/>
        </p:nvSpPr>
        <p:spPr>
          <a:xfrm>
            <a:off x="8125968" y="1417320"/>
            <a:ext cx="3514344"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8354568" y="164592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8948928"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Group and subtotal</a:t>
            </a:r>
            <a:endParaRPr lang="en-US" sz="2000" dirty="0"/>
          </a:p>
        </p:txBody>
      </p:sp>
      <p:sp>
        <p:nvSpPr>
          <p:cNvPr id="14" name="Text 12"/>
          <p:cNvSpPr txBox="1"/>
          <p:nvPr/>
        </p:nvSpPr>
        <p:spPr>
          <a:xfrm>
            <a:off x="8354568" y="233172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Combine rows by a category and add them up, for example total sales per region.</a:t>
            </a:r>
            <a:endParaRPr lang="en-US" sz="2000" dirty="0"/>
          </a:p>
        </p:txBody>
      </p:sp>
      <p:sp>
        <p:nvSpPr>
          <p:cNvPr id="15" name="Shape 13"/>
          <p:cNvSpPr/>
          <p:nvPr/>
        </p:nvSpPr>
        <p:spPr>
          <a:xfrm>
            <a:off x="548640" y="3977640"/>
            <a:ext cx="3514344"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777240"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1371600"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Simple formulas</a:t>
            </a:r>
            <a:endParaRPr lang="en-US" sz="2000" dirty="0"/>
          </a:p>
        </p:txBody>
      </p:sp>
      <p:sp>
        <p:nvSpPr>
          <p:cNvPr id="18" name="Text 16"/>
          <p:cNvSpPr txBox="1"/>
          <p:nvPr/>
        </p:nvSpPr>
        <p:spPr>
          <a:xfrm>
            <a:off x="777240"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Calculate new values from cells, such as totals, averages, counts and percentages.</a:t>
            </a:r>
            <a:endParaRPr lang="en-US" sz="2000" dirty="0"/>
          </a:p>
        </p:txBody>
      </p:sp>
      <p:sp>
        <p:nvSpPr>
          <p:cNvPr id="19" name="Shape 17"/>
          <p:cNvSpPr/>
          <p:nvPr/>
        </p:nvSpPr>
        <p:spPr>
          <a:xfrm>
            <a:off x="4337304" y="3977640"/>
            <a:ext cx="3514344" cy="2286000"/>
          </a:xfrm>
          <a:prstGeom prst="roundRect">
            <a:avLst>
              <a:gd name="adj" fmla="val 4800"/>
            </a:avLst>
          </a:prstGeom>
          <a:solidFill>
            <a:srgbClr val="EEF3F6"/>
          </a:solidFill>
          <a:ln w="12700">
            <a:solidFill>
              <a:srgbClr val="EEF3F6"/>
            </a:solidFill>
            <a:prstDash val="solid"/>
          </a:ln>
        </p:spPr>
      </p:sp>
      <p:sp>
        <p:nvSpPr>
          <p:cNvPr id="20" name="Text 18"/>
          <p:cNvSpPr/>
          <p:nvPr/>
        </p:nvSpPr>
        <p:spPr>
          <a:xfrm>
            <a:off x="4565904" y="4206240"/>
            <a:ext cx="457200" cy="457200"/>
          </a:xfrm>
          <a:prstGeom prst="ellipse">
            <a:avLst/>
          </a:prstGeom>
          <a:solidFill>
            <a:srgbClr val="6E9B2F"/>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1" name="Text 19"/>
          <p:cNvSpPr txBox="1"/>
          <p:nvPr/>
        </p:nvSpPr>
        <p:spPr>
          <a:xfrm>
            <a:off x="5160264"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PivotTable</a:t>
            </a:r>
            <a:endParaRPr lang="en-US" sz="2000" dirty="0"/>
          </a:p>
        </p:txBody>
      </p:sp>
      <p:sp>
        <p:nvSpPr>
          <p:cNvPr id="22" name="Text 20"/>
          <p:cNvSpPr txBox="1"/>
          <p:nvPr/>
        </p:nvSpPr>
        <p:spPr>
          <a:xfrm>
            <a:off x="4565904"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Drag fields to build a summary table. Group, subtotal and cross-tab in seconds.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Worked example: sorting by sales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Which orders brought in the most money? Sort the dataset by Sales, largest first. Select any cell in the table, then Data, Sort.</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Sort by Sales ₹, Largest to Smallest: </a:t>
            </a:r>
            <a:pPr indent="0" marL="0">
              <a:buNone/>
            </a:pPr>
            <a:r>
              <a:rPr lang="en-US" sz="2200" dirty="0">
                <a:solidFill>
                  <a:srgbClr val="2B3A4F"/>
                </a:solidFill>
                <a:latin typeface="Calibri" pitchFamily="34" charset="0"/>
                <a:ea typeface="Calibri" pitchFamily="34" charset="-122"/>
                <a:cs typeface="Calibri" pitchFamily="34" charset="-120"/>
              </a:rPr>
              <a:t>Order 6 (₹2,500) comes first.</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Next: </a:t>
            </a:r>
            <a:pPr indent="0" marL="0">
              <a:buNone/>
            </a:pPr>
            <a:r>
              <a:rPr lang="en-US" sz="2200" dirty="0">
                <a:solidFill>
                  <a:srgbClr val="2B3A4F"/>
                </a:solidFill>
                <a:latin typeface="Calibri" pitchFamily="34" charset="0"/>
                <a:ea typeface="Calibri" pitchFamily="34" charset="-122"/>
                <a:cs typeface="Calibri" pitchFamily="34" charset="-120"/>
              </a:rPr>
              <a:t>Order 5 (₹2,000), then Orders 1 and 8 tie at ₹1,500.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Ties: </a:t>
            </a:r>
            <a:pPr indent="0" marL="0">
              <a:buNone/>
            </a:pPr>
            <a:r>
              <a:rPr lang="en-US" sz="2200" dirty="0">
                <a:solidFill>
                  <a:srgbClr val="2B3A4F"/>
                </a:solidFill>
                <a:latin typeface="Calibri" pitchFamily="34" charset="0"/>
                <a:ea typeface="Calibri" pitchFamily="34" charset="-122"/>
                <a:cs typeface="Calibri" pitchFamily="34" charset="-120"/>
              </a:rPr>
              <a:t>add a second level, Sales then Region A to Z, so the order is predictable.</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Last place: </a:t>
            </a:r>
            <a:pPr indent="0" marL="0">
              <a:buNone/>
            </a:pPr>
            <a:r>
              <a:rPr lang="en-US" sz="2200" dirty="0">
                <a:solidFill>
                  <a:srgbClr val="2B3A4F"/>
                </a:solidFill>
                <a:latin typeface="Calibri" pitchFamily="34" charset="0"/>
                <a:ea typeface="Calibri" pitchFamily="34" charset="-122"/>
                <a:cs typeface="Calibri" pitchFamily="34" charset="-120"/>
              </a:rPr>
              <a:t>Order 3 (Pen, East) with ₹600.</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Top 3 by sales: Order 6 (₹2,500), Order 5 (₹2,000), and a tie of Orders 1 and 8 (₹1,500 each).</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Before and after sorting (first 6 orders)</a:t>
            </a:r>
            <a:endParaRPr lang="en-US" sz="2800" dirty="0"/>
          </a:p>
        </p:txBody>
      </p:sp>
      <p:sp>
        <p:nvSpPr>
          <p:cNvPr id="3" name="Shape 1"/>
          <p:cNvSpPr/>
          <p:nvPr/>
        </p:nvSpPr>
        <p:spPr>
          <a:xfrm>
            <a:off x="548640" y="1417320"/>
            <a:ext cx="5385816" cy="457200"/>
          </a:xfrm>
          <a:prstGeom prst="roundRect">
            <a:avLst>
              <a:gd name="adj" fmla="val 24000"/>
            </a:avLst>
          </a:prstGeom>
          <a:solidFill>
            <a:srgbClr val="C8553D"/>
          </a:solidFill>
          <a:ln w="12700">
            <a:solidFill>
              <a:srgbClr val="C8553D"/>
            </a:solidFill>
            <a:prstDash val="solid"/>
          </a:ln>
        </p:spPr>
      </p:sp>
      <p:sp>
        <p:nvSpPr>
          <p:cNvPr id="4" name="Text 2"/>
          <p:cNvSpPr txBox="1"/>
          <p:nvPr/>
        </p:nvSpPr>
        <p:spPr>
          <a:xfrm>
            <a:off x="731520"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Before: order number</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385816" cy="914400"/>
        </p:xfrm>
        <a:graphic>
          <a:graphicData uri="http://schemas.openxmlformats.org/drawingml/2006/table">
            <a:tbl>
              <a:tblPr/>
              <a:tblGrid>
                <a:gridCol w="1346454"/>
                <a:gridCol w="1346454"/>
                <a:gridCol w="1346454"/>
                <a:gridCol w="1346454"/>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Order</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Region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Product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Sales ₹</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East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Notebook</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1,500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West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Pen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East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Pen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600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West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Notebook</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North</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Notebook</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2,000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East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Bag</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2,500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6" name="Shape 3"/>
          <p:cNvSpPr/>
          <p:nvPr/>
        </p:nvSpPr>
        <p:spPr>
          <a:xfrm>
            <a:off x="6254496" y="1417320"/>
            <a:ext cx="5385816" cy="457200"/>
          </a:xfrm>
          <a:prstGeom prst="roundRect">
            <a:avLst>
              <a:gd name="adj" fmla="val 24000"/>
            </a:avLst>
          </a:prstGeom>
          <a:solidFill>
            <a:srgbClr val="0F8B8D"/>
          </a:solidFill>
          <a:ln w="12700">
            <a:solidFill>
              <a:srgbClr val="0F8B8D"/>
            </a:solidFill>
            <a:prstDash val="solid"/>
          </a:ln>
        </p:spPr>
      </p:sp>
      <p:sp>
        <p:nvSpPr>
          <p:cNvPr id="7" name="Text 4"/>
          <p:cNvSpPr txBox="1"/>
          <p:nvPr/>
        </p:nvSpPr>
        <p:spPr>
          <a:xfrm>
            <a:off x="6437376"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After: Sales, largest first</a:t>
            </a:r>
            <a:endParaRPr lang="en-US" sz="16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254496" y="2011680"/>
          <a:ext cx="5385816" cy="914400"/>
        </p:xfrm>
        <a:graphic>
          <a:graphicData uri="http://schemas.openxmlformats.org/drawingml/2006/table">
            <a:tbl>
              <a:tblPr/>
              <a:tblGrid>
                <a:gridCol w="1346454"/>
                <a:gridCol w="1346454"/>
                <a:gridCol w="1346454"/>
                <a:gridCol w="1346454"/>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Order</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Region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Product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Sales ₹</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East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Bag</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2,500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North</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Notebook</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2,000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East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Notebook</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1,500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West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Pen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West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Notebook</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East</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Pen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600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9" name="Shape 5"/>
          <p:cNvSpPr/>
          <p:nvPr/>
        </p:nvSpPr>
        <p:spPr>
          <a:xfrm>
            <a:off x="548640" y="5623560"/>
            <a:ext cx="11091672" cy="640080"/>
          </a:xfrm>
          <a:prstGeom prst="roundRect">
            <a:avLst>
              <a:gd name="adj" fmla="val 17143"/>
            </a:avLst>
          </a:prstGeom>
          <a:solidFill>
            <a:srgbClr val="FDEBD6"/>
          </a:solidFill>
          <a:ln w="12700">
            <a:solidFill>
              <a:srgbClr val="FDEBD6"/>
            </a:solidFill>
            <a:prstDash val="solid"/>
          </a:ln>
        </p:spPr>
      </p:sp>
      <p:sp>
        <p:nvSpPr>
          <p:cNvPr id="10" name="Text 6"/>
          <p:cNvSpPr txBox="1"/>
          <p:nvPr/>
        </p:nvSpPr>
        <p:spPr>
          <a:xfrm>
            <a:off x="822960" y="5623560"/>
            <a:ext cx="10543032" cy="640080"/>
          </a:xfrm>
          <a:prstGeom prst="rect">
            <a:avLst/>
          </a:prstGeom>
          <a:noFill/>
          <a:ln/>
        </p:spPr>
        <p:txBody>
          <a:bodyPr wrap="square" lIns="0" tIns="0" rIns="0" bIns="0" rtlCol="0" anchor="ctr"/>
          <a:lstStyle/>
          <a:p>
            <a:pPr indent="0" marL="0">
              <a:buNone/>
            </a:pPr>
            <a:r>
              <a:rPr lang="en-US" sz="1600" dirty="0">
                <a:solidFill>
                  <a:srgbClr val="14213D"/>
                </a:solidFill>
                <a:latin typeface="Calibri" pitchFamily="34" charset="0"/>
                <a:ea typeface="Calibri" pitchFamily="34" charset="-122"/>
                <a:cs typeface="Calibri" pitchFamily="34" charset="-120"/>
              </a:rPr>
              <a:t>Each row stays intact. Orders 2 and 4 tie at ₹1,000 and keep their original relative order.</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Sorting and filtering with formulas</a:t>
            </a:r>
            <a:endParaRPr lang="en-US" sz="2800" dirty="0"/>
          </a:p>
        </p:txBody>
      </p:sp>
      <p:sp>
        <p:nvSpPr>
          <p:cNvPr id="3" name="Shape 1"/>
          <p:cNvSpPr/>
          <p:nvPr/>
        </p:nvSpPr>
        <p:spPr>
          <a:xfrm>
            <a:off x="548640" y="1417320"/>
            <a:ext cx="6675120" cy="4846320"/>
          </a:xfrm>
          <a:prstGeom prst="roundRect">
            <a:avLst>
              <a:gd name="adj" fmla="val 2264"/>
            </a:avLst>
          </a:prstGeom>
          <a:solidFill>
            <a:srgbClr val="14213D"/>
          </a:solidFill>
          <a:ln w="12700">
            <a:solidFill>
              <a:srgbClr val="14213D"/>
            </a:solidFill>
            <a:prstDash val="solid"/>
          </a:ln>
        </p:spPr>
      </p:sp>
      <p:sp>
        <p:nvSpPr>
          <p:cNvPr id="4" name="Text 2"/>
          <p:cNvSpPr txBox="1"/>
          <p:nvPr/>
        </p:nvSpPr>
        <p:spPr>
          <a:xfrm>
            <a:off x="822960" y="1645920"/>
            <a:ext cx="2743200"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EXCEL 365</a:t>
            </a:r>
            <a:endParaRPr lang="en-US" sz="1200" dirty="0"/>
          </a:p>
        </p:txBody>
      </p:sp>
      <p:sp>
        <p:nvSpPr>
          <p:cNvPr id="5" name="Text 3"/>
          <p:cNvSpPr txBox="1"/>
          <p:nvPr/>
        </p:nvSpPr>
        <p:spPr>
          <a:xfrm>
            <a:off x="822960" y="2103120"/>
            <a:ext cx="6126480" cy="3931920"/>
          </a:xfrm>
          <a:prstGeom prst="rect">
            <a:avLst/>
          </a:prstGeom>
          <a:noFill/>
          <a:ln/>
        </p:spPr>
        <p:txBody>
          <a:bodyPr wrap="square" lIns="0" tIns="0" rIns="0" bIns="0" rtlCol="0" anchor="t"/>
          <a:lstStyle/>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=SORT(A2:F9,6,-1)</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=FILTER(A2:F9,B2:B9="East")</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=FILTER(A2:F9,(C2:C9="Notebook")</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   *(F2:F9&gt;=1000))</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=SUBTOTAL(109,F2:F9)</a:t>
            </a:r>
            <a:endParaRPr lang="en-US" sz="1700" dirty="0"/>
          </a:p>
        </p:txBody>
      </p:sp>
      <p:sp>
        <p:nvSpPr>
          <p:cNvPr id="6" name="Text 4"/>
          <p:cNvSpPr txBox="1"/>
          <p:nvPr/>
        </p:nvSpPr>
        <p:spPr>
          <a:xfrm>
            <a:off x="7498080" y="1463040"/>
            <a:ext cx="4142232" cy="47548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SORT: </a:t>
            </a:r>
            <a:pPr indent="0" marL="0">
              <a:buNone/>
            </a:pPr>
            <a:r>
              <a:rPr lang="en-US" sz="2200" dirty="0">
                <a:solidFill>
                  <a:srgbClr val="2B3A4F"/>
                </a:solidFill>
                <a:latin typeface="Calibri" pitchFamily="34" charset="0"/>
                <a:ea typeface="Calibri" pitchFamily="34" charset="-122"/>
                <a:cs typeface="Calibri" pitchFamily="34" charset="-120"/>
              </a:rPr>
              <a:t>column 6 (Sales), -1 means descending.</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FILTER: </a:t>
            </a:r>
            <a:pPr indent="0" marL="0">
              <a:buNone/>
            </a:pPr>
            <a:r>
              <a:rPr lang="en-US" sz="2200" dirty="0">
                <a:solidFill>
                  <a:srgbClr val="2B3A4F"/>
                </a:solidFill>
                <a:latin typeface="Calibri" pitchFamily="34" charset="0"/>
                <a:ea typeface="Calibri" pitchFamily="34" charset="-122"/>
                <a:cs typeface="Calibri" pitchFamily="34" charset="-120"/>
              </a:rPr>
              <a:t>keeps rows where the test is TRUE. Multiply tests for AND.</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Add tests with + </a:t>
            </a:r>
            <a:pPr indent="0" marL="0">
              <a:buNone/>
            </a:pPr>
            <a:r>
              <a:rPr lang="en-US" sz="2200" dirty="0">
                <a:solidFill>
                  <a:srgbClr val="2B3A4F"/>
                </a:solidFill>
                <a:latin typeface="Calibri" pitchFamily="34" charset="0"/>
                <a:ea typeface="Calibri" pitchFamily="34" charset="-122"/>
                <a:cs typeface="Calibri" pitchFamily="34" charset="-120"/>
              </a:rPr>
              <a:t>for OR conditions.</a:t>
            </a:r>
            <a:endParaRPr lang="en-US" sz="2200" dirty="0"/>
          </a:p>
          <a:p>
            <a:pPr marL="228600" indent="-228600">
              <a:buSzPct val="100000"/>
              <a:buChar char="•"/>
            </a:pPr>
            <a:r>
              <a:rPr lang="en-US" sz="2200" b="1" dirty="0">
                <a:solidFill>
                  <a:srgbClr val="14213D"/>
                </a:solidFill>
                <a:latin typeface="Calibri" pitchFamily="34" charset="0"/>
                <a:ea typeface="Calibri" pitchFamily="34" charset="-122"/>
                <a:cs typeface="Calibri" pitchFamily="34" charset="-120"/>
              </a:rPr>
              <a:t>SUBTOTAL(109): </a:t>
            </a:r>
            <a:pPr indent="0" marL="0">
              <a:buNone/>
            </a:pPr>
            <a:r>
              <a:rPr lang="en-US" sz="2200" dirty="0">
                <a:solidFill>
                  <a:srgbClr val="2B3A4F"/>
                </a:solidFill>
                <a:latin typeface="Calibri" pitchFamily="34" charset="0"/>
                <a:ea typeface="Calibri" pitchFamily="34" charset="-122"/>
                <a:cs typeface="Calibri" pitchFamily="34" charset="-120"/>
              </a:rPr>
              <a:t>adds only visible rows after a filter. Plain SUM adds hidden rows too.</a:t>
            </a:r>
            <a:endParaRPr lang="en-US" sz="2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Worked example: filtering rows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Question 1: what did the East region sell? Question 2: which Notebook orders were worth at least ₹1,000?</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Filter Region = East: </a:t>
            </a:r>
            <a:pPr indent="0" marL="0">
              <a:buNone/>
            </a:pPr>
            <a:r>
              <a:rPr lang="en-US" sz="2200" dirty="0">
                <a:solidFill>
                  <a:srgbClr val="2B3A4F"/>
                </a:solidFill>
                <a:latin typeface="Calibri" pitchFamily="34" charset="0"/>
                <a:ea typeface="Calibri" pitchFamily="34" charset="-122"/>
                <a:cs typeface="Calibri" pitchFamily="34" charset="-120"/>
              </a:rPr>
              <a:t>Orders 1, 3 and 6 remain (3 of 8 rows).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Add up their Sales: </a:t>
            </a:r>
            <a:pPr indent="0" marL="0">
              <a:buNone/>
            </a:pPr>
            <a:r>
              <a:rPr lang="en-US" sz="2200" dirty="0">
                <a:solidFill>
                  <a:srgbClr val="2B3A4F"/>
                </a:solidFill>
                <a:latin typeface="Calibri" pitchFamily="34" charset="0"/>
                <a:ea typeface="Calibri" pitchFamily="34" charset="-122"/>
                <a:cs typeface="Calibri" pitchFamily="34" charset="-120"/>
              </a:rPr>
              <a:t>1,500 + 600 + 2,500 = ₹4,600.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New filter: Notebook AND Sales ≥ 1,000: </a:t>
            </a:r>
            <a:pPr indent="0" marL="0">
              <a:buNone/>
            </a:pPr>
            <a:r>
              <a:rPr lang="en-US" sz="2200" dirty="0">
                <a:solidFill>
                  <a:srgbClr val="2B3A4F"/>
                </a:solidFill>
                <a:latin typeface="Calibri" pitchFamily="34" charset="0"/>
                <a:ea typeface="Calibri" pitchFamily="34" charset="-122"/>
                <a:cs typeface="Calibri" pitchFamily="34" charset="-120"/>
              </a:rPr>
              <a:t>Orders 1, 4 and 5 remain.</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Their sales: </a:t>
            </a:r>
            <a:pPr indent="0" marL="0">
              <a:buNone/>
            </a:pPr>
            <a:r>
              <a:rPr lang="en-US" sz="2200" dirty="0">
                <a:solidFill>
                  <a:srgbClr val="2B3A4F"/>
                </a:solidFill>
                <a:latin typeface="Calibri" pitchFamily="34" charset="0"/>
                <a:ea typeface="Calibri" pitchFamily="34" charset="-122"/>
                <a:cs typeface="Calibri" pitchFamily="34" charset="-120"/>
              </a:rPr>
              <a:t>1,500 + 1,000 + 2,000 = ₹4,500. Boundary: ≥ keeps Order 4 at exactly ₹1,000.</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East sold ₹4,600. Three Notebook orders reached ₹1,000 or more, worth ₹4,500. Here that is every Notebook order.</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Worked example: grouping and subtotals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What are the total sales and the share of each region? Sort by Region first, then use Data, Subtotal, or SUMIFS.</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East: </a:t>
            </a:r>
            <a:pPr indent="0" marL="0">
              <a:buNone/>
            </a:pPr>
            <a:r>
              <a:rPr lang="en-US" sz="2200" dirty="0">
                <a:solidFill>
                  <a:srgbClr val="2B3A4F"/>
                </a:solidFill>
                <a:latin typeface="Calibri" pitchFamily="34" charset="0"/>
                <a:ea typeface="Calibri" pitchFamily="34" charset="-122"/>
                <a:cs typeface="Calibri" pitchFamily="34" charset="-120"/>
              </a:rPr>
              <a:t>1,500 + 600 + 2,500 = ₹4,600 from 3 orders.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North: </a:t>
            </a:r>
            <a:pPr indent="0" marL="0">
              <a:buNone/>
            </a:pPr>
            <a:r>
              <a:rPr lang="en-US" sz="2200" dirty="0">
                <a:solidFill>
                  <a:srgbClr val="2B3A4F"/>
                </a:solidFill>
                <a:latin typeface="Calibri" pitchFamily="34" charset="0"/>
                <a:ea typeface="Calibri" pitchFamily="34" charset="-122"/>
                <a:cs typeface="Calibri" pitchFamily="34" charset="-120"/>
              </a:rPr>
              <a:t>2,000 + 800 = ₹2,800 from 2 orders.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West: </a:t>
            </a:r>
            <a:pPr indent="0" marL="0">
              <a:buNone/>
            </a:pPr>
            <a:r>
              <a:rPr lang="en-US" sz="2200" dirty="0">
                <a:solidFill>
                  <a:srgbClr val="2B3A4F"/>
                </a:solidFill>
                <a:latin typeface="Calibri" pitchFamily="34" charset="0"/>
                <a:ea typeface="Calibri" pitchFamily="34" charset="-122"/>
                <a:cs typeface="Calibri" pitchFamily="34" charset="-120"/>
              </a:rPr>
              <a:t>1,000 + 1,000 + 1,500 = ₹3,500 from 3 orders.</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Grand total: </a:t>
            </a:r>
            <a:pPr indent="0" marL="0">
              <a:buNone/>
            </a:pPr>
            <a:r>
              <a:rPr lang="en-US" sz="2200" dirty="0">
                <a:solidFill>
                  <a:srgbClr val="2B3A4F"/>
                </a:solidFill>
                <a:latin typeface="Calibri" pitchFamily="34" charset="0"/>
                <a:ea typeface="Calibri" pitchFamily="34" charset="-122"/>
                <a:cs typeface="Calibri" pitchFamily="34" charset="-120"/>
              </a:rPr>
              <a:t>4,600 + 2,800 + 3,500 = ₹10,900. Shares: East 42.2%, West 32.1%, North 25.7%.</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East leads with 42.2% of sales. Check: the three subtotals must add to the grand total, and 42.2 + 32.1 + 25.7 = 100.</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Simple formulas on the sales table</a:t>
            </a:r>
            <a:endParaRPr lang="en-US" sz="2800" dirty="0"/>
          </a:p>
        </p:txBody>
      </p:sp>
      <p:sp>
        <p:nvSpPr>
          <p:cNvPr id="3" name="Shape 1"/>
          <p:cNvSpPr/>
          <p:nvPr/>
        </p:nvSpPr>
        <p:spPr>
          <a:xfrm>
            <a:off x="548640" y="1417320"/>
            <a:ext cx="6675120" cy="4846320"/>
          </a:xfrm>
          <a:prstGeom prst="roundRect">
            <a:avLst>
              <a:gd name="adj" fmla="val 2264"/>
            </a:avLst>
          </a:prstGeom>
          <a:solidFill>
            <a:srgbClr val="14213D"/>
          </a:solidFill>
          <a:ln w="12700">
            <a:solidFill>
              <a:srgbClr val="14213D"/>
            </a:solidFill>
            <a:prstDash val="solid"/>
          </a:ln>
        </p:spPr>
      </p:sp>
      <p:sp>
        <p:nvSpPr>
          <p:cNvPr id="4" name="Text 2"/>
          <p:cNvSpPr txBox="1"/>
          <p:nvPr/>
        </p:nvSpPr>
        <p:spPr>
          <a:xfrm>
            <a:off x="822960" y="1645920"/>
            <a:ext cx="2743200"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EXCEL</a:t>
            </a:r>
            <a:endParaRPr lang="en-US" sz="1200" dirty="0"/>
          </a:p>
        </p:txBody>
      </p:sp>
      <p:sp>
        <p:nvSpPr>
          <p:cNvPr id="5" name="Text 3"/>
          <p:cNvSpPr txBox="1"/>
          <p:nvPr/>
        </p:nvSpPr>
        <p:spPr>
          <a:xfrm>
            <a:off x="822960" y="2103120"/>
            <a:ext cx="6126480" cy="3931920"/>
          </a:xfrm>
          <a:prstGeom prst="rect">
            <a:avLst/>
          </a:prstGeom>
          <a:noFill/>
          <a:ln/>
        </p:spPr>
        <p:txBody>
          <a:bodyPr wrap="square" lIns="0" tIns="0" rIns="0" bIns="0" rtlCol="0" anchor="t"/>
          <a:lstStyle/>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=D2*E2</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=SUM(F2:F9)</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=AVERAGE(F2:F9)</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=SUMIFS(F2:F9,B2:B9,"East")</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=COUNTIF(B2:B9,"West")</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=F2/SUM($F$2:$F$9)</a:t>
            </a:r>
            <a:endParaRPr lang="en-US" sz="1700" dirty="0"/>
          </a:p>
        </p:txBody>
      </p:sp>
      <p:sp>
        <p:nvSpPr>
          <p:cNvPr id="6" name="Text 4"/>
          <p:cNvSpPr txBox="1"/>
          <p:nvPr/>
        </p:nvSpPr>
        <p:spPr>
          <a:xfrm>
            <a:off x="7498080" y="1463040"/>
            <a:ext cx="4142232" cy="47548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Sales: </a:t>
            </a:r>
            <a:pPr indent="0" marL="0">
              <a:buNone/>
            </a:pPr>
            <a:r>
              <a:rPr lang="en-US" sz="2200" dirty="0">
                <a:solidFill>
                  <a:srgbClr val="2B3A4F"/>
                </a:solidFill>
                <a:latin typeface="Calibri" pitchFamily="34" charset="0"/>
                <a:ea typeface="Calibri" pitchFamily="34" charset="-122"/>
                <a:cs typeface="Calibri" pitchFamily="34" charset="-120"/>
              </a:rPr>
              <a:t>Units × Price per row. Fill down.</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Total and mean: </a:t>
            </a:r>
            <a:pPr indent="0" marL="0">
              <a:buNone/>
            </a:pPr>
            <a:r>
              <a:rPr lang="en-US" sz="2200" dirty="0">
                <a:solidFill>
                  <a:srgbClr val="2B3A4F"/>
                </a:solidFill>
                <a:latin typeface="Calibri" pitchFamily="34" charset="0"/>
                <a:ea typeface="Calibri" pitchFamily="34" charset="-122"/>
                <a:cs typeface="Calibri" pitchFamily="34" charset="-120"/>
              </a:rPr>
              <a:t>₹10,900 and ₹1,362.50 (10,900 / 8).</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SUMIFS and COUNTIF: </a:t>
            </a:r>
            <a:pPr indent="0" marL="0">
              <a:buNone/>
            </a:pPr>
            <a:r>
              <a:rPr lang="en-US" sz="2200" dirty="0">
                <a:solidFill>
                  <a:srgbClr val="2B3A4F"/>
                </a:solidFill>
                <a:latin typeface="Calibri" pitchFamily="34" charset="0"/>
                <a:ea typeface="Calibri" pitchFamily="34" charset="-122"/>
                <a:cs typeface="Calibri" pitchFamily="34" charset="-120"/>
              </a:rPr>
              <a:t>East = ₹4,600, West orders = 3.</a:t>
            </a:r>
            <a:endParaRPr lang="en-US" sz="2200" dirty="0"/>
          </a:p>
          <a:p>
            <a:pPr marL="228600" indent="-228600">
              <a:buSzPct val="100000"/>
              <a:buChar char="•"/>
            </a:pPr>
            <a:r>
              <a:rPr lang="en-US" sz="2200" b="1" dirty="0">
                <a:solidFill>
                  <a:srgbClr val="14213D"/>
                </a:solidFill>
                <a:latin typeface="Calibri" pitchFamily="34" charset="0"/>
                <a:ea typeface="Calibri" pitchFamily="34" charset="-122"/>
                <a:cs typeface="Calibri" pitchFamily="34" charset="-120"/>
              </a:rPr>
              <a:t>Lock the total with $: </a:t>
            </a:r>
            <a:pPr indent="0" marL="0">
              <a:buNone/>
            </a:pPr>
            <a:r>
              <a:rPr lang="en-US" sz="2200" dirty="0">
                <a:solidFill>
                  <a:srgbClr val="2B3A4F"/>
                </a:solidFill>
                <a:latin typeface="Calibri" pitchFamily="34" charset="0"/>
                <a:ea typeface="Calibri" pitchFamily="34" charset="-122"/>
                <a:cs typeface="Calibri" pitchFamily="34" charset="-120"/>
              </a:rPr>
              <a:t>so it does not move when you fill down.</a:t>
            </a:r>
            <a:endParaRPr lang="en-US" sz="2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Building a basic PivotTable</a:t>
            </a:r>
            <a:endParaRPr lang="en-US" sz="2800" dirty="0"/>
          </a:p>
        </p:txBody>
      </p:sp>
      <p:sp>
        <p:nvSpPr>
          <p:cNvPr id="3" name="Shape 1"/>
          <p:cNvSpPr/>
          <p:nvPr/>
        </p:nvSpPr>
        <p:spPr>
          <a:xfrm>
            <a:off x="548640" y="1417320"/>
            <a:ext cx="213055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Click inside the table</a:t>
            </a:r>
            <a:endParaRPr lang="en-US" sz="1700" dirty="0"/>
          </a:p>
        </p:txBody>
      </p:sp>
      <p:sp>
        <p:nvSpPr>
          <p:cNvPr id="5" name="Shape 3"/>
          <p:cNvSpPr/>
          <p:nvPr/>
        </p:nvSpPr>
        <p:spPr>
          <a:xfrm>
            <a:off x="548640" y="2331720"/>
            <a:ext cx="208483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Insert, PivotTable, OK. Use a new worksheet.</a:t>
            </a:r>
            <a:endParaRPr lang="en-US" sz="2000" dirty="0"/>
          </a:p>
        </p:txBody>
      </p:sp>
      <p:sp>
        <p:nvSpPr>
          <p:cNvPr id="7" name="Shape 5"/>
          <p:cNvSpPr/>
          <p:nvPr/>
        </p:nvSpPr>
        <p:spPr>
          <a:xfrm>
            <a:off x="2788920" y="1417320"/>
            <a:ext cx="2130552" cy="777240"/>
          </a:xfrm>
          <a:prstGeom prst="homePlate">
            <a:avLst/>
          </a:prstGeom>
          <a:solidFill>
            <a:srgbClr val="F29E4C"/>
          </a:solidFill>
          <a:ln w="12700">
            <a:solidFill>
              <a:srgbClr val="F29E4C"/>
            </a:solidFill>
            <a:prstDash val="solid"/>
          </a:ln>
        </p:spPr>
      </p:sp>
      <p:sp>
        <p:nvSpPr>
          <p:cNvPr id="8" name="Text 6"/>
          <p:cNvSpPr txBox="1"/>
          <p:nvPr/>
        </p:nvSpPr>
        <p:spPr>
          <a:xfrm>
            <a:off x="297180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Drag Region to Rows</a:t>
            </a:r>
            <a:endParaRPr lang="en-US" sz="1700" dirty="0"/>
          </a:p>
        </p:txBody>
      </p:sp>
      <p:sp>
        <p:nvSpPr>
          <p:cNvPr id="9" name="Shape 7"/>
          <p:cNvSpPr/>
          <p:nvPr/>
        </p:nvSpPr>
        <p:spPr>
          <a:xfrm>
            <a:off x="2788920" y="2331720"/>
            <a:ext cx="208483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297180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Each region appears once. Excel groups for you.</a:t>
            </a:r>
            <a:endParaRPr lang="en-US" sz="2000" dirty="0"/>
          </a:p>
        </p:txBody>
      </p:sp>
      <p:sp>
        <p:nvSpPr>
          <p:cNvPr id="11" name="Shape 9"/>
          <p:cNvSpPr/>
          <p:nvPr/>
        </p:nvSpPr>
        <p:spPr>
          <a:xfrm>
            <a:off x="5029200" y="1417320"/>
            <a:ext cx="2130552" cy="777240"/>
          </a:xfrm>
          <a:prstGeom prst="homePlate">
            <a:avLst/>
          </a:prstGeom>
          <a:solidFill>
            <a:srgbClr val="3A5BA0"/>
          </a:solidFill>
          <a:ln w="12700">
            <a:solidFill>
              <a:srgbClr val="3A5BA0"/>
            </a:solidFill>
            <a:prstDash val="solid"/>
          </a:ln>
        </p:spPr>
      </p:sp>
      <p:sp>
        <p:nvSpPr>
          <p:cNvPr id="12" name="Text 10"/>
          <p:cNvSpPr txBox="1"/>
          <p:nvPr/>
        </p:nvSpPr>
        <p:spPr>
          <a:xfrm>
            <a:off x="521208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Drag Product to Columns</a:t>
            </a:r>
            <a:endParaRPr lang="en-US" sz="1700" dirty="0"/>
          </a:p>
        </p:txBody>
      </p:sp>
      <p:sp>
        <p:nvSpPr>
          <p:cNvPr id="13" name="Shape 11"/>
          <p:cNvSpPr/>
          <p:nvPr/>
        </p:nvSpPr>
        <p:spPr>
          <a:xfrm>
            <a:off x="5029200" y="2331720"/>
            <a:ext cx="208483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521208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The table becomes a cross-tab of Region by Product.</a:t>
            </a:r>
            <a:endParaRPr lang="en-US" sz="2000" dirty="0"/>
          </a:p>
        </p:txBody>
      </p:sp>
      <p:sp>
        <p:nvSpPr>
          <p:cNvPr id="15" name="Shape 13"/>
          <p:cNvSpPr/>
          <p:nvPr/>
        </p:nvSpPr>
        <p:spPr>
          <a:xfrm>
            <a:off x="7269480" y="1417320"/>
            <a:ext cx="2130552" cy="777240"/>
          </a:xfrm>
          <a:prstGeom prst="homePlate">
            <a:avLst/>
          </a:prstGeom>
          <a:solidFill>
            <a:srgbClr val="C8553D"/>
          </a:solidFill>
          <a:ln w="12700">
            <a:solidFill>
              <a:srgbClr val="C8553D"/>
            </a:solidFill>
            <a:prstDash val="solid"/>
          </a:ln>
        </p:spPr>
      </p:sp>
      <p:sp>
        <p:nvSpPr>
          <p:cNvPr id="16" name="Text 14"/>
          <p:cNvSpPr txBox="1"/>
          <p:nvPr/>
        </p:nvSpPr>
        <p:spPr>
          <a:xfrm>
            <a:off x="745236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Drag Sales ₹ to Values</a:t>
            </a:r>
            <a:endParaRPr lang="en-US" sz="1700" dirty="0"/>
          </a:p>
        </p:txBody>
      </p:sp>
      <p:sp>
        <p:nvSpPr>
          <p:cNvPr id="17" name="Shape 15"/>
          <p:cNvSpPr/>
          <p:nvPr/>
        </p:nvSpPr>
        <p:spPr>
          <a:xfrm>
            <a:off x="7269480" y="2331720"/>
            <a:ext cx="208483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745236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Default is Sum. Change it with Value Field Settings.</a:t>
            </a:r>
            <a:endParaRPr lang="en-US" sz="2000" dirty="0"/>
          </a:p>
        </p:txBody>
      </p:sp>
      <p:sp>
        <p:nvSpPr>
          <p:cNvPr id="19" name="Shape 17"/>
          <p:cNvSpPr/>
          <p:nvPr/>
        </p:nvSpPr>
        <p:spPr>
          <a:xfrm>
            <a:off x="9509760" y="1417320"/>
            <a:ext cx="2130552" cy="777240"/>
          </a:xfrm>
          <a:prstGeom prst="homePlate">
            <a:avLst/>
          </a:prstGeom>
          <a:solidFill>
            <a:srgbClr val="6E9B2F"/>
          </a:solidFill>
          <a:ln w="12700">
            <a:solidFill>
              <a:srgbClr val="6E9B2F"/>
            </a:solidFill>
            <a:prstDash val="solid"/>
          </a:ln>
        </p:spPr>
      </p:sp>
      <p:sp>
        <p:nvSpPr>
          <p:cNvPr id="20" name="Text 18"/>
          <p:cNvSpPr txBox="1"/>
          <p:nvPr/>
        </p:nvSpPr>
        <p:spPr>
          <a:xfrm>
            <a:off x="969264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5  Refresh after edits</a:t>
            </a:r>
            <a:endParaRPr lang="en-US" sz="1700" dirty="0"/>
          </a:p>
        </p:txBody>
      </p:sp>
      <p:sp>
        <p:nvSpPr>
          <p:cNvPr id="21" name="Shape 19"/>
          <p:cNvSpPr/>
          <p:nvPr/>
        </p:nvSpPr>
        <p:spPr>
          <a:xfrm>
            <a:off x="9509760" y="2331720"/>
            <a:ext cx="2084832" cy="2011680"/>
          </a:xfrm>
          <a:prstGeom prst="roundRect">
            <a:avLst>
              <a:gd name="adj" fmla="val 5455"/>
            </a:avLst>
          </a:prstGeom>
          <a:solidFill>
            <a:srgbClr val="EEF3F6"/>
          </a:solidFill>
          <a:ln w="12700">
            <a:solidFill>
              <a:srgbClr val="EEF3F6"/>
            </a:solidFill>
            <a:prstDash val="solid"/>
          </a:ln>
        </p:spPr>
      </p:sp>
      <p:sp>
        <p:nvSpPr>
          <p:cNvPr id="22" name="Text 20"/>
          <p:cNvSpPr txBox="1"/>
          <p:nvPr/>
        </p:nvSpPr>
        <p:spPr>
          <a:xfrm>
            <a:off x="969264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Right click, Refresh. A PivotTable does not update itself.</a:t>
            </a:r>
            <a:endParaRPr lang="en-US" sz="1900" dirty="0"/>
          </a:p>
        </p:txBody>
      </p:sp>
      <p:sp>
        <p:nvSpPr>
          <p:cNvPr id="23" name="Shape 21"/>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4" name="Text 22"/>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Make sure each column has a header and no blank rows or merged cells, or the PivotTable will misread the data.</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The PivotTable result: sales by region and product</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343311"/>
                <a:gridCol w="2030870"/>
                <a:gridCol w="2343311"/>
                <a:gridCol w="2030870"/>
                <a:gridCol w="2343311"/>
              </a:tblGrid>
              <a:tr h="4511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Region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Bag</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Notebook</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Pen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Total</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East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2,500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1,500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600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4,600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North</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2,000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800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2,800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West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1,500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1,000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1,000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3,500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Total</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4,000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4,500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2,400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10,900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4" name="Text 1"/>
          <p:cNvSpPr txBox="1"/>
          <p:nvPr/>
        </p:nvSpPr>
        <p:spPr>
          <a:xfrm>
            <a:off x="548640" y="3901440"/>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Amounts in ₹. The blank cell means North sold no Bags. Every row total and column total add to ₹10,900.</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Pitfalls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Sorting one column alone</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If only one column is selected, its values move and the rest stay. Rows no longer match. Select the whole table or one cell.</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Numbers stored as text</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Text numbers (left aligned, green corner) sort wrongly and SUM skips them. Convert them with Text to Columns or VALUE.</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Hidden rows in totals</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SUM adds filtered-out rows. Use SUBTOTAL(109, ...) to total only what you see.</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Blank rows and merged cells</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blank row ends the table for Sort, Filter and PivotTable. Merged cells block sorting. Remove both.</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Using our table, filter Region = West. How many orders remain and what is their total sales?</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Write a formula for the sum of Pen sales, with products in C2:C9 and sales in F2:F9.</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What share of total sales is Notebook? Give a percentage to one decimal place.</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Why can a PivotTable show old numbers after you correct the source data, and how do you fix it?</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Sort: </a:t>
            </a:r>
            <a:pPr indent="0" marL="0">
              <a:buNone/>
            </a:pPr>
            <a:r>
              <a:rPr lang="en-US" sz="2000" dirty="0">
                <a:solidFill>
                  <a:srgbClr val="FFFFFF"/>
                </a:solidFill>
                <a:latin typeface="Calibri" pitchFamily="34" charset="0"/>
                <a:ea typeface="Calibri" pitchFamily="34" charset="-122"/>
                <a:cs typeface="Calibri" pitchFamily="34" charset="-120"/>
              </a:rPr>
              <a:t>move whole rows. Add a second level to break ties.</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Filter: </a:t>
            </a:r>
            <a:pPr indent="0" marL="0">
              <a:buNone/>
            </a:pPr>
            <a:r>
              <a:rPr lang="en-US" sz="2000" dirty="0">
                <a:solidFill>
                  <a:srgbClr val="FFFFFF"/>
                </a:solidFill>
                <a:latin typeface="Calibri" pitchFamily="34" charset="0"/>
                <a:ea typeface="Calibri" pitchFamily="34" charset="-122"/>
                <a:cs typeface="Calibri" pitchFamily="34" charset="-120"/>
              </a:rPr>
              <a:t>hides rows, deletes nothing. Be clear whether limits are included.</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Group: </a:t>
            </a:r>
            <a:pPr indent="0" marL="0">
              <a:buNone/>
            </a:pPr>
            <a:r>
              <a:rPr lang="en-US" sz="2000" dirty="0">
                <a:solidFill>
                  <a:srgbClr val="FFFFFF"/>
                </a:solidFill>
                <a:latin typeface="Calibri" pitchFamily="34" charset="0"/>
                <a:ea typeface="Calibri" pitchFamily="34" charset="-122"/>
                <a:cs typeface="Calibri" pitchFamily="34" charset="-120"/>
              </a:rPr>
              <a:t>subtotals must add to the grand total. Always check.</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Formulas: </a:t>
            </a:r>
            <a:pPr indent="0" marL="0">
              <a:buNone/>
            </a:pPr>
            <a:r>
              <a:rPr lang="en-US" sz="2000" dirty="0">
                <a:solidFill>
                  <a:srgbClr val="FFFFFF"/>
                </a:solidFill>
                <a:latin typeface="Calibri" pitchFamily="34" charset="0"/>
                <a:ea typeface="Calibri" pitchFamily="34" charset="-122"/>
                <a:cs typeface="Calibri" pitchFamily="34" charset="-120"/>
              </a:rPr>
              <a:t>SUMIFS, COUNTIF and $ locking cover most needs.</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PivotTable: </a:t>
            </a:r>
            <a:pPr indent="0" marL="0">
              <a:buNone/>
            </a:pPr>
            <a:r>
              <a:rPr lang="en-US" sz="2000" dirty="0">
                <a:solidFill>
                  <a:srgbClr val="FFFFFF"/>
                </a:solidFill>
                <a:latin typeface="Calibri" pitchFamily="34" charset="0"/>
                <a:ea typeface="Calibri" pitchFamily="34" charset="-122"/>
                <a:cs typeface="Calibri" pitchFamily="34" charset="-120"/>
              </a:rPr>
              <a:t>drag fields, check against SUM, and refresh after edits.</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Data Cleaning Techniques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Data Operations</dc:title>
  <dc:subject>Business Management Tools I</dc:subject>
  <dc:creator>Sushant Bhargav</dc:creator>
  <cp:lastModifiedBy>Sushant Bhargav</cp:lastModifiedBy>
  <cp:revision>1</cp:revision>
  <dcterms:created xsi:type="dcterms:W3CDTF">2026-10-07T01:36:13Z</dcterms:created>
  <dcterms:modified xsi:type="dcterms:W3CDTF">2026-10-07T01:36:13Z</dcterms:modified>
</cp:coreProperties>
</file>