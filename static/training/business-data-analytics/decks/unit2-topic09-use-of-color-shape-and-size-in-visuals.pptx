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38.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9.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0.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opic 9: Use of Color, Shape, and Size in Visuals" id="{e278a598-26d6-1669-7d46-f027abdfd2f5}">
          <p14:sldIdLst>
            <p14:sldId id="256"/>
            <p14:sldId id="257"/>
            <p14:sldId id="258"/>
            <p14:sldId id="259"/>
            <p14:sldId id="260"/>
            <p14:sldId id="261"/>
            <p14:sldId id="262"/>
            <p14:sldId id="263"/>
            <p14:sldId id="264"/>
            <p14:sldId id="265"/>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38.xml.rels><?xml version="1.0" encoding="UTF-8" standalone="yes"?><Relationships xmlns="http://schemas.openxmlformats.org/package/2006/relationships"><Relationship Id="rId1" Type="http://schemas.openxmlformats.org/officeDocument/2006/relationships/package" Target="../embeddings/Microsoft_Excel_Worksheet38.xlsx"/></Relationships>
</file>

<file path=ppt/charts/_rels/chart39.xml.rels><?xml version="1.0" encoding="UTF-8" standalone="yes"?><Relationships xmlns="http://schemas.openxmlformats.org/package/2006/relationships"><Relationship Id="rId1" Type="http://schemas.openxmlformats.org/officeDocument/2006/relationships/package" Target="../embeddings/Microsoft_Excel_Worksheet39.xlsx"/></Relationships>
</file>

<file path=ppt/charts/_rels/chart40.xml.rels><?xml version="1.0" encoding="UTF-8" standalone="yes"?><Relationships xmlns="http://schemas.openxmlformats.org/package/2006/relationships"><Relationship Id="rId1" Type="http://schemas.openxmlformats.org/officeDocument/2006/relationships/package" Target="../embeddings/Microsoft_Excel_Worksheet40.xlsx"/></Relationships>
</file>

<file path=ppt/charts/chart3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Sales</c:v>
                </c:pt>
              </c:strCache>
            </c:strRef>
          </c:tx>
          <c:spPr>
            <a:solidFill>
              <a:srgbClr val="0F8B8D"/>
            </a:solidFill>
            <a:effectLst/>
          </c:spPr>
          <c:invertIfNegative val="0"/>
          <c:dLbls>
            <c:numFmt formatCode="General"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dPt>
            <c:idx val="0"/>
            <c:invertIfNegative val="0"/>
            <c:bubble3D val="0"/>
            <c:spPr>
              <a:solidFill>
                <a:srgbClr val="0F8B8D"/>
              </a:solidFill>
              <a:effectLst/>
            </c:spPr>
          </c:dPt>
          <c:dPt>
            <c:idx val="1"/>
            <c:invertIfNegative val="0"/>
            <c:bubble3D val="0"/>
            <c:spPr>
              <a:solidFill>
                <a:srgbClr val="B8BFC9"/>
              </a:solidFill>
              <a:effectLst/>
            </c:spPr>
          </c:dPt>
          <c:dPt>
            <c:idx val="2"/>
            <c:invertIfNegative val="0"/>
            <c:bubble3D val="0"/>
            <c:spPr>
              <a:solidFill>
                <a:srgbClr val="B8BFC9"/>
              </a:solidFill>
              <a:effectLst/>
            </c:spPr>
          </c:dPt>
          <c:dPt>
            <c:idx val="3"/>
            <c:invertIfNegative val="0"/>
            <c:bubble3D val="0"/>
            <c:spPr>
              <a:solidFill>
                <a:srgbClr val="B8BFC9"/>
              </a:solidFill>
              <a:effectLst/>
            </c:spPr>
          </c:dPt>
          <c:dPt>
            <c:idx val="4"/>
            <c:invertIfNegative val="0"/>
            <c:bubble3D val="0"/>
            <c:spPr>
              <a:solidFill>
                <a:srgbClr val="B8BFC9"/>
              </a:solidFill>
              <a:effectLst/>
            </c:spPr>
          </c:dPt>
          <c:dPt>
            <c:idx val="5"/>
            <c:invertIfNegative val="0"/>
            <c:bubble3D val="0"/>
            <c:spPr>
              <a:solidFill>
                <a:srgbClr val="B8BFC9"/>
              </a:solidFill>
              <a:effectLst/>
            </c:spPr>
          </c:dPt>
          <c:cat>
            <c:multiLvlStrRef>
              <c:f>Sheet1!$A$2:$A$7</c:f>
              <c:multiLvlStrCache>
                <c:ptCount val="6"/>
                <c:lvl>
                  <c:pt idx="0">
                    <c:v>Indore</c:v>
                  </c:pt>
                  <c:pt idx="1">
                    <c:v>Bhopal</c:v>
                  </c:pt>
                  <c:pt idx="2">
                    <c:v>Jabalpur</c:v>
                  </c:pt>
                  <c:pt idx="3">
                    <c:v>Gwalior</c:v>
                  </c:pt>
                  <c:pt idx="4">
                    <c:v>Ujjain</c:v>
                  </c:pt>
                  <c:pt idx="5">
                    <c:v>Sagar</c:v>
                  </c:pt>
                </c:lvl>
              </c:multiLvlStrCache>
            </c:multiLvlStrRef>
          </c:cat>
          <c:val>
            <c:numRef>
              <c:f>Sheet1!$B$2:$B$7</c:f>
              <c:numCache>
                <c:formatCode>General</c:formatCode>
                <c:ptCount val="6"/>
                <c:pt idx="0">
                  <c:v>55</c:v>
                </c:pt>
                <c:pt idx="1">
                  <c:v>42</c:v>
                </c:pt>
                <c:pt idx="2">
                  <c:v>38</c:v>
                </c:pt>
                <c:pt idx="3">
                  <c:v>31</c:v>
                </c:pt>
                <c:pt idx="4">
                  <c:v>27</c:v>
                </c:pt>
                <c:pt idx="5">
                  <c:v>22</c:v>
                </c:pt>
              </c:numCache>
            </c:numRef>
          </c:val>
        </c:ser>
        <c:dLbls>
          <c:numFmt formatCode="General"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2"/>
        <c:crosses val="autoZero"/>
        <c:auto val="1"/>
        <c:lblAlgn val="ctr"/>
        <c:noMultiLvlLbl val="1"/>
      </c:catAx>
      <c:valAx>
        <c:axId val="2094734552"/>
        <c:scaling>
          <c:orientation val="minMax"/>
        </c:scaling>
        <c:delete val="1"/>
        <c:axPos val="l"/>
        <c:title>
          <c:tx>
            <c:rich>
              <a:bodyPr/>
              <a:lstStyle/>
              <a:p>
                <a:pPr>
                  <a:defRPr sz="1200" b="0" i="0" u="none" strike="noStrike">
                    <a:solidFill>
                      <a:srgbClr val="56667A"/>
                    </a:solidFill>
                    <a:latin typeface="Arial"/>
                  </a:defRPr>
                </a:pPr>
                <a:r>
                  <a:rPr sz="1200" b="0" i="0" u="none" strike="noStrike">
                    <a:solidFill>
                      <a:srgbClr val="56667A"/>
                    </a:solidFill>
                    <a:latin typeface="Arial"/>
                  </a:rPr>
                  <a:t>Monthly sales (₹ lakh), illustrative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ubbleChart>
        <c:varyColors val="0"/>
        <c:ser>
          <c:idx val="0"/>
          <c:order val="0"/>
          <c:tx>
            <c:strRef>
              <c:f>Sheet1!$B$1</c:f>
              <c:strCache>
                <c:ptCount val="1"/>
                <c:pt idx="0">
                  <c:v>Sales</c:v>
                </c:pt>
              </c:strCache>
            </c:strRef>
          </c:tx>
          <c:spPr>
            <a:solidFill>
              <a:srgbClr val="0F8B8D"/>
            </a:solidFill>
            <a:ln w="25400" cap="flat">
              <a:solidFill>
                <a:srgbClr val="0F8B8D"/>
              </a:solidFill>
              <a:prstDash val="solid"/>
              <a:round/>
            </a:ln>
            <a:effectLst/>
          </c:spPr>
          <c:xVal>
            <c:numRef>
              <c:f>Sheet1!$A$2:$A$6</c:f>
              <c:numCache>
                <c:formatCode>General</c:formatCode>
                <c:ptCount val="5"/>
                <c:pt idx="0">
                  <c:v>10</c:v>
                </c:pt>
                <c:pt idx="1">
                  <c:v>20</c:v>
                </c:pt>
                <c:pt idx="2">
                  <c:v>30</c:v>
                </c:pt>
                <c:pt idx="3">
                  <c:v>40</c:v>
                </c:pt>
                <c:pt idx="4">
                  <c:v>50</c:v>
                </c:pt>
              </c:numCache>
            </c:numRef>
          </c:xVal>
          <c:yVal>
            <c:numRef>
              <c:f>Sheet1!$B$2:$B$6</c:f>
              <c:numCache>
                <c:formatCode>General</c:formatCode>
                <c:ptCount val="5"/>
                <c:pt idx="0">
                  <c:v>12</c:v>
                </c:pt>
                <c:pt idx="1">
                  <c:v>18</c:v>
                </c:pt>
                <c:pt idx="2">
                  <c:v>26</c:v>
                </c:pt>
                <c:pt idx="3">
                  <c:v>30</c:v>
                </c:pt>
                <c:pt idx="4">
                  <c:v>41</c:v>
                </c:pt>
              </c:numCache>
            </c:numRef>
          </c:yVal>
          <c:bubbleSize>
            <c:numRef>
              <c:f>Sheet1!$C$2:$C$6</c:f>
              <c:numCache>
                <c:formatCode>General</c:formatCode>
                <c:ptCount val="5"/>
                <c:pt idx="0">
                  <c:v>4</c:v>
                </c:pt>
                <c:pt idx="1">
                  <c:v>6</c:v>
                </c:pt>
                <c:pt idx="2">
                  <c:v>8</c:v>
                </c:pt>
                <c:pt idx="3">
                  <c:v>9</c:v>
                </c:pt>
                <c:pt idx="4">
                  <c:v>13</c:v>
                </c:pt>
              </c:numCache>
            </c:numRef>
          </c:bubbleSize>
          <c:bubble3D val="0"/>
        </c:ser>
        <c:dLbls>
          <c:numFmt formatCode="General" sourceLinked="0"/>
          <c:txPr>
            <a:bodyPr/>
            <a:lstStyle/>
            <a:p>
              <a:pPr>
                <a:defRPr b="0" i="0" strike="noStrike" sz="1200" u="none">
                  <a:solidFill>
                    <a:srgbClr val="14213D"/>
                  </a:solidFill>
                  <a:latin typeface="Calibri"/>
                </a:defRPr>
              </a:pPr>
            </a:p>
          </c:txPr>
          <c:showLegendKey val="0"/>
          <c:showVal val="0"/>
          <c:showCatName val="0"/>
          <c:showSerName val="0"/>
          <c:showPercent val="0"/>
          <c:showBubbleSize val="0"/>
          <c:extLst>
            <c:ext xmlns:c15="http://schemas.microsoft.com/office/drawing/2012/chart" uri="{CE6537A1-D6FC-4f65-9D91-7224C49458BB}">
              <c15:showLeaderLines val="0"/>
            </c:ext>
          </c:extLst>
        </c:dLbls>
        <c:axId val="2094734554"/>
        <c:axId val="2094734552"/>
      </c:bubbleChart>
      <c:valAx>
        <c:axId val="2094734554"/>
        <c:scaling>
          <c:orientation val="minMax"/>
        </c:scaling>
        <c:delete val="0"/>
        <c:axPos val="b"/>
        <c:title>
          <c:tx>
            <c:rich>
              <a:bodyPr/>
              <a:lstStyle/>
              <a:p>
                <a:pPr>
                  <a:defRPr sz="1200" b="0" i="0" u="none" strike="noStrike">
                    <a:solidFill>
                      <a:srgbClr val="56667A"/>
                    </a:solidFill>
                    <a:latin typeface="Arial"/>
                  </a:defRPr>
                </a:pPr>
                <a:r>
                  <a:rPr sz="1200" b="0" i="0" u="none" strike="noStrike">
                    <a:solidFill>
                      <a:srgbClr val="56667A"/>
                    </a:solidFill>
                    <a:latin typeface="Arial"/>
                  </a:rPr>
                  <a:t>Monthly ad spend (₹ thousand)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2"/>
        <c:crosses val="autoZero"/>
        <c:auto val="1"/>
        <c:lblAlgn val="ctr"/>
        <c:noMultiLvlLbl val="1"/>
      </c:valAx>
      <c:valAx>
        <c:axId val="2094734552"/>
        <c:scaling>
          <c:orientation val="minMax"/>
        </c:scaling>
        <c:delete val="0"/>
        <c:axPos val="l"/>
        <c:majorGridlines>
          <c:spPr>
            <a:ln w="6350" cap="flat">
              <a:solidFill>
                <a:srgbClr val="E3E9EE"/>
              </a:solidFill>
              <a:prstDash val="solid"/>
              <a:round/>
            </a:ln>
          </c:spPr>
        </c:majorGridlines>
        <c:title>
          <c:tx>
            <c:rich>
              <a:bodyPr/>
              <a:lstStyle/>
              <a:p>
                <a:pPr>
                  <a:defRPr sz="1200" b="0" i="0" u="none" strike="noStrike">
                    <a:solidFill>
                      <a:srgbClr val="56667A"/>
                    </a:solidFill>
                    <a:latin typeface="Arial"/>
                  </a:defRPr>
                </a:pPr>
                <a:r>
                  <a:rPr sz="1200" b="0" i="0" u="none" strike="noStrike">
                    <a:solidFill>
                      <a:srgbClr val="56667A"/>
                    </a:solidFill>
                    <a:latin typeface="Arial"/>
                  </a:rPr>
                  <a:t>Monthly sales (₹ lakh)</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Variance %</c:v>
                </c:pt>
              </c:strCache>
            </c:strRef>
          </c:tx>
          <c:spPr>
            <a:solidFill>
              <a:srgbClr val="0F8B8D"/>
            </a:solidFill>
            <a:effectLst/>
          </c:spPr>
          <c:invertIfNegative val="0"/>
          <c:dLbls>
            <c:numFmt formatCode="+0.0;-0.0"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dPt>
            <c:idx val="0"/>
            <c:invertIfNegative val="0"/>
            <c:bubble3D val="0"/>
            <c:spPr>
              <a:solidFill>
                <a:srgbClr val="0F8B8D"/>
              </a:solidFill>
              <a:effectLst/>
            </c:spPr>
          </c:dPt>
          <c:dPt>
            <c:idx val="1"/>
            <c:invertIfNegative val="0"/>
            <c:bubble3D val="0"/>
            <c:spPr>
              <a:solidFill>
                <a:srgbClr val="0F8B8D"/>
              </a:solidFill>
              <a:effectLst/>
            </c:spPr>
          </c:dPt>
          <c:dPt>
            <c:idx val="2"/>
            <c:invertIfNegative val="0"/>
            <c:bubble3D val="0"/>
            <c:spPr>
              <a:solidFill>
                <a:srgbClr val="F29E4C"/>
              </a:solidFill>
              <a:effectLst/>
            </c:spPr>
          </c:dPt>
          <c:dPt>
            <c:idx val="3"/>
            <c:invertIfNegative val="0"/>
            <c:bubble3D val="0"/>
            <c:spPr>
              <a:solidFill>
                <a:srgbClr val="F29E4C"/>
              </a:solidFill>
              <a:effectLst/>
            </c:spPr>
          </c:dPt>
          <c:dPt>
            <c:idx val="4"/>
            <c:invertIfNegative val="0"/>
            <c:bubble3D val="0"/>
            <c:spPr>
              <a:solidFill>
                <a:srgbClr val="F29E4C"/>
              </a:solidFill>
              <a:effectLst/>
            </c:spPr>
          </c:dPt>
          <c:dPt>
            <c:idx val="5"/>
            <c:invertIfNegative val="0"/>
            <c:bubble3D val="0"/>
            <c:spPr>
              <a:solidFill>
                <a:srgbClr val="F29E4C"/>
              </a:solidFill>
              <a:effectLst/>
            </c:spPr>
          </c:dPt>
          <c:cat>
            <c:multiLvlStrRef>
              <c:f>Sheet1!$A$2:$A$7</c:f>
              <c:multiLvlStrCache>
                <c:ptCount val="6"/>
                <c:lvl>
                  <c:pt idx="0">
                    <c:v>Indore</c:v>
                  </c:pt>
                  <c:pt idx="1">
                    <c:v>Gwalior</c:v>
                  </c:pt>
                  <c:pt idx="2">
                    <c:v>Jabalpur</c:v>
                  </c:pt>
                  <c:pt idx="3">
                    <c:v>Bhopal</c:v>
                  </c:pt>
                  <c:pt idx="4">
                    <c:v>Ujjain</c:v>
                  </c:pt>
                  <c:pt idx="5">
                    <c:v>Sagar</c:v>
                  </c:pt>
                </c:lvl>
              </c:multiLvlStrCache>
            </c:multiLvlStrRef>
          </c:cat>
          <c:val>
            <c:numRef>
              <c:f>Sheet1!$B$2:$B$7</c:f>
              <c:numCache>
                <c:formatCode>General</c:formatCode>
                <c:ptCount val="6"/>
                <c:pt idx="0">
                  <c:v>10</c:v>
                </c:pt>
                <c:pt idx="1">
                  <c:v>3.3</c:v>
                </c:pt>
                <c:pt idx="2">
                  <c:v>-5</c:v>
                </c:pt>
                <c:pt idx="3">
                  <c:v>-6.7</c:v>
                </c:pt>
                <c:pt idx="4">
                  <c:v>-10</c:v>
                </c:pt>
                <c:pt idx="5">
                  <c:v>-12</c:v>
                </c:pt>
              </c:numCache>
            </c:numRef>
          </c:val>
        </c:ser>
        <c:dLbls>
          <c:numFmt formatCode="+0.0;-0.0"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2"/>
        <c:crosses val="autoZero"/>
        <c:auto val="1"/>
        <c:lblAlgn val="ctr"/>
        <c:noMultiLvlLbl val="1"/>
      </c:catAx>
      <c:valAx>
        <c:axId val="2094734552"/>
        <c:scaling>
          <c:orientation val="minMax"/>
        </c:scaling>
        <c:delete val="1"/>
        <c:axPos val="l"/>
        <c:title>
          <c:tx>
            <c:rich>
              <a:bodyPr/>
              <a:lstStyle/>
              <a:p>
                <a:pPr>
                  <a:defRPr sz="1200" b="0" i="0" u="none" strike="noStrike">
                    <a:solidFill>
                      <a:srgbClr val="56667A"/>
                    </a:solidFill>
                    <a:latin typeface="Arial"/>
                  </a:defRPr>
                </a:pPr>
                <a:r>
                  <a:rPr sz="1200" b="0" i="0" u="none" strike="noStrike">
                    <a:solidFill>
                      <a:srgbClr val="56667A"/>
                    </a:solidFill>
                    <a:latin typeface="Arial"/>
                  </a:rPr>
                  <a:t>Actual vs target (%), illustrative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is about the three visual channels you control in any chart: colour, shape and size. Used well, they guide the eye to the point. Used badly, they mislead or exclude readers.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showing a rainbow-coloured bar chart from any report and asking: where should I look first? Nobody can answer. That is the problem this session solves.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palette a weather map uses for temperature. Many students say rainbow. Explain that a single-hue ramp is easier to read because light-to-dark has a natural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row is the one you will use most in reports. It is not a palette type, but a strategy: mute everything except the point you want the reader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55 / 22 = 2.5. Ask the class: what would you change if the message were "Sagar needs help"? Answer: colour Sagar instead. The data stays the same, only the emphasis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answer each before you reveal. For the third one ask: why is a sequential palette wrong here? Because the groups have no order, so dark and light would invent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Tip: take a screenshot of your chart and turn it to greyscale. If you can still tell the groups apart, the contrast is good. Many Indian offices print reports in black and white, so this matters beyond accessibility.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two circles on the board: one with radius 1 and one with radius 4, then one with radius 2. Ask which looks like "four times". The radius-2 circle does, and that is the correct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pattern of three variables on one chart. Size is the weakest channel for exact comparison, so we use it for a rough "bigger or smaller", while position carries the precise values. Sizes here are in hundreds of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figure was computed from targets 50, 45, 40, 30, 30, 25 and actuals 55, 42, 38, 31, 27, 22. Ask students why teal and amber were chosen instead of green and red. They are safe for colour-blind readers.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Colour here is a second cue on top of bar direction, so the chart still works without colour. This is the safe way to use colour: redundant, not essential.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find a chart in a newspaper that breaks one of these rules. The shape and size overload point matters: if a dot is red, big and a triangle all for the same field, the chart is noisy without being more informative.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four minutes. For question 2, check the arithmetic: 3 squared is 9 and the square root of 3 is about 1.73.
ANSWERS
1. (a) sequential, (b) diverging with a neutral centre at the target, (c) categorical with distinct hues.
2. Area grows by 3² = 9 times, so it looks 9 times bigger. Scale area, so radius should grow by √3 ≈ 1.73.
3. Common colour blindness makes them look alike. Use teal and amber (or blue and orange) and add labels or direction.
4. Group small slices as "Other" to reach 5 or 6 slices, or switch to a sorted bar chart with direct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4213D"/>
        </a:solidFill>
      </p:bgPr>
    </p:bg>
    <p:spTree>
      <p:nvGrpSpPr>
        <p:cNvPr id="1" name=""/>
        <p:cNvGrpSpPr/>
        <p:nvPr/>
      </p:nvGrpSpPr>
      <p:grpSpPr>
        <a:xfrm>
          <a:off x="0" y="0"/>
          <a:ext cx="0" cy="0"/>
          <a:chOff x="0" y="0"/>
          <a:chExt cx="0" cy="0"/>
        </a:xfrm>
      </p:grpSpPr>
      <p:sp>
        <p:nvSpPr>
          <p:cNvPr id="2" name="Text 0"/>
          <p:cNvSpPr/>
          <p:nvPr>
            <p:ph idx="103" type="title" hasCustomPrompt="1"/>
          </p:nvPr>
        </p:nvSpPr>
        <p:spPr>
          <a:xfrm>
            <a:off x="731520" y="2103120"/>
            <a:ext cx="7863840" cy="1828800"/>
          </a:xfrm>
          <a:prstGeom prst="rect">
            <a:avLst/>
          </a:prstGeom>
          <a:noFill/>
          <a:ln/>
        </p:spPr>
        <p:txBody>
          <a:bodyPr wrap="square" rtlCol="0"/>
          <a:lstStyle>
            <a:lvl1pPr algn="l" indent="0" marL="0">
              <a:buNone/>
              <a:defRPr lang="en-US" sz="42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200" dirty="0"/>
          </a:p>
        </p:txBody>
      </p:sp>
      <p:sp>
        <p:nvSpPr>
          <p:cNvPr id="3" name="Text 0"/>
          <p:cNvSpPr/>
          <p:nvPr>
            <p:ph idx="104" type="body" hasCustomPrompt="1"/>
          </p:nvPr>
        </p:nvSpPr>
        <p:spPr>
          <a:xfrm>
            <a:off x="731520" y="4114800"/>
            <a:ext cx="7680960" cy="914400"/>
          </a:xfrm>
          <a:prstGeom prst="rect">
            <a:avLst/>
          </a:prstGeom>
          <a:noFill/>
          <a:ln/>
        </p:spPr>
        <p:txBody>
          <a:bodyPr wrap="square" rtlCol="0"/>
          <a:lstStyle>
            <a:lvl1pPr algn="l" indent="0" marL="0">
              <a:buNone/>
              <a:defRPr lang="en-US" sz="2000" dirty="0">
                <a:solidFill>
                  <a:srgbClr val="C9D6E6"/>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56667A"/>
                </a:solidFill>
                <a:latin typeface="Calibri" pitchFamily="34" charset="0"/>
                <a:ea typeface="Calibri" pitchFamily="34" charset="-122"/>
                <a:cs typeface="Calibri" pitchFamily="34" charset="-120"/>
              </a:rPr>
              <a:t>Business Management Tools I · AE25UCBM001  |  Unit II: Data Visualization</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14213D"/>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9FB1C8"/>
                </a:solidFill>
                <a:latin typeface="Calibri" pitchFamily="34" charset="0"/>
                <a:ea typeface="Calibri" pitchFamily="34" charset="-122"/>
                <a:cs typeface="Calibri" pitchFamily="34" charset="-120"/>
              </a:rPr>
              <a:t>Business Management Tools I · AE25UCBM001  |  Unit II: Data Visualization</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8.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9.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0.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554480"/>
            <a:ext cx="7863840" cy="365760"/>
          </a:xfrm>
          <a:prstGeom prst="rect">
            <a:avLst/>
          </a:prstGeom>
          <a:noFill/>
          <a:ln/>
        </p:spPr>
        <p:txBody>
          <a:bodyPr wrap="square" lIns="0" tIns="0" rIns="0" bIns="0" rtlCol="0" anchor="ctr"/>
          <a:lstStyle/>
          <a:p>
            <a:pPr indent="0" marL="0">
              <a:buNone/>
            </a:pPr>
            <a:r>
              <a:rPr lang="en-US" sz="1400" b="1" spc="300" kern="0" dirty="0">
                <a:solidFill>
                  <a:srgbClr val="F29E4C"/>
                </a:solidFill>
                <a:latin typeface="Calibri" pitchFamily="34" charset="0"/>
                <a:ea typeface="Calibri" pitchFamily="34" charset="-122"/>
                <a:cs typeface="Calibri" pitchFamily="34" charset="-120"/>
              </a:rPr>
              <a:t>UNIT II  ·  TOPIC 9</a:t>
            </a:r>
            <a:endParaRPr lang="en-US" sz="1400" dirty="0"/>
          </a:p>
        </p:txBody>
      </p:sp>
      <p:sp>
        <p:nvSpPr>
          <p:cNvPr id="3" name="Text 0"/>
          <p:cNvSpPr/>
          <p:nvPr>
            <p:ph idx="103" type="title" hasCustomPrompt="1"/>
          </p:nvPr>
        </p:nvSpPr>
        <p:spPr>
          <a:xfrm>
            <a:off x="731520" y="2103120"/>
            <a:ext cx="7863840" cy="1828800"/>
          </a:xfrm>
          <a:prstGeom prst="rect">
            <a:avLst/>
          </a:prstGeom>
          <a:noFill/>
          <a:ln/>
        </p:spPr>
        <p:txBody>
          <a:bodyPr wrap="square" lIns="0" tIns="0" rIns="0" bIns="0" rtlCol="0" anchor="t"/>
          <a:lstStyle/>
          <a:p>
            <a:pPr algn="l" indent="0" marL="0">
              <a:buNone/>
            </a:pPr>
            <a:r>
              <a:rPr lang="en-US" sz="4200" b="1" dirty="0">
                <a:solidFill>
                  <a:srgbClr val="FFFFFF"/>
                </a:solidFill>
                <a:latin typeface="Cambria" pitchFamily="34" charset="0"/>
                <a:ea typeface="Cambria" pitchFamily="34" charset="-122"/>
                <a:cs typeface="Cambria" pitchFamily="34" charset="-120"/>
              </a:rPr>
              <a:t>Use of Color, Shape, and Size in Visuals</a:t>
            </a:r>
            <a:endParaRPr lang="en-US" sz="4200" dirty="0"/>
          </a:p>
        </p:txBody>
      </p:sp>
      <p:sp>
        <p:nvSpPr>
          <p:cNvPr id="4" name="Text 0"/>
          <p:cNvSpPr/>
          <p:nvPr>
            <p:ph idx="104" type="body" hasCustomPrompt="1"/>
          </p:nvPr>
        </p:nvSpPr>
        <p:spPr>
          <a:xfrm>
            <a:off x="731520" y="4114800"/>
            <a:ext cx="7680960" cy="914400"/>
          </a:xfrm>
          <a:prstGeom prst="rect">
            <a:avLst/>
          </a:prstGeom>
          <a:noFill/>
          <a:ln/>
        </p:spPr>
        <p:txBody>
          <a:bodyPr wrap="square" lIns="0" tIns="0" rIns="0" bIns="0" rtlCol="0" anchor="t"/>
          <a:lstStyle/>
          <a:p>
            <a:pPr algn="l" indent="0" marL="0">
              <a:buNone/>
            </a:pPr>
            <a:r>
              <a:rPr lang="en-US" sz="2000" dirty="0">
                <a:solidFill>
                  <a:srgbClr val="C9D6E6"/>
                </a:solidFill>
                <a:latin typeface="Calibri" pitchFamily="34" charset="0"/>
                <a:ea typeface="Calibri" pitchFamily="34" charset="-122"/>
                <a:cs typeface="Calibri" pitchFamily="34" charset="-120"/>
              </a:rPr>
              <a:t>Data Visualization</a:t>
            </a:r>
            <a:endParaRPr lang="en-US" sz="2000" dirty="0"/>
          </a:p>
          <a:p>
            <a:pPr algn="l" indent="0" marL="0">
              <a:buNone/>
            </a:pPr>
            <a:r>
              <a:rPr lang="en-US" sz="2000" dirty="0">
                <a:solidFill>
                  <a:srgbClr val="C9D6E6"/>
                </a:solidFill>
                <a:latin typeface="Calibri" pitchFamily="34" charset="0"/>
                <a:ea typeface="Calibri" pitchFamily="34" charset="-122"/>
                <a:cs typeface="Calibri" pitchFamily="34" charset="-120"/>
              </a:rPr>
              <a:t>Business Management Tools I (AE25UCBM001)  ·  SAGE University, Bhopal</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What you will learn</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Explain </a:t>
            </a:r>
            <a:pPr indent="0" marL="0">
              <a:buNone/>
            </a:pPr>
            <a:r>
              <a:rPr lang="en-US" sz="2400" dirty="0">
                <a:solidFill>
                  <a:srgbClr val="2B3A4F"/>
                </a:solidFill>
                <a:latin typeface="Calibri" pitchFamily="34" charset="0"/>
                <a:ea typeface="Calibri" pitchFamily="34" charset="-122"/>
                <a:cs typeface="Calibri" pitchFamily="34" charset="-120"/>
              </a:rPr>
              <a:t>how colour, shape and size carry information in a chart.</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Choose </a:t>
            </a:r>
            <a:pPr indent="0" marL="0">
              <a:buNone/>
            </a:pPr>
            <a:r>
              <a:rPr lang="en-US" sz="2400" dirty="0">
                <a:solidFill>
                  <a:srgbClr val="2B3A4F"/>
                </a:solidFill>
                <a:latin typeface="Calibri" pitchFamily="34" charset="0"/>
                <a:ea typeface="Calibri" pitchFamily="34" charset="-122"/>
                <a:cs typeface="Calibri" pitchFamily="34" charset="-120"/>
              </a:rPr>
              <a:t>a sequential, diverging or categorical palette to match the data.</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Use </a:t>
            </a:r>
            <a:pPr indent="0" marL="0">
              <a:buNone/>
            </a:pPr>
            <a:r>
              <a:rPr lang="en-US" sz="2400" dirty="0">
                <a:solidFill>
                  <a:srgbClr val="2B3A4F"/>
                </a:solidFill>
                <a:latin typeface="Calibri" pitchFamily="34" charset="0"/>
                <a:ea typeface="Calibri" pitchFamily="34" charset="-122"/>
                <a:cs typeface="Calibri" pitchFamily="34" charset="-120"/>
              </a:rPr>
              <a:t>one emphasis colour and grey so the key bar stands out.</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Design </a:t>
            </a:r>
            <a:pPr indent="0" marL="0">
              <a:buNone/>
            </a:pPr>
            <a:r>
              <a:rPr lang="en-US" sz="2400" dirty="0">
                <a:solidFill>
                  <a:srgbClr val="2B3A4F"/>
                </a:solidFill>
                <a:latin typeface="Calibri" pitchFamily="34" charset="0"/>
                <a:ea typeface="Calibri" pitchFamily="34" charset="-122"/>
                <a:cs typeface="Calibri" pitchFamily="34" charset="-120"/>
              </a:rPr>
              <a:t>charts that colour-blind readers can still read.</a:t>
            </a:r>
            <a:endParaRPr lang="en-US" sz="2400" dirty="0"/>
          </a:p>
          <a:p>
            <a:pPr marL="228600" indent="-228600">
              <a:buSzPct val="100000"/>
              <a:buChar char="•"/>
            </a:pPr>
            <a:r>
              <a:rPr lang="en-US" sz="2400" b="1" dirty="0">
                <a:solidFill>
                  <a:srgbClr val="14213D"/>
                </a:solidFill>
                <a:latin typeface="Calibri" pitchFamily="34" charset="0"/>
                <a:ea typeface="Calibri" pitchFamily="34" charset="-122"/>
                <a:cs typeface="Calibri" pitchFamily="34" charset="-120"/>
              </a:rPr>
              <a:t>Avoid </a:t>
            </a:r>
            <a:pPr indent="0" marL="0">
              <a:buNone/>
            </a:pPr>
            <a:r>
              <a:rPr lang="en-US" sz="2400" dirty="0">
                <a:solidFill>
                  <a:srgbClr val="2B3A4F"/>
                </a:solidFill>
                <a:latin typeface="Calibri" pitchFamily="34" charset="0"/>
                <a:ea typeface="Calibri" pitchFamily="34" charset="-122"/>
                <a:cs typeface="Calibri" pitchFamily="34" charset="-120"/>
              </a:rPr>
              <a:t>size traps such as scaling a bubble by radius instead of area.</a:t>
            </a:r>
            <a:endParaRPr lang="en-US" sz="2400" dirty="0"/>
          </a:p>
        </p:txBody>
      </p:sp>
      <p:sp>
        <p:nvSpPr>
          <p:cNvPr id="4" name="Shape 2"/>
          <p:cNvSpPr/>
          <p:nvPr/>
        </p:nvSpPr>
        <p:spPr>
          <a:xfrm>
            <a:off x="7680960" y="1417320"/>
            <a:ext cx="3959352" cy="4846320"/>
          </a:xfrm>
          <a:prstGeom prst="roundRect">
            <a:avLst>
              <a:gd name="adj" fmla="val 2771"/>
            </a:avLst>
          </a:prstGeom>
          <a:solidFill>
            <a:srgbClr val="DDF0F0"/>
          </a:solidFill>
          <a:ln w="12700">
            <a:solidFill>
              <a:srgbClr val="DDF0F0"/>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BIG IDEA</a:t>
            </a:r>
            <a:endParaRPr lang="en-US" sz="1200" dirty="0"/>
          </a:p>
        </p:txBody>
      </p:sp>
      <p:sp>
        <p:nvSpPr>
          <p:cNvPr id="6" name="Text 4"/>
          <p:cNvSpPr txBox="1"/>
          <p:nvPr/>
        </p:nvSpPr>
        <p:spPr>
          <a:xfrm>
            <a:off x="7955280" y="2148840"/>
            <a:ext cx="3410712" cy="914400"/>
          </a:xfrm>
          <a:prstGeom prst="rect">
            <a:avLst/>
          </a:prstGeom>
          <a:noFill/>
          <a:ln/>
        </p:spPr>
        <p:txBody>
          <a:bodyPr wrap="square" lIns="0" tIns="0" rIns="0" bIns="0" rtlCol="0" anchor="ctr"/>
          <a:lstStyle/>
          <a:p>
            <a:pPr indent="0" marL="0">
              <a:buNone/>
            </a:pPr>
            <a:r>
              <a:rPr lang="en-US" sz="4800" b="1" dirty="0">
                <a:solidFill>
                  <a:srgbClr val="14213D"/>
                </a:solidFill>
                <a:latin typeface="Cambria" pitchFamily="34" charset="0"/>
                <a:ea typeface="Cambria" pitchFamily="34" charset="-122"/>
                <a:cs typeface="Cambria" pitchFamily="34" charset="-120"/>
              </a:rPr>
              <a:t>3</a:t>
            </a:r>
            <a:endParaRPr lang="en-US" sz="4800" dirty="0"/>
          </a:p>
        </p:txBody>
      </p:sp>
      <p:sp>
        <p:nvSpPr>
          <p:cNvPr id="7" name="Text 5"/>
          <p:cNvSpPr txBox="1"/>
          <p:nvPr/>
        </p:nvSpPr>
        <p:spPr>
          <a:xfrm>
            <a:off x="7955280" y="3154680"/>
            <a:ext cx="3410712" cy="283464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channels: colour, shape and size. Pick each one for a reason, not for decoration.</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Three palette types</a:t>
            </a:r>
            <a:endParaRPr lang="en-US" sz="2800" dirty="0"/>
          </a:p>
        </p:txBody>
      </p:sp>
      <p:sp>
        <p:nvSpPr>
          <p:cNvPr id="3" name="Shape 1"/>
          <p:cNvSpPr/>
          <p:nvPr/>
        </p:nvSpPr>
        <p:spPr>
          <a:xfrm>
            <a:off x="548640" y="1508760"/>
            <a:ext cx="3514344" cy="4206240"/>
          </a:xfrm>
          <a:prstGeom prst="roundRect">
            <a:avLst>
              <a:gd name="adj" fmla="val 3122"/>
            </a:avLst>
          </a:prstGeom>
          <a:solidFill>
            <a:srgbClr val="EEF3F6"/>
          </a:solidFill>
          <a:ln w="12700">
            <a:solidFill>
              <a:srgbClr val="EEF3F6"/>
            </a:solidFill>
            <a:prstDash val="solid"/>
          </a:ln>
        </p:spPr>
      </p:sp>
      <p:sp>
        <p:nvSpPr>
          <p:cNvPr id="4" name="Text 2"/>
          <p:cNvSpPr/>
          <p:nvPr/>
        </p:nvSpPr>
        <p:spPr>
          <a:xfrm>
            <a:off x="777240" y="173736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371600" y="164592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Sequential</a:t>
            </a:r>
            <a:endParaRPr lang="en-US" sz="2000" dirty="0"/>
          </a:p>
        </p:txBody>
      </p:sp>
      <p:sp>
        <p:nvSpPr>
          <p:cNvPr id="6" name="Text 4"/>
          <p:cNvSpPr txBox="1"/>
          <p:nvPr/>
        </p:nvSpPr>
        <p:spPr>
          <a:xfrm>
            <a:off x="777240" y="2423160"/>
            <a:ext cx="3057144" cy="315468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One hue from light to dark. Use for ordered values that run low to high, such as sales by district or temperature.</a:t>
            </a:r>
            <a:endParaRPr lang="en-US" sz="2000" dirty="0"/>
          </a:p>
        </p:txBody>
      </p:sp>
      <p:sp>
        <p:nvSpPr>
          <p:cNvPr id="7" name="Shape 5"/>
          <p:cNvSpPr/>
          <p:nvPr/>
        </p:nvSpPr>
        <p:spPr>
          <a:xfrm>
            <a:off x="4337304" y="1508760"/>
            <a:ext cx="3514344" cy="4206240"/>
          </a:xfrm>
          <a:prstGeom prst="roundRect">
            <a:avLst>
              <a:gd name="adj" fmla="val 3122"/>
            </a:avLst>
          </a:prstGeom>
          <a:solidFill>
            <a:srgbClr val="EEF3F6"/>
          </a:solidFill>
          <a:ln w="12700">
            <a:solidFill>
              <a:srgbClr val="EEF3F6"/>
            </a:solidFill>
            <a:prstDash val="solid"/>
          </a:ln>
        </p:spPr>
      </p:sp>
      <p:sp>
        <p:nvSpPr>
          <p:cNvPr id="8" name="Text 6"/>
          <p:cNvSpPr/>
          <p:nvPr/>
        </p:nvSpPr>
        <p:spPr>
          <a:xfrm>
            <a:off x="4565904" y="173736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5160264" y="164592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Diverging</a:t>
            </a:r>
            <a:endParaRPr lang="en-US" sz="2000" dirty="0"/>
          </a:p>
        </p:txBody>
      </p:sp>
      <p:sp>
        <p:nvSpPr>
          <p:cNvPr id="10" name="Text 8"/>
          <p:cNvSpPr txBox="1"/>
          <p:nvPr/>
        </p:nvSpPr>
        <p:spPr>
          <a:xfrm>
            <a:off x="4565904" y="2423160"/>
            <a:ext cx="3057144" cy="315468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Two hues that meet at a neutral midpoint. Use when values go above and below a meaningful centre, such as profit vs target.</a:t>
            </a:r>
            <a:endParaRPr lang="en-US" sz="2000" dirty="0"/>
          </a:p>
        </p:txBody>
      </p:sp>
      <p:sp>
        <p:nvSpPr>
          <p:cNvPr id="11" name="Shape 9"/>
          <p:cNvSpPr/>
          <p:nvPr/>
        </p:nvSpPr>
        <p:spPr>
          <a:xfrm>
            <a:off x="8125968" y="1508760"/>
            <a:ext cx="3514344" cy="4206240"/>
          </a:xfrm>
          <a:prstGeom prst="roundRect">
            <a:avLst>
              <a:gd name="adj" fmla="val 3122"/>
            </a:avLst>
          </a:prstGeom>
          <a:solidFill>
            <a:srgbClr val="EEF3F6"/>
          </a:solidFill>
          <a:ln w="12700">
            <a:solidFill>
              <a:srgbClr val="EEF3F6"/>
            </a:solidFill>
            <a:prstDash val="solid"/>
          </a:ln>
        </p:spPr>
      </p:sp>
      <p:sp>
        <p:nvSpPr>
          <p:cNvPr id="12" name="Text 10"/>
          <p:cNvSpPr/>
          <p:nvPr/>
        </p:nvSpPr>
        <p:spPr>
          <a:xfrm>
            <a:off x="8354568" y="173736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8948928" y="164592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Categorical</a:t>
            </a:r>
            <a:endParaRPr lang="en-US" sz="2000" dirty="0"/>
          </a:p>
        </p:txBody>
      </p:sp>
      <p:sp>
        <p:nvSpPr>
          <p:cNvPr id="14" name="Text 12"/>
          <p:cNvSpPr txBox="1"/>
          <p:nvPr/>
        </p:nvSpPr>
        <p:spPr>
          <a:xfrm>
            <a:off x="8354568" y="2423160"/>
            <a:ext cx="3057144" cy="315468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Distinct hues with no order. Use to separate groups such as payment mode or city. Keep to 6 colours or fewer.</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Match the palette to the data</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912964"/>
                <a:gridCol w="2464816"/>
                <a:gridCol w="2464816"/>
                <a:gridCol w="3249076"/>
              </a:tblGrid>
              <a:tr h="451104">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Data type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Question</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Palette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Example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r>
              <a:tr h="755904">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Ordered, one direction</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How much?</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Sequential</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Orders per district</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755904">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Ordered, with a centre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Above or below?</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Diverging</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Sales vs target (%)</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451104">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Unordered groups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Which group?</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Categorical</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Cash, UPI, Card</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451104">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One item matters most</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Where to look?</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Grey + 1 colour</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Best branch</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bl>
          </a:graphicData>
        </a:graphic>
      </p:graphicFrame>
      <p:sp>
        <p:nvSpPr>
          <p:cNvPr id="4" name="Text 1"/>
          <p:cNvSpPr txBox="1"/>
          <p:nvPr/>
        </p:nvSpPr>
        <p:spPr>
          <a:xfrm>
            <a:off x="548640" y="4511040"/>
            <a:ext cx="11091672" cy="548640"/>
          </a:xfrm>
          <a:prstGeom prst="rect">
            <a:avLst/>
          </a:prstGeom>
          <a:noFill/>
          <a:ln/>
        </p:spPr>
        <p:txBody>
          <a:bodyPr wrap="square" lIns="0" tIns="0" rIns="0" bIns="0" rtlCol="0" anchor="t"/>
          <a:lstStyle/>
          <a:p>
            <a:pPr indent="0" marL="0">
              <a:buNone/>
            </a:pPr>
            <a:r>
              <a:rPr lang="en-US" sz="1600" i="1" dirty="0">
                <a:solidFill>
                  <a:srgbClr val="56667A"/>
                </a:solidFill>
                <a:latin typeface="Calibri" pitchFamily="34" charset="0"/>
                <a:ea typeface="Calibri" pitchFamily="34" charset="-122"/>
                <a:cs typeface="Calibri" pitchFamily="34" charset="-120"/>
              </a:rPr>
              <a:t>Ask what the data is first. The palette follows from the answer.</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Emphasis colour: grey plus one hue</a:t>
            </a:r>
            <a:endParaRPr lang="en-US" sz="2800" dirty="0"/>
          </a:p>
        </p:txBody>
      </p:sp>
      <p:graphicFrame>
        <p:nvGraphicFramePr>
          <p:cNvPr id="3" name="Chart 0" descr=""/>
          <p:cNvGraphicFramePr/>
          <p:nvPr/>
        </p:nvGraphicFramePr>
        <p:xfrm>
          <a:off x="548640" y="1417320"/>
          <a:ext cx="704088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WHAT IT SHOWS</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Six branches, one message: Indore leads.</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Grey bars sit back. The teal bar pulls the eye first.</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Indore sold 55 against a 22 low, which is 2.5 times Sagar.</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Rainbow bars would give every branch equal weight and hide the message.</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Choose a palette for four charts</a:t>
            </a:r>
            <a:endParaRPr lang="en-US" sz="2800" dirty="0"/>
          </a:p>
        </p:txBody>
      </p:sp>
      <p:sp>
        <p:nvSpPr>
          <p:cNvPr id="3" name="Shape 1"/>
          <p:cNvSpPr/>
          <p:nvPr/>
        </p:nvSpPr>
        <p:spPr>
          <a:xfrm>
            <a:off x="548640" y="1417320"/>
            <a:ext cx="11091672" cy="822960"/>
          </a:xfrm>
          <a:prstGeom prst="roundRect">
            <a:avLst>
              <a:gd name="adj" fmla="val 13333"/>
            </a:avLst>
          </a:prstGeom>
          <a:solidFill>
            <a:srgbClr val="FDEBD6"/>
          </a:solidFill>
          <a:ln w="12700">
            <a:solidFill>
              <a:srgbClr val="FDEBD6"/>
            </a:solidFill>
            <a:prstDash val="solid"/>
          </a:ln>
        </p:spPr>
      </p:sp>
      <p:sp>
        <p:nvSpPr>
          <p:cNvPr id="4" name="Text 2"/>
          <p:cNvSpPr txBox="1"/>
          <p:nvPr/>
        </p:nvSpPr>
        <p:spPr>
          <a:xfrm>
            <a:off x="777240" y="1417320"/>
            <a:ext cx="1554480" cy="82296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82296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A retailer in Bhopal prepares four charts. Pick the right palette for each.</a:t>
            </a:r>
            <a:endParaRPr lang="en-US" sz="1800" dirty="0"/>
          </a:p>
        </p:txBody>
      </p:sp>
      <p:sp>
        <p:nvSpPr>
          <p:cNvPr id="6" name="Text 4"/>
          <p:cNvSpPr txBox="1"/>
          <p:nvPr/>
        </p:nvSpPr>
        <p:spPr>
          <a:xfrm>
            <a:off x="548640" y="2514600"/>
            <a:ext cx="6675120" cy="374904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100" b="1" dirty="0">
                <a:solidFill>
                  <a:srgbClr val="14213D"/>
                </a:solidFill>
                <a:latin typeface="Calibri" pitchFamily="34" charset="0"/>
                <a:ea typeface="Calibri" pitchFamily="34" charset="-122"/>
                <a:cs typeface="Calibri" pitchFamily="34" charset="-120"/>
              </a:rPr>
              <a:t>Orders per pincode area on a map: </a:t>
            </a:r>
            <a:pPr indent="0" marL="0">
              <a:buNone/>
            </a:pPr>
            <a:r>
              <a:rPr lang="en-US" sz="2100" dirty="0">
                <a:solidFill>
                  <a:srgbClr val="2B3A4F"/>
                </a:solidFill>
                <a:latin typeface="Calibri" pitchFamily="34" charset="0"/>
                <a:ea typeface="Calibri" pitchFamily="34" charset="-122"/>
                <a:cs typeface="Calibri" pitchFamily="34" charset="-120"/>
              </a:rPr>
              <a:t>Sequential. Light for few orders, dark for many.</a:t>
            </a:r>
            <a:endParaRPr lang="en-US" sz="2100" dirty="0"/>
          </a:p>
          <a:p>
            <a:pPr marL="304800" indent="-304800">
              <a:spcAft>
                <a:spcPts val="800"/>
              </a:spcAft>
              <a:buSzPct val="100000"/>
              <a:buFont typeface="+mj-lt"/>
              <a:buAutoNum type="arabicPeriod" startAt="1"/>
            </a:pPr>
            <a:r>
              <a:rPr lang="en-US" sz="2100" b="1" dirty="0">
                <a:solidFill>
                  <a:srgbClr val="14213D"/>
                </a:solidFill>
                <a:latin typeface="Calibri" pitchFamily="34" charset="0"/>
                <a:ea typeface="Calibri" pitchFamily="34" charset="-122"/>
                <a:cs typeface="Calibri" pitchFamily="34" charset="-120"/>
              </a:rPr>
              <a:t>Profit vs target by store, % above or below: </a:t>
            </a:r>
            <a:pPr indent="0" marL="0">
              <a:buNone/>
            </a:pPr>
            <a:r>
              <a:rPr lang="en-US" sz="2100" dirty="0">
                <a:solidFill>
                  <a:srgbClr val="2B3A4F"/>
                </a:solidFill>
                <a:latin typeface="Calibri" pitchFamily="34" charset="0"/>
                <a:ea typeface="Calibri" pitchFamily="34" charset="-122"/>
                <a:cs typeface="Calibri" pitchFamily="34" charset="-120"/>
              </a:rPr>
              <a:t>Diverging. Teal above 0%, amber below 0%, grey at 0%.</a:t>
            </a:r>
            <a:endParaRPr lang="en-US" sz="2100" dirty="0"/>
          </a:p>
          <a:p>
            <a:pPr marL="304800" indent="-304800">
              <a:spcAft>
                <a:spcPts val="800"/>
              </a:spcAft>
              <a:buSzPct val="100000"/>
              <a:buFont typeface="+mj-lt"/>
              <a:buAutoNum type="arabicPeriod" startAt="1"/>
            </a:pPr>
            <a:r>
              <a:rPr lang="en-US" sz="2100" b="1" dirty="0">
                <a:solidFill>
                  <a:srgbClr val="14213D"/>
                </a:solidFill>
                <a:latin typeface="Calibri" pitchFamily="34" charset="0"/>
                <a:ea typeface="Calibri" pitchFamily="34" charset="-122"/>
                <a:cs typeface="Calibri" pitchFamily="34" charset="-120"/>
              </a:rPr>
              <a:t>Share of orders by Cash, UPI, Card: </a:t>
            </a:r>
            <a:pPr indent="0" marL="0">
              <a:buNone/>
            </a:pPr>
            <a:r>
              <a:rPr lang="en-US" sz="2100" dirty="0">
                <a:solidFill>
                  <a:srgbClr val="2B3A4F"/>
                </a:solidFill>
                <a:latin typeface="Calibri" pitchFamily="34" charset="0"/>
                <a:ea typeface="Calibri" pitchFamily="34" charset="-122"/>
                <a:cs typeface="Calibri" pitchFamily="34" charset="-120"/>
              </a:rPr>
              <a:t>Categorical. Three distinct hues, no order implied.</a:t>
            </a:r>
            <a:endParaRPr lang="en-US" sz="2100" dirty="0"/>
          </a:p>
          <a:p>
            <a:pPr marL="304800" indent="-304800">
              <a:buSzPct val="100000"/>
              <a:buFont typeface="+mj-lt"/>
              <a:buAutoNum type="arabicPeriod" startAt="1"/>
            </a:pPr>
            <a:r>
              <a:rPr lang="en-US" sz="2100" b="1" dirty="0">
                <a:solidFill>
                  <a:srgbClr val="14213D"/>
                </a:solidFill>
                <a:latin typeface="Calibri" pitchFamily="34" charset="0"/>
                <a:ea typeface="Calibri" pitchFamily="34" charset="-122"/>
                <a:cs typeface="Calibri" pitchFamily="34" charset="-120"/>
              </a:rPr>
              <a:t>Board slide: "Indore is our best store": </a:t>
            </a:r>
            <a:pPr indent="0" marL="0">
              <a:buNone/>
            </a:pPr>
            <a:r>
              <a:rPr lang="en-US" sz="2100" dirty="0">
                <a:solidFill>
                  <a:srgbClr val="2B3A4F"/>
                </a:solidFill>
                <a:latin typeface="Calibri" pitchFamily="34" charset="0"/>
                <a:ea typeface="Calibri" pitchFamily="34" charset="-122"/>
                <a:cs typeface="Calibri" pitchFamily="34" charset="-120"/>
              </a:rPr>
              <a:t>Grey for all stores, one teal bar for Indore.</a:t>
            </a:r>
            <a:endParaRPr lang="en-US" sz="2100" dirty="0"/>
          </a:p>
        </p:txBody>
      </p:sp>
      <p:sp>
        <p:nvSpPr>
          <p:cNvPr id="7" name="Shape 5"/>
          <p:cNvSpPr/>
          <p:nvPr/>
        </p:nvSpPr>
        <p:spPr>
          <a:xfrm>
            <a:off x="7498080" y="2514600"/>
            <a:ext cx="4142232" cy="3749040"/>
          </a:xfrm>
          <a:prstGeom prst="roundRect">
            <a:avLst>
              <a:gd name="adj" fmla="val 2927"/>
            </a:avLst>
          </a:prstGeom>
          <a:solidFill>
            <a:srgbClr val="14213D"/>
          </a:solidFill>
          <a:ln w="12700">
            <a:solidFill>
              <a:srgbClr val="14213D"/>
            </a:solidFill>
            <a:prstDash val="solid"/>
          </a:ln>
        </p:spPr>
      </p:sp>
      <p:sp>
        <p:nvSpPr>
          <p:cNvPr id="8" name="Text 6"/>
          <p:cNvSpPr txBox="1"/>
          <p:nvPr/>
        </p:nvSpPr>
        <p:spPr>
          <a:xfrm>
            <a:off x="7772400" y="274320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RESULT</a:t>
            </a:r>
            <a:endParaRPr lang="en-US" sz="1200" dirty="0"/>
          </a:p>
        </p:txBody>
      </p:sp>
      <p:sp>
        <p:nvSpPr>
          <p:cNvPr id="9" name="Text 7"/>
          <p:cNvSpPr txBox="1"/>
          <p:nvPr/>
        </p:nvSpPr>
        <p:spPr>
          <a:xfrm>
            <a:off x="7772400" y="3154680"/>
            <a:ext cx="3593592" cy="29260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The same colours would be wrong if swapped. A sequential ramp on payment mode would suggest Card is "more" than Cash.</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Design for colour-blind readers</a:t>
            </a:r>
            <a:endParaRPr lang="en-US" sz="2800" dirty="0"/>
          </a:p>
        </p:txBody>
      </p:sp>
      <p:sp>
        <p:nvSpPr>
          <p:cNvPr id="3" name="Shape 1"/>
          <p:cNvSpPr/>
          <p:nvPr/>
        </p:nvSpPr>
        <p:spPr>
          <a:xfrm>
            <a:off x="548640" y="1417320"/>
            <a:ext cx="5408676" cy="2286000"/>
          </a:xfrm>
          <a:prstGeom prst="roundRect">
            <a:avLst>
              <a:gd name="adj" fmla="val 4800"/>
            </a:avLst>
          </a:prstGeom>
          <a:solidFill>
            <a:srgbClr val="EEF3F6"/>
          </a:solidFill>
          <a:ln w="12700">
            <a:solidFill>
              <a:srgbClr val="EEF3F6"/>
            </a:solidFill>
            <a:prstDash val="solid"/>
          </a:ln>
        </p:spPr>
      </p:sp>
      <p:sp>
        <p:nvSpPr>
          <p:cNvPr id="4" name="Text 2"/>
          <p:cNvSpPr/>
          <p:nvPr/>
        </p:nvSpPr>
        <p:spPr>
          <a:xfrm>
            <a:off x="777240" y="164592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371600"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Know the numbers</a:t>
            </a:r>
            <a:endParaRPr lang="en-US" sz="2000" dirty="0"/>
          </a:p>
        </p:txBody>
      </p:sp>
      <p:sp>
        <p:nvSpPr>
          <p:cNvPr id="6" name="Text 4"/>
          <p:cNvSpPr txBox="1"/>
          <p:nvPr/>
        </p:nvSpPr>
        <p:spPr>
          <a:xfrm>
            <a:off x="777240"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Roughly 1 in 12 men and 1 in 200 women have a colour vision difference. In a class of 60, expect a few.</a:t>
            </a:r>
            <a:endParaRPr lang="en-US" sz="2000" dirty="0"/>
          </a:p>
        </p:txBody>
      </p:sp>
      <p:sp>
        <p:nvSpPr>
          <p:cNvPr id="7" name="Shape 5"/>
          <p:cNvSpPr/>
          <p:nvPr/>
        </p:nvSpPr>
        <p:spPr>
          <a:xfrm>
            <a:off x="6231636" y="1417320"/>
            <a:ext cx="5408676" cy="2286000"/>
          </a:xfrm>
          <a:prstGeom prst="roundRect">
            <a:avLst>
              <a:gd name="adj" fmla="val 4800"/>
            </a:avLst>
          </a:prstGeom>
          <a:solidFill>
            <a:srgbClr val="EEF3F6"/>
          </a:solidFill>
          <a:ln w="12700">
            <a:solidFill>
              <a:srgbClr val="EEF3F6"/>
            </a:solidFill>
            <a:prstDash val="solid"/>
          </a:ln>
        </p:spPr>
      </p:sp>
      <p:sp>
        <p:nvSpPr>
          <p:cNvPr id="8" name="Text 6"/>
          <p:cNvSpPr/>
          <p:nvPr/>
        </p:nvSpPr>
        <p:spPr>
          <a:xfrm>
            <a:off x="6460236" y="164592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7054596"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Avoid red vs green alone</a:t>
            </a:r>
            <a:endParaRPr lang="en-US" sz="2000" dirty="0"/>
          </a:p>
        </p:txBody>
      </p:sp>
      <p:sp>
        <p:nvSpPr>
          <p:cNvPr id="10" name="Text 8"/>
          <p:cNvSpPr txBox="1"/>
          <p:nvPr/>
        </p:nvSpPr>
        <p:spPr>
          <a:xfrm>
            <a:off x="6460236"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Red and green look alike to the most common type. Use teal and amber, or blue and orange, instead.</a:t>
            </a:r>
            <a:endParaRPr lang="en-US" sz="2000" dirty="0"/>
          </a:p>
        </p:txBody>
      </p:sp>
      <p:sp>
        <p:nvSpPr>
          <p:cNvPr id="11" name="Shape 9"/>
          <p:cNvSpPr/>
          <p:nvPr/>
        </p:nvSpPr>
        <p:spPr>
          <a:xfrm>
            <a:off x="548640" y="3977640"/>
            <a:ext cx="5408676" cy="2286000"/>
          </a:xfrm>
          <a:prstGeom prst="roundRect">
            <a:avLst>
              <a:gd name="adj" fmla="val 4800"/>
            </a:avLst>
          </a:prstGeom>
          <a:solidFill>
            <a:srgbClr val="EEF3F6"/>
          </a:solidFill>
          <a:ln w="12700">
            <a:solidFill>
              <a:srgbClr val="EEF3F6"/>
            </a:solidFill>
            <a:prstDash val="solid"/>
          </a:ln>
        </p:spPr>
      </p:sp>
      <p:sp>
        <p:nvSpPr>
          <p:cNvPr id="12" name="Text 10"/>
          <p:cNvSpPr/>
          <p:nvPr/>
        </p:nvSpPr>
        <p:spPr>
          <a:xfrm>
            <a:off x="777240" y="420624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1371600"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Vary lightness too</a:t>
            </a:r>
            <a:endParaRPr lang="en-US" sz="2000" dirty="0"/>
          </a:p>
        </p:txBody>
      </p:sp>
      <p:sp>
        <p:nvSpPr>
          <p:cNvPr id="14" name="Text 12"/>
          <p:cNvSpPr txBox="1"/>
          <p:nvPr/>
        </p:nvSpPr>
        <p:spPr>
          <a:xfrm>
            <a:off x="777240"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Pick one light and one dark colour. Then the chart still works if printed in black and white.</a:t>
            </a:r>
            <a:endParaRPr lang="en-US" sz="2000" dirty="0"/>
          </a:p>
        </p:txBody>
      </p:sp>
      <p:sp>
        <p:nvSpPr>
          <p:cNvPr id="15" name="Shape 13"/>
          <p:cNvSpPr/>
          <p:nvPr/>
        </p:nvSpPr>
        <p:spPr>
          <a:xfrm>
            <a:off x="6231636" y="3977640"/>
            <a:ext cx="5408676" cy="2286000"/>
          </a:xfrm>
          <a:prstGeom prst="roundRect">
            <a:avLst>
              <a:gd name="adj" fmla="val 4800"/>
            </a:avLst>
          </a:prstGeom>
          <a:solidFill>
            <a:srgbClr val="EEF3F6"/>
          </a:solidFill>
          <a:ln w="12700">
            <a:solidFill>
              <a:srgbClr val="EEF3F6"/>
            </a:solidFill>
            <a:prstDash val="solid"/>
          </a:ln>
        </p:spPr>
      </p:sp>
      <p:sp>
        <p:nvSpPr>
          <p:cNvPr id="16" name="Text 14"/>
          <p:cNvSpPr/>
          <p:nvPr/>
        </p:nvSpPr>
        <p:spPr>
          <a:xfrm>
            <a:off x="6460236" y="420624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txBox="1"/>
          <p:nvPr/>
        </p:nvSpPr>
        <p:spPr>
          <a:xfrm>
            <a:off x="7054596"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Add a second cue</a:t>
            </a:r>
            <a:endParaRPr lang="en-US" sz="2000" dirty="0"/>
          </a:p>
        </p:txBody>
      </p:sp>
      <p:sp>
        <p:nvSpPr>
          <p:cNvPr id="18" name="Text 16"/>
          <p:cNvSpPr txBox="1"/>
          <p:nvPr/>
        </p:nvSpPr>
        <p:spPr>
          <a:xfrm>
            <a:off x="6460236"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Use labels, patterns or shapes (circle, square) so colour is never the only way to tell groups apart.</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Size trap: area, not radius</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Store A has 100 customers and store B has 400. You draw a circle for each. B has 4 times the value.</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Wrong: </a:t>
            </a:r>
            <a:pPr indent="0" marL="0">
              <a:buNone/>
            </a:pPr>
            <a:r>
              <a:rPr lang="en-US" sz="2200" dirty="0">
                <a:solidFill>
                  <a:srgbClr val="2B3A4F"/>
                </a:solidFill>
                <a:latin typeface="Calibri" pitchFamily="34" charset="0"/>
                <a:ea typeface="Calibri" pitchFamily="34" charset="-122"/>
                <a:cs typeface="Calibri" pitchFamily="34" charset="-120"/>
              </a:rPr>
              <a:t>Make B's radius 4 times larger. Radius 4x means area 4² = 16x.</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Reader sees: </a:t>
            </a:r>
            <a:pPr indent="0" marL="0">
              <a:buNone/>
            </a:pPr>
            <a:r>
              <a:rPr lang="en-US" sz="2200" dirty="0">
                <a:solidFill>
                  <a:srgbClr val="2B3A4F"/>
                </a:solidFill>
                <a:latin typeface="Calibri" pitchFamily="34" charset="0"/>
                <a:ea typeface="Calibri" pitchFamily="34" charset="-122"/>
                <a:cs typeface="Calibri" pitchFamily="34" charset="-120"/>
              </a:rPr>
              <a:t>Store B looks 16 times bigger, although it is only 4 times bigger.</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Right: </a:t>
            </a:r>
            <a:pPr indent="0" marL="0">
              <a:buNone/>
            </a:pPr>
            <a:r>
              <a:rPr lang="en-US" sz="2200" dirty="0">
                <a:solidFill>
                  <a:srgbClr val="2B3A4F"/>
                </a:solidFill>
                <a:latin typeface="Calibri" pitchFamily="34" charset="0"/>
                <a:ea typeface="Calibri" pitchFamily="34" charset="-122"/>
                <a:cs typeface="Calibri" pitchFamily="34" charset="-120"/>
              </a:rPr>
              <a:t>Scale area to value. Radius grows by the square root of 4, which is 2.</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Check: </a:t>
            </a:r>
            <a:pPr indent="0" marL="0">
              <a:buNone/>
            </a:pPr>
            <a:r>
              <a:rPr lang="en-US" sz="2200" dirty="0">
                <a:solidFill>
                  <a:srgbClr val="2B3A4F"/>
                </a:solidFill>
                <a:latin typeface="Calibri" pitchFamily="34" charset="0"/>
                <a:ea typeface="Calibri" pitchFamily="34" charset="-122"/>
                <a:cs typeface="Calibri" pitchFamily="34" charset="-120"/>
              </a:rPr>
              <a:t>Radius 2x gives area 2² = 4x. The picture now matches the data.</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RULE</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Eyes judge area, not radius. Excel and Power BI bubble charts scale by area by default, so keep that setting.</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Bubble size as a third variable</a:t>
            </a:r>
            <a:endParaRPr lang="en-US" sz="2800" dirty="0"/>
          </a:p>
        </p:txBody>
      </p:sp>
      <p:graphicFrame>
        <p:nvGraphicFramePr>
          <p:cNvPr id="3" name="Chart 0" descr=""/>
          <p:cNvGraphicFramePr/>
          <p:nvPr/>
        </p:nvGraphicFramePr>
        <p:xfrm>
          <a:off x="548640" y="1417320"/>
          <a:ext cx="704088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HOW TO READ IT</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rgbClr val="2B3A4F"/>
                </a:solidFill>
                <a:latin typeface="Calibri" pitchFamily="34" charset="0"/>
                <a:ea typeface="Calibri" pitchFamily="34" charset="-122"/>
                <a:cs typeface="Calibri" pitchFamily="34" charset="-120"/>
              </a:rPr>
              <a:t>Position across: ad spend. Position up: sales.</a:t>
            </a:r>
            <a:endParaRPr lang="en-US" sz="1700" dirty="0"/>
          </a:p>
          <a:p>
            <a:pPr marL="228600" indent="-228600">
              <a:spcAft>
                <a:spcPts val="1000"/>
              </a:spcAft>
              <a:buSzPct val="100000"/>
              <a:buChar char="•"/>
            </a:pPr>
            <a:r>
              <a:rPr lang="en-US" sz="1700" dirty="0">
                <a:solidFill>
                  <a:srgbClr val="2B3A4F"/>
                </a:solidFill>
                <a:latin typeface="Calibri" pitchFamily="34" charset="0"/>
                <a:ea typeface="Calibri" pitchFamily="34" charset="-122"/>
                <a:cs typeface="Calibri" pitchFamily="34" charset="-120"/>
              </a:rPr>
              <a:t>Bubble size: customers, from 400 to 1,300 (illustrative).</a:t>
            </a:r>
            <a:endParaRPr lang="en-US" sz="1700" dirty="0"/>
          </a:p>
          <a:p>
            <a:pPr marL="228600" indent="-228600">
              <a:spcAft>
                <a:spcPts val="1000"/>
              </a:spcAft>
              <a:buSzPct val="100000"/>
              <a:buChar char="•"/>
            </a:pPr>
            <a:r>
              <a:rPr lang="en-US" sz="1700" dirty="0">
                <a:solidFill>
                  <a:srgbClr val="2B3A4F"/>
                </a:solidFill>
                <a:latin typeface="Calibri" pitchFamily="34" charset="0"/>
                <a:ea typeface="Calibri" pitchFamily="34" charset="-122"/>
                <a:cs typeface="Calibri" pitchFamily="34" charset="-120"/>
              </a:rPr>
              <a:t>The biggest bubble is also the highest, so spend, sales and customers rise together.</a:t>
            </a:r>
            <a:endParaRPr lang="en-US" sz="1700" dirty="0"/>
          </a:p>
          <a:p>
            <a:pPr marL="228600" indent="-228600">
              <a:buSzPct val="100000"/>
              <a:buChar char="•"/>
            </a:pPr>
            <a:r>
              <a:rPr lang="en-US" sz="1700" dirty="0">
                <a:solidFill>
                  <a:srgbClr val="2B3A4F"/>
                </a:solidFill>
                <a:latin typeface="Calibri" pitchFamily="34" charset="0"/>
                <a:ea typeface="Calibri" pitchFamily="34" charset="-122"/>
                <a:cs typeface="Calibri" pitchFamily="34" charset="-120"/>
              </a:rPr>
              <a:t>Always state what size means in a note or legend.</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Colour a variance chart with a diverging scheme</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Six branches have monthly targets and actuals (₹ lakh). Show who beat or missed the target.</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Variance % = </a:t>
            </a:r>
            <a:pPr indent="0" marL="0">
              <a:buNone/>
            </a:pPr>
            <a:r>
              <a:rPr lang="en-US" sz="2200" dirty="0">
                <a:solidFill>
                  <a:srgbClr val="2B3A4F"/>
                </a:solidFill>
                <a:latin typeface="Calibri" pitchFamily="34" charset="0"/>
                <a:ea typeface="Calibri" pitchFamily="34" charset="-122"/>
                <a:cs typeface="Calibri" pitchFamily="34" charset="-120"/>
              </a:rPr>
              <a:t>(actual - target) / target × 100.</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Indore: </a:t>
            </a:r>
            <a:pPr indent="0" marL="0">
              <a:buNone/>
            </a:pPr>
            <a:r>
              <a:rPr lang="en-US" sz="2200" dirty="0">
                <a:solidFill>
                  <a:srgbClr val="2B3A4F"/>
                </a:solidFill>
                <a:latin typeface="Calibri" pitchFamily="34" charset="0"/>
                <a:ea typeface="Calibri" pitchFamily="34" charset="-122"/>
                <a:cs typeface="Calibri" pitchFamily="34" charset="-120"/>
              </a:rPr>
              <a:t>(55 - 50) / 50 = +10.0%. Gwalior: (31 - 30) / 30 = +3.3%.</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Bhopal: </a:t>
            </a:r>
            <a:pPr indent="0" marL="0">
              <a:buNone/>
            </a:pPr>
            <a:r>
              <a:rPr lang="en-US" sz="2200" dirty="0">
                <a:solidFill>
                  <a:srgbClr val="2B3A4F"/>
                </a:solidFill>
                <a:latin typeface="Calibri" pitchFamily="34" charset="0"/>
                <a:ea typeface="Calibri" pitchFamily="34" charset="-122"/>
                <a:cs typeface="Calibri" pitchFamily="34" charset="-120"/>
              </a:rPr>
              <a:t>(42 - 45) / 45 = -6.7%. Jabalpur: -5.0%. Ujjain: -10.0%. Sagar: -12.0%.</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Colour rule: </a:t>
            </a:r>
            <a:pPr indent="0" marL="0">
              <a:buNone/>
            </a:pPr>
            <a:r>
              <a:rPr lang="en-US" sz="2200" dirty="0">
                <a:solidFill>
                  <a:srgbClr val="2B3A4F"/>
                </a:solidFill>
                <a:latin typeface="Calibri" pitchFamily="34" charset="0"/>
                <a:ea typeface="Calibri" pitchFamily="34" charset="-122"/>
                <a:cs typeface="Calibri" pitchFamily="34" charset="-120"/>
              </a:rPr>
              <a:t>Teal for above 0%, amber for below 0%. Zero is the neutral centre.</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RESULT</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Only 2 of 6 branches beat target. Four amber bars make the shortfall visible at a glance.</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Variance to target by branch</a:t>
            </a:r>
            <a:endParaRPr lang="en-US" sz="2800" dirty="0"/>
          </a:p>
        </p:txBody>
      </p:sp>
      <p:graphicFrame>
        <p:nvGraphicFramePr>
          <p:cNvPr id="3" name="Chart 0" descr=""/>
          <p:cNvGraphicFramePr/>
          <p:nvPr/>
        </p:nvGraphicFramePr>
        <p:xfrm>
          <a:off x="548640" y="1417320"/>
          <a:ext cx="704088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WHAT IT SHOWS</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Bars above zero beat target. Bars below miss it.</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The colour change at zero repeats the message of the bar direction.</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Sagar is furthest below at -12%.</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Sorting high to low makes the ranking easy to read.</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Traps and edge cases</a:t>
            </a:r>
            <a:endParaRPr lang="en-US" sz="2800" dirty="0"/>
          </a:p>
        </p:txBody>
      </p:sp>
      <p:sp>
        <p:nvSpPr>
          <p:cNvPr id="3" name="Shape 1"/>
          <p:cNvSpPr/>
          <p:nvPr/>
        </p:nvSpPr>
        <p:spPr>
          <a:xfrm>
            <a:off x="548640" y="1417320"/>
            <a:ext cx="5408676" cy="2286000"/>
          </a:xfrm>
          <a:prstGeom prst="roundRect">
            <a:avLst>
              <a:gd name="adj" fmla="val 4800"/>
            </a:avLst>
          </a:prstGeom>
          <a:solidFill>
            <a:srgbClr val="EEF3F6"/>
          </a:solidFill>
          <a:ln w="12700">
            <a:solidFill>
              <a:srgbClr val="EEF3F6"/>
            </a:solidFill>
            <a:prstDash val="solid"/>
          </a:ln>
        </p:spPr>
      </p:sp>
      <p:sp>
        <p:nvSpPr>
          <p:cNvPr id="4" name="Text 2"/>
          <p:cNvSpPr/>
          <p:nvPr/>
        </p:nvSpPr>
        <p:spPr>
          <a:xfrm>
            <a:off x="777240" y="164592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371600"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Rainbow palettes</a:t>
            </a:r>
            <a:endParaRPr lang="en-US" sz="2000" dirty="0"/>
          </a:p>
        </p:txBody>
      </p:sp>
      <p:sp>
        <p:nvSpPr>
          <p:cNvPr id="6" name="Text 4"/>
          <p:cNvSpPr txBox="1"/>
          <p:nvPr/>
        </p:nvSpPr>
        <p:spPr>
          <a:xfrm>
            <a:off x="777240"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Rainbow has no natural order and bright bands create false edges in the data. Prefer a single-hue ramp.</a:t>
            </a:r>
            <a:endParaRPr lang="en-US" sz="2000" dirty="0"/>
          </a:p>
        </p:txBody>
      </p:sp>
      <p:sp>
        <p:nvSpPr>
          <p:cNvPr id="7" name="Shape 5"/>
          <p:cNvSpPr/>
          <p:nvPr/>
        </p:nvSpPr>
        <p:spPr>
          <a:xfrm>
            <a:off x="6231636" y="1417320"/>
            <a:ext cx="5408676" cy="2286000"/>
          </a:xfrm>
          <a:prstGeom prst="roundRect">
            <a:avLst>
              <a:gd name="adj" fmla="val 4800"/>
            </a:avLst>
          </a:prstGeom>
          <a:solidFill>
            <a:srgbClr val="EEF3F6"/>
          </a:solidFill>
          <a:ln w="12700">
            <a:solidFill>
              <a:srgbClr val="EEF3F6"/>
            </a:solidFill>
            <a:prstDash val="solid"/>
          </a:ln>
        </p:spPr>
      </p:sp>
      <p:sp>
        <p:nvSpPr>
          <p:cNvPr id="8" name="Text 6"/>
          <p:cNvSpPr/>
          <p:nvPr/>
        </p:nvSpPr>
        <p:spPr>
          <a:xfrm>
            <a:off x="6460236" y="164592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7054596"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Too many colours</a:t>
            </a:r>
            <a:endParaRPr lang="en-US" sz="2000" dirty="0"/>
          </a:p>
        </p:txBody>
      </p:sp>
      <p:sp>
        <p:nvSpPr>
          <p:cNvPr id="10" name="Text 8"/>
          <p:cNvSpPr txBox="1"/>
          <p:nvPr/>
        </p:nvSpPr>
        <p:spPr>
          <a:xfrm>
            <a:off x="6460236"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After 6 colours readers cannot match legend to bar. Group small items as "Other" or use direct labels.</a:t>
            </a:r>
            <a:endParaRPr lang="en-US" sz="2000" dirty="0"/>
          </a:p>
        </p:txBody>
      </p:sp>
      <p:sp>
        <p:nvSpPr>
          <p:cNvPr id="11" name="Shape 9"/>
          <p:cNvSpPr/>
          <p:nvPr/>
        </p:nvSpPr>
        <p:spPr>
          <a:xfrm>
            <a:off x="548640" y="3977640"/>
            <a:ext cx="5408676" cy="2286000"/>
          </a:xfrm>
          <a:prstGeom prst="roundRect">
            <a:avLst>
              <a:gd name="adj" fmla="val 4800"/>
            </a:avLst>
          </a:prstGeom>
          <a:solidFill>
            <a:srgbClr val="EEF3F6"/>
          </a:solidFill>
          <a:ln w="12700">
            <a:solidFill>
              <a:srgbClr val="EEF3F6"/>
            </a:solidFill>
            <a:prstDash val="solid"/>
          </a:ln>
        </p:spPr>
      </p:sp>
      <p:sp>
        <p:nvSpPr>
          <p:cNvPr id="12" name="Text 10"/>
          <p:cNvSpPr/>
          <p:nvPr/>
        </p:nvSpPr>
        <p:spPr>
          <a:xfrm>
            <a:off x="777240" y="420624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1371600"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Colour with a meaning clash</a:t>
            </a:r>
            <a:endParaRPr lang="en-US" sz="2000" dirty="0"/>
          </a:p>
        </p:txBody>
      </p:sp>
      <p:sp>
        <p:nvSpPr>
          <p:cNvPr id="14" name="Text 12"/>
          <p:cNvSpPr txBox="1"/>
          <p:nvPr/>
        </p:nvSpPr>
        <p:spPr>
          <a:xfrm>
            <a:off x="777240"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Red usually means bad or stop. Do not use red for revenue growth. Check cultural meaning for your audience.</a:t>
            </a:r>
            <a:endParaRPr lang="en-US" sz="2000" dirty="0"/>
          </a:p>
        </p:txBody>
      </p:sp>
      <p:sp>
        <p:nvSpPr>
          <p:cNvPr id="15" name="Shape 13"/>
          <p:cNvSpPr/>
          <p:nvPr/>
        </p:nvSpPr>
        <p:spPr>
          <a:xfrm>
            <a:off x="6231636" y="3977640"/>
            <a:ext cx="5408676" cy="2286000"/>
          </a:xfrm>
          <a:prstGeom prst="roundRect">
            <a:avLst>
              <a:gd name="adj" fmla="val 4800"/>
            </a:avLst>
          </a:prstGeom>
          <a:solidFill>
            <a:srgbClr val="EEF3F6"/>
          </a:solidFill>
          <a:ln w="12700">
            <a:solidFill>
              <a:srgbClr val="EEF3F6"/>
            </a:solidFill>
            <a:prstDash val="solid"/>
          </a:ln>
        </p:spPr>
      </p:sp>
      <p:sp>
        <p:nvSpPr>
          <p:cNvPr id="16" name="Text 14"/>
          <p:cNvSpPr/>
          <p:nvPr/>
        </p:nvSpPr>
        <p:spPr>
          <a:xfrm>
            <a:off x="6460236" y="420624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txBox="1"/>
          <p:nvPr/>
        </p:nvSpPr>
        <p:spPr>
          <a:xfrm>
            <a:off x="7054596"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Shape and size overload</a:t>
            </a:r>
            <a:endParaRPr lang="en-US" sz="2000" dirty="0"/>
          </a:p>
        </p:txBody>
      </p:sp>
      <p:sp>
        <p:nvSpPr>
          <p:cNvPr id="18" name="Text 16"/>
          <p:cNvSpPr txBox="1"/>
          <p:nvPr/>
        </p:nvSpPr>
        <p:spPr>
          <a:xfrm>
            <a:off x="6460236"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Do not vary colour, shape and size for the same variable. Each channel should encode one thing.</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Practice questions</a:t>
            </a:r>
            <a:endParaRPr lang="en-US" sz="2800" dirty="0"/>
          </a:p>
        </p:txBody>
      </p:sp>
      <p:sp>
        <p:nvSpPr>
          <p:cNvPr id="3" name="Shape 1"/>
          <p:cNvSpPr/>
          <p:nvPr/>
        </p:nvSpPr>
        <p:spPr>
          <a:xfrm>
            <a:off x="548640" y="1417320"/>
            <a:ext cx="11091672" cy="1074420"/>
          </a:xfrm>
          <a:prstGeom prst="roundRect">
            <a:avLst>
              <a:gd name="adj" fmla="val 10213"/>
            </a:avLst>
          </a:prstGeom>
          <a:solidFill>
            <a:srgbClr val="EEF3F6"/>
          </a:solidFill>
          <a:ln w="12700">
            <a:solidFill>
              <a:srgbClr val="EEF3F6"/>
            </a:solidFill>
            <a:prstDash val="solid"/>
          </a:ln>
        </p:spPr>
      </p:sp>
      <p:sp>
        <p:nvSpPr>
          <p:cNvPr id="4" name="Text 2"/>
          <p:cNvSpPr/>
          <p:nvPr/>
        </p:nvSpPr>
        <p:spPr>
          <a:xfrm>
            <a:off x="777240" y="172593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463040" y="14173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Which palette suits (a) weekly orders by area on a map (b) profit vs target (c) Cash, UPI, Card?</a:t>
            </a:r>
            <a:endParaRPr lang="en-US" sz="1900" dirty="0"/>
          </a:p>
        </p:txBody>
      </p:sp>
      <p:sp>
        <p:nvSpPr>
          <p:cNvPr id="6" name="Shape 4"/>
          <p:cNvSpPr/>
          <p:nvPr/>
        </p:nvSpPr>
        <p:spPr>
          <a:xfrm>
            <a:off x="548640" y="2674620"/>
            <a:ext cx="11091672" cy="1074420"/>
          </a:xfrm>
          <a:prstGeom prst="roundRect">
            <a:avLst>
              <a:gd name="adj" fmla="val 10213"/>
            </a:avLst>
          </a:prstGeom>
          <a:solidFill>
            <a:srgbClr val="EEF3F6"/>
          </a:solidFill>
          <a:ln w="12700">
            <a:solidFill>
              <a:srgbClr val="EEF3F6"/>
            </a:solidFill>
            <a:prstDash val="solid"/>
          </a:ln>
        </p:spPr>
      </p:sp>
      <p:sp>
        <p:nvSpPr>
          <p:cNvPr id="7" name="Text 5"/>
          <p:cNvSpPr/>
          <p:nvPr/>
        </p:nvSpPr>
        <p:spPr>
          <a:xfrm>
            <a:off x="777240" y="298323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8" name="Text 6"/>
          <p:cNvSpPr txBox="1"/>
          <p:nvPr/>
        </p:nvSpPr>
        <p:spPr>
          <a:xfrm>
            <a:off x="1463040" y="26746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A bubble is drawn with 3 times the radius for a value 3 times larger. How much bigger does it look?</a:t>
            </a:r>
            <a:endParaRPr lang="en-US" sz="1900" dirty="0"/>
          </a:p>
        </p:txBody>
      </p:sp>
      <p:sp>
        <p:nvSpPr>
          <p:cNvPr id="9" name="Shape 7"/>
          <p:cNvSpPr/>
          <p:nvPr/>
        </p:nvSpPr>
        <p:spPr>
          <a:xfrm>
            <a:off x="548640" y="3931920"/>
            <a:ext cx="11091672" cy="1074420"/>
          </a:xfrm>
          <a:prstGeom prst="roundRect">
            <a:avLst>
              <a:gd name="adj" fmla="val 10213"/>
            </a:avLst>
          </a:prstGeom>
          <a:solidFill>
            <a:srgbClr val="EEF3F6"/>
          </a:solidFill>
          <a:ln w="12700">
            <a:solidFill>
              <a:srgbClr val="EEF3F6"/>
            </a:solidFill>
            <a:prstDash val="solid"/>
          </a:ln>
        </p:spPr>
      </p:sp>
      <p:sp>
        <p:nvSpPr>
          <p:cNvPr id="10" name="Text 8"/>
          <p:cNvSpPr/>
          <p:nvPr/>
        </p:nvSpPr>
        <p:spPr>
          <a:xfrm>
            <a:off x="777240" y="424053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1" name="Text 9"/>
          <p:cNvSpPr txBox="1"/>
          <p:nvPr/>
        </p:nvSpPr>
        <p:spPr>
          <a:xfrm>
            <a:off x="1463040" y="39319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Why is red and green a poor pair for "loss" and "profit"? What would you use?</a:t>
            </a:r>
            <a:endParaRPr lang="en-US" sz="1900" dirty="0"/>
          </a:p>
        </p:txBody>
      </p:sp>
      <p:sp>
        <p:nvSpPr>
          <p:cNvPr id="12" name="Shape 10"/>
          <p:cNvSpPr/>
          <p:nvPr/>
        </p:nvSpPr>
        <p:spPr>
          <a:xfrm>
            <a:off x="548640" y="5189220"/>
            <a:ext cx="11091672" cy="1074420"/>
          </a:xfrm>
          <a:prstGeom prst="roundRect">
            <a:avLst>
              <a:gd name="adj" fmla="val 10213"/>
            </a:avLst>
          </a:prstGeom>
          <a:solidFill>
            <a:srgbClr val="EEF3F6"/>
          </a:solidFill>
          <a:ln w="12700">
            <a:solidFill>
              <a:srgbClr val="EEF3F6"/>
            </a:solidFill>
            <a:prstDash val="solid"/>
          </a:ln>
        </p:spPr>
      </p:sp>
      <p:sp>
        <p:nvSpPr>
          <p:cNvPr id="13" name="Text 11"/>
          <p:cNvSpPr/>
          <p:nvPr/>
        </p:nvSpPr>
        <p:spPr>
          <a:xfrm>
            <a:off x="777240" y="549783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4" name="Text 12"/>
          <p:cNvSpPr txBox="1"/>
          <p:nvPr/>
        </p:nvSpPr>
        <p:spPr>
          <a:xfrm>
            <a:off x="1463040" y="51892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A pie has 9 slices in 9 colours. Suggest two fixes.</a:t>
            </a:r>
            <a:endParaRPr lang="en-US" sz="19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Key takeaways</a:t>
            </a:r>
            <a:endParaRPr lang="en-US" sz="2800" dirty="0"/>
          </a:p>
        </p:txBody>
      </p:sp>
      <p:sp>
        <p:nvSpPr>
          <p:cNvPr id="3" name="Text 1"/>
          <p:cNvSpPr/>
          <p:nvPr/>
        </p:nvSpPr>
        <p:spPr>
          <a:xfrm>
            <a:off x="548640" y="1561795"/>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4" name="Text 2"/>
          <p:cNvSpPr txBox="1"/>
          <p:nvPr/>
        </p:nvSpPr>
        <p:spPr>
          <a:xfrm>
            <a:off x="1234440" y="1417320"/>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Match palette to data: </a:t>
            </a:r>
            <a:pPr indent="0" marL="0">
              <a:buNone/>
            </a:pPr>
            <a:r>
              <a:rPr lang="en-US" sz="2000" dirty="0">
                <a:solidFill>
                  <a:srgbClr val="FFFFFF"/>
                </a:solidFill>
                <a:latin typeface="Calibri" pitchFamily="34" charset="0"/>
                <a:ea typeface="Calibri" pitchFamily="34" charset="-122"/>
                <a:cs typeface="Calibri" pitchFamily="34" charset="-120"/>
              </a:rPr>
              <a:t>sequential for low to high, diverging for above and below a centre, categorical for groups.</a:t>
            </a:r>
            <a:endParaRPr lang="en-US" sz="2000" dirty="0"/>
          </a:p>
        </p:txBody>
      </p:sp>
      <p:sp>
        <p:nvSpPr>
          <p:cNvPr id="5" name="Text 3"/>
          <p:cNvSpPr/>
          <p:nvPr/>
        </p:nvSpPr>
        <p:spPr>
          <a:xfrm>
            <a:off x="548640" y="2435962"/>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Text 4"/>
          <p:cNvSpPr txBox="1"/>
          <p:nvPr/>
        </p:nvSpPr>
        <p:spPr>
          <a:xfrm>
            <a:off x="1234440" y="2291486"/>
            <a:ext cx="10405872" cy="709574"/>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Emphasise with grey plus one colour so the point stands out.</a:t>
            </a:r>
            <a:endParaRPr lang="en-US" sz="2000" dirty="0"/>
          </a:p>
        </p:txBody>
      </p:sp>
      <p:sp>
        <p:nvSpPr>
          <p:cNvPr id="7" name="Text 5"/>
          <p:cNvSpPr/>
          <p:nvPr/>
        </p:nvSpPr>
        <p:spPr>
          <a:xfrm>
            <a:off x="548640" y="3310128"/>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6"/>
          <p:cNvSpPr txBox="1"/>
          <p:nvPr/>
        </p:nvSpPr>
        <p:spPr>
          <a:xfrm>
            <a:off x="1234440" y="3165653"/>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Be colour-blind safe: </a:t>
            </a:r>
            <a:pPr indent="0" marL="0">
              <a:buNone/>
            </a:pPr>
            <a:r>
              <a:rPr lang="en-US" sz="2000" dirty="0">
                <a:solidFill>
                  <a:srgbClr val="FFFFFF"/>
                </a:solidFill>
                <a:latin typeface="Calibri" pitchFamily="34" charset="0"/>
                <a:ea typeface="Calibri" pitchFamily="34" charset="-122"/>
                <a:cs typeface="Calibri" pitchFamily="34" charset="-120"/>
              </a:rPr>
              <a:t>avoid red-green alone, vary lightness, add a second cue.</a:t>
            </a:r>
            <a:endParaRPr lang="en-US" sz="2000" dirty="0"/>
          </a:p>
        </p:txBody>
      </p:sp>
      <p:sp>
        <p:nvSpPr>
          <p:cNvPr id="9" name="Text 7"/>
          <p:cNvSpPr/>
          <p:nvPr/>
        </p:nvSpPr>
        <p:spPr>
          <a:xfrm>
            <a:off x="548640" y="4184294"/>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 name="Text 8"/>
          <p:cNvSpPr txBox="1"/>
          <p:nvPr/>
        </p:nvSpPr>
        <p:spPr>
          <a:xfrm>
            <a:off x="1234440" y="4039819"/>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Size means area. </a:t>
            </a:r>
            <a:pPr indent="0" marL="0">
              <a:buNone/>
            </a:pPr>
            <a:r>
              <a:rPr lang="en-US" sz="2000" dirty="0">
                <a:solidFill>
                  <a:srgbClr val="FFFFFF"/>
                </a:solidFill>
                <a:latin typeface="Calibri" pitchFamily="34" charset="0"/>
                <a:ea typeface="Calibri" pitchFamily="34" charset="-122"/>
                <a:cs typeface="Calibri" pitchFamily="34" charset="-120"/>
              </a:rPr>
              <a:t>Radius scaled to value overstates differences.</a:t>
            </a:r>
            <a:endParaRPr lang="en-US" sz="2000" dirty="0"/>
          </a:p>
        </p:txBody>
      </p:sp>
      <p:sp>
        <p:nvSpPr>
          <p:cNvPr id="11" name="Text 9"/>
          <p:cNvSpPr/>
          <p:nvPr/>
        </p:nvSpPr>
        <p:spPr>
          <a:xfrm>
            <a:off x="548640" y="5058461"/>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txBox="1"/>
          <p:nvPr/>
        </p:nvSpPr>
        <p:spPr>
          <a:xfrm>
            <a:off x="1234440" y="4913986"/>
            <a:ext cx="10405872" cy="709574"/>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One channel, one variable. Keep categorical colours to 6 or fewer.</a:t>
            </a:r>
            <a:endParaRPr lang="en-US" sz="2000" dirty="0"/>
          </a:p>
        </p:txBody>
      </p:sp>
      <p:sp>
        <p:nvSpPr>
          <p:cNvPr id="13" name="Text 11"/>
          <p:cNvSpPr txBox="1"/>
          <p:nvPr/>
        </p:nvSpPr>
        <p:spPr>
          <a:xfrm>
            <a:off x="548640" y="5806440"/>
            <a:ext cx="11091672" cy="457200"/>
          </a:xfrm>
          <a:prstGeom prst="rect">
            <a:avLst/>
          </a:prstGeom>
          <a:noFill/>
          <a:ln/>
        </p:spPr>
        <p:txBody>
          <a:bodyPr wrap="square" lIns="0" tIns="0" rIns="0" bIns="0" rtlCol="0" anchor="ctr"/>
          <a:lstStyle/>
          <a:p>
            <a:pPr indent="0" marL="0">
              <a:buNone/>
            </a:pPr>
            <a:r>
              <a:rPr lang="en-US" sz="1600" i="1" dirty="0">
                <a:solidFill>
                  <a:srgbClr val="B8C7D9"/>
                </a:solidFill>
                <a:latin typeface="Calibri" pitchFamily="34" charset="0"/>
                <a:ea typeface="Calibri" pitchFamily="34" charset="-122"/>
                <a:cs typeface="Calibri" pitchFamily="34" charset="-120"/>
              </a:rPr>
              <a:t>Next: Labeling and Annotation Best Practices</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BMT Data">
  <a:themeElements>
    <a:clrScheme name="BMT Data">
      <a:dk1>
        <a:srgbClr val="14213D"/>
      </a:dk1>
      <a:lt1>
        <a:srgbClr val="FFFFFF"/>
      </a:lt1>
      <a:dk2>
        <a:srgbClr val="0B6E6E"/>
      </a:dk2>
      <a:lt2>
        <a:srgbClr val="EEF3F6"/>
      </a:lt2>
      <a:accent1>
        <a:srgbClr val="0F8B8D"/>
      </a:accent1>
      <a:accent2>
        <a:srgbClr val="F29E4C"/>
      </a:accent2>
      <a:accent3>
        <a:srgbClr val="3A5BA0"/>
      </a:accent3>
      <a:accent4>
        <a:srgbClr val="C8553D"/>
      </a:accent4>
      <a:accent5>
        <a:srgbClr val="6E9B2F"/>
      </a:accent5>
      <a:accent6>
        <a:srgbClr val="8E6BBF"/>
      </a:accent6>
      <a:hlink>
        <a:srgbClr val="0F8B8D"/>
      </a:hlink>
      <a:folHlink>
        <a:srgbClr val="8E6BBF"/>
      </a:folHlink>
    </a:clrScheme>
    <a:fontScheme name="BMT Dat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SAGE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 of Color, Shape, and Size in Visuals</dc:title>
  <dc:subject>Business Management Tools I</dc:subject>
  <dc:creator>Sushant Bhargav</dc:creator>
  <cp:lastModifiedBy>Sushant Bhargav</cp:lastModifiedBy>
  <cp:revision>1</cp:revision>
  <dcterms:created xsi:type="dcterms:W3CDTF">2026-10-07T01:36:19Z</dcterms:created>
  <dcterms:modified xsi:type="dcterms:W3CDTF">2026-10-07T01:36:19Z</dcterms:modified>
</cp:coreProperties>
</file>