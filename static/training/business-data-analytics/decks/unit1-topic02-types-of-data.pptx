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2: Types of Data" id="{0fa87e78-d691-817c-6a7c-f4ea2206acd9}">
          <p14:sldIdLst>
            <p14:sldId id="256"/>
            <p14:sldId id="257"/>
            <p14:sldId id="258"/>
            <p14:sldId id="259"/>
            <p14:sldId id="260"/>
            <p14:sldId id="261"/>
            <p14:sldId id="262"/>
            <p14:sldId id="263"/>
            <p14:sldId id="264"/>
            <p14:sldId id="265"/>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Comments</c:v>
                </c:pt>
              </c:strCache>
            </c:strRef>
          </c:tx>
          <c:spPr>
            <a:solidFill>
              <a:schemeClr val="accent1"/>
            </a:solidFill>
            <a:ln w="9525" cap="flat">
              <a:solidFill>
                <a:srgbClr val="F9F9F9"/>
              </a:solidFill>
              <a:prstDash val="solid"/>
              <a:round/>
            </a:ln>
            <a:effectLst/>
          </c:spPr>
          <c:dPt>
            <c:idx val="0"/>
            <c:bubble3D val="0"/>
            <c:spPr>
              <a:solidFill>
                <a:srgbClr val="0F8B8D"/>
              </a:solidFill>
              <a:ln w="19050" cap="flat">
                <a:solidFill>
                  <a:srgbClr val="FFFFFF"/>
                </a:solidFill>
                <a:prstDash val="solid"/>
                <a:round/>
              </a:ln>
              <a:effectLst/>
            </c:spPr>
          </c:dPt>
          <c:dPt>
            <c:idx val="1"/>
            <c:bubble3D val="0"/>
            <c:spPr>
              <a:solidFill>
                <a:srgbClr val="B8B8B8"/>
              </a:solidFill>
              <a:ln w="19050" cap="flat">
                <a:solidFill>
                  <a:srgbClr val="FFFFFF"/>
                </a:solidFill>
                <a:prstDash val="solid"/>
                <a:round/>
              </a:ln>
              <a:effectLst/>
            </c:spPr>
          </c:dPt>
          <c:dPt>
            <c:idx val="2"/>
            <c:bubble3D val="0"/>
            <c:spPr>
              <a:solidFill>
                <a:srgbClr val="D9534F"/>
              </a:solidFill>
              <a:ln w="19050" cap="flat">
                <a:solidFill>
                  <a:srgbClr val="FFFFFF"/>
                </a:solidFill>
                <a:prstDash val="solid"/>
                <a:round/>
              </a:ln>
              <a:effectLst/>
            </c:spPr>
          </c:dPt>
          <c:dLbls>
            <c:dLbl>
              <c:idx val="0"/>
              <c:numFmt formatCode="General" sourceLinked="0"/>
              <c:spPr/>
              <c:txPr>
                <a:bodyPr/>
                <a:lstStyle/>
                <a:p>
                  <a:pPr>
                    <a:defRPr sz="1400" b="0" i="0" u="none" strike="noStrike">
                      <a:solidFill>
                        <a:srgbClr val="14213D"/>
                      </a:solidFill>
                      <a:latin typeface="Calibri"/>
                    </a:defRPr>
                  </a:pPr>
                </a:p>
              </c:txPr>
              <c:dLblPos val="outEnd"/>
              <c:showLegendKey val="0"/>
              <c:showVal val="0"/>
              <c:showCatName val="0"/>
              <c:showSerName val="0"/>
              <c:showPercent val="1"/>
              <c:showBubbleSize val="0"/>
            </c:dLbl>
            <c:dLbl>
              <c:idx val="1"/>
              <c:numFmt formatCode="General" sourceLinked="0"/>
              <c:spPr/>
              <c:txPr>
                <a:bodyPr/>
                <a:lstStyle/>
                <a:p>
                  <a:pPr>
                    <a:defRPr sz="1400" b="0" i="0" u="none" strike="noStrike">
                      <a:solidFill>
                        <a:srgbClr val="14213D"/>
                      </a:solidFill>
                      <a:latin typeface="Calibri"/>
                    </a:defRPr>
                  </a:pPr>
                </a:p>
              </c:txPr>
              <c:dLblPos val="outEnd"/>
              <c:showLegendKey val="0"/>
              <c:showVal val="0"/>
              <c:showCatName val="0"/>
              <c:showSerName val="0"/>
              <c:showPercent val="1"/>
              <c:showBubbleSize val="0"/>
            </c:dLbl>
            <c:dLbl>
              <c:idx val="2"/>
              <c:numFmt formatCode="General" sourceLinked="0"/>
              <c:spPr/>
              <c:txPr>
                <a:bodyPr/>
                <a:lstStyle/>
                <a:p>
                  <a:pPr>
                    <a:defRPr sz="1400" b="0" i="0" u="none" strike="noStrike">
                      <a:solidFill>
                        <a:srgbClr val="14213D"/>
                      </a:solidFill>
                      <a:latin typeface="Calibri"/>
                    </a:defRPr>
                  </a:pPr>
                </a:p>
              </c:txPr>
              <c:dLblPos val="outEnd"/>
              <c:showLegendKey val="0"/>
              <c:showVal val="0"/>
              <c:showCatName val="0"/>
              <c:showSerName val="0"/>
              <c:showPercent val="1"/>
              <c:showBubbleSize val="0"/>
            </c:dLbl>
            <c:numFmt formatCode="General"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Positive</c:v>
                </c:pt>
                <c:pt idx="1">
                  <c:v>Neutral</c:v>
                </c:pt>
                <c:pt idx="2">
                  <c:v>Negative</c:v>
                </c:pt>
              </c:strCache>
            </c:strRef>
          </c:cat>
          <c:val>
            <c:numRef>
              <c:f>Sheet1!$B$2:$B$4</c:f>
              <c:numCache>
                <c:ptCount val="3"/>
                <c:pt idx="0">
                  <c:v>11</c:v>
                </c:pt>
                <c:pt idx="1">
                  <c:v>5</c:v>
                </c:pt>
                <c:pt idx="2">
                  <c:v>4</c:v>
                </c:pt>
              </c:numCache>
            </c:numRef>
          </c:val>
        </c:ser>
        <c:firstSliceAng val="0"/>
      </c:pieChart>
      <c:spPr>
        <a:noFill/>
        <a:ln>
          <a:noFill/>
        </a:ln>
        <a:effectLst/>
      </c:spPr>
    </c:plotArea>
    <c:legend>
      <c:legendPos val="r"/>
      <c:overlay val="0"/>
      <c:txPr>
        <a:bodyPr/>
        <a:lstStyle/>
        <a:p>
          <a:pPr>
            <a:defRPr sz="1200">
              <a:solidFill>
                <a:srgbClr val="56667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sorts data into types: quantitative and qualitative, discrete and continuous, structured and unstructured. The type decides how data is stored, summarised and charted.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a cafe bill on the board or screen. Ask the class how many different kinds of information are on it. Name, items, amount, time and a comment. Each one is a different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common beginner error in Excel. Numbers aligned to the left of the cell are usually text. Ask students to check how their own sheets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Qualitative data is also called categorical. A tricky case is a numeric code such as PIN code. It looks quantitative but behaves as a label, so it is qualitative. Ask for more examples of numbers that are really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is the number of customers discrete or continuous? Discrete. And the time a customer waits? Continuous. Mention that rounding does not change the type. A time of 7 minutes is still a measurement, just recorded roughly.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row and let students shout the answers before you reveal the columns. Money is a classic debate. Strictly it is discrete, since the smallest unit is one paisa. In practice analysts treat it as continuous.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Structured data tells you what happened. Unstructured data often tells you why. Ask students which they would trust to learn why customers left. Most data created today is unstructured, but do not quote exact percentages.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field would be misleading to average. Phone. Which field gives the most insight about service? Probably the comment. The comment is stored in a column, but its content is unstructured, so it needs coding before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called coding qualitative data. It is simple but loses detail, so keep the original comments too. Warn that the +1, 0, -1 codes are a convenience and not a true measurement. Different readers may tag the same comment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the class that this is qualitative data summarised as counts, so a pie or bar chart is correct and a histogram is not. With only 20 comments the percentages are rough, so treat them as a signal and not a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with a column that has a few entries typed as text. COUNT returns fewer than COUNTA. This gives students a quick test they can run on any file. In pandas, to_numeric turns text such as "465.50" into a real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 rating point links to the next topic on measurement scales. Say that classification by type is the first step and scales refine it. Ask: is a date quantitative? It sits in a table, but its meaning depends on the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four minutes. For question 4, check that 24 + 8 + 8 = 40 and 16 / 40 = 0.4. Ask students to interpret 0.40 in one sentence.
ANSWERS
1. (a) discrete (b) continuous (c) continuous (d) discrete.
2. Qualitative. It is only an identifier. Adding or averaging roll numbers means nothing.
3. Structured: billing table, stock register. Unstructured: customer reviews, CCTV footage, WhatsApp chats.
4. (24 - 8) / 40 = 0.40.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3" type="title" hasCustomPrompt="1"/>
          </p:nvPr>
        </p:nvSpPr>
        <p:spPr>
          <a:xfrm>
            <a:off x="731520" y="2103120"/>
            <a:ext cx="7863840" cy="1828800"/>
          </a:xfrm>
          <a:prstGeom prst="rect">
            <a:avLst/>
          </a:prstGeom>
          <a:noFill/>
          <a:ln/>
        </p:spPr>
        <p:txBody>
          <a:bodyPr wrap="square" rtlCol="0"/>
          <a:lstStyle>
            <a:lvl1pPr algn="l" indent="0" marL="0">
              <a:buNone/>
              <a:defRPr lang="en-US" sz="4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4" type="body" hasCustomPrompt="1"/>
          </p:nvPr>
        </p:nvSpPr>
        <p:spPr>
          <a:xfrm>
            <a:off x="731520" y="4114800"/>
            <a:ext cx="7680960" cy="914400"/>
          </a:xfrm>
          <a:prstGeom prst="rect">
            <a:avLst/>
          </a:prstGeom>
          <a:noFill/>
          <a:ln/>
        </p:spPr>
        <p:txBody>
          <a:bodyPr wrap="square" rtlCol="0"/>
          <a:lstStyle>
            <a:lvl1pPr algn="l" indent="0" marL="0">
              <a:buNone/>
              <a:defRPr lang="en-US" sz="2000" dirty="0">
                <a:solidFill>
                  <a:srgbClr val="C9D6E6"/>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56667A"/>
                </a:solidFill>
                <a:latin typeface="Calibri" pitchFamily="34" charset="0"/>
                <a:ea typeface="Calibri" pitchFamily="34" charset="-122"/>
                <a:cs typeface="Calibri" pitchFamily="34" charset="-120"/>
              </a:rPr>
              <a:t>Business Management Tools I · AE25UCBM001  |  Unit I: Introduction to Data Analysis</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9FB1C8"/>
                </a:solidFill>
                <a:latin typeface="Calibri" pitchFamily="34" charset="0"/>
                <a:ea typeface="Calibri" pitchFamily="34" charset="-122"/>
                <a:cs typeface="Calibri" pitchFamily="34" charset="-120"/>
              </a:rPr>
              <a:t>Business Management Tools I · AE25UCBM001  |  Unit I: Introduction to Data Analysis</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7863840" cy="365760"/>
          </a:xfrm>
          <a:prstGeom prst="rect">
            <a:avLst/>
          </a:prstGeom>
          <a:noFill/>
          <a:ln/>
        </p:spPr>
        <p:txBody>
          <a:bodyPr wrap="square" lIns="0" tIns="0" rIns="0" bIns="0" rtlCol="0" anchor="ctr"/>
          <a:lstStyle/>
          <a:p>
            <a:pPr indent="0" marL="0">
              <a:buNone/>
            </a:pPr>
            <a:r>
              <a:rPr lang="en-US" sz="1400" b="1" spc="300" kern="0" dirty="0">
                <a:solidFill>
                  <a:srgbClr val="F29E4C"/>
                </a:solidFill>
                <a:latin typeface="Calibri" pitchFamily="34" charset="0"/>
                <a:ea typeface="Calibri" pitchFamily="34" charset="-122"/>
                <a:cs typeface="Calibri" pitchFamily="34" charset="-120"/>
              </a:rPr>
              <a:t>UNIT I  ·  TOPIC 2</a:t>
            </a:r>
            <a:endParaRPr lang="en-US" sz="1400" dirty="0"/>
          </a:p>
        </p:txBody>
      </p:sp>
      <p:sp>
        <p:nvSpPr>
          <p:cNvPr id="3" name="Text 0"/>
          <p:cNvSpPr/>
          <p:nvPr>
            <p:ph idx="103" type="title" hasCustomPrompt="1"/>
          </p:nvPr>
        </p:nvSpPr>
        <p:spPr>
          <a:xfrm>
            <a:off x="731520" y="2103120"/>
            <a:ext cx="7863840" cy="1828800"/>
          </a:xfrm>
          <a:prstGeom prst="rect">
            <a:avLst/>
          </a:prstGeom>
          <a:noFill/>
          <a:ln/>
        </p:spPr>
        <p:txBody>
          <a:bodyPr wrap="square" lIns="0" tIns="0" rIns="0" bIns="0" rtlCol="0" anchor="t"/>
          <a:lstStyle/>
          <a:p>
            <a:pPr algn="l" indent="0" marL="0">
              <a:buNone/>
            </a:pPr>
            <a:r>
              <a:rPr lang="en-US" sz="4200" b="1" dirty="0">
                <a:solidFill>
                  <a:srgbClr val="FFFFFF"/>
                </a:solidFill>
                <a:latin typeface="Cambria" pitchFamily="34" charset="0"/>
                <a:ea typeface="Cambria" pitchFamily="34" charset="-122"/>
                <a:cs typeface="Cambria" pitchFamily="34" charset="-120"/>
              </a:rPr>
              <a:t>Types of Data</a:t>
            </a:r>
            <a:endParaRPr lang="en-US" sz="4200" dirty="0"/>
          </a:p>
        </p:txBody>
      </p:sp>
      <p:sp>
        <p:nvSpPr>
          <p:cNvPr id="4" name="Text 0"/>
          <p:cNvSpPr/>
          <p:nvPr>
            <p:ph idx="104" type="body" hasCustomPrompt="1"/>
          </p:nvPr>
        </p:nvSpPr>
        <p:spPr>
          <a:xfrm>
            <a:off x="731520" y="4114800"/>
            <a:ext cx="7680960" cy="914400"/>
          </a:xfrm>
          <a:prstGeom prst="rect">
            <a:avLst/>
          </a:prstGeom>
          <a:noFill/>
          <a:ln/>
        </p:spPr>
        <p:txBody>
          <a:bodyPr wrap="square" lIns="0" tIns="0" rIns="0" bIns="0" rtlCol="0" anchor="t"/>
          <a:lstStyle/>
          <a:p>
            <a:pPr algn="l" indent="0" marL="0">
              <a:buNone/>
            </a:pPr>
            <a:r>
              <a:rPr lang="en-US" sz="2000" dirty="0">
                <a:solidFill>
                  <a:srgbClr val="C9D6E6"/>
                </a:solidFill>
                <a:latin typeface="Calibri" pitchFamily="34" charset="0"/>
                <a:ea typeface="Calibri" pitchFamily="34" charset="-122"/>
                <a:cs typeface="Calibri" pitchFamily="34" charset="-120"/>
              </a:rPr>
              <a:t>Introduction to Data Analysis</a:t>
            </a:r>
            <a:endParaRPr lang="en-US" sz="2000" dirty="0"/>
          </a:p>
          <a:p>
            <a:pPr algn="l" indent="0" marL="0">
              <a:buNone/>
            </a:pPr>
            <a:r>
              <a:rPr lang="en-US" sz="2000" dirty="0">
                <a:solidFill>
                  <a:srgbClr val="C9D6E6"/>
                </a:solidFill>
                <a:latin typeface="Calibri" pitchFamily="34" charset="0"/>
                <a:ea typeface="Calibri" pitchFamily="34" charset="-122"/>
                <a:cs typeface="Calibri" pitchFamily="34" charset="-120"/>
              </a:rPr>
              <a:t>Business Management Tools I (AE25UCBM001)  ·  SAGE University, Bhopal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you will learn</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Distinguish </a:t>
            </a:r>
            <a:pPr indent="0" marL="0">
              <a:buNone/>
            </a:pPr>
            <a:r>
              <a:rPr lang="en-US" sz="2400" dirty="0">
                <a:solidFill>
                  <a:srgbClr val="2B3A4F"/>
                </a:solidFill>
                <a:latin typeface="Calibri" pitchFamily="34" charset="0"/>
                <a:ea typeface="Calibri" pitchFamily="34" charset="-122"/>
                <a:cs typeface="Calibri" pitchFamily="34" charset="-120"/>
              </a:rPr>
              <a:t>quantitative (numeric) data from qualitative (descriptive) data.</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Separate </a:t>
            </a:r>
            <a:pPr indent="0" marL="0">
              <a:buNone/>
            </a:pPr>
            <a:r>
              <a:rPr lang="en-US" sz="2400" dirty="0">
                <a:solidFill>
                  <a:srgbClr val="2B3A4F"/>
                </a:solidFill>
                <a:latin typeface="Calibri" pitchFamily="34" charset="0"/>
                <a:ea typeface="Calibri" pitchFamily="34" charset="-122"/>
                <a:cs typeface="Calibri" pitchFamily="34" charset="-120"/>
              </a:rPr>
              <a:t>discrete data (counts) from continuous data (measurements).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Compare </a:t>
            </a:r>
            <a:pPr indent="0" marL="0">
              <a:buNone/>
            </a:pPr>
            <a:r>
              <a:rPr lang="en-US" sz="2400" dirty="0">
                <a:solidFill>
                  <a:srgbClr val="2B3A4F"/>
                </a:solidFill>
                <a:latin typeface="Calibri" pitchFamily="34" charset="0"/>
                <a:ea typeface="Calibri" pitchFamily="34" charset="-122"/>
                <a:cs typeface="Calibri" pitchFamily="34" charset="-120"/>
              </a:rPr>
              <a:t>structured data in tables with unstructured data like text and images.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Classify </a:t>
            </a:r>
            <a:pPr indent="0" marL="0">
              <a:buNone/>
            </a:pPr>
            <a:r>
              <a:rPr lang="en-US" sz="2400" dirty="0">
                <a:solidFill>
                  <a:srgbClr val="2B3A4F"/>
                </a:solidFill>
                <a:latin typeface="Calibri" pitchFamily="34" charset="0"/>
                <a:ea typeface="Calibri" pitchFamily="34" charset="-122"/>
                <a:cs typeface="Calibri" pitchFamily="34" charset="-120"/>
              </a:rPr>
              <a:t>the fields of a real business record by type.</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Avoid </a:t>
            </a:r>
            <a:pPr indent="0" marL="0">
              <a:buNone/>
            </a:pPr>
            <a:r>
              <a:rPr lang="en-US" sz="2400" dirty="0">
                <a:solidFill>
                  <a:srgbClr val="2B3A4F"/>
                </a:solidFill>
                <a:latin typeface="Calibri" pitchFamily="34" charset="0"/>
                <a:ea typeface="Calibri" pitchFamily="34" charset="-122"/>
                <a:cs typeface="Calibri" pitchFamily="34" charset="-120"/>
              </a:rPr>
              <a:t>mistakes such as treating a phone number as quantitative.</a:t>
            </a:r>
            <a:endParaRPr lang="en-US" sz="2400" dirty="0"/>
          </a:p>
        </p:txBody>
      </p:sp>
      <p:sp>
        <p:nvSpPr>
          <p:cNvPr id="4" name="Shape 2"/>
          <p:cNvSpPr/>
          <p:nvPr/>
        </p:nvSpPr>
        <p:spPr>
          <a:xfrm>
            <a:off x="7680960" y="1417320"/>
            <a:ext cx="3959352" cy="4846320"/>
          </a:xfrm>
          <a:prstGeom prst="roundRect">
            <a:avLst>
              <a:gd name="adj" fmla="val 2771"/>
            </a:avLst>
          </a:prstGeom>
          <a:solidFill>
            <a:srgbClr val="DDF0F0"/>
          </a:solidFill>
          <a:ln w="12700">
            <a:solidFill>
              <a:srgbClr val="DDF0F0"/>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BIG IDEA</a:t>
            </a:r>
            <a:endParaRPr lang="en-US" sz="1200" dirty="0"/>
          </a:p>
        </p:txBody>
      </p:sp>
      <p:sp>
        <p:nvSpPr>
          <p:cNvPr id="6" name="Text 4"/>
          <p:cNvSpPr txBox="1"/>
          <p:nvPr/>
        </p:nvSpPr>
        <p:spPr>
          <a:xfrm>
            <a:off x="7955280" y="2148840"/>
            <a:ext cx="3410712" cy="914400"/>
          </a:xfrm>
          <a:prstGeom prst="rect">
            <a:avLst/>
          </a:prstGeom>
          <a:noFill/>
          <a:ln/>
        </p:spPr>
        <p:txBody>
          <a:bodyPr wrap="square" lIns="0" tIns="0" rIns="0" bIns="0" rtlCol="0" anchor="ctr"/>
          <a:lstStyle/>
          <a:p>
            <a:pPr indent="0" marL="0">
              <a:buNone/>
            </a:pPr>
            <a:r>
              <a:rPr lang="en-US" sz="4800" b="1" dirty="0">
                <a:solidFill>
                  <a:srgbClr val="14213D"/>
                </a:solidFill>
                <a:latin typeface="Cambria" pitchFamily="34" charset="0"/>
                <a:ea typeface="Cambria" pitchFamily="34" charset="-122"/>
                <a:cs typeface="Cambria" pitchFamily="34" charset="-120"/>
              </a:rPr>
              <a:t>3</a:t>
            </a:r>
            <a:endParaRPr lang="en-US" sz="4800" dirty="0"/>
          </a:p>
        </p:txBody>
      </p:sp>
      <p:sp>
        <p:nvSpPr>
          <p:cNvPr id="7" name="Text 5"/>
          <p:cNvSpPr txBox="1"/>
          <p:nvPr/>
        </p:nvSpPr>
        <p:spPr>
          <a:xfrm>
            <a:off x="7955280" y="3154680"/>
            <a:ext cx="3410712" cy="283464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questions classify any field: is it a number, can it take any value, and does it fit in a table?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Why classify data by type?</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The type decides </a:t>
            </a:r>
            <a:pPr indent="0" marL="0">
              <a:buNone/>
            </a:pPr>
            <a:r>
              <a:rPr lang="en-US" sz="2400" dirty="0">
                <a:solidFill>
                  <a:srgbClr val="2B3A4F"/>
                </a:solidFill>
                <a:latin typeface="Calibri" pitchFamily="34" charset="0"/>
                <a:ea typeface="Calibri" pitchFamily="34" charset="-122"/>
                <a:cs typeface="Calibri" pitchFamily="34" charset="-120"/>
              </a:rPr>
              <a:t>which calculations make sense. You can average bills but not names.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The type decides </a:t>
            </a:r>
            <a:pPr indent="0" marL="0">
              <a:buNone/>
            </a:pPr>
            <a:r>
              <a:rPr lang="en-US" sz="2400" dirty="0">
                <a:solidFill>
                  <a:srgbClr val="2B3A4F"/>
                </a:solidFill>
                <a:latin typeface="Calibri" pitchFamily="34" charset="0"/>
                <a:ea typeface="Calibri" pitchFamily="34" charset="-122"/>
                <a:cs typeface="Calibri" pitchFamily="34" charset="-120"/>
              </a:rPr>
              <a:t>which chart fits: bars for categories, histograms for measurements.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The type decides </a:t>
            </a:r>
            <a:pPr indent="0" marL="0">
              <a:buNone/>
            </a:pPr>
            <a:r>
              <a:rPr lang="en-US" sz="2400" dirty="0">
                <a:solidFill>
                  <a:srgbClr val="2B3A4F"/>
                </a:solidFill>
                <a:latin typeface="Calibri" pitchFamily="34" charset="0"/>
                <a:ea typeface="Calibri" pitchFamily="34" charset="-122"/>
                <a:cs typeface="Calibri" pitchFamily="34" charset="-120"/>
              </a:rPr>
              <a:t>how data is stored: a spreadsheet column or a folder of files.</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Wrong type, wrong result: </a:t>
            </a:r>
            <a:pPr indent="0" marL="0">
              <a:buNone/>
            </a:pPr>
            <a:r>
              <a:rPr lang="en-US" sz="2400" dirty="0">
                <a:solidFill>
                  <a:srgbClr val="2B3A4F"/>
                </a:solidFill>
                <a:latin typeface="Calibri" pitchFamily="34" charset="0"/>
                <a:ea typeface="Calibri" pitchFamily="34" charset="-122"/>
                <a:cs typeface="Calibri" pitchFamily="34" charset="-120"/>
              </a:rPr>
              <a:t>Excel will treat a text-formatted number as a label, so SUM returns 0.</a:t>
            </a:r>
            <a:endParaRPr lang="en-US" sz="2400" dirty="0"/>
          </a:p>
        </p:txBody>
      </p:sp>
      <p:sp>
        <p:nvSpPr>
          <p:cNvPr id="4" name="Shape 2"/>
          <p:cNvSpPr/>
          <p:nvPr/>
        </p:nvSpPr>
        <p:spPr>
          <a:xfrm>
            <a:off x="7680960" y="1417320"/>
            <a:ext cx="3959352" cy="4846320"/>
          </a:xfrm>
          <a:prstGeom prst="roundRect">
            <a:avLst>
              <a:gd name="adj" fmla="val 2771"/>
            </a:avLst>
          </a:prstGeom>
          <a:solidFill>
            <a:srgbClr val="FDEBD6"/>
          </a:solidFill>
          <a:ln w="12700">
            <a:solidFill>
              <a:srgbClr val="FDEBD6"/>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EXAMPLE</a:t>
            </a:r>
            <a:endParaRPr lang="en-US" sz="1200" dirty="0"/>
          </a:p>
        </p:txBody>
      </p:sp>
      <p:sp>
        <p:nvSpPr>
          <p:cNvPr id="6" name="Text 4"/>
          <p:cNvSpPr txBox="1"/>
          <p:nvPr/>
        </p:nvSpPr>
        <p:spPr>
          <a:xfrm>
            <a:off x="7955280" y="2148840"/>
            <a:ext cx="3410712" cy="384048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Amounts typed as "₹450" with the symbol as text give =SUM() = 0. The cells look like numbers but are text.</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Quantitative and qualitative data</a:t>
            </a:r>
            <a:endParaRPr lang="en-US" sz="2800" dirty="0"/>
          </a:p>
        </p:txBody>
      </p:sp>
      <p:sp>
        <p:nvSpPr>
          <p:cNvPr id="3" name="Shape 1"/>
          <p:cNvSpPr/>
          <p:nvPr/>
        </p:nvSpPr>
        <p:spPr>
          <a:xfrm>
            <a:off x="548640" y="1417320"/>
            <a:ext cx="5385816" cy="3886200"/>
          </a:xfrm>
          <a:prstGeom prst="roundRect">
            <a:avLst>
              <a:gd name="adj" fmla="val 2824"/>
            </a:avLst>
          </a:prstGeom>
          <a:solidFill>
            <a:srgbClr val="EEF3F6"/>
          </a:solidFill>
          <a:ln w="12700">
            <a:solidFill>
              <a:srgbClr val="EEF3F6"/>
            </a:solidFill>
            <a:prstDash val="solid"/>
          </a:ln>
        </p:spPr>
      </p:sp>
      <p:sp>
        <p:nvSpPr>
          <p:cNvPr id="4" name="Shape 2"/>
          <p:cNvSpPr/>
          <p:nvPr/>
        </p:nvSpPr>
        <p:spPr>
          <a:xfrm>
            <a:off x="548640" y="1417320"/>
            <a:ext cx="5385816" cy="640080"/>
          </a:xfrm>
          <a:prstGeom prst="roundRect">
            <a:avLst>
              <a:gd name="adj" fmla="val 17143"/>
            </a:avLst>
          </a:prstGeom>
          <a:solidFill>
            <a:srgbClr val="0F8B8D"/>
          </a:solidFill>
          <a:ln w="12700">
            <a:solidFill>
              <a:srgbClr val="0F8B8D"/>
            </a:solidFill>
            <a:prstDash val="solid"/>
          </a:ln>
        </p:spPr>
      </p:sp>
      <p:sp>
        <p:nvSpPr>
          <p:cNvPr id="5" name="Text 3"/>
          <p:cNvSpPr txBox="1"/>
          <p:nvPr/>
        </p:nvSpPr>
        <p:spPr>
          <a:xfrm>
            <a:off x="822960"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Quantitative: numbers</a:t>
            </a:r>
            <a:endParaRPr lang="en-US" sz="2000" dirty="0"/>
          </a:p>
        </p:txBody>
      </p:sp>
      <p:sp>
        <p:nvSpPr>
          <p:cNvPr id="6" name="Text 4"/>
          <p:cNvSpPr txBox="1"/>
          <p:nvPr/>
        </p:nvSpPr>
        <p:spPr>
          <a:xfrm>
            <a:off x="822960"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Measures how much or how many.</a:t>
            </a:r>
            <a:endParaRPr lang="en-US" sz="2200" dirty="0"/>
          </a:p>
          <a:p>
            <a:pPr marL="228600" indent="-228600">
              <a:spcAft>
                <a:spcPts val="800"/>
              </a:spcAft>
              <a:buSzPct val="100000"/>
              <a:buChar char="•"/>
            </a:pPr>
            <a:r>
              <a:rPr lang="en-US" sz="2200" b="1" dirty="0">
                <a:solidFill>
                  <a:srgbClr val="14213D"/>
                </a:solidFill>
                <a:latin typeface="Calibri" pitchFamily="34" charset="0"/>
                <a:ea typeface="Calibri" pitchFamily="34" charset="-122"/>
                <a:cs typeface="Calibri" pitchFamily="34" charset="-120"/>
              </a:rPr>
              <a:t>Examples: </a:t>
            </a:r>
            <a:pPr indent="0" marL="0">
              <a:buNone/>
            </a:pPr>
            <a:r>
              <a:rPr lang="en-US" sz="2200" dirty="0">
                <a:solidFill>
                  <a:srgbClr val="2B3A4F"/>
                </a:solidFill>
                <a:latin typeface="Calibri" pitchFamily="34" charset="0"/>
                <a:ea typeface="Calibri" pitchFamily="34" charset="-122"/>
                <a:cs typeface="Calibri" pitchFamily="34" charset="-120"/>
              </a:rPr>
              <a:t>bill amount, quantity, age, waiting time.</a:t>
            </a:r>
            <a:endParaRPr lang="en-US" sz="2200" dirty="0"/>
          </a:p>
          <a:p>
            <a:pPr marL="228600" indent="-228600">
              <a:spcAft>
                <a:spcPts val="800"/>
              </a:spcAft>
              <a:buSzPct val="100000"/>
              <a:buChar char="•"/>
            </a:pPr>
            <a:r>
              <a:rPr lang="en-US" sz="2200" b="1" dirty="0">
                <a:solidFill>
                  <a:srgbClr val="14213D"/>
                </a:solidFill>
                <a:latin typeface="Calibri" pitchFamily="34" charset="0"/>
                <a:ea typeface="Calibri" pitchFamily="34" charset="-122"/>
                <a:cs typeface="Calibri" pitchFamily="34" charset="-120"/>
              </a:rPr>
              <a:t>Valid: </a:t>
            </a:r>
            <a:pPr indent="0" marL="0">
              <a:buNone/>
            </a:pPr>
            <a:r>
              <a:rPr lang="en-US" sz="2200" dirty="0">
                <a:solidFill>
                  <a:srgbClr val="2B3A4F"/>
                </a:solidFill>
                <a:latin typeface="Calibri" pitchFamily="34" charset="0"/>
                <a:ea typeface="Calibri" pitchFamily="34" charset="-122"/>
                <a:cs typeface="Calibri" pitchFamily="34" charset="-120"/>
              </a:rPr>
              <a:t>sum, average, minimum, maximum.</a:t>
            </a:r>
            <a:endParaRPr lang="en-US" sz="2200" dirty="0"/>
          </a:p>
          <a:p>
            <a:pPr marL="228600" indent="-228600">
              <a:buSzPct val="100000"/>
              <a:buChar char="•"/>
            </a:pPr>
            <a:r>
              <a:rPr lang="en-US" sz="2200" b="1" dirty="0">
                <a:solidFill>
                  <a:srgbClr val="14213D"/>
                </a:solidFill>
                <a:latin typeface="Calibri" pitchFamily="34" charset="0"/>
                <a:ea typeface="Calibri" pitchFamily="34" charset="-122"/>
                <a:cs typeface="Calibri" pitchFamily="34" charset="-120"/>
              </a:rPr>
              <a:t>Charts: </a:t>
            </a:r>
            <a:pPr indent="0" marL="0">
              <a:buNone/>
            </a:pPr>
            <a:r>
              <a:rPr lang="en-US" sz="2200" dirty="0">
                <a:solidFill>
                  <a:srgbClr val="2B3A4F"/>
                </a:solidFill>
                <a:latin typeface="Calibri" pitchFamily="34" charset="0"/>
                <a:ea typeface="Calibri" pitchFamily="34" charset="-122"/>
                <a:cs typeface="Calibri" pitchFamily="34" charset="-120"/>
              </a:rPr>
              <a:t>histogram, line, scatter.</a:t>
            </a:r>
            <a:endParaRPr lang="en-US" sz="2200" dirty="0"/>
          </a:p>
        </p:txBody>
      </p:sp>
      <p:sp>
        <p:nvSpPr>
          <p:cNvPr id="7" name="Shape 5"/>
          <p:cNvSpPr/>
          <p:nvPr/>
        </p:nvSpPr>
        <p:spPr>
          <a:xfrm>
            <a:off x="6254496" y="1417320"/>
            <a:ext cx="5385816" cy="3886200"/>
          </a:xfrm>
          <a:prstGeom prst="roundRect">
            <a:avLst>
              <a:gd name="adj" fmla="val 2824"/>
            </a:avLst>
          </a:prstGeom>
          <a:solidFill>
            <a:srgbClr val="EEF3F6"/>
          </a:solidFill>
          <a:ln w="12700">
            <a:solidFill>
              <a:srgbClr val="EEF3F6"/>
            </a:solidFill>
            <a:prstDash val="solid"/>
          </a:ln>
        </p:spPr>
      </p:sp>
      <p:sp>
        <p:nvSpPr>
          <p:cNvPr id="8" name="Shape 6"/>
          <p:cNvSpPr/>
          <p:nvPr/>
        </p:nvSpPr>
        <p:spPr>
          <a:xfrm>
            <a:off x="6254496" y="1417320"/>
            <a:ext cx="5385816" cy="640080"/>
          </a:xfrm>
          <a:prstGeom prst="roundRect">
            <a:avLst>
              <a:gd name="adj" fmla="val 17143"/>
            </a:avLst>
          </a:prstGeom>
          <a:solidFill>
            <a:srgbClr val="3A5BA0"/>
          </a:solidFill>
          <a:ln w="12700">
            <a:solidFill>
              <a:srgbClr val="3A5BA0"/>
            </a:solidFill>
            <a:prstDash val="solid"/>
          </a:ln>
        </p:spPr>
      </p:sp>
      <p:sp>
        <p:nvSpPr>
          <p:cNvPr id="9" name="Text 7"/>
          <p:cNvSpPr txBox="1"/>
          <p:nvPr/>
        </p:nvSpPr>
        <p:spPr>
          <a:xfrm>
            <a:off x="6528816"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Qualitative: descriptions</a:t>
            </a:r>
            <a:endParaRPr lang="en-US" sz="2000" dirty="0"/>
          </a:p>
        </p:txBody>
      </p:sp>
      <p:sp>
        <p:nvSpPr>
          <p:cNvPr id="10" name="Text 8"/>
          <p:cNvSpPr txBox="1"/>
          <p:nvPr/>
        </p:nvSpPr>
        <p:spPr>
          <a:xfrm>
            <a:off x="6528816"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Describes quality, kind or opinion.</a:t>
            </a:r>
            <a:endParaRPr lang="en-US" sz="2200" dirty="0"/>
          </a:p>
          <a:p>
            <a:pPr marL="228600" indent="-228600">
              <a:spcAft>
                <a:spcPts val="800"/>
              </a:spcAft>
              <a:buSzPct val="100000"/>
              <a:buChar char="•"/>
            </a:pPr>
            <a:r>
              <a:rPr lang="en-US" sz="2200" b="1" dirty="0">
                <a:solidFill>
                  <a:srgbClr val="14213D"/>
                </a:solidFill>
                <a:latin typeface="Calibri" pitchFamily="34" charset="0"/>
                <a:ea typeface="Calibri" pitchFamily="34" charset="-122"/>
                <a:cs typeface="Calibri" pitchFamily="34" charset="-120"/>
              </a:rPr>
              <a:t>Examples: </a:t>
            </a:r>
            <a:pPr indent="0" marL="0">
              <a:buNone/>
            </a:pPr>
            <a:r>
              <a:rPr lang="en-US" sz="2200" dirty="0">
                <a:solidFill>
                  <a:srgbClr val="2B3A4F"/>
                </a:solidFill>
                <a:latin typeface="Calibri" pitchFamily="34" charset="0"/>
                <a:ea typeface="Calibri" pitchFamily="34" charset="-122"/>
                <a:cs typeface="Calibri" pitchFamily="34" charset="-120"/>
              </a:rPr>
              <a:t>city, payment mode, feedback text, colour.</a:t>
            </a:r>
            <a:endParaRPr lang="en-US" sz="2200" dirty="0"/>
          </a:p>
          <a:p>
            <a:pPr marL="228600" indent="-228600">
              <a:spcAft>
                <a:spcPts val="800"/>
              </a:spcAft>
              <a:buSzPct val="100000"/>
              <a:buChar char="•"/>
            </a:pPr>
            <a:r>
              <a:rPr lang="en-US" sz="2200" b="1" dirty="0">
                <a:solidFill>
                  <a:srgbClr val="14213D"/>
                </a:solidFill>
                <a:latin typeface="Calibri" pitchFamily="34" charset="0"/>
                <a:ea typeface="Calibri" pitchFamily="34" charset="-122"/>
                <a:cs typeface="Calibri" pitchFamily="34" charset="-120"/>
              </a:rPr>
              <a:t>Valid: </a:t>
            </a:r>
            <a:pPr indent="0" marL="0">
              <a:buNone/>
            </a:pPr>
            <a:r>
              <a:rPr lang="en-US" sz="2200" dirty="0">
                <a:solidFill>
                  <a:srgbClr val="2B3A4F"/>
                </a:solidFill>
                <a:latin typeface="Calibri" pitchFamily="34" charset="0"/>
                <a:ea typeface="Calibri" pitchFamily="34" charset="-122"/>
                <a:cs typeface="Calibri" pitchFamily="34" charset="-120"/>
              </a:rPr>
              <a:t>count, percentage, mode.</a:t>
            </a:r>
            <a:endParaRPr lang="en-US" sz="2200" dirty="0"/>
          </a:p>
          <a:p>
            <a:pPr marL="228600" indent="-228600">
              <a:buSzPct val="100000"/>
              <a:buChar char="•"/>
            </a:pPr>
            <a:r>
              <a:rPr lang="en-US" sz="2200" b="1" dirty="0">
                <a:solidFill>
                  <a:srgbClr val="14213D"/>
                </a:solidFill>
                <a:latin typeface="Calibri" pitchFamily="34" charset="0"/>
                <a:ea typeface="Calibri" pitchFamily="34" charset="-122"/>
                <a:cs typeface="Calibri" pitchFamily="34" charset="-120"/>
              </a:rPr>
              <a:t>Charts: </a:t>
            </a:r>
            <a:pPr indent="0" marL="0">
              <a:buNone/>
            </a:pPr>
            <a:r>
              <a:rPr lang="en-US" sz="2200" dirty="0">
                <a:solidFill>
                  <a:srgbClr val="2B3A4F"/>
                </a:solidFill>
                <a:latin typeface="Calibri" pitchFamily="34" charset="0"/>
                <a:ea typeface="Calibri" pitchFamily="34" charset="-122"/>
                <a:cs typeface="Calibri" pitchFamily="34" charset="-120"/>
              </a:rPr>
              <a:t>bar chart, pie chart.</a:t>
            </a:r>
            <a:endParaRPr lang="en-US" sz="2200" dirty="0"/>
          </a:p>
        </p:txBody>
      </p:sp>
      <p:sp>
        <p:nvSpPr>
          <p:cNvPr id="11" name="Shape 9"/>
          <p:cNvSpPr/>
          <p:nvPr/>
        </p:nvSpPr>
        <p:spPr>
          <a:xfrm>
            <a:off x="548640" y="5532120"/>
            <a:ext cx="11091672" cy="731520"/>
          </a:xfrm>
          <a:prstGeom prst="roundRect">
            <a:avLst>
              <a:gd name="adj" fmla="val 15000"/>
            </a:avLst>
          </a:prstGeom>
          <a:solidFill>
            <a:srgbClr val="FDEBD6"/>
          </a:solidFill>
          <a:ln w="12700">
            <a:solidFill>
              <a:srgbClr val="FDEBD6"/>
            </a:solidFill>
            <a:prstDash val="solid"/>
          </a:ln>
        </p:spPr>
      </p:sp>
      <p:sp>
        <p:nvSpPr>
          <p:cNvPr id="12" name="Text 10"/>
          <p:cNvSpPr txBox="1"/>
          <p:nvPr/>
        </p:nvSpPr>
        <p:spPr>
          <a:xfrm>
            <a:off x="822960" y="5532120"/>
            <a:ext cx="10543032" cy="73152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Test: can you do meaningful arithmetic on it? Yes: quantitative. No, only count it: qualitative.</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Discrete and continuous data</a:t>
            </a:r>
            <a:endParaRPr lang="en-US" sz="2800" dirty="0"/>
          </a:p>
        </p:txBody>
      </p:sp>
      <p:sp>
        <p:nvSpPr>
          <p:cNvPr id="3" name="Shape 1"/>
          <p:cNvSpPr/>
          <p:nvPr/>
        </p:nvSpPr>
        <p:spPr>
          <a:xfrm>
            <a:off x="548640" y="1417320"/>
            <a:ext cx="5385816" cy="3886200"/>
          </a:xfrm>
          <a:prstGeom prst="roundRect">
            <a:avLst>
              <a:gd name="adj" fmla="val 2824"/>
            </a:avLst>
          </a:prstGeom>
          <a:solidFill>
            <a:srgbClr val="EEF3F6"/>
          </a:solidFill>
          <a:ln w="12700">
            <a:solidFill>
              <a:srgbClr val="EEF3F6"/>
            </a:solidFill>
            <a:prstDash val="solid"/>
          </a:ln>
        </p:spPr>
      </p:sp>
      <p:sp>
        <p:nvSpPr>
          <p:cNvPr id="4" name="Shape 2"/>
          <p:cNvSpPr/>
          <p:nvPr/>
        </p:nvSpPr>
        <p:spPr>
          <a:xfrm>
            <a:off x="548640" y="1417320"/>
            <a:ext cx="5385816" cy="640080"/>
          </a:xfrm>
          <a:prstGeom prst="roundRect">
            <a:avLst>
              <a:gd name="adj" fmla="val 17143"/>
            </a:avLst>
          </a:prstGeom>
          <a:solidFill>
            <a:srgbClr val="0F8B8D"/>
          </a:solidFill>
          <a:ln w="12700">
            <a:solidFill>
              <a:srgbClr val="0F8B8D"/>
            </a:solidFill>
            <a:prstDash val="solid"/>
          </a:ln>
        </p:spPr>
      </p:sp>
      <p:sp>
        <p:nvSpPr>
          <p:cNvPr id="5" name="Text 3"/>
          <p:cNvSpPr txBox="1"/>
          <p:nvPr/>
        </p:nvSpPr>
        <p:spPr>
          <a:xfrm>
            <a:off x="822960"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Discrete: countable values</a:t>
            </a:r>
            <a:endParaRPr lang="en-US" sz="2000" dirty="0"/>
          </a:p>
        </p:txBody>
      </p:sp>
      <p:sp>
        <p:nvSpPr>
          <p:cNvPr id="6" name="Text 4"/>
          <p:cNvSpPr txBox="1"/>
          <p:nvPr/>
        </p:nvSpPr>
        <p:spPr>
          <a:xfrm>
            <a:off x="822960"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Takes separate values, usually whole numbers.</a:t>
            </a:r>
            <a:endParaRPr lang="en-US" sz="2100" dirty="0"/>
          </a:p>
          <a:p>
            <a:pPr marL="228600" indent="-228600">
              <a:spcAft>
                <a:spcPts val="800"/>
              </a:spcAft>
              <a:buSzPct val="100000"/>
              <a:buChar char="•"/>
            </a:pPr>
            <a:r>
              <a:rPr lang="en-US" sz="2100" b="1" dirty="0">
                <a:solidFill>
                  <a:srgbClr val="14213D"/>
                </a:solidFill>
                <a:latin typeface="Calibri" pitchFamily="34" charset="0"/>
                <a:ea typeface="Calibri" pitchFamily="34" charset="-122"/>
                <a:cs typeface="Calibri" pitchFamily="34" charset="-120"/>
              </a:rPr>
              <a:t>Examples: </a:t>
            </a:r>
            <a:pPr indent="0" marL="0">
              <a:buNone/>
            </a:pPr>
            <a:r>
              <a:rPr lang="en-US" sz="2100" dirty="0">
                <a:solidFill>
                  <a:srgbClr val="2B3A4F"/>
                </a:solidFill>
                <a:latin typeface="Calibri" pitchFamily="34" charset="0"/>
                <a:ea typeface="Calibri" pitchFamily="34" charset="-122"/>
                <a:cs typeface="Calibri" pitchFamily="34" charset="-120"/>
              </a:rPr>
              <a:t>items per order, students in class, complaints.</a:t>
            </a:r>
            <a:endParaRPr lang="en-US" sz="2100" dirty="0"/>
          </a:p>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There is nothing between 2 and 3 items.</a:t>
            </a:r>
            <a:endParaRPr lang="en-US" sz="2100" dirty="0"/>
          </a:p>
          <a:p>
            <a:pPr marL="228600" indent="-228600">
              <a:buSzPct val="100000"/>
              <a:buChar char="•"/>
            </a:pPr>
            <a:r>
              <a:rPr lang="en-US" sz="2100" b="1" dirty="0">
                <a:solidFill>
                  <a:srgbClr val="14213D"/>
                </a:solidFill>
                <a:latin typeface="Calibri" pitchFamily="34" charset="0"/>
                <a:ea typeface="Calibri" pitchFamily="34" charset="-122"/>
                <a:cs typeface="Calibri" pitchFamily="34" charset="-120"/>
              </a:rPr>
              <a:t>Test: </a:t>
            </a:r>
            <a:pPr indent="0" marL="0">
              <a:buNone/>
            </a:pPr>
            <a:r>
              <a:rPr lang="en-US" sz="2100" dirty="0">
                <a:solidFill>
                  <a:srgbClr val="2B3A4F"/>
                </a:solidFill>
                <a:latin typeface="Calibri" pitchFamily="34" charset="0"/>
                <a:ea typeface="Calibri" pitchFamily="34" charset="-122"/>
                <a:cs typeface="Calibri" pitchFamily="34" charset="-120"/>
              </a:rPr>
              <a:t>can you count it? Then discrete.</a:t>
            </a:r>
            <a:endParaRPr lang="en-US" sz="2100" dirty="0"/>
          </a:p>
        </p:txBody>
      </p:sp>
      <p:sp>
        <p:nvSpPr>
          <p:cNvPr id="7" name="Shape 5"/>
          <p:cNvSpPr/>
          <p:nvPr/>
        </p:nvSpPr>
        <p:spPr>
          <a:xfrm>
            <a:off x="6254496" y="1417320"/>
            <a:ext cx="5385816" cy="3886200"/>
          </a:xfrm>
          <a:prstGeom prst="roundRect">
            <a:avLst>
              <a:gd name="adj" fmla="val 2824"/>
            </a:avLst>
          </a:prstGeom>
          <a:solidFill>
            <a:srgbClr val="EEF3F6"/>
          </a:solidFill>
          <a:ln w="12700">
            <a:solidFill>
              <a:srgbClr val="EEF3F6"/>
            </a:solidFill>
            <a:prstDash val="solid"/>
          </a:ln>
        </p:spPr>
      </p:sp>
      <p:sp>
        <p:nvSpPr>
          <p:cNvPr id="8" name="Shape 6"/>
          <p:cNvSpPr/>
          <p:nvPr/>
        </p:nvSpPr>
        <p:spPr>
          <a:xfrm>
            <a:off x="6254496" y="1417320"/>
            <a:ext cx="5385816" cy="640080"/>
          </a:xfrm>
          <a:prstGeom prst="roundRect">
            <a:avLst>
              <a:gd name="adj" fmla="val 17143"/>
            </a:avLst>
          </a:prstGeom>
          <a:solidFill>
            <a:srgbClr val="3A5BA0"/>
          </a:solidFill>
          <a:ln w="12700">
            <a:solidFill>
              <a:srgbClr val="3A5BA0"/>
            </a:solidFill>
            <a:prstDash val="solid"/>
          </a:ln>
        </p:spPr>
      </p:sp>
      <p:sp>
        <p:nvSpPr>
          <p:cNvPr id="9" name="Text 7"/>
          <p:cNvSpPr txBox="1"/>
          <p:nvPr/>
        </p:nvSpPr>
        <p:spPr>
          <a:xfrm>
            <a:off x="6528816"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Continuous: measurable values</a:t>
            </a:r>
            <a:endParaRPr lang="en-US" sz="2000" dirty="0"/>
          </a:p>
        </p:txBody>
      </p:sp>
      <p:sp>
        <p:nvSpPr>
          <p:cNvPr id="10" name="Text 8"/>
          <p:cNvSpPr txBox="1"/>
          <p:nvPr/>
        </p:nvSpPr>
        <p:spPr>
          <a:xfrm>
            <a:off x="6528816"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Can take any value in a range, including decimals.</a:t>
            </a:r>
            <a:endParaRPr lang="en-US" sz="2100" dirty="0"/>
          </a:p>
          <a:p>
            <a:pPr marL="228600" indent="-228600">
              <a:spcAft>
                <a:spcPts val="800"/>
              </a:spcAft>
              <a:buSzPct val="100000"/>
              <a:buChar char="•"/>
            </a:pPr>
            <a:r>
              <a:rPr lang="en-US" sz="2100" b="1" dirty="0">
                <a:solidFill>
                  <a:srgbClr val="14213D"/>
                </a:solidFill>
                <a:latin typeface="Calibri" pitchFamily="34" charset="0"/>
                <a:ea typeface="Calibri" pitchFamily="34" charset="-122"/>
                <a:cs typeface="Calibri" pitchFamily="34" charset="-120"/>
              </a:rPr>
              <a:t>Examples: </a:t>
            </a:r>
            <a:pPr indent="0" marL="0">
              <a:buNone/>
            </a:pPr>
            <a:r>
              <a:rPr lang="en-US" sz="2100" dirty="0">
                <a:solidFill>
                  <a:srgbClr val="2B3A4F"/>
                </a:solidFill>
                <a:latin typeface="Calibri" pitchFamily="34" charset="0"/>
                <a:ea typeface="Calibri" pitchFamily="34" charset="-122"/>
                <a:cs typeface="Calibri" pitchFamily="34" charset="-120"/>
              </a:rPr>
              <a:t>waiting time, weight, distance, temperature.</a:t>
            </a:r>
            <a:endParaRPr lang="en-US" sz="2100" dirty="0"/>
          </a:p>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Between 7 and 8 minutes lies 7.4, 7.43 and so on.</a:t>
            </a:r>
            <a:endParaRPr lang="en-US" sz="2100" dirty="0"/>
          </a:p>
          <a:p>
            <a:pPr marL="228600" indent="-228600">
              <a:buSzPct val="100000"/>
              <a:buChar char="•"/>
            </a:pPr>
            <a:r>
              <a:rPr lang="en-US" sz="2100" b="1" dirty="0">
                <a:solidFill>
                  <a:srgbClr val="14213D"/>
                </a:solidFill>
                <a:latin typeface="Calibri" pitchFamily="34" charset="0"/>
                <a:ea typeface="Calibri" pitchFamily="34" charset="-122"/>
                <a:cs typeface="Calibri" pitchFamily="34" charset="-120"/>
              </a:rPr>
              <a:t>Test: </a:t>
            </a:r>
            <a:pPr indent="0" marL="0">
              <a:buNone/>
            </a:pPr>
            <a:r>
              <a:rPr lang="en-US" sz="2100" dirty="0">
                <a:solidFill>
                  <a:srgbClr val="2B3A4F"/>
                </a:solidFill>
                <a:latin typeface="Calibri" pitchFamily="34" charset="0"/>
                <a:ea typeface="Calibri" pitchFamily="34" charset="-122"/>
                <a:cs typeface="Calibri" pitchFamily="34" charset="-120"/>
              </a:rPr>
              <a:t>do you measure it? Then continuous.</a:t>
            </a:r>
            <a:endParaRPr lang="en-US" sz="2100" dirty="0"/>
          </a:p>
        </p:txBody>
      </p:sp>
      <p:sp>
        <p:nvSpPr>
          <p:cNvPr id="11" name="Shape 9"/>
          <p:cNvSpPr/>
          <p:nvPr/>
        </p:nvSpPr>
        <p:spPr>
          <a:xfrm>
            <a:off x="548640" y="5532120"/>
            <a:ext cx="11091672" cy="731520"/>
          </a:xfrm>
          <a:prstGeom prst="roundRect">
            <a:avLst>
              <a:gd name="adj" fmla="val 15000"/>
            </a:avLst>
          </a:prstGeom>
          <a:solidFill>
            <a:srgbClr val="FDEBD6"/>
          </a:solidFill>
          <a:ln w="12700">
            <a:solidFill>
              <a:srgbClr val="FDEBD6"/>
            </a:solidFill>
            <a:prstDash val="solid"/>
          </a:ln>
        </p:spPr>
      </p:sp>
      <p:sp>
        <p:nvSpPr>
          <p:cNvPr id="12" name="Text 10"/>
          <p:cNvSpPr txBox="1"/>
          <p:nvPr/>
        </p:nvSpPr>
        <p:spPr>
          <a:xfrm>
            <a:off x="822960" y="5532120"/>
            <a:ext cx="10543032" cy="73152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Counting gives discrete data. Measuring gives continuous data. Both are quantitative.</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The data types at a glance</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416008"/>
                <a:gridCol w="2196371"/>
                <a:gridCol w="2196371"/>
                <a:gridCol w="2635645"/>
                <a:gridCol w="1647278"/>
              </a:tblGrid>
              <a:tr h="725424">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Field</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Example value</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Quantitative?</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Discrete or continuous</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Structured?</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r>
              <a:tr h="435864">
                <a:tc>
                  <a:txBody>
                    <a:bodyPr/>
                    <a:lstStyle/>
                    <a:p>
                      <a:pPr algn="l" indent="0" marL="0">
                        <a:buNone/>
                      </a:pPr>
                      <a:r>
                        <a:rPr lang="en-US" sz="1900" b="1" dirty="0">
                          <a:solidFill>
                            <a:srgbClr val="0B6E6E"/>
                          </a:solidFill>
                          <a:latin typeface="Calibri" pitchFamily="34" charset="0"/>
                          <a:ea typeface="Calibri" pitchFamily="34" charset="-122"/>
                          <a:cs typeface="Calibri" pitchFamily="34" charset="-120"/>
                        </a:rPr>
                        <a:t>Customer city</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Bhopal</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No (qualitative)</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Not applicable</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Yes</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35864">
                <a:tc>
                  <a:txBody>
                    <a:bodyPr/>
                    <a:lstStyle/>
                    <a:p>
                      <a:pPr algn="l" indent="0" marL="0">
                        <a:buNone/>
                      </a:pPr>
                      <a:r>
                        <a:rPr lang="en-US" sz="1900" b="1" dirty="0">
                          <a:solidFill>
                            <a:srgbClr val="0B6E6E"/>
                          </a:solidFill>
                          <a:latin typeface="Calibri" pitchFamily="34" charset="0"/>
                          <a:ea typeface="Calibri" pitchFamily="34" charset="-122"/>
                          <a:cs typeface="Calibri" pitchFamily="34" charset="-120"/>
                        </a:rPr>
                        <a:t>Items in order</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3</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Yes</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Discrete</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Yes</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435864">
                <a:tc>
                  <a:txBody>
                    <a:bodyPr/>
                    <a:lstStyle/>
                    <a:p>
                      <a:pPr algn="l" indent="0" marL="0">
                        <a:buNone/>
                      </a:pPr>
                      <a:r>
                        <a:rPr lang="en-US" sz="1900" b="1" dirty="0">
                          <a:solidFill>
                            <a:srgbClr val="0B6E6E"/>
                          </a:solidFill>
                          <a:latin typeface="Calibri" pitchFamily="34" charset="0"/>
                          <a:ea typeface="Calibri" pitchFamily="34" charset="-122"/>
                          <a:cs typeface="Calibri" pitchFamily="34" charset="-120"/>
                        </a:rPr>
                        <a:t>Waiting time (min)</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7.4</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Yes</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Continuous</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Yes</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725424">
                <a:tc>
                  <a:txBody>
                    <a:bodyPr/>
                    <a:lstStyle/>
                    <a:p>
                      <a:pPr algn="l" indent="0" marL="0">
                        <a:buNone/>
                      </a:pPr>
                      <a:r>
                        <a:rPr lang="en-US" sz="1900" b="1" dirty="0">
                          <a:solidFill>
                            <a:srgbClr val="0B6E6E"/>
                          </a:solidFill>
                          <a:latin typeface="Calibri" pitchFamily="34" charset="0"/>
                          <a:ea typeface="Calibri" pitchFamily="34" charset="-122"/>
                          <a:cs typeface="Calibri" pitchFamily="34" charset="-120"/>
                        </a:rPr>
                        <a:t>Bill amount (₹)</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465.50</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Yes</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Treated as continuous</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Yes</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725424">
                <a:tc>
                  <a:txBody>
                    <a:bodyPr/>
                    <a:lstStyle/>
                    <a:p>
                      <a:pPr algn="l" indent="0" marL="0">
                        <a:buNone/>
                      </a:pPr>
                      <a:r>
                        <a:rPr lang="en-US" sz="1900" b="1" dirty="0">
                          <a:solidFill>
                            <a:srgbClr val="0B6E6E"/>
                          </a:solidFill>
                          <a:latin typeface="Calibri" pitchFamily="34" charset="0"/>
                          <a:ea typeface="Calibri" pitchFamily="34" charset="-122"/>
                          <a:cs typeface="Calibri" pitchFamily="34" charset="-120"/>
                        </a:rPr>
                        <a:t>Feedback comment</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"Coffee was cold"</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No (qualitative)</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Not applicable</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No</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35864">
                <a:tc>
                  <a:txBody>
                    <a:bodyPr/>
                    <a:lstStyle/>
                    <a:p>
                      <a:pPr algn="l" indent="0" marL="0">
                        <a:buNone/>
                      </a:pPr>
                      <a:r>
                        <a:rPr lang="en-US" sz="1900" b="1" dirty="0">
                          <a:solidFill>
                            <a:srgbClr val="0B6E6E"/>
                          </a:solidFill>
                          <a:latin typeface="Calibri" pitchFamily="34" charset="0"/>
                          <a:ea typeface="Calibri" pitchFamily="34" charset="-122"/>
                          <a:cs typeface="Calibri" pitchFamily="34" charset="-120"/>
                        </a:rPr>
                        <a:t>Photo of the bill</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JPG file</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No</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Not applicable</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No</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bl>
          </a:graphicData>
        </a:graphic>
      </p:graphicFrame>
      <p:sp>
        <p:nvSpPr>
          <p:cNvPr id="4" name="Text 1"/>
          <p:cNvSpPr txBox="1"/>
          <p:nvPr/>
        </p:nvSpPr>
        <p:spPr>
          <a:xfrm>
            <a:off x="548640" y="5565648"/>
            <a:ext cx="11091672" cy="548640"/>
          </a:xfrm>
          <a:prstGeom prst="rect">
            <a:avLst/>
          </a:prstGeom>
          <a:noFill/>
          <a:ln/>
        </p:spPr>
        <p:txBody>
          <a:bodyPr wrap="square" lIns="0" tIns="0" rIns="0" bIns="0" rtlCol="0" anchor="t"/>
          <a:lstStyle/>
          <a:p>
            <a:pPr indent="0" marL="0">
              <a:buNone/>
            </a:pPr>
            <a:r>
              <a:rPr lang="en-US" sz="1600" i="1" dirty="0">
                <a:solidFill>
                  <a:srgbClr val="56667A"/>
                </a:solidFill>
                <a:latin typeface="Calibri" pitchFamily="34" charset="0"/>
                <a:ea typeface="Calibri" pitchFamily="34" charset="-122"/>
                <a:cs typeface="Calibri" pitchFamily="34" charset="-120"/>
              </a:rPr>
              <a:t>Money is counted in paise, but we treat it as continuous because the steps are tiny.</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Structured and unstructured data</a:t>
            </a:r>
            <a:endParaRPr lang="en-US" sz="2800" dirty="0"/>
          </a:p>
        </p:txBody>
      </p:sp>
      <p:sp>
        <p:nvSpPr>
          <p:cNvPr id="3" name="Shape 1"/>
          <p:cNvSpPr/>
          <p:nvPr/>
        </p:nvSpPr>
        <p:spPr>
          <a:xfrm>
            <a:off x="548640" y="1417320"/>
            <a:ext cx="5385816" cy="3886200"/>
          </a:xfrm>
          <a:prstGeom prst="roundRect">
            <a:avLst>
              <a:gd name="adj" fmla="val 2824"/>
            </a:avLst>
          </a:prstGeom>
          <a:solidFill>
            <a:srgbClr val="EEF3F6"/>
          </a:solidFill>
          <a:ln w="12700">
            <a:solidFill>
              <a:srgbClr val="EEF3F6"/>
            </a:solidFill>
            <a:prstDash val="solid"/>
          </a:ln>
        </p:spPr>
      </p:sp>
      <p:sp>
        <p:nvSpPr>
          <p:cNvPr id="4" name="Shape 2"/>
          <p:cNvSpPr/>
          <p:nvPr/>
        </p:nvSpPr>
        <p:spPr>
          <a:xfrm>
            <a:off x="548640" y="1417320"/>
            <a:ext cx="5385816" cy="640080"/>
          </a:xfrm>
          <a:prstGeom prst="roundRect">
            <a:avLst>
              <a:gd name="adj" fmla="val 17143"/>
            </a:avLst>
          </a:prstGeom>
          <a:solidFill>
            <a:srgbClr val="0F8B8D"/>
          </a:solidFill>
          <a:ln w="12700">
            <a:solidFill>
              <a:srgbClr val="0F8B8D"/>
            </a:solidFill>
            <a:prstDash val="solid"/>
          </a:ln>
        </p:spPr>
      </p:sp>
      <p:sp>
        <p:nvSpPr>
          <p:cNvPr id="5" name="Text 3"/>
          <p:cNvSpPr txBox="1"/>
          <p:nvPr/>
        </p:nvSpPr>
        <p:spPr>
          <a:xfrm>
            <a:off x="822960"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Structured: fits rows and columns</a:t>
            </a:r>
            <a:endParaRPr lang="en-US" sz="2000" dirty="0"/>
          </a:p>
        </p:txBody>
      </p:sp>
      <p:sp>
        <p:nvSpPr>
          <p:cNvPr id="6" name="Text 4"/>
          <p:cNvSpPr txBox="1"/>
          <p:nvPr/>
        </p:nvSpPr>
        <p:spPr>
          <a:xfrm>
            <a:off x="822960"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Fixed fields with a clear format.</a:t>
            </a:r>
            <a:endParaRPr lang="en-US" sz="2200" dirty="0"/>
          </a:p>
          <a:p>
            <a:pPr marL="228600" indent="-228600">
              <a:spcAft>
                <a:spcPts val="800"/>
              </a:spcAft>
              <a:buSzPct val="100000"/>
              <a:buChar char="•"/>
            </a:pPr>
            <a:r>
              <a:rPr lang="en-US" sz="2200" b="1" dirty="0">
                <a:solidFill>
                  <a:srgbClr val="14213D"/>
                </a:solidFill>
                <a:latin typeface="Calibri" pitchFamily="34" charset="0"/>
                <a:ea typeface="Calibri" pitchFamily="34" charset="-122"/>
                <a:cs typeface="Calibri" pitchFamily="34" charset="-120"/>
              </a:rPr>
              <a:t>Examples: </a:t>
            </a:r>
            <a:pPr indent="0" marL="0">
              <a:buNone/>
            </a:pPr>
            <a:r>
              <a:rPr lang="en-US" sz="2200" dirty="0">
                <a:solidFill>
                  <a:srgbClr val="2B3A4F"/>
                </a:solidFill>
                <a:latin typeface="Calibri" pitchFamily="34" charset="0"/>
                <a:ea typeface="Calibri" pitchFamily="34" charset="-122"/>
                <a:cs typeface="Calibri" pitchFamily="34" charset="-120"/>
              </a:rPr>
              <a:t>billing table, attendance sheet, inventory list.</a:t>
            </a:r>
            <a:endParaRPr lang="en-US" sz="2200" dirty="0"/>
          </a:p>
          <a:p>
            <a:pPr marL="228600" indent="-228600">
              <a:spcAft>
                <a:spcPts val="800"/>
              </a:spcAft>
              <a:buSzPct val="100000"/>
              <a:buChar char="•"/>
            </a:pPr>
            <a:r>
              <a:rPr lang="en-US" sz="2200" b="1" dirty="0">
                <a:solidFill>
                  <a:srgbClr val="14213D"/>
                </a:solidFill>
                <a:latin typeface="Calibri" pitchFamily="34" charset="0"/>
                <a:ea typeface="Calibri" pitchFamily="34" charset="-122"/>
                <a:cs typeface="Calibri" pitchFamily="34" charset="-120"/>
              </a:rPr>
              <a:t>Easy to: </a:t>
            </a:r>
            <a:pPr indent="0" marL="0">
              <a:buNone/>
            </a:pPr>
            <a:r>
              <a:rPr lang="en-US" sz="2200" dirty="0">
                <a:solidFill>
                  <a:srgbClr val="2B3A4F"/>
                </a:solidFill>
                <a:latin typeface="Calibri" pitchFamily="34" charset="0"/>
                <a:ea typeface="Calibri" pitchFamily="34" charset="-122"/>
                <a:cs typeface="Calibri" pitchFamily="34" charset="-120"/>
              </a:rPr>
              <a:t>filter, sort, total and pivot in Excel or SQL.</a:t>
            </a:r>
            <a:endParaRPr lang="en-US" sz="2200" dirty="0"/>
          </a:p>
          <a:p>
            <a:pPr marL="228600" indent="-228600">
              <a:buSzPct val="100000"/>
              <a:buChar char="•"/>
            </a:pPr>
            <a:r>
              <a:rPr lang="en-US" sz="2200" b="1" dirty="0">
                <a:solidFill>
                  <a:srgbClr val="14213D"/>
                </a:solidFill>
                <a:latin typeface="Calibri" pitchFamily="34" charset="0"/>
                <a:ea typeface="Calibri" pitchFamily="34" charset="-122"/>
                <a:cs typeface="Calibri" pitchFamily="34" charset="-120"/>
              </a:rPr>
              <a:t>Stored in: </a:t>
            </a:r>
            <a:pPr indent="0" marL="0">
              <a:buNone/>
            </a:pPr>
            <a:r>
              <a:rPr lang="en-US" sz="2200" dirty="0">
                <a:solidFill>
                  <a:srgbClr val="2B3A4F"/>
                </a:solidFill>
                <a:latin typeface="Calibri" pitchFamily="34" charset="0"/>
                <a:ea typeface="Calibri" pitchFamily="34" charset="-122"/>
                <a:cs typeface="Calibri" pitchFamily="34" charset="-120"/>
              </a:rPr>
              <a:t>spreadsheets and relational databases.</a:t>
            </a:r>
            <a:endParaRPr lang="en-US" sz="2200" dirty="0"/>
          </a:p>
        </p:txBody>
      </p:sp>
      <p:sp>
        <p:nvSpPr>
          <p:cNvPr id="7" name="Shape 5"/>
          <p:cNvSpPr/>
          <p:nvPr/>
        </p:nvSpPr>
        <p:spPr>
          <a:xfrm>
            <a:off x="6254496" y="1417320"/>
            <a:ext cx="5385816" cy="3886200"/>
          </a:xfrm>
          <a:prstGeom prst="roundRect">
            <a:avLst>
              <a:gd name="adj" fmla="val 2824"/>
            </a:avLst>
          </a:prstGeom>
          <a:solidFill>
            <a:srgbClr val="EEF3F6"/>
          </a:solidFill>
          <a:ln w="12700">
            <a:solidFill>
              <a:srgbClr val="EEF3F6"/>
            </a:solidFill>
            <a:prstDash val="solid"/>
          </a:ln>
        </p:spPr>
      </p:sp>
      <p:sp>
        <p:nvSpPr>
          <p:cNvPr id="8" name="Shape 6"/>
          <p:cNvSpPr/>
          <p:nvPr/>
        </p:nvSpPr>
        <p:spPr>
          <a:xfrm>
            <a:off x="6254496" y="1417320"/>
            <a:ext cx="5385816" cy="640080"/>
          </a:xfrm>
          <a:prstGeom prst="roundRect">
            <a:avLst>
              <a:gd name="adj" fmla="val 17143"/>
            </a:avLst>
          </a:prstGeom>
          <a:solidFill>
            <a:srgbClr val="3A5BA0"/>
          </a:solidFill>
          <a:ln w="12700">
            <a:solidFill>
              <a:srgbClr val="3A5BA0"/>
            </a:solidFill>
            <a:prstDash val="solid"/>
          </a:ln>
        </p:spPr>
      </p:sp>
      <p:sp>
        <p:nvSpPr>
          <p:cNvPr id="9" name="Text 7"/>
          <p:cNvSpPr txBox="1"/>
          <p:nvPr/>
        </p:nvSpPr>
        <p:spPr>
          <a:xfrm>
            <a:off x="6528816"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Unstructured: no fixed layout</a:t>
            </a:r>
            <a:endParaRPr lang="en-US" sz="2000" dirty="0"/>
          </a:p>
        </p:txBody>
      </p:sp>
      <p:sp>
        <p:nvSpPr>
          <p:cNvPr id="10" name="Text 8"/>
          <p:cNvSpPr txBox="1"/>
          <p:nvPr/>
        </p:nvSpPr>
        <p:spPr>
          <a:xfrm>
            <a:off x="6528816"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Free-form content with no table shape.</a:t>
            </a:r>
            <a:endParaRPr lang="en-US" sz="2100" dirty="0"/>
          </a:p>
          <a:p>
            <a:pPr marL="228600" indent="-228600">
              <a:spcAft>
                <a:spcPts val="800"/>
              </a:spcAft>
              <a:buSzPct val="100000"/>
              <a:buChar char="•"/>
            </a:pPr>
            <a:r>
              <a:rPr lang="en-US" sz="2100" b="1" dirty="0">
                <a:solidFill>
                  <a:srgbClr val="14213D"/>
                </a:solidFill>
                <a:latin typeface="Calibri" pitchFamily="34" charset="0"/>
                <a:ea typeface="Calibri" pitchFamily="34" charset="-122"/>
                <a:cs typeface="Calibri" pitchFamily="34" charset="-120"/>
              </a:rPr>
              <a:t>Examples: </a:t>
            </a:r>
            <a:pPr indent="0" marL="0">
              <a:buNone/>
            </a:pPr>
            <a:r>
              <a:rPr lang="en-US" sz="2100" dirty="0">
                <a:solidFill>
                  <a:srgbClr val="2B3A4F"/>
                </a:solidFill>
                <a:latin typeface="Calibri" pitchFamily="34" charset="0"/>
                <a:ea typeface="Calibri" pitchFamily="34" charset="-122"/>
                <a:cs typeface="Calibri" pitchFamily="34" charset="-120"/>
              </a:rPr>
              <a:t>reviews, emails, photos, call recordings, videos.</a:t>
            </a:r>
            <a:endParaRPr lang="en-US" sz="2100" dirty="0"/>
          </a:p>
          <a:p>
            <a:pPr marL="228600" indent="-228600">
              <a:spcAft>
                <a:spcPts val="800"/>
              </a:spcAft>
              <a:buSzPct val="100000"/>
              <a:buChar char="•"/>
            </a:pPr>
            <a:r>
              <a:rPr lang="en-US" sz="2100" b="1" dirty="0">
                <a:solidFill>
                  <a:srgbClr val="14213D"/>
                </a:solidFill>
                <a:latin typeface="Calibri" pitchFamily="34" charset="0"/>
                <a:ea typeface="Calibri" pitchFamily="34" charset="-122"/>
                <a:cs typeface="Calibri" pitchFamily="34" charset="-120"/>
              </a:rPr>
              <a:t>Harder to: </a:t>
            </a:r>
            <a:pPr indent="0" marL="0">
              <a:buNone/>
            </a:pPr>
            <a:r>
              <a:rPr lang="en-US" sz="2100" dirty="0">
                <a:solidFill>
                  <a:srgbClr val="2B3A4F"/>
                </a:solidFill>
                <a:latin typeface="Calibri" pitchFamily="34" charset="0"/>
                <a:ea typeface="Calibri" pitchFamily="34" charset="-122"/>
                <a:cs typeface="Calibri" pitchFamily="34" charset="-120"/>
              </a:rPr>
              <a:t>analyse. Needs tagging, text tools or AI.</a:t>
            </a:r>
            <a:endParaRPr lang="en-US" sz="2100" dirty="0"/>
          </a:p>
          <a:p>
            <a:pPr marL="228600" indent="-228600">
              <a:buSzPct val="100000"/>
              <a:buChar char="•"/>
            </a:pPr>
            <a:r>
              <a:rPr lang="en-US" sz="2100" b="1" dirty="0">
                <a:solidFill>
                  <a:srgbClr val="14213D"/>
                </a:solidFill>
                <a:latin typeface="Calibri" pitchFamily="34" charset="0"/>
                <a:ea typeface="Calibri" pitchFamily="34" charset="-122"/>
                <a:cs typeface="Calibri" pitchFamily="34" charset="-120"/>
              </a:rPr>
              <a:t>Often holds: </a:t>
            </a:r>
            <a:pPr indent="0" marL="0">
              <a:buNone/>
            </a:pPr>
            <a:r>
              <a:rPr lang="en-US" sz="2100" dirty="0">
                <a:solidFill>
                  <a:srgbClr val="2B3A4F"/>
                </a:solidFill>
                <a:latin typeface="Calibri" pitchFamily="34" charset="0"/>
                <a:ea typeface="Calibri" pitchFamily="34" charset="-122"/>
                <a:cs typeface="Calibri" pitchFamily="34" charset="-120"/>
              </a:rPr>
              <a:t>the reasons behind the numbers.</a:t>
            </a:r>
            <a:endParaRPr lang="en-US" sz="2100" dirty="0"/>
          </a:p>
        </p:txBody>
      </p:sp>
      <p:sp>
        <p:nvSpPr>
          <p:cNvPr id="11" name="Shape 9"/>
          <p:cNvSpPr/>
          <p:nvPr/>
        </p:nvSpPr>
        <p:spPr>
          <a:xfrm>
            <a:off x="548640" y="5532120"/>
            <a:ext cx="11091672" cy="731520"/>
          </a:xfrm>
          <a:prstGeom prst="roundRect">
            <a:avLst>
              <a:gd name="adj" fmla="val 15000"/>
            </a:avLst>
          </a:prstGeom>
          <a:solidFill>
            <a:srgbClr val="FDEBD6"/>
          </a:solidFill>
          <a:ln w="12700">
            <a:solidFill>
              <a:srgbClr val="FDEBD6"/>
            </a:solidFill>
            <a:prstDash val="solid"/>
          </a:ln>
        </p:spPr>
      </p:sp>
      <p:sp>
        <p:nvSpPr>
          <p:cNvPr id="12" name="Text 10"/>
          <p:cNvSpPr txBox="1"/>
          <p:nvPr/>
        </p:nvSpPr>
        <p:spPr>
          <a:xfrm>
            <a:off x="822960" y="5532120"/>
            <a:ext cx="10543032" cy="73152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In between sits semi-structured data such as JSON, XML and emails: tagged, but not in a table.</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Classify one cafe order record</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A cafe in Bhopal stores this record (illustrative): Name Anita, Phone 9876500000, Items 3, Wait 7.4 min, Bill ₹465.50, Comment "Coffee was cold".</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Name, Phone: </a:t>
            </a:r>
            <a:pPr indent="0" marL="0">
              <a:buNone/>
            </a:pPr>
            <a:r>
              <a:rPr lang="en-US" sz="2200" dirty="0">
                <a:solidFill>
                  <a:srgbClr val="2B3A4F"/>
                </a:solidFill>
                <a:latin typeface="Calibri" pitchFamily="34" charset="0"/>
                <a:ea typeface="Calibri" pitchFamily="34" charset="-122"/>
                <a:cs typeface="Calibri" pitchFamily="34" charset="-120"/>
              </a:rPr>
              <a:t>qualitative. A phone number is a label, so never average it.</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Items = 3: </a:t>
            </a:r>
            <a:pPr indent="0" marL="0">
              <a:buNone/>
            </a:pPr>
            <a:r>
              <a:rPr lang="en-US" sz="2200" dirty="0">
                <a:solidFill>
                  <a:srgbClr val="2B3A4F"/>
                </a:solidFill>
                <a:latin typeface="Calibri" pitchFamily="34" charset="0"/>
                <a:ea typeface="Calibri" pitchFamily="34" charset="-122"/>
                <a:cs typeface="Calibri" pitchFamily="34" charset="-120"/>
              </a:rPr>
              <a:t>quantitative and discrete, because it is a count.</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Wait = 7.4 and Bill = 465.50: </a:t>
            </a:r>
            <a:pPr indent="0" marL="0">
              <a:buNone/>
            </a:pPr>
            <a:r>
              <a:rPr lang="en-US" sz="2200" dirty="0">
                <a:solidFill>
                  <a:srgbClr val="2B3A4F"/>
                </a:solidFill>
                <a:latin typeface="Calibri" pitchFamily="34" charset="0"/>
                <a:ea typeface="Calibri" pitchFamily="34" charset="-122"/>
                <a:cs typeface="Calibri" pitchFamily="34" charset="-120"/>
              </a:rPr>
              <a:t>quantitative and continuous.</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Comment: </a:t>
            </a:r>
            <a:pPr indent="0" marL="0">
              <a:buNone/>
            </a:pPr>
            <a:r>
              <a:rPr lang="en-US" sz="2200" dirty="0">
                <a:solidFill>
                  <a:srgbClr val="2B3A4F"/>
                </a:solidFill>
                <a:latin typeface="Calibri" pitchFamily="34" charset="0"/>
                <a:ea typeface="Calibri" pitchFamily="34" charset="-122"/>
                <a:cs typeface="Calibri" pitchFamily="34" charset="-120"/>
              </a:rPr>
              <a:t>qualitative and unstructured, free text.</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One record, four types. All six fields sit in table columns, but the comment is unstructured and needs coding.</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Turning comments into numbers</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The cafe reads 20 feedback comments (illustrative). It tags each one as Positive, Neutral or Negative.</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Tally: </a:t>
            </a:r>
            <a:pPr indent="0" marL="0">
              <a:buNone/>
            </a:pPr>
            <a:r>
              <a:rPr lang="en-US" sz="2200" dirty="0">
                <a:solidFill>
                  <a:srgbClr val="2B3A4F"/>
                </a:solidFill>
                <a:latin typeface="Calibri" pitchFamily="34" charset="0"/>
                <a:ea typeface="Calibri" pitchFamily="34" charset="-122"/>
                <a:cs typeface="Calibri" pitchFamily="34" charset="-120"/>
              </a:rPr>
              <a:t>11 Positive, 5 Neutral and 4 Negative comments.</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Percentages: </a:t>
            </a:r>
            <a:pPr indent="0" marL="0">
              <a:buNone/>
            </a:pPr>
            <a:r>
              <a:rPr lang="en-US" sz="2200" dirty="0">
                <a:solidFill>
                  <a:srgbClr val="2B3A4F"/>
                </a:solidFill>
                <a:latin typeface="Calibri" pitchFamily="34" charset="0"/>
                <a:ea typeface="Calibri" pitchFamily="34" charset="-122"/>
                <a:cs typeface="Calibri" pitchFamily="34" charset="-120"/>
              </a:rPr>
              <a:t>11/20 = 55%, 5/20 = 25%, 4/20 = 20%.</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Code them: </a:t>
            </a:r>
            <a:pPr indent="0" marL="0">
              <a:buNone/>
            </a:pPr>
            <a:r>
              <a:rPr lang="en-US" sz="2200" dirty="0">
                <a:solidFill>
                  <a:srgbClr val="2B3A4F"/>
                </a:solidFill>
                <a:latin typeface="Calibri" pitchFamily="34" charset="0"/>
                <a:ea typeface="Calibri" pitchFamily="34" charset="-122"/>
                <a:cs typeface="Calibri" pitchFamily="34" charset="-120"/>
              </a:rPr>
              <a:t>Positive = +1, Neutral = 0, Negative = -1.</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Net score: </a:t>
            </a:r>
            <a:pPr indent="0" marL="0">
              <a:buNone/>
            </a:pPr>
            <a:r>
              <a:rPr lang="en-US" sz="2200" dirty="0">
                <a:solidFill>
                  <a:srgbClr val="2B3A4F"/>
                </a:solidFill>
                <a:latin typeface="Calibri" pitchFamily="34" charset="0"/>
                <a:ea typeface="Calibri" pitchFamily="34" charset="-122"/>
                <a:cs typeface="Calibri" pitchFamily="34" charset="-120"/>
              </a:rPr>
              <a:t>(11 - 4) / 20 = 0.35, on a scale from -1 to +1.</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Qualitative text became quantitative data. Track the net score each month to see whether service is improving.</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Example: sentiment of 20 comments</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IT SHOWS</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Over half of the comments (55%) are positive.</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One in five (20%) is negative, so about 4 comments need follow-up.</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A pie suits parts of a whole with few categories. Three slices is fine.</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Checking types in Excel and Python</a:t>
            </a:r>
            <a:endParaRPr lang="en-US" sz="2800" dirty="0"/>
          </a:p>
        </p:txBody>
      </p:sp>
      <p:sp>
        <p:nvSpPr>
          <p:cNvPr id="3" name="Shape 1"/>
          <p:cNvSpPr/>
          <p:nvPr/>
        </p:nvSpPr>
        <p:spPr>
          <a:xfrm>
            <a:off x="548640" y="1417320"/>
            <a:ext cx="6675120" cy="4846320"/>
          </a:xfrm>
          <a:prstGeom prst="roundRect">
            <a:avLst>
              <a:gd name="adj" fmla="val 2264"/>
            </a:avLst>
          </a:prstGeom>
          <a:solidFill>
            <a:srgbClr val="14213D"/>
          </a:solidFill>
          <a:ln w="12700">
            <a:solidFill>
              <a:srgbClr val="14213D"/>
            </a:solidFill>
            <a:prstDash val="solid"/>
          </a:ln>
        </p:spPr>
      </p:sp>
      <p:sp>
        <p:nvSpPr>
          <p:cNvPr id="4" name="Text 2"/>
          <p:cNvSpPr txBox="1"/>
          <p:nvPr/>
        </p:nvSpPr>
        <p:spPr>
          <a:xfrm>
            <a:off x="822960" y="1645920"/>
            <a:ext cx="2743200"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EXCEL AND PANDAS</a:t>
            </a:r>
            <a:endParaRPr lang="en-US" sz="1200" dirty="0"/>
          </a:p>
        </p:txBody>
      </p:sp>
      <p:sp>
        <p:nvSpPr>
          <p:cNvPr id="5" name="Text 3"/>
          <p:cNvSpPr txBox="1"/>
          <p:nvPr/>
        </p:nvSpPr>
        <p:spPr>
          <a:xfrm>
            <a:off x="822960" y="2103120"/>
            <a:ext cx="6126480" cy="3931920"/>
          </a:xfrm>
          <a:prstGeom prst="rect">
            <a:avLst/>
          </a:prstGeom>
          <a:noFill/>
          <a:ln/>
        </p:spPr>
        <p:txBody>
          <a:bodyPr wrap="square" lIns="0" tIns="0" rIns="0" bIns="0" rtlCol="0" anchor="t"/>
          <a:lstStyle/>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=ISNUMBER(D2)</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=COUNT(D2:D101)</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=COUNTA(D2:D101)</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df.dtypes</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df["bill"] = pd.to_numeric(df["bill"])</a:t>
            </a:r>
            <a:endParaRPr lang="en-US" sz="1700" dirty="0"/>
          </a:p>
        </p:txBody>
      </p:sp>
      <p:sp>
        <p:nvSpPr>
          <p:cNvPr id="6" name="Text 4"/>
          <p:cNvSpPr txBox="1"/>
          <p:nvPr/>
        </p:nvSpPr>
        <p:spPr>
          <a:xfrm>
            <a:off x="7498080" y="1463040"/>
            <a:ext cx="4142232" cy="4754880"/>
          </a:xfrm>
          <a:prstGeom prst="rect">
            <a:avLst/>
          </a:prstGeom>
          <a:noFill/>
          <a:ln/>
        </p:spPr>
        <p:txBody>
          <a:bodyPr wrap="square" lIns="0" tIns="0" rIns="0" bIns="0" rtlCol="0" anchor="t"/>
          <a:lstStyle/>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ISNUMBER: </a:t>
            </a:r>
            <a:pPr indent="0" marL="0">
              <a:buNone/>
            </a:pPr>
            <a:r>
              <a:rPr lang="en-US" sz="2200" dirty="0">
                <a:solidFill>
                  <a:srgbClr val="2B3A4F"/>
                </a:solidFill>
                <a:latin typeface="Calibri" pitchFamily="34" charset="0"/>
                <a:ea typeface="Calibri" pitchFamily="34" charset="-122"/>
                <a:cs typeface="Calibri" pitchFamily="34" charset="-120"/>
              </a:rPr>
              <a:t>TRUE for real numbers, FALSE for text that looks numeric.</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COUNT vs COUNTA: </a:t>
            </a:r>
            <a:pPr indent="0" marL="0">
              <a:buNone/>
            </a:pPr>
            <a:r>
              <a:rPr lang="en-US" sz="2200" dirty="0">
                <a:solidFill>
                  <a:srgbClr val="2B3A4F"/>
                </a:solidFill>
                <a:latin typeface="Calibri" pitchFamily="34" charset="0"/>
                <a:ea typeface="Calibri" pitchFamily="34" charset="-122"/>
                <a:cs typeface="Calibri" pitchFamily="34" charset="-120"/>
              </a:rPr>
              <a:t>COUNT sees numbers only. COUNTA sees every non-blank cell.</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If they differ, </a:t>
            </a:r>
            <a:pPr indent="0" marL="0">
              <a:buNone/>
            </a:pPr>
            <a:r>
              <a:rPr lang="en-US" sz="2200" dirty="0">
                <a:solidFill>
                  <a:srgbClr val="2B3A4F"/>
                </a:solidFill>
                <a:latin typeface="Calibri" pitchFamily="34" charset="0"/>
                <a:ea typeface="Calibri" pitchFamily="34" charset="-122"/>
                <a:cs typeface="Calibri" pitchFamily="34" charset="-120"/>
              </a:rPr>
              <a:t>some "numbers" are stored as text. Fix them before analysis.</a:t>
            </a:r>
            <a:endParaRPr lang="en-US" sz="2200" dirty="0"/>
          </a:p>
          <a:p>
            <a:pPr marL="228600" indent="-228600">
              <a:buSzPct val="100000"/>
              <a:buChar char="•"/>
            </a:pPr>
            <a:r>
              <a:rPr lang="en-US" sz="2200" b="1" dirty="0">
                <a:solidFill>
                  <a:srgbClr val="14213D"/>
                </a:solidFill>
                <a:latin typeface="Calibri" pitchFamily="34" charset="0"/>
                <a:ea typeface="Calibri" pitchFamily="34" charset="-122"/>
                <a:cs typeface="Calibri" pitchFamily="34" charset="-120"/>
              </a:rPr>
              <a:t>pandas dtypes: </a:t>
            </a:r>
            <a:pPr indent="0" marL="0">
              <a:buNone/>
            </a:pPr>
            <a:r>
              <a:rPr lang="en-US" sz="2200" dirty="0">
                <a:solidFill>
                  <a:srgbClr val="2B3A4F"/>
                </a:solidFill>
                <a:latin typeface="Calibri" pitchFamily="34" charset="0"/>
                <a:ea typeface="Calibri" pitchFamily="34" charset="-122"/>
                <a:cs typeface="Calibri" pitchFamily="34" charset="-120"/>
              </a:rPr>
              <a:t>int64, float64 and object (text) show each column's type.</a:t>
            </a:r>
            <a:endParaRPr lang="en-US" sz="2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Traps and edge cases</a:t>
            </a:r>
            <a:endParaRPr lang="en-US" sz="2800" dirty="0"/>
          </a:p>
        </p:txBody>
      </p:sp>
      <p:sp>
        <p:nvSpPr>
          <p:cNvPr id="3" name="Shape 1"/>
          <p:cNvSpPr/>
          <p:nvPr/>
        </p:nvSpPr>
        <p:spPr>
          <a:xfrm>
            <a:off x="548640" y="1417320"/>
            <a:ext cx="5408676"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Numbers that are labels</a:t>
            </a:r>
            <a:endParaRPr lang="en-US" sz="2000" dirty="0"/>
          </a:p>
        </p:txBody>
      </p:sp>
      <p:sp>
        <p:nvSpPr>
          <p:cNvPr id="6" name="Text 4"/>
          <p:cNvSpPr txBox="1"/>
          <p:nvPr/>
        </p:nvSpPr>
        <p:spPr>
          <a:xfrm>
            <a:off x="777240"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PIN codes, phone numbers and roll numbers are qualitative. Never sum or average them.</a:t>
            </a:r>
            <a:endParaRPr lang="en-US" sz="2000" dirty="0"/>
          </a:p>
        </p:txBody>
      </p:sp>
      <p:sp>
        <p:nvSpPr>
          <p:cNvPr id="7" name="Shape 5"/>
          <p:cNvSpPr/>
          <p:nvPr/>
        </p:nvSpPr>
        <p:spPr>
          <a:xfrm>
            <a:off x="6231636" y="1417320"/>
            <a:ext cx="5408676"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6460236"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7054596"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Rounded continuous data</a:t>
            </a:r>
            <a:endParaRPr lang="en-US" sz="2000" dirty="0"/>
          </a:p>
        </p:txBody>
      </p:sp>
      <p:sp>
        <p:nvSpPr>
          <p:cNvPr id="10" name="Text 8"/>
          <p:cNvSpPr txBox="1"/>
          <p:nvPr/>
        </p:nvSpPr>
        <p:spPr>
          <a:xfrm>
            <a:off x="6460236"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Age in whole years or time in minutes is still continuous. Rounding does not make it discrete.</a:t>
            </a:r>
            <a:endParaRPr lang="en-US" sz="2000" dirty="0"/>
          </a:p>
        </p:txBody>
      </p:sp>
      <p:sp>
        <p:nvSpPr>
          <p:cNvPr id="11" name="Shape 9"/>
          <p:cNvSpPr/>
          <p:nvPr/>
        </p:nvSpPr>
        <p:spPr>
          <a:xfrm>
            <a:off x="548640" y="3977640"/>
            <a:ext cx="5408676"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777240" y="420624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371600"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Ratings 1 to 5</a:t>
            </a:r>
            <a:endParaRPr lang="en-US" sz="2000" dirty="0"/>
          </a:p>
        </p:txBody>
      </p:sp>
      <p:sp>
        <p:nvSpPr>
          <p:cNvPr id="14" name="Text 12"/>
          <p:cNvSpPr txBox="1"/>
          <p:nvPr/>
        </p:nvSpPr>
        <p:spPr>
          <a:xfrm>
            <a:off x="777240"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Stars look numeric, but they are ordered categories. Report the median and the spread of the ratings.</a:t>
            </a:r>
            <a:endParaRPr lang="en-US" sz="2000" dirty="0"/>
          </a:p>
        </p:txBody>
      </p:sp>
      <p:sp>
        <p:nvSpPr>
          <p:cNvPr id="15" name="Shape 13"/>
          <p:cNvSpPr/>
          <p:nvPr/>
        </p:nvSpPr>
        <p:spPr>
          <a:xfrm>
            <a:off x="6231636" y="3977640"/>
            <a:ext cx="5408676"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6460236"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7054596"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Unstructured in a cell</a:t>
            </a:r>
            <a:endParaRPr lang="en-US" sz="2000" dirty="0"/>
          </a:p>
        </p:txBody>
      </p:sp>
      <p:sp>
        <p:nvSpPr>
          <p:cNvPr id="18" name="Text 16"/>
          <p:cNvSpPr txBox="1"/>
          <p:nvPr/>
        </p:nvSpPr>
        <p:spPr>
          <a:xfrm>
            <a:off x="6460236"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A comment sits in a column but is still unstructured. It cannot be averaged until coded.</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Practice questions</a:t>
            </a:r>
            <a:endParaRPr lang="en-US" sz="2800" dirty="0"/>
          </a:p>
        </p:txBody>
      </p:sp>
      <p:sp>
        <p:nvSpPr>
          <p:cNvPr id="3" name="Shape 1"/>
          <p:cNvSpPr/>
          <p:nvPr/>
        </p:nvSpPr>
        <p:spPr>
          <a:xfrm>
            <a:off x="548640" y="1417320"/>
            <a:ext cx="11091672" cy="1074420"/>
          </a:xfrm>
          <a:prstGeom prst="roundRect">
            <a:avLst>
              <a:gd name="adj" fmla="val 10213"/>
            </a:avLst>
          </a:prstGeom>
          <a:solidFill>
            <a:srgbClr val="EEF3F6"/>
          </a:solidFill>
          <a:ln w="12700">
            <a:solidFill>
              <a:srgbClr val="EEF3F6"/>
            </a:solidFill>
            <a:prstDash val="solid"/>
          </a:ln>
        </p:spPr>
      </p:sp>
      <p:sp>
        <p:nvSpPr>
          <p:cNvPr id="4" name="Text 2"/>
          <p:cNvSpPr/>
          <p:nvPr/>
        </p:nvSpPr>
        <p:spPr>
          <a:xfrm>
            <a:off x="777240" y="172593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463040" y="14173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Classify as discrete or continuous: (a) number of calls received (b) call duration (c) height (d) customers in a queue.</a:t>
            </a:r>
            <a:endParaRPr lang="en-US" sz="1900" dirty="0"/>
          </a:p>
        </p:txBody>
      </p:sp>
      <p:sp>
        <p:nvSpPr>
          <p:cNvPr id="6" name="Shape 4"/>
          <p:cNvSpPr/>
          <p:nvPr/>
        </p:nvSpPr>
        <p:spPr>
          <a:xfrm>
            <a:off x="548640" y="2674620"/>
            <a:ext cx="11091672" cy="1074420"/>
          </a:xfrm>
          <a:prstGeom prst="roundRect">
            <a:avLst>
              <a:gd name="adj" fmla="val 10213"/>
            </a:avLst>
          </a:prstGeom>
          <a:solidFill>
            <a:srgbClr val="EEF3F6"/>
          </a:solidFill>
          <a:ln w="12700">
            <a:solidFill>
              <a:srgbClr val="EEF3F6"/>
            </a:solidFill>
            <a:prstDash val="solid"/>
          </a:ln>
        </p:spPr>
      </p:sp>
      <p:sp>
        <p:nvSpPr>
          <p:cNvPr id="7" name="Text 5"/>
          <p:cNvSpPr/>
          <p:nvPr/>
        </p:nvSpPr>
        <p:spPr>
          <a:xfrm>
            <a:off x="777240" y="298323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txBox="1"/>
          <p:nvPr/>
        </p:nvSpPr>
        <p:spPr>
          <a:xfrm>
            <a:off x="1463040" y="26746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Is a student roll number quantitative or qualitative? Why?</a:t>
            </a:r>
            <a:endParaRPr lang="en-US" sz="1900" dirty="0"/>
          </a:p>
        </p:txBody>
      </p:sp>
      <p:sp>
        <p:nvSpPr>
          <p:cNvPr id="9" name="Shape 7"/>
          <p:cNvSpPr/>
          <p:nvPr/>
        </p:nvSpPr>
        <p:spPr>
          <a:xfrm>
            <a:off x="548640" y="3931920"/>
            <a:ext cx="11091672" cy="1074420"/>
          </a:xfrm>
          <a:prstGeom prst="roundRect">
            <a:avLst>
              <a:gd name="adj" fmla="val 10213"/>
            </a:avLst>
          </a:prstGeom>
          <a:solidFill>
            <a:srgbClr val="EEF3F6"/>
          </a:solidFill>
          <a:ln w="12700">
            <a:solidFill>
              <a:srgbClr val="EEF3F6"/>
            </a:solidFill>
            <a:prstDash val="solid"/>
          </a:ln>
        </p:spPr>
      </p:sp>
      <p:sp>
        <p:nvSpPr>
          <p:cNvPr id="10" name="Text 8"/>
          <p:cNvSpPr/>
          <p:nvPr/>
        </p:nvSpPr>
        <p:spPr>
          <a:xfrm>
            <a:off x="777240" y="424053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txBox="1"/>
          <p:nvPr/>
        </p:nvSpPr>
        <p:spPr>
          <a:xfrm>
            <a:off x="1463040" y="39319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Name two structured and two unstructured data sources in a retail shop.</a:t>
            </a:r>
            <a:endParaRPr lang="en-US" sz="1900" dirty="0"/>
          </a:p>
        </p:txBody>
      </p:sp>
      <p:sp>
        <p:nvSpPr>
          <p:cNvPr id="12" name="Shape 10"/>
          <p:cNvSpPr/>
          <p:nvPr/>
        </p:nvSpPr>
        <p:spPr>
          <a:xfrm>
            <a:off x="548640" y="5189220"/>
            <a:ext cx="11091672" cy="1074420"/>
          </a:xfrm>
          <a:prstGeom prst="roundRect">
            <a:avLst>
              <a:gd name="adj" fmla="val 10213"/>
            </a:avLst>
          </a:prstGeom>
          <a:solidFill>
            <a:srgbClr val="EEF3F6"/>
          </a:solidFill>
          <a:ln w="12700">
            <a:solidFill>
              <a:srgbClr val="EEF3F6"/>
            </a:solidFill>
            <a:prstDash val="solid"/>
          </a:ln>
        </p:spPr>
      </p:sp>
      <p:sp>
        <p:nvSpPr>
          <p:cNvPr id="13" name="Text 11"/>
          <p:cNvSpPr/>
          <p:nvPr/>
        </p:nvSpPr>
        <p:spPr>
          <a:xfrm>
            <a:off x="777240" y="549783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63040" y="51892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Of 40 comments, 24 are positive, 8 are neutral and 8 are negative. Find the net score.</a:t>
            </a:r>
            <a:endParaRPr lang="en-US" sz="19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Key takeaways</a:t>
            </a:r>
            <a:endParaRPr lang="en-US" sz="2800" dirty="0"/>
          </a:p>
        </p:txBody>
      </p:sp>
      <p:sp>
        <p:nvSpPr>
          <p:cNvPr id="3" name="Text 1"/>
          <p:cNvSpPr/>
          <p:nvPr/>
        </p:nvSpPr>
        <p:spPr>
          <a:xfrm>
            <a:off x="548640" y="1561795"/>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txBox="1"/>
          <p:nvPr/>
        </p:nvSpPr>
        <p:spPr>
          <a:xfrm>
            <a:off x="1234440" y="1417320"/>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Quantitative: </a:t>
            </a:r>
            <a:pPr indent="0" marL="0">
              <a:buNone/>
            </a:pPr>
            <a:r>
              <a:rPr lang="en-US" sz="2000" dirty="0">
                <a:solidFill>
                  <a:srgbClr val="FFFFFF"/>
                </a:solidFill>
                <a:latin typeface="Calibri" pitchFamily="34" charset="0"/>
                <a:ea typeface="Calibri" pitchFamily="34" charset="-122"/>
                <a:cs typeface="Calibri" pitchFamily="34" charset="-120"/>
              </a:rPr>
              <a:t>numbers you can calculate with.</a:t>
            </a:r>
            <a:endParaRPr lang="en-US" sz="2000" dirty="0"/>
          </a:p>
        </p:txBody>
      </p:sp>
      <p:sp>
        <p:nvSpPr>
          <p:cNvPr id="5" name="Text 3"/>
          <p:cNvSpPr/>
          <p:nvPr/>
        </p:nvSpPr>
        <p:spPr>
          <a:xfrm>
            <a:off x="548640" y="2435962"/>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234440" y="2291486"/>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Qualitative: </a:t>
            </a:r>
            <a:pPr indent="0" marL="0">
              <a:buNone/>
            </a:pPr>
            <a:r>
              <a:rPr lang="en-US" sz="2000" dirty="0">
                <a:solidFill>
                  <a:srgbClr val="FFFFFF"/>
                </a:solidFill>
                <a:latin typeface="Calibri" pitchFamily="34" charset="0"/>
                <a:ea typeface="Calibri" pitchFamily="34" charset="-122"/>
                <a:cs typeface="Calibri" pitchFamily="34" charset="-120"/>
              </a:rPr>
              <a:t>labels and descriptions you can count.</a:t>
            </a:r>
            <a:endParaRPr lang="en-US" sz="2000" dirty="0"/>
          </a:p>
        </p:txBody>
      </p:sp>
      <p:sp>
        <p:nvSpPr>
          <p:cNvPr id="7" name="Text 5"/>
          <p:cNvSpPr/>
          <p:nvPr/>
        </p:nvSpPr>
        <p:spPr>
          <a:xfrm>
            <a:off x="548640" y="3310128"/>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3165653"/>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Discrete: </a:t>
            </a:r>
            <a:pPr indent="0" marL="0">
              <a:buNone/>
            </a:pPr>
            <a:r>
              <a:rPr lang="en-US" sz="2000" dirty="0">
                <a:solidFill>
                  <a:srgbClr val="FFFFFF"/>
                </a:solidFill>
                <a:latin typeface="Calibri" pitchFamily="34" charset="0"/>
                <a:ea typeface="Calibri" pitchFamily="34" charset="-122"/>
                <a:cs typeface="Calibri" pitchFamily="34" charset="-120"/>
              </a:rPr>
              <a:t>counted. Continuous: measured.</a:t>
            </a:r>
            <a:endParaRPr lang="en-US" sz="2000" dirty="0"/>
          </a:p>
        </p:txBody>
      </p:sp>
      <p:sp>
        <p:nvSpPr>
          <p:cNvPr id="9" name="Text 7"/>
          <p:cNvSpPr/>
          <p:nvPr/>
        </p:nvSpPr>
        <p:spPr>
          <a:xfrm>
            <a:off x="548640" y="4184294"/>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1234440" y="4039819"/>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Structured: </a:t>
            </a:r>
            <a:pPr indent="0" marL="0">
              <a:buNone/>
            </a:pPr>
            <a:r>
              <a:rPr lang="en-US" sz="2000" dirty="0">
                <a:solidFill>
                  <a:srgbClr val="FFFFFF"/>
                </a:solidFill>
                <a:latin typeface="Calibri" pitchFamily="34" charset="0"/>
                <a:ea typeface="Calibri" pitchFamily="34" charset="-122"/>
                <a:cs typeface="Calibri" pitchFamily="34" charset="-120"/>
              </a:rPr>
              <a:t>fits in a table. Unstructured: needs coding first.</a:t>
            </a:r>
            <a:endParaRPr lang="en-US" sz="2000" dirty="0"/>
          </a:p>
        </p:txBody>
      </p:sp>
      <p:sp>
        <p:nvSpPr>
          <p:cNvPr id="11" name="Text 9"/>
          <p:cNvSpPr/>
          <p:nvPr/>
        </p:nvSpPr>
        <p:spPr>
          <a:xfrm>
            <a:off x="548640" y="5058461"/>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234440" y="4913986"/>
            <a:ext cx="10405872" cy="709574"/>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A number is not always quantitative. Check what it means before you calculate.</a:t>
            </a:r>
            <a:endParaRPr lang="en-US" sz="2000" dirty="0"/>
          </a:p>
        </p:txBody>
      </p:sp>
      <p:sp>
        <p:nvSpPr>
          <p:cNvPr id="13" name="Text 11"/>
          <p:cNvSpPr txBox="1"/>
          <p:nvPr/>
        </p:nvSpPr>
        <p:spPr>
          <a:xfrm>
            <a:off x="548640" y="5806440"/>
            <a:ext cx="11091672" cy="457200"/>
          </a:xfrm>
          <a:prstGeom prst="rect">
            <a:avLst/>
          </a:prstGeom>
          <a:noFill/>
          <a:ln/>
        </p:spPr>
        <p:txBody>
          <a:bodyPr wrap="square" lIns="0" tIns="0" rIns="0" bIns="0" rtlCol="0" anchor="ctr"/>
          <a:lstStyle/>
          <a:p>
            <a:pPr indent="0" marL="0">
              <a:buNone/>
            </a:pPr>
            <a:r>
              <a:rPr lang="en-US" sz="1600" i="1" dirty="0">
                <a:solidFill>
                  <a:srgbClr val="B8C7D9"/>
                </a:solidFill>
                <a:latin typeface="Calibri" pitchFamily="34" charset="0"/>
                <a:ea typeface="Calibri" pitchFamily="34" charset="-122"/>
                <a:cs typeface="Calibri" pitchFamily="34" charset="-120"/>
              </a:rPr>
              <a:t>Next: Data Measurement Scales</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BMT Data">
  <a:themeElements>
    <a:clrScheme name="BMT Data">
      <a:dk1>
        <a:srgbClr val="14213D"/>
      </a:dk1>
      <a:lt1>
        <a:srgbClr val="FFFFFF"/>
      </a:lt1>
      <a:dk2>
        <a:srgbClr val="0B6E6E"/>
      </a:dk2>
      <a:lt2>
        <a:srgbClr val="EEF3F6"/>
      </a:lt2>
      <a:accent1>
        <a:srgbClr val="0F8B8D"/>
      </a:accent1>
      <a:accent2>
        <a:srgbClr val="F29E4C"/>
      </a:accent2>
      <a:accent3>
        <a:srgbClr val="3A5BA0"/>
      </a:accent3>
      <a:accent4>
        <a:srgbClr val="C8553D"/>
      </a:accent4>
      <a:accent5>
        <a:srgbClr val="6E9B2F"/>
      </a:accent5>
      <a:accent6>
        <a:srgbClr val="8E6BBF"/>
      </a:accent6>
      <a:hlink>
        <a:srgbClr val="0F8B8D"/>
      </a:hlink>
      <a:folHlink>
        <a:srgbClr val="8E6BBF"/>
      </a:folHlink>
    </a:clrScheme>
    <a:fontScheme name="BMT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SAGE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Types of Data</dc:title>
  <dc:subject>Business Management Tools I</dc:subject>
  <dc:creator>Sushant Bhargav</dc:creator>
  <cp:lastModifiedBy>Sushant Bhargav</cp:lastModifiedBy>
  <cp:revision>1</cp:revision>
  <dcterms:created xsi:type="dcterms:W3CDTF">2026-10-07T01:36:10Z</dcterms:created>
  <dcterms:modified xsi:type="dcterms:W3CDTF">2026-10-07T01:36:10Z</dcterms:modified>
</cp:coreProperties>
</file>