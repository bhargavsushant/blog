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8.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opic 9: Ethical Considerations in Data Collection" id="{88c80eb1-de6d-79ba-ca47-dcb165858d77}">
          <p14:sldIdLst>
            <p14:sldId id="256"/>
            <p14:sldId id="257"/>
            <p14:sldId id="258"/>
            <p14:sldId id="259"/>
            <p14:sldId id="260"/>
            <p14:sldId id="261"/>
            <p14:sldId id="262"/>
            <p14:sldId id="263"/>
            <p14:sldId id="264"/>
            <p14:sldId id="265"/>
            <p14:sldId id="266"/>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Rating</c:v>
                </c:pt>
              </c:strCache>
            </c:strRef>
          </c:tx>
          <c:spPr>
            <a:solidFill>
              <a:srgbClr val="0F8B8D"/>
            </a:solidFill>
            <a:effectLst/>
          </c:spPr>
          <c:invertIfNegative val="0"/>
          <c:dLbls>
            <c:numFmt formatCode="General" sourceLinked="0"/>
            <c:txPr>
              <a:bodyPr/>
              <a:lstStyle/>
              <a:p>
                <a:pPr>
                  <a:defRPr b="0" i="0" strike="noStrike" sz="1200" u="none">
                    <a:solidFill>
                      <a:srgbClr val="14213D"/>
                    </a:solidFill>
                    <a:latin typeface="Calibri"/>
                  </a:defRPr>
                </a:pPr>
              </a:p>
            </c:txPr>
            <c:showLegendKey val="0"/>
            <c:showVal val="1"/>
            <c:showCatName val="0"/>
            <c:showSerName val="0"/>
            <c:showPercent val="0"/>
            <c:showBubbleSize val="0"/>
            <c:showLeaderLines val="0"/>
          </c:dLbls>
          <c:cat>
            <c:multiLvlStrRef>
              <c:f>Sheet1!$A$2:$A$5</c:f>
              <c:multiLvlStrCache>
                <c:ptCount val="4"/>
                <c:lvl>
                  <c:pt idx="0">
                    <c:v>Under 25</c:v>
                  </c:pt>
                  <c:pt idx="1">
                    <c:v>25 and over</c:v>
                  </c:pt>
                  <c:pt idx="2">
                    <c:v>Naive mean</c:v>
                  </c:pt>
                  <c:pt idx="3">
                    <c:v>Weighted mean</c:v>
                  </c:pt>
                </c:lvl>
              </c:multiLvlStrCache>
            </c:multiLvlStrRef>
          </c:cat>
          <c:val>
            <c:numRef>
              <c:f>Sheet1!$B$2:$B$5</c:f>
              <c:numCache>
                <c:formatCode>General</c:formatCode>
                <c:ptCount val="4"/>
                <c:pt idx="0">
                  <c:v>4.2</c:v>
                </c:pt>
                <c:pt idx="1">
                  <c:v>3.4</c:v>
                </c:pt>
                <c:pt idx="2">
                  <c:v>4</c:v>
                </c:pt>
                <c:pt idx="3">
                  <c:v>3.8</c:v>
                </c:pt>
              </c:numCache>
            </c:numRef>
          </c:val>
        </c:ser>
        <c:dLbls>
          <c:numFmt formatCode="General" sourceLinked="0"/>
          <c:txPr>
            <a:bodyPr/>
            <a:lstStyle/>
            <a:p>
              <a:pPr>
                <a:defRPr b="0" i="0" strike="noStrike" sz="1200" u="none">
                  <a:solidFill>
                    <a:srgbClr val="14213D"/>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2"/>
        <c:crosses val="autoZero"/>
        <c:auto val="1"/>
        <c:lblAlgn val="ctr"/>
        <c:noMultiLvlLbl val="1"/>
      </c:catAx>
      <c:valAx>
        <c:axId val="2094734552"/>
        <c:scaling>
          <c:orientation val="minMax"/>
          <c:max val="5"/>
          <c:min val="0"/>
        </c:scaling>
        <c:delete val="1"/>
        <c:axPos val="l"/>
        <c:title>
          <c:tx>
            <c:rich>
              <a:bodyPr/>
              <a:lstStyle/>
              <a:p>
                <a:pPr>
                  <a:defRPr sz="1200" b="0" i="0" u="none" strike="noStrike">
                    <a:solidFill>
                      <a:srgbClr val="56667A"/>
                    </a:solidFill>
                    <a:latin typeface="Arial"/>
                  </a:defRPr>
                </a:pPr>
                <a:r>
                  <a:rPr sz="1200" b="0" i="0" u="none" strike="noStrike">
                    <a:solidFill>
                      <a:srgbClr val="56667A"/>
                    </a:solidFill>
                    <a:latin typeface="Arial"/>
                  </a:rPr>
                  <a:t>Average rating (1 to 5)</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session covers the ethics of collecting data about people: consent, privacy, anonymity, bias and data protection. A technically correct analysis can still be wrong if the data was collected unfairly or unsafely. All numbers in the examples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a question: would you give your phone number to a stranger with a clipboard at the mall gate? Most students say no. Ask what they would need to know first. That list is informed consent.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ethics to quality, not just rules. Respondents who do not trust you will lie, and your analysis will be wrong. Ask: what extra data did the canteen survey really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ideas are the skeleton of the session. Each of the next slides expands one of them. Ask students which one is most often ignored in college projects. Usually it is data protection, such as sharing raw sheets on WhatsApp.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often use the words as if they mean the same thing. They do not. Online forms that record email addresses are confidential at best, even if the report shows no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example of a feedback form handed out in class by the teacher who also gives marks. Is that truly voluntary? Discuss power imbalance. Pre-ticked boxes are also not real consent.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to name the research question first, then check each field against it. If a field does not change any decision, delete it. Less data means less to leak.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threshold of 5 is a common rule of thumb, not a law. Some organisations use 10. The point is to check the smallest cell. Ask: what if the 4 men in the group are all friends who know each other's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each row and ask for one more example from campus life. Stress that the fix has to happen before collection. Later we will see a partial repair with weights, but prevention is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the arithmetic on the board. 150 times 4.2 is 630 and 50 times 3.4 is 170, total 800, divided by 200 gives 4.0. Weighting needs known population shares, for example from billing data. Ask: what if no one over 60 answered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axis starts at zero on purpose, so the difference between 4.0 and 3.8 is not exaggerated. A 0.2 gap matters if the owner is deciding whether to change the menu.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at the level shown. Students need the idea that Indian law now expects notice, consent, purpose limits and safeguards. For anything specific, such as fines or timelines, tell them to read the Act and rules on the government website. Children's data has stricter conditions, including parental consent.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find one pitfall they have personally done. Group projects often fail on the second and third cards. Suggest a habit: summarise first, share the summary, keep the raw file in one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four minutes. For the last question, the naive mean uses the sample shares 60/40 and the weighted mean uses the true shares 40/60. Check the answers by reading from the notes.
ANSWERS
1. No. Emails identify people, so it is confidential at best. Anonymous means no one can trace an answer back.
2. Consent must be a clear, active choice. A pre-ticked box means silence or inaction is treated as agreement.
3. Merge it with a nearby group (for example drop gender) so every published group has at least about 5 people.
4. 0.4 × 4.5 + 0.6 × 3.5 = 1.8 + 2.1 = 3.9. The naive mean was 0.6 × 4.5 + 0.4 × 3.5 = 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4213D"/>
        </a:solidFill>
      </p:bgPr>
    </p:bg>
    <p:spTree>
      <p:nvGrpSpPr>
        <p:cNvPr id="1" name=""/>
        <p:cNvGrpSpPr/>
        <p:nvPr/>
      </p:nvGrpSpPr>
      <p:grpSpPr>
        <a:xfrm>
          <a:off x="0" y="0"/>
          <a:ext cx="0" cy="0"/>
          <a:chOff x="0" y="0"/>
          <a:chExt cx="0" cy="0"/>
        </a:xfrm>
      </p:grpSpPr>
      <p:sp>
        <p:nvSpPr>
          <p:cNvPr id="2" name="Text 0"/>
          <p:cNvSpPr/>
          <p:nvPr>
            <p:ph idx="103" type="title" hasCustomPrompt="1"/>
          </p:nvPr>
        </p:nvSpPr>
        <p:spPr>
          <a:xfrm>
            <a:off x="731520" y="2103120"/>
            <a:ext cx="7863840" cy="1828800"/>
          </a:xfrm>
          <a:prstGeom prst="rect">
            <a:avLst/>
          </a:prstGeom>
          <a:noFill/>
          <a:ln/>
        </p:spPr>
        <p:txBody>
          <a:bodyPr wrap="square" rtlCol="0"/>
          <a:lstStyle>
            <a:lvl1pPr algn="l" indent="0" marL="0">
              <a:buNone/>
              <a:defRPr lang="en-US" sz="42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200" dirty="0"/>
          </a:p>
        </p:txBody>
      </p:sp>
      <p:sp>
        <p:nvSpPr>
          <p:cNvPr id="3" name="Text 0"/>
          <p:cNvSpPr/>
          <p:nvPr>
            <p:ph idx="104" type="body" hasCustomPrompt="1"/>
          </p:nvPr>
        </p:nvSpPr>
        <p:spPr>
          <a:xfrm>
            <a:off x="731520" y="4114800"/>
            <a:ext cx="7680960" cy="914400"/>
          </a:xfrm>
          <a:prstGeom prst="rect">
            <a:avLst/>
          </a:prstGeom>
          <a:noFill/>
          <a:ln/>
        </p:spPr>
        <p:txBody>
          <a:bodyPr wrap="square" rtlCol="0"/>
          <a:lstStyle>
            <a:lvl1pPr algn="l" indent="0" marL="0">
              <a:buNone/>
              <a:defRPr lang="en-US" sz="2000" dirty="0">
                <a:solidFill>
                  <a:srgbClr val="C9D6E6"/>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9601200" cy="274320"/>
          </a:xfrm>
          <a:prstGeom prst="rect">
            <a:avLst/>
          </a:prstGeom>
          <a:noFill/>
          <a:ln/>
        </p:spPr>
        <p:txBody>
          <a:bodyPr wrap="square" lIns="0" tIns="0" rIns="0" bIns="0" rtlCol="0" anchor="ctr"/>
          <a:lstStyle/>
          <a:p>
            <a:pPr indent="0" marL="0">
              <a:buNone/>
            </a:pPr>
            <a:r>
              <a:rPr lang="en-US" sz="1000" dirty="0">
                <a:solidFill>
                  <a:srgbClr val="56667A"/>
                </a:solidFill>
                <a:latin typeface="Calibri" pitchFamily="34" charset="0"/>
                <a:ea typeface="Calibri" pitchFamily="34" charset="-122"/>
                <a:cs typeface="Calibri" pitchFamily="34" charset="-120"/>
              </a:rPr>
              <a:t>Business Management Tools I · AE25UCBM001  |  Unit I: Introduction to Data Analysis</a:t>
            </a:r>
            <a:endParaRPr lang="en-US" sz="1000" dirty="0"/>
          </a:p>
        </p:txBody>
      </p:sp>
      <p:sp>
        <p:nvSpPr>
          <p:cNvPr id="3" name="Text 1"/>
          <p:cNvSpPr/>
          <p:nvPr>
            <p:ph idx="104" type="title" hasCustomPrompt="1"/>
          </p:nvPr>
        </p:nvSpPr>
        <p:spPr>
          <a:xfrm>
            <a:off x="548640" y="365760"/>
            <a:ext cx="10241280" cy="822960"/>
          </a:xfrm>
          <a:prstGeom prst="rect">
            <a:avLst/>
          </a:prstGeom>
          <a:noFill/>
          <a:ln/>
        </p:spPr>
        <p:txBody>
          <a:bodyPr wrap="square" rtlCol="0"/>
          <a:lstStyle>
            <a:lvl1pPr algn="l" indent="0" marL="0">
              <a:buNone/>
              <a:defRPr lang="en-US" sz="2800" b="1" dirty="0">
                <a:solidFill>
                  <a:srgbClr val="14213D"/>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548640" y="6446520"/>
            <a:ext cx="9601200" cy="274320"/>
          </a:xfrm>
          <a:prstGeom prst="rect">
            <a:avLst/>
          </a:prstGeom>
          <a:noFill/>
          <a:ln/>
        </p:spPr>
        <p:txBody>
          <a:bodyPr wrap="square" lIns="0" tIns="0" rIns="0" bIns="0" rtlCol="0" anchor="ctr"/>
          <a:lstStyle/>
          <a:p>
            <a:pPr indent="0" marL="0">
              <a:buNone/>
            </a:pPr>
            <a:r>
              <a:rPr lang="en-US" sz="1000" dirty="0">
                <a:solidFill>
                  <a:srgbClr val="9FB1C8"/>
                </a:solidFill>
                <a:latin typeface="Calibri" pitchFamily="34" charset="0"/>
                <a:ea typeface="Calibri" pitchFamily="34" charset="-122"/>
                <a:cs typeface="Calibri" pitchFamily="34" charset="-120"/>
              </a:rPr>
              <a:t>Business Management Tools I · AE25UCBM001  |  Unit I: Introduction to Data Analysis</a:t>
            </a:r>
            <a:endParaRPr lang="en-US" sz="1000" dirty="0"/>
          </a:p>
        </p:txBody>
      </p:sp>
      <p:sp>
        <p:nvSpPr>
          <p:cNvPr id="3" name="Text 1"/>
          <p:cNvSpPr/>
          <p:nvPr>
            <p:ph idx="104" type="title" hasCustomPrompt="1"/>
          </p:nvPr>
        </p:nvSpPr>
        <p:spPr>
          <a:xfrm>
            <a:off x="548640" y="365760"/>
            <a:ext cx="10241280" cy="822960"/>
          </a:xfrm>
          <a:prstGeom prst="rect">
            <a:avLst/>
          </a:prstGeom>
          <a:noFill/>
          <a:ln/>
        </p:spPr>
        <p:txBody>
          <a:bodyPr wrap="square" rtlCol="0"/>
          <a:lstStyle>
            <a:lvl1pPr algn="l" indent="0" marL="0">
              <a:buNone/>
              <a:defRPr lang="en-US" sz="28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1C8"/>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554480"/>
            <a:ext cx="7863840" cy="365760"/>
          </a:xfrm>
          <a:prstGeom prst="rect">
            <a:avLst/>
          </a:prstGeom>
          <a:noFill/>
          <a:ln/>
        </p:spPr>
        <p:txBody>
          <a:bodyPr wrap="square" lIns="0" tIns="0" rIns="0" bIns="0" rtlCol="0" anchor="ctr"/>
          <a:lstStyle/>
          <a:p>
            <a:pPr indent="0" marL="0">
              <a:buNone/>
            </a:pPr>
            <a:r>
              <a:rPr lang="en-US" sz="1400" b="1" spc="300" kern="0" dirty="0">
                <a:solidFill>
                  <a:srgbClr val="F29E4C"/>
                </a:solidFill>
                <a:latin typeface="Calibri" pitchFamily="34" charset="0"/>
                <a:ea typeface="Calibri" pitchFamily="34" charset="-122"/>
                <a:cs typeface="Calibri" pitchFamily="34" charset="-120"/>
              </a:rPr>
              <a:t>UNIT I  ·  TOPIC 9</a:t>
            </a:r>
            <a:endParaRPr lang="en-US" sz="1400" dirty="0"/>
          </a:p>
        </p:txBody>
      </p:sp>
      <p:sp>
        <p:nvSpPr>
          <p:cNvPr id="3" name="Text 0"/>
          <p:cNvSpPr/>
          <p:nvPr>
            <p:ph idx="103" type="title" hasCustomPrompt="1"/>
          </p:nvPr>
        </p:nvSpPr>
        <p:spPr>
          <a:xfrm>
            <a:off x="731520" y="2103120"/>
            <a:ext cx="7863840" cy="1828800"/>
          </a:xfrm>
          <a:prstGeom prst="rect">
            <a:avLst/>
          </a:prstGeom>
          <a:noFill/>
          <a:ln/>
        </p:spPr>
        <p:txBody>
          <a:bodyPr wrap="square" lIns="0" tIns="0" rIns="0" bIns="0" rtlCol="0" anchor="t"/>
          <a:lstStyle/>
          <a:p>
            <a:pPr algn="l" indent="0" marL="0">
              <a:buNone/>
            </a:pPr>
            <a:r>
              <a:rPr lang="en-US" sz="4200" b="1" dirty="0">
                <a:solidFill>
                  <a:srgbClr val="FFFFFF"/>
                </a:solidFill>
                <a:latin typeface="Cambria" pitchFamily="34" charset="0"/>
                <a:ea typeface="Cambria" pitchFamily="34" charset="-122"/>
                <a:cs typeface="Cambria" pitchFamily="34" charset="-120"/>
              </a:rPr>
              <a:t>Ethical Considerations in Data Collection</a:t>
            </a:r>
            <a:endParaRPr lang="en-US" sz="4200" dirty="0"/>
          </a:p>
        </p:txBody>
      </p:sp>
      <p:sp>
        <p:nvSpPr>
          <p:cNvPr id="4" name="Text 0"/>
          <p:cNvSpPr/>
          <p:nvPr>
            <p:ph idx="104" type="body" hasCustomPrompt="1"/>
          </p:nvPr>
        </p:nvSpPr>
        <p:spPr>
          <a:xfrm>
            <a:off x="731520" y="4114800"/>
            <a:ext cx="7680960" cy="914400"/>
          </a:xfrm>
          <a:prstGeom prst="rect">
            <a:avLst/>
          </a:prstGeom>
          <a:noFill/>
          <a:ln/>
        </p:spPr>
        <p:txBody>
          <a:bodyPr wrap="square" lIns="0" tIns="0" rIns="0" bIns="0" rtlCol="0" anchor="t"/>
          <a:lstStyle/>
          <a:p>
            <a:pPr algn="l" indent="0" marL="0">
              <a:buNone/>
            </a:pPr>
            <a:r>
              <a:rPr lang="en-US" sz="2000" dirty="0">
                <a:solidFill>
                  <a:srgbClr val="C9D6E6"/>
                </a:solidFill>
                <a:latin typeface="Calibri" pitchFamily="34" charset="0"/>
                <a:ea typeface="Calibri" pitchFamily="34" charset="-122"/>
                <a:cs typeface="Calibri" pitchFamily="34" charset="-120"/>
              </a:rPr>
              <a:t>Introduction to Data Analysis</a:t>
            </a:r>
            <a:endParaRPr lang="en-US" sz="2000" dirty="0"/>
          </a:p>
          <a:p>
            <a:pPr algn="l" indent="0" marL="0">
              <a:buNone/>
            </a:pPr>
            <a:r>
              <a:rPr lang="en-US" sz="2000" dirty="0">
                <a:solidFill>
                  <a:srgbClr val="C9D6E6"/>
                </a:solidFill>
                <a:latin typeface="Calibri" pitchFamily="34" charset="0"/>
                <a:ea typeface="Calibri" pitchFamily="34" charset="-122"/>
                <a:cs typeface="Calibri" pitchFamily="34" charset="-120"/>
              </a:rPr>
              <a:t>Business Management Tools I (AE25UCBM001)  ·  SAGE University, Bhopal</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What you will learn</a:t>
            </a:r>
            <a:endParaRPr lang="en-US" sz="2800" dirty="0"/>
          </a:p>
        </p:txBody>
      </p:sp>
      <p:sp>
        <p:nvSpPr>
          <p:cNvPr id="3" name="Text 1"/>
          <p:cNvSpPr txBox="1"/>
          <p:nvPr/>
        </p:nvSpPr>
        <p:spPr>
          <a:xfrm>
            <a:off x="548640" y="1463040"/>
            <a:ext cx="6766560" cy="4754880"/>
          </a:xfrm>
          <a:prstGeom prst="rect">
            <a:avLst/>
          </a:prstGeom>
          <a:noFill/>
          <a:ln/>
        </p:spPr>
        <p:txBody>
          <a:bodyPr wrap="square" lIns="0" tIns="0" rIns="0" bIns="0" rtlCol="0" anchor="t"/>
          <a:lstStyle/>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Explain </a:t>
            </a:r>
            <a:pPr indent="0" marL="0">
              <a:buNone/>
            </a:pPr>
            <a:r>
              <a:rPr lang="en-US" sz="2400" dirty="0">
                <a:solidFill>
                  <a:srgbClr val="2B3A4F"/>
                </a:solidFill>
                <a:latin typeface="Calibri" pitchFamily="34" charset="0"/>
                <a:ea typeface="Calibri" pitchFamily="34" charset="-122"/>
                <a:cs typeface="Calibri" pitchFamily="34" charset="-120"/>
              </a:rPr>
              <a:t>why collecting data about people carries ethical duties.</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Apply </a:t>
            </a:r>
            <a:pPr indent="0" marL="0">
              <a:buNone/>
            </a:pPr>
            <a:r>
              <a:rPr lang="en-US" sz="2400" dirty="0">
                <a:solidFill>
                  <a:srgbClr val="2B3A4F"/>
                </a:solidFill>
                <a:latin typeface="Calibri" pitchFamily="34" charset="0"/>
                <a:ea typeface="Calibri" pitchFamily="34" charset="-122"/>
                <a:cs typeface="Calibri" pitchFamily="34" charset="-120"/>
              </a:rPr>
              <a:t>informed consent, privacy and data minimisation when designing a survey.</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Separate </a:t>
            </a:r>
            <a:pPr indent="0" marL="0">
              <a:buNone/>
            </a:pPr>
            <a:r>
              <a:rPr lang="en-US" sz="2400" dirty="0">
                <a:solidFill>
                  <a:srgbClr val="2B3A4F"/>
                </a:solidFill>
                <a:latin typeface="Calibri" pitchFamily="34" charset="0"/>
                <a:ea typeface="Calibri" pitchFamily="34" charset="-122"/>
                <a:cs typeface="Calibri" pitchFamily="34" charset="-120"/>
              </a:rPr>
              <a:t>anonymous, confidential and pseudonymised data.</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Spot </a:t>
            </a:r>
            <a:pPr indent="0" marL="0">
              <a:buNone/>
            </a:pPr>
            <a:r>
              <a:rPr lang="en-US" sz="2400" dirty="0">
                <a:solidFill>
                  <a:srgbClr val="2B3A4F"/>
                </a:solidFill>
                <a:latin typeface="Calibri" pitchFamily="34" charset="0"/>
                <a:ea typeface="Calibri" pitchFamily="34" charset="-122"/>
                <a:cs typeface="Calibri" pitchFamily="34" charset="-120"/>
              </a:rPr>
              <a:t>sampling bias and correct it with simple weights.</a:t>
            </a:r>
            <a:endParaRPr lang="en-US" sz="2400" dirty="0"/>
          </a:p>
          <a:p>
            <a:pPr marL="228600" indent="-228600">
              <a:buSzPct val="100000"/>
              <a:buChar char="•"/>
            </a:pPr>
            <a:r>
              <a:rPr lang="en-US" sz="2400" b="1" dirty="0">
                <a:solidFill>
                  <a:srgbClr val="14213D"/>
                </a:solidFill>
                <a:latin typeface="Calibri" pitchFamily="34" charset="0"/>
                <a:ea typeface="Calibri" pitchFamily="34" charset="-122"/>
                <a:cs typeface="Calibri" pitchFamily="34" charset="-120"/>
              </a:rPr>
              <a:t>Describe </a:t>
            </a:r>
            <a:pPr indent="0" marL="0">
              <a:buNone/>
            </a:pPr>
            <a:r>
              <a:rPr lang="en-US" sz="2400" dirty="0">
                <a:solidFill>
                  <a:srgbClr val="2B3A4F"/>
                </a:solidFill>
                <a:latin typeface="Calibri" pitchFamily="34" charset="0"/>
                <a:ea typeface="Calibri" pitchFamily="34" charset="-122"/>
                <a:cs typeface="Calibri" pitchFamily="34" charset="-120"/>
              </a:rPr>
              <a:t>in general terms what India's Digital Personal Data Protection Act, 2023 aims to do.</a:t>
            </a:r>
            <a:endParaRPr lang="en-US" sz="2400" dirty="0"/>
          </a:p>
        </p:txBody>
      </p:sp>
      <p:sp>
        <p:nvSpPr>
          <p:cNvPr id="4" name="Shape 2"/>
          <p:cNvSpPr/>
          <p:nvPr/>
        </p:nvSpPr>
        <p:spPr>
          <a:xfrm>
            <a:off x="7680960" y="1417320"/>
            <a:ext cx="3959352" cy="4846320"/>
          </a:xfrm>
          <a:prstGeom prst="roundRect">
            <a:avLst>
              <a:gd name="adj" fmla="val 2771"/>
            </a:avLst>
          </a:prstGeom>
          <a:solidFill>
            <a:srgbClr val="DDF0F0"/>
          </a:solidFill>
          <a:ln w="12700">
            <a:solidFill>
              <a:srgbClr val="DDF0F0"/>
            </a:solidFill>
            <a:prstDash val="solid"/>
          </a:ln>
        </p:spPr>
      </p:sp>
      <p:sp>
        <p:nvSpPr>
          <p:cNvPr id="5" name="Text 3"/>
          <p:cNvSpPr txBox="1"/>
          <p:nvPr/>
        </p:nvSpPr>
        <p:spPr>
          <a:xfrm>
            <a:off x="7955280" y="1691640"/>
            <a:ext cx="341071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BIG IDEA</a:t>
            </a:r>
            <a:endParaRPr lang="en-US" sz="1200" dirty="0"/>
          </a:p>
        </p:txBody>
      </p:sp>
      <p:sp>
        <p:nvSpPr>
          <p:cNvPr id="6" name="Text 4"/>
          <p:cNvSpPr txBox="1"/>
          <p:nvPr/>
        </p:nvSpPr>
        <p:spPr>
          <a:xfrm>
            <a:off x="7955280" y="2148840"/>
            <a:ext cx="3410712" cy="914400"/>
          </a:xfrm>
          <a:prstGeom prst="rect">
            <a:avLst/>
          </a:prstGeom>
          <a:noFill/>
          <a:ln/>
        </p:spPr>
        <p:txBody>
          <a:bodyPr wrap="square" lIns="0" tIns="0" rIns="0" bIns="0" rtlCol="0" anchor="ctr"/>
          <a:lstStyle/>
          <a:p>
            <a:pPr indent="0" marL="0">
              <a:buNone/>
            </a:pPr>
            <a:r>
              <a:rPr lang="en-US" sz="4800" b="1" dirty="0">
                <a:solidFill>
                  <a:srgbClr val="14213D"/>
                </a:solidFill>
                <a:latin typeface="Cambria" pitchFamily="34" charset="0"/>
                <a:ea typeface="Cambria" pitchFamily="34" charset="-122"/>
                <a:cs typeface="Cambria" pitchFamily="34" charset="-120"/>
              </a:rPr>
              <a:t>5</a:t>
            </a:r>
            <a:endParaRPr lang="en-US" sz="4800" dirty="0"/>
          </a:p>
        </p:txBody>
      </p:sp>
      <p:sp>
        <p:nvSpPr>
          <p:cNvPr id="7" name="Text 5"/>
          <p:cNvSpPr txBox="1"/>
          <p:nvPr/>
        </p:nvSpPr>
        <p:spPr>
          <a:xfrm>
            <a:off x="7955280" y="3154680"/>
            <a:ext cx="3410712" cy="2834640"/>
          </a:xfrm>
          <a:prstGeom prst="rect">
            <a:avLst/>
          </a:prstGeom>
          <a:noFill/>
          <a:ln/>
        </p:spPr>
        <p:txBody>
          <a:bodyPr wrap="square" lIns="0" tIns="0" rIns="0" bIns="0" rtlCol="0" anchor="t"/>
          <a:lstStyle/>
          <a:p>
            <a:pPr indent="0" marL="0">
              <a:buNone/>
            </a:pPr>
            <a:r>
              <a:rPr lang="en-US" sz="2000" dirty="0">
                <a:solidFill>
                  <a:srgbClr val="14213D"/>
                </a:solidFill>
                <a:latin typeface="Calibri" pitchFamily="34" charset="0"/>
                <a:ea typeface="Calibri" pitchFamily="34" charset="-122"/>
                <a:cs typeface="Calibri" pitchFamily="34" charset="-120"/>
              </a:rPr>
              <a:t>duties: ask first, collect less, protect identity, stay fair, keep data safe.</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Why ethics matters in data work</a:t>
            </a:r>
            <a:endParaRPr lang="en-US" sz="2800" dirty="0"/>
          </a:p>
        </p:txBody>
      </p:sp>
      <p:sp>
        <p:nvSpPr>
          <p:cNvPr id="3" name="Text 1"/>
          <p:cNvSpPr txBox="1"/>
          <p:nvPr/>
        </p:nvSpPr>
        <p:spPr>
          <a:xfrm>
            <a:off x="548640" y="1463040"/>
            <a:ext cx="6766560" cy="4754880"/>
          </a:xfrm>
          <a:prstGeom prst="rect">
            <a:avLst/>
          </a:prstGeom>
          <a:noFill/>
          <a:ln/>
        </p:spPr>
        <p:txBody>
          <a:bodyPr wrap="square" lIns="0" tIns="0" rIns="0" bIns="0" rtlCol="0" anchor="t"/>
          <a:lstStyle/>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People are behind the rows: </a:t>
            </a:r>
            <a:pPr indent="0" marL="0">
              <a:buNone/>
            </a:pPr>
            <a:r>
              <a:rPr lang="en-US" sz="2400" dirty="0">
                <a:solidFill>
                  <a:srgbClr val="2B3A4F"/>
                </a:solidFill>
                <a:latin typeface="Calibri" pitchFamily="34" charset="0"/>
                <a:ea typeface="Calibri" pitchFamily="34" charset="-122"/>
                <a:cs typeface="Calibri" pitchFamily="34" charset="-120"/>
              </a:rPr>
              <a:t>every record is a real person who can be harmed by a leak or misuse.</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Trust drives data quality: </a:t>
            </a:r>
            <a:pPr indent="0" marL="0">
              <a:buNone/>
            </a:pPr>
            <a:r>
              <a:rPr lang="en-US" sz="2400" dirty="0">
                <a:solidFill>
                  <a:srgbClr val="2B3A4F"/>
                </a:solidFill>
                <a:latin typeface="Calibri" pitchFamily="34" charset="0"/>
                <a:ea typeface="Calibri" pitchFamily="34" charset="-122"/>
                <a:cs typeface="Calibri" pitchFamily="34" charset="-120"/>
              </a:rPr>
              <a:t>people who feel unsafe skip questions or give false answers.</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Bad data, bad decisions: </a:t>
            </a:r>
            <a:pPr indent="0" marL="0">
              <a:buNone/>
            </a:pPr>
            <a:r>
              <a:rPr lang="en-US" sz="2400" dirty="0">
                <a:solidFill>
                  <a:srgbClr val="2B3A4F"/>
                </a:solidFill>
                <a:latin typeface="Calibri" pitchFamily="34" charset="0"/>
                <a:ea typeface="Calibri" pitchFamily="34" charset="-122"/>
                <a:cs typeface="Calibri" pitchFamily="34" charset="-120"/>
              </a:rPr>
              <a:t>a biased sample gives a confident but wrong answer.</a:t>
            </a:r>
            <a:endParaRPr lang="en-US" sz="2400" dirty="0"/>
          </a:p>
          <a:p>
            <a:pPr marL="228600" indent="-228600">
              <a:buSzPct val="100000"/>
              <a:buChar char="•"/>
            </a:pPr>
            <a:r>
              <a:rPr lang="en-US" sz="2400" b="1" dirty="0">
                <a:solidFill>
                  <a:srgbClr val="14213D"/>
                </a:solidFill>
                <a:latin typeface="Calibri" pitchFamily="34" charset="0"/>
                <a:ea typeface="Calibri" pitchFamily="34" charset="-122"/>
                <a:cs typeface="Calibri" pitchFamily="34" charset="-120"/>
              </a:rPr>
              <a:t>Rules exist: </a:t>
            </a:r>
            <a:pPr indent="0" marL="0">
              <a:buNone/>
            </a:pPr>
            <a:r>
              <a:rPr lang="en-US" sz="2400" dirty="0">
                <a:solidFill>
                  <a:srgbClr val="2B3A4F"/>
                </a:solidFill>
                <a:latin typeface="Calibri" pitchFamily="34" charset="0"/>
                <a:ea typeface="Calibri" pitchFamily="34" charset="-122"/>
                <a:cs typeface="Calibri" pitchFamily="34" charset="-120"/>
              </a:rPr>
              <a:t>colleges, employers and the law expect proper handling of personal data.</a:t>
            </a:r>
            <a:endParaRPr lang="en-US" sz="2400" dirty="0"/>
          </a:p>
        </p:txBody>
      </p:sp>
      <p:sp>
        <p:nvSpPr>
          <p:cNvPr id="4" name="Shape 2"/>
          <p:cNvSpPr/>
          <p:nvPr/>
        </p:nvSpPr>
        <p:spPr>
          <a:xfrm>
            <a:off x="7680960" y="1417320"/>
            <a:ext cx="3959352" cy="4846320"/>
          </a:xfrm>
          <a:prstGeom prst="roundRect">
            <a:avLst>
              <a:gd name="adj" fmla="val 2771"/>
            </a:avLst>
          </a:prstGeom>
          <a:solidFill>
            <a:srgbClr val="FDEBD6"/>
          </a:solidFill>
          <a:ln w="12700">
            <a:solidFill>
              <a:srgbClr val="FDEBD6"/>
            </a:solidFill>
            <a:prstDash val="solid"/>
          </a:ln>
        </p:spPr>
      </p:sp>
      <p:sp>
        <p:nvSpPr>
          <p:cNvPr id="5" name="Text 3"/>
          <p:cNvSpPr txBox="1"/>
          <p:nvPr/>
        </p:nvSpPr>
        <p:spPr>
          <a:xfrm>
            <a:off x="7955280" y="1691640"/>
            <a:ext cx="3410712" cy="27432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EXAMPLE</a:t>
            </a:r>
            <a:endParaRPr lang="en-US" sz="1200" dirty="0"/>
          </a:p>
        </p:txBody>
      </p:sp>
      <p:sp>
        <p:nvSpPr>
          <p:cNvPr id="6" name="Text 4"/>
          <p:cNvSpPr txBox="1"/>
          <p:nvPr/>
        </p:nvSpPr>
        <p:spPr>
          <a:xfrm>
            <a:off x="7955280" y="2148840"/>
            <a:ext cx="3410712" cy="3840480"/>
          </a:xfrm>
          <a:prstGeom prst="rect">
            <a:avLst/>
          </a:prstGeom>
          <a:noFill/>
          <a:ln/>
        </p:spPr>
        <p:txBody>
          <a:bodyPr wrap="square" lIns="0" tIns="0" rIns="0" bIns="0" rtlCol="0" anchor="t"/>
          <a:lstStyle/>
          <a:p>
            <a:pPr indent="0" marL="0">
              <a:buNone/>
            </a:pPr>
            <a:r>
              <a:rPr lang="en-US" sz="2000" dirty="0">
                <a:solidFill>
                  <a:srgbClr val="14213D"/>
                </a:solidFill>
                <a:latin typeface="Calibri" pitchFamily="34" charset="0"/>
                <a:ea typeface="Calibri" pitchFamily="34" charset="-122"/>
                <a:cs typeface="Calibri" pitchFamily="34" charset="-120"/>
              </a:rPr>
              <a:t>A survey asks for name, phone, income and health status "to improve the canteen". Most of that is not needed. Collecting it is a risk with no benefit.</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Five core ideas</a:t>
            </a:r>
            <a:endParaRPr lang="en-US" sz="2800" dirty="0"/>
          </a:p>
        </p:txBody>
      </p:sp>
      <p:sp>
        <p:nvSpPr>
          <p:cNvPr id="3" name="Shape 1"/>
          <p:cNvSpPr/>
          <p:nvPr/>
        </p:nvSpPr>
        <p:spPr>
          <a:xfrm>
            <a:off x="548640" y="1417320"/>
            <a:ext cx="3514344" cy="2286000"/>
          </a:xfrm>
          <a:prstGeom prst="roundRect">
            <a:avLst>
              <a:gd name="adj" fmla="val 4800"/>
            </a:avLst>
          </a:prstGeom>
          <a:solidFill>
            <a:srgbClr val="EEF3F6"/>
          </a:solidFill>
          <a:ln w="12700">
            <a:solidFill>
              <a:srgbClr val="EEF3F6"/>
            </a:solidFill>
            <a:prstDash val="solid"/>
          </a:ln>
        </p:spPr>
      </p:sp>
      <p:sp>
        <p:nvSpPr>
          <p:cNvPr id="4" name="Text 2"/>
          <p:cNvSpPr/>
          <p:nvPr/>
        </p:nvSpPr>
        <p:spPr>
          <a:xfrm>
            <a:off x="777240" y="1645920"/>
            <a:ext cx="457200" cy="457200"/>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371600" y="1554480"/>
            <a:ext cx="2508504"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Consent</a:t>
            </a:r>
            <a:endParaRPr lang="en-US" sz="2000" dirty="0"/>
          </a:p>
        </p:txBody>
      </p:sp>
      <p:sp>
        <p:nvSpPr>
          <p:cNvPr id="6" name="Text 4"/>
          <p:cNvSpPr txBox="1"/>
          <p:nvPr/>
        </p:nvSpPr>
        <p:spPr>
          <a:xfrm>
            <a:off x="777240" y="2331720"/>
            <a:ext cx="3057144" cy="1234440"/>
          </a:xfrm>
          <a:prstGeom prst="rect">
            <a:avLst/>
          </a:prstGeom>
          <a:noFill/>
          <a:ln/>
        </p:spPr>
        <p:txBody>
          <a:bodyPr wrap="square" lIns="0" tIns="0" rIns="0" bIns="0" rtlCol="0" anchor="t"/>
          <a:lstStyle/>
          <a:p>
            <a:pPr indent="0" marL="0">
              <a:buNone/>
            </a:pPr>
            <a:r>
              <a:rPr lang="en-US" sz="1900" dirty="0">
                <a:solidFill>
                  <a:srgbClr val="2B3A4F"/>
                </a:solidFill>
                <a:latin typeface="Calibri" pitchFamily="34" charset="0"/>
                <a:ea typeface="Calibri" pitchFamily="34" charset="-122"/>
                <a:cs typeface="Calibri" pitchFamily="34" charset="-120"/>
              </a:rPr>
              <a:t>People agree freely, knowing who collects the data, why, what is asked, and how it will be used.</a:t>
            </a:r>
            <a:endParaRPr lang="en-US" sz="1900" dirty="0"/>
          </a:p>
        </p:txBody>
      </p:sp>
      <p:sp>
        <p:nvSpPr>
          <p:cNvPr id="7" name="Shape 5"/>
          <p:cNvSpPr/>
          <p:nvPr/>
        </p:nvSpPr>
        <p:spPr>
          <a:xfrm>
            <a:off x="4337304" y="1417320"/>
            <a:ext cx="3514344" cy="2286000"/>
          </a:xfrm>
          <a:prstGeom prst="roundRect">
            <a:avLst>
              <a:gd name="adj" fmla="val 4800"/>
            </a:avLst>
          </a:prstGeom>
          <a:solidFill>
            <a:srgbClr val="EEF3F6"/>
          </a:solidFill>
          <a:ln w="12700">
            <a:solidFill>
              <a:srgbClr val="EEF3F6"/>
            </a:solidFill>
            <a:prstDash val="solid"/>
          </a:ln>
        </p:spPr>
      </p:sp>
      <p:sp>
        <p:nvSpPr>
          <p:cNvPr id="8" name="Text 6"/>
          <p:cNvSpPr/>
          <p:nvPr/>
        </p:nvSpPr>
        <p:spPr>
          <a:xfrm>
            <a:off x="4565904" y="1645920"/>
            <a:ext cx="457200" cy="457200"/>
          </a:xfrm>
          <a:prstGeom prst="ellipse">
            <a:avLst/>
          </a:prstGeom>
          <a:solidFill>
            <a:srgbClr val="F29E4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9" name="Text 7"/>
          <p:cNvSpPr txBox="1"/>
          <p:nvPr/>
        </p:nvSpPr>
        <p:spPr>
          <a:xfrm>
            <a:off x="5160264" y="1554480"/>
            <a:ext cx="2508504"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Privacy</a:t>
            </a:r>
            <a:endParaRPr lang="en-US" sz="2000" dirty="0"/>
          </a:p>
        </p:txBody>
      </p:sp>
      <p:sp>
        <p:nvSpPr>
          <p:cNvPr id="10" name="Text 8"/>
          <p:cNvSpPr txBox="1"/>
          <p:nvPr/>
        </p:nvSpPr>
        <p:spPr>
          <a:xfrm>
            <a:off x="4565904" y="2331720"/>
            <a:ext cx="3057144"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Collect only what the purpose needs and share it only with those who need it.</a:t>
            </a:r>
            <a:endParaRPr lang="en-US" sz="2000" dirty="0"/>
          </a:p>
        </p:txBody>
      </p:sp>
      <p:sp>
        <p:nvSpPr>
          <p:cNvPr id="11" name="Shape 9"/>
          <p:cNvSpPr/>
          <p:nvPr/>
        </p:nvSpPr>
        <p:spPr>
          <a:xfrm>
            <a:off x="8125968" y="1417320"/>
            <a:ext cx="3514344" cy="2286000"/>
          </a:xfrm>
          <a:prstGeom prst="roundRect">
            <a:avLst>
              <a:gd name="adj" fmla="val 4800"/>
            </a:avLst>
          </a:prstGeom>
          <a:solidFill>
            <a:srgbClr val="EEF3F6"/>
          </a:solidFill>
          <a:ln w="12700">
            <a:solidFill>
              <a:srgbClr val="EEF3F6"/>
            </a:solidFill>
            <a:prstDash val="solid"/>
          </a:ln>
        </p:spPr>
      </p:sp>
      <p:sp>
        <p:nvSpPr>
          <p:cNvPr id="12" name="Text 10"/>
          <p:cNvSpPr/>
          <p:nvPr/>
        </p:nvSpPr>
        <p:spPr>
          <a:xfrm>
            <a:off x="8354568" y="1645920"/>
            <a:ext cx="457200" cy="457200"/>
          </a:xfrm>
          <a:prstGeom prst="ellipse">
            <a:avLst/>
          </a:prstGeom>
          <a:solidFill>
            <a:srgbClr val="3A5BA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3" name="Text 11"/>
          <p:cNvSpPr txBox="1"/>
          <p:nvPr/>
        </p:nvSpPr>
        <p:spPr>
          <a:xfrm>
            <a:off x="8948928" y="1554480"/>
            <a:ext cx="2508504"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Anonymity</a:t>
            </a:r>
            <a:endParaRPr lang="en-US" sz="2000" dirty="0"/>
          </a:p>
        </p:txBody>
      </p:sp>
      <p:sp>
        <p:nvSpPr>
          <p:cNvPr id="14" name="Text 12"/>
          <p:cNvSpPr txBox="1"/>
          <p:nvPr/>
        </p:nvSpPr>
        <p:spPr>
          <a:xfrm>
            <a:off x="8354568" y="2331720"/>
            <a:ext cx="3057144"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Remove or hide identity so no answer can be traced back to a person.</a:t>
            </a:r>
            <a:endParaRPr lang="en-US" sz="2000" dirty="0"/>
          </a:p>
        </p:txBody>
      </p:sp>
      <p:sp>
        <p:nvSpPr>
          <p:cNvPr id="15" name="Shape 13"/>
          <p:cNvSpPr/>
          <p:nvPr/>
        </p:nvSpPr>
        <p:spPr>
          <a:xfrm>
            <a:off x="548640" y="3977640"/>
            <a:ext cx="3514344" cy="2286000"/>
          </a:xfrm>
          <a:prstGeom prst="roundRect">
            <a:avLst>
              <a:gd name="adj" fmla="val 4800"/>
            </a:avLst>
          </a:prstGeom>
          <a:solidFill>
            <a:srgbClr val="EEF3F6"/>
          </a:solidFill>
          <a:ln w="12700">
            <a:solidFill>
              <a:srgbClr val="EEF3F6"/>
            </a:solidFill>
            <a:prstDash val="solid"/>
          </a:ln>
        </p:spPr>
      </p:sp>
      <p:sp>
        <p:nvSpPr>
          <p:cNvPr id="16" name="Text 14"/>
          <p:cNvSpPr/>
          <p:nvPr/>
        </p:nvSpPr>
        <p:spPr>
          <a:xfrm>
            <a:off x="777240" y="4206240"/>
            <a:ext cx="457200" cy="457200"/>
          </a:xfrm>
          <a:prstGeom prst="ellipse">
            <a:avLst/>
          </a:prstGeom>
          <a:solidFill>
            <a:srgbClr val="C8553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7" name="Text 15"/>
          <p:cNvSpPr txBox="1"/>
          <p:nvPr/>
        </p:nvSpPr>
        <p:spPr>
          <a:xfrm>
            <a:off x="1371600" y="4114800"/>
            <a:ext cx="2508504"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Fairness and bias</a:t>
            </a:r>
            <a:endParaRPr lang="en-US" sz="2000" dirty="0"/>
          </a:p>
        </p:txBody>
      </p:sp>
      <p:sp>
        <p:nvSpPr>
          <p:cNvPr id="18" name="Text 16"/>
          <p:cNvSpPr txBox="1"/>
          <p:nvPr/>
        </p:nvSpPr>
        <p:spPr>
          <a:xfrm>
            <a:off x="777240" y="4892040"/>
            <a:ext cx="3057144"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Collect from the right mix of people and do not use data to treat groups unfairly.</a:t>
            </a:r>
            <a:endParaRPr lang="en-US" sz="2000" dirty="0"/>
          </a:p>
        </p:txBody>
      </p:sp>
      <p:sp>
        <p:nvSpPr>
          <p:cNvPr id="19" name="Shape 17"/>
          <p:cNvSpPr/>
          <p:nvPr/>
        </p:nvSpPr>
        <p:spPr>
          <a:xfrm>
            <a:off x="4337304" y="3977640"/>
            <a:ext cx="3514344" cy="2286000"/>
          </a:xfrm>
          <a:prstGeom prst="roundRect">
            <a:avLst>
              <a:gd name="adj" fmla="val 4800"/>
            </a:avLst>
          </a:prstGeom>
          <a:solidFill>
            <a:srgbClr val="EEF3F6"/>
          </a:solidFill>
          <a:ln w="12700">
            <a:solidFill>
              <a:srgbClr val="EEF3F6"/>
            </a:solidFill>
            <a:prstDash val="solid"/>
          </a:ln>
        </p:spPr>
      </p:sp>
      <p:sp>
        <p:nvSpPr>
          <p:cNvPr id="20" name="Text 18"/>
          <p:cNvSpPr/>
          <p:nvPr/>
        </p:nvSpPr>
        <p:spPr>
          <a:xfrm>
            <a:off x="4565904" y="4206240"/>
            <a:ext cx="457200" cy="457200"/>
          </a:xfrm>
          <a:prstGeom prst="ellipse">
            <a:avLst/>
          </a:prstGeom>
          <a:solidFill>
            <a:srgbClr val="6E9B2F"/>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1" name="Text 19"/>
          <p:cNvSpPr txBox="1"/>
          <p:nvPr/>
        </p:nvSpPr>
        <p:spPr>
          <a:xfrm>
            <a:off x="5160264" y="4114800"/>
            <a:ext cx="2508504"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Data protection</a:t>
            </a:r>
            <a:endParaRPr lang="en-US" sz="2000" dirty="0"/>
          </a:p>
        </p:txBody>
      </p:sp>
      <p:sp>
        <p:nvSpPr>
          <p:cNvPr id="22" name="Text 20"/>
          <p:cNvSpPr txBox="1"/>
          <p:nvPr/>
        </p:nvSpPr>
        <p:spPr>
          <a:xfrm>
            <a:off x="4565904" y="4892040"/>
            <a:ext cx="3057144"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Store data safely, limit access, delete it when no longer needed and report leaks.</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Anonymous, confidential, pseudonymised</a:t>
            </a:r>
            <a:endParaRPr lang="en-US" sz="2800" dirty="0"/>
          </a:p>
        </p:txBody>
      </p:sp>
      <p:sp>
        <p:nvSpPr>
          <p:cNvPr id="3" name="Shape 1"/>
          <p:cNvSpPr/>
          <p:nvPr/>
        </p:nvSpPr>
        <p:spPr>
          <a:xfrm>
            <a:off x="548640" y="1417320"/>
            <a:ext cx="5385816" cy="3886200"/>
          </a:xfrm>
          <a:prstGeom prst="roundRect">
            <a:avLst>
              <a:gd name="adj" fmla="val 2824"/>
            </a:avLst>
          </a:prstGeom>
          <a:solidFill>
            <a:srgbClr val="EEF3F6"/>
          </a:solidFill>
          <a:ln w="12700">
            <a:solidFill>
              <a:srgbClr val="EEF3F6"/>
            </a:solidFill>
            <a:prstDash val="solid"/>
          </a:ln>
        </p:spPr>
      </p:sp>
      <p:sp>
        <p:nvSpPr>
          <p:cNvPr id="4" name="Shape 2"/>
          <p:cNvSpPr/>
          <p:nvPr/>
        </p:nvSpPr>
        <p:spPr>
          <a:xfrm>
            <a:off x="548640" y="1417320"/>
            <a:ext cx="5385816" cy="640080"/>
          </a:xfrm>
          <a:prstGeom prst="roundRect">
            <a:avLst>
              <a:gd name="adj" fmla="val 17143"/>
            </a:avLst>
          </a:prstGeom>
          <a:solidFill>
            <a:srgbClr val="0F8B8D"/>
          </a:solidFill>
          <a:ln w="12700">
            <a:solidFill>
              <a:srgbClr val="0F8B8D"/>
            </a:solidFill>
            <a:prstDash val="solid"/>
          </a:ln>
        </p:spPr>
      </p:sp>
      <p:sp>
        <p:nvSpPr>
          <p:cNvPr id="5" name="Text 3"/>
          <p:cNvSpPr txBox="1"/>
          <p:nvPr/>
        </p:nvSpPr>
        <p:spPr>
          <a:xfrm>
            <a:off x="822960" y="1417320"/>
            <a:ext cx="4837176" cy="6400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Anonymous</a:t>
            </a:r>
            <a:endParaRPr lang="en-US" sz="2000" dirty="0"/>
          </a:p>
        </p:txBody>
      </p:sp>
      <p:sp>
        <p:nvSpPr>
          <p:cNvPr id="6" name="Text 4"/>
          <p:cNvSpPr txBox="1"/>
          <p:nvPr/>
        </p:nvSpPr>
        <p:spPr>
          <a:xfrm>
            <a:off x="822960" y="2240280"/>
            <a:ext cx="4837176" cy="2926080"/>
          </a:xfrm>
          <a:prstGeom prst="rect">
            <a:avLst/>
          </a:prstGeom>
          <a:noFill/>
          <a:ln/>
        </p:spPr>
        <p:txBody>
          <a:bodyPr wrap="square" lIns="0" tIns="0" rIns="0" bIns="0" rtlCol="0" anchor="t"/>
          <a:lstStyle/>
          <a:p>
            <a:pPr marL="228600" indent="-228600">
              <a:spcAft>
                <a:spcPts val="800"/>
              </a:spcAft>
              <a:buSzPct val="100000"/>
              <a:buChar char="•"/>
            </a:pPr>
            <a:r>
              <a:rPr lang="en-US" sz="2200" dirty="0">
                <a:solidFill>
                  <a:srgbClr val="2B3A4F"/>
                </a:solidFill>
                <a:latin typeface="Calibri" pitchFamily="34" charset="0"/>
                <a:ea typeface="Calibri" pitchFamily="34" charset="-122"/>
                <a:cs typeface="Calibri" pitchFamily="34" charset="-120"/>
              </a:rPr>
              <a:t>Nobody, including you, can tell who answered.</a:t>
            </a:r>
            <a:endParaRPr lang="en-US" sz="2200" dirty="0"/>
          </a:p>
          <a:p>
            <a:pPr marL="228600" indent="-228600">
              <a:spcAft>
                <a:spcPts val="800"/>
              </a:spcAft>
              <a:buSzPct val="100000"/>
              <a:buChar char="•"/>
            </a:pPr>
            <a:r>
              <a:rPr lang="en-US" sz="2200" b="1" dirty="0">
                <a:solidFill>
                  <a:srgbClr val="14213D"/>
                </a:solidFill>
                <a:latin typeface="Calibri" pitchFamily="34" charset="0"/>
                <a:ea typeface="Calibri" pitchFamily="34" charset="-122"/>
                <a:cs typeface="Calibri" pitchFamily="34" charset="-120"/>
              </a:rPr>
              <a:t>Example: </a:t>
            </a:r>
            <a:pPr indent="0" marL="0">
              <a:buNone/>
            </a:pPr>
            <a:r>
              <a:rPr lang="en-US" sz="2200" dirty="0">
                <a:solidFill>
                  <a:srgbClr val="2B3A4F"/>
                </a:solidFill>
                <a:latin typeface="Calibri" pitchFamily="34" charset="0"/>
                <a:ea typeface="Calibri" pitchFamily="34" charset="-122"/>
                <a:cs typeface="Calibri" pitchFamily="34" charset="-120"/>
              </a:rPr>
              <a:t>a paper form dropped in a box with no name or ID.</a:t>
            </a:r>
            <a:endParaRPr lang="en-US" sz="2200" dirty="0"/>
          </a:p>
          <a:p>
            <a:pPr marL="228600" indent="-228600">
              <a:buSzPct val="100000"/>
              <a:buChar char="•"/>
            </a:pPr>
            <a:r>
              <a:rPr lang="en-US" sz="2200" dirty="0">
                <a:solidFill>
                  <a:srgbClr val="2B3A4F"/>
                </a:solidFill>
                <a:latin typeface="Calibri" pitchFamily="34" charset="0"/>
                <a:ea typeface="Calibri" pitchFamily="34" charset="-122"/>
                <a:cs typeface="Calibri" pitchFamily="34" charset="-120"/>
              </a:rPr>
              <a:t>Cannot be undone, so you cannot follow up or delete one person's answer.</a:t>
            </a:r>
            <a:endParaRPr lang="en-US" sz="2200" dirty="0"/>
          </a:p>
        </p:txBody>
      </p:sp>
      <p:sp>
        <p:nvSpPr>
          <p:cNvPr id="7" name="Shape 5"/>
          <p:cNvSpPr/>
          <p:nvPr/>
        </p:nvSpPr>
        <p:spPr>
          <a:xfrm>
            <a:off x="6254496" y="1417320"/>
            <a:ext cx="5385816" cy="3886200"/>
          </a:xfrm>
          <a:prstGeom prst="roundRect">
            <a:avLst>
              <a:gd name="adj" fmla="val 2824"/>
            </a:avLst>
          </a:prstGeom>
          <a:solidFill>
            <a:srgbClr val="EEF3F6"/>
          </a:solidFill>
          <a:ln w="12700">
            <a:solidFill>
              <a:srgbClr val="EEF3F6"/>
            </a:solidFill>
            <a:prstDash val="solid"/>
          </a:ln>
        </p:spPr>
      </p:sp>
      <p:sp>
        <p:nvSpPr>
          <p:cNvPr id="8" name="Shape 6"/>
          <p:cNvSpPr/>
          <p:nvPr/>
        </p:nvSpPr>
        <p:spPr>
          <a:xfrm>
            <a:off x="6254496" y="1417320"/>
            <a:ext cx="5385816" cy="640080"/>
          </a:xfrm>
          <a:prstGeom prst="roundRect">
            <a:avLst>
              <a:gd name="adj" fmla="val 17143"/>
            </a:avLst>
          </a:prstGeom>
          <a:solidFill>
            <a:srgbClr val="3A5BA0"/>
          </a:solidFill>
          <a:ln w="12700">
            <a:solidFill>
              <a:srgbClr val="3A5BA0"/>
            </a:solidFill>
            <a:prstDash val="solid"/>
          </a:ln>
        </p:spPr>
      </p:sp>
      <p:sp>
        <p:nvSpPr>
          <p:cNvPr id="9" name="Text 7"/>
          <p:cNvSpPr txBox="1"/>
          <p:nvPr/>
        </p:nvSpPr>
        <p:spPr>
          <a:xfrm>
            <a:off x="6528816" y="1417320"/>
            <a:ext cx="4837176" cy="6400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Confidential or pseudonymised</a:t>
            </a:r>
            <a:endParaRPr lang="en-US" sz="2000" dirty="0"/>
          </a:p>
        </p:txBody>
      </p:sp>
      <p:sp>
        <p:nvSpPr>
          <p:cNvPr id="10" name="Text 8"/>
          <p:cNvSpPr txBox="1"/>
          <p:nvPr/>
        </p:nvSpPr>
        <p:spPr>
          <a:xfrm>
            <a:off x="6528816" y="2240280"/>
            <a:ext cx="4837176" cy="2926080"/>
          </a:xfrm>
          <a:prstGeom prst="rect">
            <a:avLst/>
          </a:prstGeom>
          <a:noFill/>
          <a:ln/>
        </p:spPr>
        <p:txBody>
          <a:bodyPr wrap="square" lIns="0" tIns="0" rIns="0" bIns="0" rtlCol="0" anchor="t"/>
          <a:lstStyle/>
          <a:p>
            <a:pPr marL="228600" indent="-228600">
              <a:spcAft>
                <a:spcPts val="800"/>
              </a:spcAft>
              <a:buSzPct val="100000"/>
              <a:buChar char="•"/>
            </a:pPr>
            <a:r>
              <a:rPr lang="en-US" sz="2200" dirty="0">
                <a:solidFill>
                  <a:srgbClr val="2B3A4F"/>
                </a:solidFill>
                <a:latin typeface="Calibri" pitchFamily="34" charset="0"/>
                <a:ea typeface="Calibri" pitchFamily="34" charset="-122"/>
                <a:cs typeface="Calibri" pitchFamily="34" charset="-120"/>
              </a:rPr>
              <a:t>You know who answered, but you promise not to reveal it.</a:t>
            </a:r>
            <a:endParaRPr lang="en-US" sz="2200" dirty="0"/>
          </a:p>
          <a:p>
            <a:pPr marL="228600" indent="-228600">
              <a:spcAft>
                <a:spcPts val="800"/>
              </a:spcAft>
              <a:buSzPct val="100000"/>
              <a:buChar char="•"/>
            </a:pPr>
            <a:r>
              <a:rPr lang="en-US" sz="2200" b="1" dirty="0">
                <a:solidFill>
                  <a:srgbClr val="14213D"/>
                </a:solidFill>
                <a:latin typeface="Calibri" pitchFamily="34" charset="0"/>
                <a:ea typeface="Calibri" pitchFamily="34" charset="-122"/>
                <a:cs typeface="Calibri" pitchFamily="34" charset="-120"/>
              </a:rPr>
              <a:t>Pseudonymised: </a:t>
            </a:r>
            <a:pPr indent="0" marL="0">
              <a:buNone/>
            </a:pPr>
            <a:r>
              <a:rPr lang="en-US" sz="2200" dirty="0">
                <a:solidFill>
                  <a:srgbClr val="2B3A4F"/>
                </a:solidFill>
                <a:latin typeface="Calibri" pitchFamily="34" charset="0"/>
                <a:ea typeface="Calibri" pitchFamily="34" charset="-122"/>
                <a:cs typeface="Calibri" pitchFamily="34" charset="-120"/>
              </a:rPr>
              <a:t>names replaced by codes such as R017, with the key stored apart.</a:t>
            </a:r>
            <a:endParaRPr lang="en-US" sz="2200" dirty="0"/>
          </a:p>
          <a:p>
            <a:pPr marL="228600" indent="-228600">
              <a:buSzPct val="100000"/>
              <a:buChar char="•"/>
            </a:pPr>
            <a:r>
              <a:rPr lang="en-US" sz="2200" dirty="0">
                <a:solidFill>
                  <a:srgbClr val="2B3A4F"/>
                </a:solidFill>
                <a:latin typeface="Calibri" pitchFamily="34" charset="0"/>
                <a:ea typeface="Calibri" pitchFamily="34" charset="-122"/>
                <a:cs typeface="Calibri" pitchFamily="34" charset="-120"/>
              </a:rPr>
              <a:t>Can be re-linked, so it is still personal data and must be protected.</a:t>
            </a:r>
            <a:endParaRPr lang="en-US" sz="2200" dirty="0"/>
          </a:p>
        </p:txBody>
      </p:sp>
      <p:sp>
        <p:nvSpPr>
          <p:cNvPr id="11" name="Shape 9"/>
          <p:cNvSpPr/>
          <p:nvPr/>
        </p:nvSpPr>
        <p:spPr>
          <a:xfrm>
            <a:off x="548640" y="5532120"/>
            <a:ext cx="11091672" cy="731520"/>
          </a:xfrm>
          <a:prstGeom prst="roundRect">
            <a:avLst>
              <a:gd name="adj" fmla="val 15000"/>
            </a:avLst>
          </a:prstGeom>
          <a:solidFill>
            <a:srgbClr val="FDEBD6"/>
          </a:solidFill>
          <a:ln w="12700">
            <a:solidFill>
              <a:srgbClr val="FDEBD6"/>
            </a:solidFill>
            <a:prstDash val="solid"/>
          </a:ln>
        </p:spPr>
      </p:sp>
      <p:sp>
        <p:nvSpPr>
          <p:cNvPr id="12" name="Text 10"/>
          <p:cNvSpPr txBox="1"/>
          <p:nvPr/>
        </p:nvSpPr>
        <p:spPr>
          <a:xfrm>
            <a:off x="822960" y="5532120"/>
            <a:ext cx="10543032" cy="731520"/>
          </a:xfrm>
          <a:prstGeom prst="rect">
            <a:avLst/>
          </a:prstGeom>
          <a:noFill/>
          <a:ln/>
        </p:spPr>
        <p:txBody>
          <a:bodyPr wrap="square" lIns="0" tIns="0" rIns="0" bIns="0" rtlCol="0" anchor="ctr"/>
          <a:lstStyle/>
          <a:p>
            <a:pPr indent="0" marL="0">
              <a:buNone/>
            </a:pPr>
            <a:r>
              <a:rPr lang="en-US" sz="1700" dirty="0">
                <a:solidFill>
                  <a:srgbClr val="14213D"/>
                </a:solidFill>
                <a:latin typeface="Calibri" pitchFamily="34" charset="0"/>
                <a:ea typeface="Calibri" pitchFamily="34" charset="-122"/>
                <a:cs typeface="Calibri" pitchFamily="34" charset="-120"/>
              </a:rPr>
              <a:t>Never call data "anonymous" if a code key, email or phone number still exists somewhere.</a:t>
            </a:r>
            <a:endParaRPr lang="en-US" sz="17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A valid informed consent, step by step</a:t>
            </a:r>
            <a:endParaRPr lang="en-US" sz="2800" dirty="0"/>
          </a:p>
        </p:txBody>
      </p:sp>
      <p:sp>
        <p:nvSpPr>
          <p:cNvPr id="3" name="Shape 1"/>
          <p:cNvSpPr/>
          <p:nvPr/>
        </p:nvSpPr>
        <p:spPr>
          <a:xfrm>
            <a:off x="548640" y="1417320"/>
            <a:ext cx="2130552" cy="777240"/>
          </a:xfrm>
          <a:prstGeom prst="homePlate">
            <a:avLst/>
          </a:prstGeom>
          <a:solidFill>
            <a:srgbClr val="0F8B8D"/>
          </a:solidFill>
          <a:ln w="12700">
            <a:solidFill>
              <a:srgbClr val="0F8B8D"/>
            </a:solidFill>
            <a:prstDash val="solid"/>
          </a:ln>
        </p:spPr>
      </p:sp>
      <p:sp>
        <p:nvSpPr>
          <p:cNvPr id="4" name="Text 2"/>
          <p:cNvSpPr txBox="1"/>
          <p:nvPr/>
        </p:nvSpPr>
        <p:spPr>
          <a:xfrm>
            <a:off x="731520" y="1417320"/>
            <a:ext cx="158191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1  Say who and why</a:t>
            </a:r>
            <a:endParaRPr lang="en-US" sz="1700" dirty="0"/>
          </a:p>
        </p:txBody>
      </p:sp>
      <p:sp>
        <p:nvSpPr>
          <p:cNvPr id="5" name="Shape 3"/>
          <p:cNvSpPr/>
          <p:nvPr/>
        </p:nvSpPr>
        <p:spPr>
          <a:xfrm>
            <a:off x="548640" y="2331720"/>
            <a:ext cx="2084832" cy="2011680"/>
          </a:xfrm>
          <a:prstGeom prst="roundRect">
            <a:avLst>
              <a:gd name="adj" fmla="val 5455"/>
            </a:avLst>
          </a:prstGeom>
          <a:solidFill>
            <a:srgbClr val="EEF3F6"/>
          </a:solidFill>
          <a:ln w="12700">
            <a:solidFill>
              <a:srgbClr val="EEF3F6"/>
            </a:solidFill>
            <a:prstDash val="solid"/>
          </a:ln>
        </p:spPr>
      </p:sp>
      <p:sp>
        <p:nvSpPr>
          <p:cNvPr id="6" name="Text 4"/>
          <p:cNvSpPr txBox="1"/>
          <p:nvPr/>
        </p:nvSpPr>
        <p:spPr>
          <a:xfrm>
            <a:off x="731520" y="2468880"/>
            <a:ext cx="1719072" cy="173736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Name the person or group collecting data and the purpose in plain language.</a:t>
            </a:r>
            <a:endParaRPr lang="en-US" sz="1700" dirty="0"/>
          </a:p>
        </p:txBody>
      </p:sp>
      <p:sp>
        <p:nvSpPr>
          <p:cNvPr id="7" name="Shape 5"/>
          <p:cNvSpPr/>
          <p:nvPr/>
        </p:nvSpPr>
        <p:spPr>
          <a:xfrm>
            <a:off x="2788920" y="1417320"/>
            <a:ext cx="2130552" cy="777240"/>
          </a:xfrm>
          <a:prstGeom prst="homePlate">
            <a:avLst/>
          </a:prstGeom>
          <a:solidFill>
            <a:srgbClr val="F29E4C"/>
          </a:solidFill>
          <a:ln w="12700">
            <a:solidFill>
              <a:srgbClr val="F29E4C"/>
            </a:solidFill>
            <a:prstDash val="solid"/>
          </a:ln>
        </p:spPr>
      </p:sp>
      <p:sp>
        <p:nvSpPr>
          <p:cNvPr id="8" name="Text 6"/>
          <p:cNvSpPr txBox="1"/>
          <p:nvPr/>
        </p:nvSpPr>
        <p:spPr>
          <a:xfrm>
            <a:off x="2971800" y="1417320"/>
            <a:ext cx="158191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2  Say what and how long</a:t>
            </a:r>
            <a:endParaRPr lang="en-US" sz="1700" dirty="0"/>
          </a:p>
        </p:txBody>
      </p:sp>
      <p:sp>
        <p:nvSpPr>
          <p:cNvPr id="9" name="Shape 7"/>
          <p:cNvSpPr/>
          <p:nvPr/>
        </p:nvSpPr>
        <p:spPr>
          <a:xfrm>
            <a:off x="2788920" y="2331720"/>
            <a:ext cx="2084832" cy="2011680"/>
          </a:xfrm>
          <a:prstGeom prst="roundRect">
            <a:avLst>
              <a:gd name="adj" fmla="val 5455"/>
            </a:avLst>
          </a:prstGeom>
          <a:solidFill>
            <a:srgbClr val="EEF3F6"/>
          </a:solidFill>
          <a:ln w="12700">
            <a:solidFill>
              <a:srgbClr val="EEF3F6"/>
            </a:solidFill>
            <a:prstDash val="solid"/>
          </a:ln>
        </p:spPr>
      </p:sp>
      <p:sp>
        <p:nvSpPr>
          <p:cNvPr id="10" name="Text 8"/>
          <p:cNvSpPr txBox="1"/>
          <p:nvPr/>
        </p:nvSpPr>
        <p:spPr>
          <a:xfrm>
            <a:off x="2971800" y="2468880"/>
            <a:ext cx="1719072" cy="173736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List the data asked and how long it will be kept.</a:t>
            </a:r>
            <a:endParaRPr lang="en-US" sz="2000" dirty="0"/>
          </a:p>
        </p:txBody>
      </p:sp>
      <p:sp>
        <p:nvSpPr>
          <p:cNvPr id="11" name="Shape 9"/>
          <p:cNvSpPr/>
          <p:nvPr/>
        </p:nvSpPr>
        <p:spPr>
          <a:xfrm>
            <a:off x="5029200" y="1417320"/>
            <a:ext cx="2130552" cy="777240"/>
          </a:xfrm>
          <a:prstGeom prst="homePlate">
            <a:avLst/>
          </a:prstGeom>
          <a:solidFill>
            <a:srgbClr val="3A5BA0"/>
          </a:solidFill>
          <a:ln w="12700">
            <a:solidFill>
              <a:srgbClr val="3A5BA0"/>
            </a:solidFill>
            <a:prstDash val="solid"/>
          </a:ln>
        </p:spPr>
      </p:sp>
      <p:sp>
        <p:nvSpPr>
          <p:cNvPr id="12" name="Text 10"/>
          <p:cNvSpPr txBox="1"/>
          <p:nvPr/>
        </p:nvSpPr>
        <p:spPr>
          <a:xfrm>
            <a:off x="5212080" y="1417320"/>
            <a:ext cx="158191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3  Make it voluntary</a:t>
            </a:r>
            <a:endParaRPr lang="en-US" sz="1700" dirty="0"/>
          </a:p>
        </p:txBody>
      </p:sp>
      <p:sp>
        <p:nvSpPr>
          <p:cNvPr id="13" name="Shape 11"/>
          <p:cNvSpPr/>
          <p:nvPr/>
        </p:nvSpPr>
        <p:spPr>
          <a:xfrm>
            <a:off x="5029200" y="2331720"/>
            <a:ext cx="2084832" cy="2011680"/>
          </a:xfrm>
          <a:prstGeom prst="roundRect">
            <a:avLst>
              <a:gd name="adj" fmla="val 5455"/>
            </a:avLst>
          </a:prstGeom>
          <a:solidFill>
            <a:srgbClr val="EEF3F6"/>
          </a:solidFill>
          <a:ln w="12700">
            <a:solidFill>
              <a:srgbClr val="EEF3F6"/>
            </a:solidFill>
            <a:prstDash val="solid"/>
          </a:ln>
        </p:spPr>
      </p:sp>
      <p:sp>
        <p:nvSpPr>
          <p:cNvPr id="14" name="Text 12"/>
          <p:cNvSpPr txBox="1"/>
          <p:nvPr/>
        </p:nvSpPr>
        <p:spPr>
          <a:xfrm>
            <a:off x="5212080" y="2468880"/>
            <a:ext cx="1719072" cy="1737360"/>
          </a:xfrm>
          <a:prstGeom prst="rect">
            <a:avLst/>
          </a:prstGeom>
          <a:noFill/>
          <a:ln/>
        </p:spPr>
        <p:txBody>
          <a:bodyPr wrap="square" lIns="0" tIns="0" rIns="0" bIns="0" rtlCol="0" anchor="t"/>
          <a:lstStyle/>
          <a:p>
            <a:pPr indent="0" marL="0">
              <a:buNone/>
            </a:pPr>
            <a:r>
              <a:rPr lang="en-US" sz="1900" dirty="0">
                <a:solidFill>
                  <a:srgbClr val="2B3A4F"/>
                </a:solidFill>
                <a:latin typeface="Calibri" pitchFamily="34" charset="0"/>
                <a:ea typeface="Calibri" pitchFamily="34" charset="-122"/>
                <a:cs typeface="Calibri" pitchFamily="34" charset="-120"/>
              </a:rPr>
              <a:t>No marks, benefits or pressure. Skipping a question is allowed.</a:t>
            </a:r>
            <a:endParaRPr lang="en-US" sz="1900" dirty="0"/>
          </a:p>
        </p:txBody>
      </p:sp>
      <p:sp>
        <p:nvSpPr>
          <p:cNvPr id="15" name="Shape 13"/>
          <p:cNvSpPr/>
          <p:nvPr/>
        </p:nvSpPr>
        <p:spPr>
          <a:xfrm>
            <a:off x="7269480" y="1417320"/>
            <a:ext cx="2130552" cy="777240"/>
          </a:xfrm>
          <a:prstGeom prst="homePlate">
            <a:avLst/>
          </a:prstGeom>
          <a:solidFill>
            <a:srgbClr val="C8553D"/>
          </a:solidFill>
          <a:ln w="12700">
            <a:solidFill>
              <a:srgbClr val="C8553D"/>
            </a:solidFill>
            <a:prstDash val="solid"/>
          </a:ln>
        </p:spPr>
      </p:sp>
      <p:sp>
        <p:nvSpPr>
          <p:cNvPr id="16" name="Text 14"/>
          <p:cNvSpPr txBox="1"/>
          <p:nvPr/>
        </p:nvSpPr>
        <p:spPr>
          <a:xfrm>
            <a:off x="7452360" y="1417320"/>
            <a:ext cx="158191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4  Allow withdrawal</a:t>
            </a:r>
            <a:endParaRPr lang="en-US" sz="1700" dirty="0"/>
          </a:p>
        </p:txBody>
      </p:sp>
      <p:sp>
        <p:nvSpPr>
          <p:cNvPr id="17" name="Shape 15"/>
          <p:cNvSpPr/>
          <p:nvPr/>
        </p:nvSpPr>
        <p:spPr>
          <a:xfrm>
            <a:off x="7269480" y="2331720"/>
            <a:ext cx="2084832" cy="2011680"/>
          </a:xfrm>
          <a:prstGeom prst="roundRect">
            <a:avLst>
              <a:gd name="adj" fmla="val 5455"/>
            </a:avLst>
          </a:prstGeom>
          <a:solidFill>
            <a:srgbClr val="EEF3F6"/>
          </a:solidFill>
          <a:ln w="12700">
            <a:solidFill>
              <a:srgbClr val="EEF3F6"/>
            </a:solidFill>
            <a:prstDash val="solid"/>
          </a:ln>
        </p:spPr>
      </p:sp>
      <p:sp>
        <p:nvSpPr>
          <p:cNvPr id="18" name="Text 16"/>
          <p:cNvSpPr txBox="1"/>
          <p:nvPr/>
        </p:nvSpPr>
        <p:spPr>
          <a:xfrm>
            <a:off x="7452360" y="2468880"/>
            <a:ext cx="1719072" cy="1737360"/>
          </a:xfrm>
          <a:prstGeom prst="rect">
            <a:avLst/>
          </a:prstGeom>
          <a:noFill/>
          <a:ln/>
        </p:spPr>
        <p:txBody>
          <a:bodyPr wrap="square" lIns="0" tIns="0" rIns="0" bIns="0" rtlCol="0" anchor="t"/>
          <a:lstStyle/>
          <a:p>
            <a:pPr indent="0" marL="0">
              <a:buNone/>
            </a:pPr>
            <a:r>
              <a:rPr lang="en-US" sz="1900" dirty="0">
                <a:solidFill>
                  <a:srgbClr val="2B3A4F"/>
                </a:solidFill>
                <a:latin typeface="Calibri" pitchFamily="34" charset="0"/>
                <a:ea typeface="Calibri" pitchFamily="34" charset="-122"/>
                <a:cs typeface="Calibri" pitchFamily="34" charset="-120"/>
              </a:rPr>
              <a:t>Give a contact so people can ask to remove their answers.</a:t>
            </a:r>
            <a:endParaRPr lang="en-US" sz="1900" dirty="0"/>
          </a:p>
        </p:txBody>
      </p:sp>
      <p:sp>
        <p:nvSpPr>
          <p:cNvPr id="19" name="Shape 17"/>
          <p:cNvSpPr/>
          <p:nvPr/>
        </p:nvSpPr>
        <p:spPr>
          <a:xfrm>
            <a:off x="9509760" y="1417320"/>
            <a:ext cx="2130552" cy="777240"/>
          </a:xfrm>
          <a:prstGeom prst="homePlate">
            <a:avLst/>
          </a:prstGeom>
          <a:solidFill>
            <a:srgbClr val="6E9B2F"/>
          </a:solidFill>
          <a:ln w="12700">
            <a:solidFill>
              <a:srgbClr val="6E9B2F"/>
            </a:solidFill>
            <a:prstDash val="solid"/>
          </a:ln>
        </p:spPr>
      </p:sp>
      <p:sp>
        <p:nvSpPr>
          <p:cNvPr id="20" name="Text 18"/>
          <p:cNvSpPr txBox="1"/>
          <p:nvPr/>
        </p:nvSpPr>
        <p:spPr>
          <a:xfrm>
            <a:off x="9692640" y="1417320"/>
            <a:ext cx="158191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5  Record the consent</a:t>
            </a:r>
            <a:endParaRPr lang="en-US" sz="1700" dirty="0"/>
          </a:p>
        </p:txBody>
      </p:sp>
      <p:sp>
        <p:nvSpPr>
          <p:cNvPr id="21" name="Shape 19"/>
          <p:cNvSpPr/>
          <p:nvPr/>
        </p:nvSpPr>
        <p:spPr>
          <a:xfrm>
            <a:off x="9509760" y="2331720"/>
            <a:ext cx="2084832" cy="2011680"/>
          </a:xfrm>
          <a:prstGeom prst="roundRect">
            <a:avLst>
              <a:gd name="adj" fmla="val 5455"/>
            </a:avLst>
          </a:prstGeom>
          <a:solidFill>
            <a:srgbClr val="EEF3F6"/>
          </a:solidFill>
          <a:ln w="12700">
            <a:solidFill>
              <a:srgbClr val="EEF3F6"/>
            </a:solidFill>
            <a:prstDash val="solid"/>
          </a:ln>
        </p:spPr>
      </p:sp>
      <p:sp>
        <p:nvSpPr>
          <p:cNvPr id="22" name="Text 20"/>
          <p:cNvSpPr txBox="1"/>
          <p:nvPr/>
        </p:nvSpPr>
        <p:spPr>
          <a:xfrm>
            <a:off x="9692640" y="2468880"/>
            <a:ext cx="1719072" cy="173736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Use a tick box or signed form. Silence is not consent.</a:t>
            </a:r>
            <a:endParaRPr lang="en-US" sz="2000" dirty="0"/>
          </a:p>
        </p:txBody>
      </p:sp>
      <p:sp>
        <p:nvSpPr>
          <p:cNvPr id="23" name="Shape 21"/>
          <p:cNvSpPr/>
          <p:nvPr/>
        </p:nvSpPr>
        <p:spPr>
          <a:xfrm>
            <a:off x="548640" y="4617720"/>
            <a:ext cx="11091672" cy="777240"/>
          </a:xfrm>
          <a:prstGeom prst="roundRect">
            <a:avLst>
              <a:gd name="adj" fmla="val 14118"/>
            </a:avLst>
          </a:prstGeom>
          <a:solidFill>
            <a:srgbClr val="DDF0F0"/>
          </a:solidFill>
          <a:ln w="12700">
            <a:solidFill>
              <a:srgbClr val="DDF0F0"/>
            </a:solidFill>
            <a:prstDash val="solid"/>
          </a:ln>
        </p:spPr>
      </p:sp>
      <p:sp>
        <p:nvSpPr>
          <p:cNvPr id="24" name="Text 22"/>
          <p:cNvSpPr txBox="1"/>
          <p:nvPr/>
        </p:nvSpPr>
        <p:spPr>
          <a:xfrm>
            <a:off x="822960" y="4617720"/>
            <a:ext cx="10543032" cy="777240"/>
          </a:xfrm>
          <a:prstGeom prst="rect">
            <a:avLst/>
          </a:prstGeom>
          <a:noFill/>
          <a:ln/>
        </p:spPr>
        <p:txBody>
          <a:bodyPr wrap="square" lIns="0" tIns="0" rIns="0" bIns="0" rtlCol="0" anchor="ctr"/>
          <a:lstStyle/>
          <a:p>
            <a:pPr indent="0" marL="0">
              <a:buNone/>
            </a:pPr>
            <a:r>
              <a:rPr lang="en-US" sz="1700" dirty="0">
                <a:solidFill>
                  <a:srgbClr val="14213D"/>
                </a:solidFill>
                <a:latin typeface="Calibri" pitchFamily="34" charset="0"/>
                <a:ea typeface="Calibri" pitchFamily="34" charset="-122"/>
                <a:cs typeface="Calibri" pitchFamily="34" charset="-120"/>
              </a:rPr>
              <a:t>For minors, consent must come from a parent or guardian. A college project with school students needs this too.</a:t>
            </a:r>
            <a:endParaRPr lang="en-US" sz="17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Data minimisation: ask only what you need</a:t>
            </a:r>
            <a:endParaRPr lang="en-US" sz="2800" dirty="0"/>
          </a:p>
        </p:txBody>
      </p:sp>
      <p:sp>
        <p:nvSpPr>
          <p:cNvPr id="3" name="Shape 1"/>
          <p:cNvSpPr/>
          <p:nvPr/>
        </p:nvSpPr>
        <p:spPr>
          <a:xfrm>
            <a:off x="548640" y="1417320"/>
            <a:ext cx="5385816" cy="457200"/>
          </a:xfrm>
          <a:prstGeom prst="roundRect">
            <a:avLst>
              <a:gd name="adj" fmla="val 24000"/>
            </a:avLst>
          </a:prstGeom>
          <a:solidFill>
            <a:srgbClr val="C8553D"/>
          </a:solidFill>
          <a:ln w="12700">
            <a:solidFill>
              <a:srgbClr val="C8553D"/>
            </a:solidFill>
            <a:prstDash val="solid"/>
          </a:ln>
        </p:spPr>
      </p:sp>
      <p:sp>
        <p:nvSpPr>
          <p:cNvPr id="4" name="Text 2"/>
          <p:cNvSpPr txBox="1"/>
          <p:nvPr/>
        </p:nvSpPr>
        <p:spPr>
          <a:xfrm>
            <a:off x="731520" y="1417320"/>
            <a:ext cx="5020056" cy="457200"/>
          </a:xfrm>
          <a:prstGeom prst="rect">
            <a:avLst/>
          </a:prstGeom>
          <a:noFill/>
          <a:ln/>
        </p:spPr>
        <p:txBody>
          <a:bodyPr wrap="square" lIns="0" tIns="0" rIns="0" bIns="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Before: canteen survey (too much)</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5385816" cy="914400"/>
        </p:xfrm>
        <a:graphic>
          <a:graphicData uri="http://schemas.openxmlformats.org/drawingml/2006/table">
            <a:tbl>
              <a:tblPr/>
              <a:tblGrid>
                <a:gridCol w="3753751"/>
                <a:gridCol w="1632065"/>
              </a:tblGrid>
              <a:tr h="384048">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Field</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8A3A29"/>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Needed?</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8A3A29"/>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Full name</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Phone number</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Monthly family income</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Course and year</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Meals per week</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Rating of food (1 to 5)</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bl>
          </a:graphicData>
        </a:graphic>
      </p:graphicFrame>
      <p:sp>
        <p:nvSpPr>
          <p:cNvPr id="6" name="Shape 3"/>
          <p:cNvSpPr/>
          <p:nvPr/>
        </p:nvSpPr>
        <p:spPr>
          <a:xfrm>
            <a:off x="6254496" y="1417320"/>
            <a:ext cx="5385816" cy="457200"/>
          </a:xfrm>
          <a:prstGeom prst="roundRect">
            <a:avLst>
              <a:gd name="adj" fmla="val 24000"/>
            </a:avLst>
          </a:prstGeom>
          <a:solidFill>
            <a:srgbClr val="0F8B8D"/>
          </a:solidFill>
          <a:ln w="12700">
            <a:solidFill>
              <a:srgbClr val="0F8B8D"/>
            </a:solidFill>
            <a:prstDash val="solid"/>
          </a:ln>
        </p:spPr>
      </p:sp>
      <p:sp>
        <p:nvSpPr>
          <p:cNvPr id="7" name="Text 4"/>
          <p:cNvSpPr txBox="1"/>
          <p:nvPr/>
        </p:nvSpPr>
        <p:spPr>
          <a:xfrm>
            <a:off x="6437376" y="1417320"/>
            <a:ext cx="5020056" cy="457200"/>
          </a:xfrm>
          <a:prstGeom prst="rect">
            <a:avLst/>
          </a:prstGeom>
          <a:noFill/>
          <a:ln/>
        </p:spPr>
        <p:txBody>
          <a:bodyPr wrap="square" lIns="0" tIns="0" rIns="0" bIns="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After: same goal, less risk</a:t>
            </a:r>
            <a:endParaRPr lang="en-US" sz="160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6254496" y="2011680"/>
          <a:ext cx="5385816" cy="914400"/>
        </p:xfrm>
        <a:graphic>
          <a:graphicData uri="http://schemas.openxmlformats.org/drawingml/2006/table">
            <a:tbl>
              <a:tblPr/>
              <a:tblGrid>
                <a:gridCol w="3753751"/>
                <a:gridCol w="1632065"/>
              </a:tblGrid>
              <a:tr h="384048">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Field</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0B6E6E"/>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Kept</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0B6E6E"/>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Course and year</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Meals per week</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Rating of food (1 to 5)</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Open comment</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Optional</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384048">
                <a:tc>
                  <a:txBody>
                    <a:bodyPr/>
                    <a:lstStyle/>
                    <a:p>
                      <a:pPr algn="l" indent="0" marL="0">
                        <a:buNone/>
                      </a:pP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bl>
          </a:graphicData>
        </a:graphic>
      </p:graphicFrame>
      <p:sp>
        <p:nvSpPr>
          <p:cNvPr id="9" name="Shape 5"/>
          <p:cNvSpPr/>
          <p:nvPr/>
        </p:nvSpPr>
        <p:spPr>
          <a:xfrm>
            <a:off x="548640" y="5623560"/>
            <a:ext cx="11091672" cy="640080"/>
          </a:xfrm>
          <a:prstGeom prst="roundRect">
            <a:avLst>
              <a:gd name="adj" fmla="val 17143"/>
            </a:avLst>
          </a:prstGeom>
          <a:solidFill>
            <a:srgbClr val="FDEBD6"/>
          </a:solidFill>
          <a:ln w="12700">
            <a:solidFill>
              <a:srgbClr val="FDEBD6"/>
            </a:solidFill>
            <a:prstDash val="solid"/>
          </a:ln>
        </p:spPr>
      </p:sp>
      <p:sp>
        <p:nvSpPr>
          <p:cNvPr id="10" name="Text 6"/>
          <p:cNvSpPr txBox="1"/>
          <p:nvPr/>
        </p:nvSpPr>
        <p:spPr>
          <a:xfrm>
            <a:off x="822960" y="5623560"/>
            <a:ext cx="10543032" cy="640080"/>
          </a:xfrm>
          <a:prstGeom prst="rect">
            <a:avLst/>
          </a:prstGeom>
          <a:noFill/>
          <a:ln/>
        </p:spPr>
        <p:txBody>
          <a:bodyPr wrap="square" lIns="0" tIns="0" rIns="0" bIns="0" rtlCol="0" anchor="ctr"/>
          <a:lstStyle/>
          <a:p>
            <a:pPr indent="0" marL="0">
              <a:buNone/>
            </a:pPr>
            <a:r>
              <a:rPr lang="en-US" sz="1600" dirty="0">
                <a:solidFill>
                  <a:srgbClr val="14213D"/>
                </a:solidFill>
                <a:latin typeface="Calibri" pitchFamily="34" charset="0"/>
                <a:ea typeface="Calibri" pitchFamily="34" charset="-122"/>
                <a:cs typeface="Calibri" pitchFamily="34" charset="-120"/>
              </a:rPr>
              <a:t>Goal: improve food quality. Name, phone and income do not help, so they are dropped.</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Worked example: small groups reveal identity</a:t>
            </a:r>
            <a:endParaRPr lang="en-US" sz="2800" dirty="0"/>
          </a:p>
        </p:txBody>
      </p:sp>
      <p:sp>
        <p:nvSpPr>
          <p:cNvPr id="3" name="Shape 1"/>
          <p:cNvSpPr/>
          <p:nvPr/>
        </p:nvSpPr>
        <p:spPr>
          <a:xfrm>
            <a:off x="548640" y="1417320"/>
            <a:ext cx="11091672" cy="914400"/>
          </a:xfrm>
          <a:prstGeom prst="roundRect">
            <a:avLst>
              <a:gd name="adj" fmla="val 12000"/>
            </a:avLst>
          </a:prstGeom>
          <a:solidFill>
            <a:srgbClr val="FDEBD6"/>
          </a:solidFill>
          <a:ln w="12700">
            <a:solidFill>
              <a:srgbClr val="FDEBD6"/>
            </a:solidFill>
            <a:prstDash val="solid"/>
          </a:ln>
        </p:spPr>
      </p:sp>
      <p:sp>
        <p:nvSpPr>
          <p:cNvPr id="4" name="Text 2"/>
          <p:cNvSpPr txBox="1"/>
          <p:nvPr/>
        </p:nvSpPr>
        <p:spPr>
          <a:xfrm>
            <a:off x="777240" y="1417320"/>
            <a:ext cx="1554480" cy="91440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WORKED EXAMPLE</a:t>
            </a:r>
            <a:endParaRPr lang="en-US" sz="1200" dirty="0"/>
          </a:p>
        </p:txBody>
      </p:sp>
      <p:sp>
        <p:nvSpPr>
          <p:cNvPr id="5" name="Text 3"/>
          <p:cNvSpPr txBox="1"/>
          <p:nvPr/>
        </p:nvSpPr>
        <p:spPr>
          <a:xfrm>
            <a:off x="2468880" y="1417320"/>
            <a:ext cx="8988552" cy="914400"/>
          </a:xfrm>
          <a:prstGeom prst="rect">
            <a:avLst/>
          </a:prstGeom>
          <a:noFill/>
          <a:ln/>
        </p:spPr>
        <p:txBody>
          <a:bodyPr wrap="square" lIns="0" tIns="0" rIns="0" bIns="0" rtlCol="0" anchor="ctr"/>
          <a:lstStyle/>
          <a:p>
            <a:pPr indent="0" marL="0">
              <a:buNone/>
            </a:pPr>
            <a:r>
              <a:rPr lang="en-US" sz="1800" dirty="0">
                <a:solidFill>
                  <a:srgbClr val="14213D"/>
                </a:solidFill>
                <a:latin typeface="Calibri" pitchFamily="34" charset="0"/>
                <a:ea typeface="Calibri" pitchFamily="34" charset="-122"/>
                <a:cs typeface="Calibri" pitchFamily="34" charset="-120"/>
              </a:rPr>
              <a:t>A college shares survey results by course, semester and gender (illustrative, 200 respondents). Some groups are very small.</a:t>
            </a:r>
            <a:endParaRPr lang="en-US" sz="1800" dirty="0"/>
          </a:p>
        </p:txBody>
      </p:sp>
      <p:sp>
        <p:nvSpPr>
          <p:cNvPr id="6" name="Text 4"/>
          <p:cNvSpPr txBox="1"/>
          <p:nvPr/>
        </p:nvSpPr>
        <p:spPr>
          <a:xfrm>
            <a:off x="548640" y="2606040"/>
            <a:ext cx="6675120" cy="3657600"/>
          </a:xfrm>
          <a:prstGeom prst="rect">
            <a:avLst/>
          </a:prstGeom>
          <a:noFill/>
          <a:ln/>
        </p:spPr>
        <p:txBody>
          <a:bodyPr wrap="square" lIns="0" tIns="0" rIns="0" bIns="0" rtlCol="0" anchor="t"/>
          <a:lstStyle/>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Group sizes: </a:t>
            </a:r>
            <a:pPr indent="0" marL="0">
              <a:buNone/>
            </a:pPr>
            <a:r>
              <a:rPr lang="en-US" sz="2200" dirty="0">
                <a:solidFill>
                  <a:srgbClr val="2B3A4F"/>
                </a:solidFill>
                <a:latin typeface="Calibri" pitchFamily="34" charset="0"/>
                <a:ea typeface="Calibri" pitchFamily="34" charset="-122"/>
                <a:cs typeface="Calibri" pitchFamily="34" charset="-120"/>
              </a:rPr>
              <a:t>BBA Sem 1 female 34, BBA Sem 1 male 41, MBA Sem 3 female 1, MBA Sem 3 male 4.</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Risk: </a:t>
            </a:r>
            <a:pPr indent="0" marL="0">
              <a:buNone/>
            </a:pPr>
            <a:r>
              <a:rPr lang="en-US" sz="2200" dirty="0">
                <a:solidFill>
                  <a:srgbClr val="2B3A4F"/>
                </a:solidFill>
                <a:latin typeface="Calibri" pitchFamily="34" charset="0"/>
                <a:ea typeface="Calibri" pitchFamily="34" charset="-122"/>
                <a:cs typeface="Calibri" pitchFamily="34" charset="-120"/>
              </a:rPr>
              <a:t>only 1 woman is in MBA Sem 3, so her rating is known to everyone who knows her.</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Rule of thumb: </a:t>
            </a:r>
            <a:pPr indent="0" marL="0">
              <a:buNone/>
            </a:pPr>
            <a:r>
              <a:rPr lang="en-US" sz="2200" dirty="0">
                <a:solidFill>
                  <a:srgbClr val="2B3A4F"/>
                </a:solidFill>
                <a:latin typeface="Calibri" pitchFamily="34" charset="0"/>
                <a:ea typeface="Calibri" pitchFamily="34" charset="-122"/>
                <a:cs typeface="Calibri" pitchFamily="34" charset="-120"/>
              </a:rPr>
              <a:t>do not publish any group with fewer than 5 people.</a:t>
            </a:r>
            <a:endParaRPr lang="en-US" sz="2200" dirty="0"/>
          </a:p>
          <a:p>
            <a:pPr marL="304800" indent="-304800">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Fix: </a:t>
            </a:r>
            <a:pPr indent="0" marL="0">
              <a:buNone/>
            </a:pPr>
            <a:r>
              <a:rPr lang="en-US" sz="2200" dirty="0">
                <a:solidFill>
                  <a:srgbClr val="2B3A4F"/>
                </a:solidFill>
                <a:latin typeface="Calibri" pitchFamily="34" charset="0"/>
                <a:ea typeface="Calibri" pitchFamily="34" charset="-122"/>
                <a:cs typeface="Calibri" pitchFamily="34" charset="-120"/>
              </a:rPr>
              <a:t>drop gender for that group. MBA Sem 3 = 1 + 4 = 5 respondents, which passes.</a:t>
            </a:r>
            <a:endParaRPr lang="en-US" sz="2200" dirty="0"/>
          </a:p>
        </p:txBody>
      </p:sp>
      <p:sp>
        <p:nvSpPr>
          <p:cNvPr id="7" name="Shape 5"/>
          <p:cNvSpPr/>
          <p:nvPr/>
        </p:nvSpPr>
        <p:spPr>
          <a:xfrm>
            <a:off x="7498080" y="2606040"/>
            <a:ext cx="4142232" cy="3657600"/>
          </a:xfrm>
          <a:prstGeom prst="roundRect">
            <a:avLst>
              <a:gd name="adj" fmla="val 3000"/>
            </a:avLst>
          </a:prstGeom>
          <a:solidFill>
            <a:srgbClr val="14213D"/>
          </a:solidFill>
          <a:ln w="12700">
            <a:solidFill>
              <a:srgbClr val="14213D"/>
            </a:solidFill>
            <a:prstDash val="solid"/>
          </a:ln>
        </p:spPr>
      </p:sp>
      <p:sp>
        <p:nvSpPr>
          <p:cNvPr id="8" name="Text 6"/>
          <p:cNvSpPr txBox="1"/>
          <p:nvPr/>
        </p:nvSpPr>
        <p:spPr>
          <a:xfrm>
            <a:off x="7772400" y="2834640"/>
            <a:ext cx="3593592"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RESULT</a:t>
            </a:r>
            <a:endParaRPr lang="en-US" sz="1200" dirty="0"/>
          </a:p>
        </p:txBody>
      </p:sp>
      <p:sp>
        <p:nvSpPr>
          <p:cNvPr id="9" name="Text 7"/>
          <p:cNvSpPr txBox="1"/>
          <p:nvPr/>
        </p:nvSpPr>
        <p:spPr>
          <a:xfrm>
            <a:off x="7772400" y="3246120"/>
            <a:ext cx="3593592" cy="283464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Removing a name is not enough. Rare combinations of attributes can re-identify a person, so check the smallest group before sharing.</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Common sources of bias in collection</a:t>
            </a:r>
            <a:endParaRPr lang="en-US" sz="2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1788979"/>
                <a:gridCol w="3100898"/>
                <a:gridCol w="3220163"/>
                <a:gridCol w="2981632"/>
              </a:tblGrid>
              <a:tr h="451104">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Bias</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What happens</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Illustrative case</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Fix</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r>
              <a:tr h="755904">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Selection</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Some people never get asked</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Survey only on Instagram</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Use several channels</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755904">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Non-response</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Those who reply differ from those who do not</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Only angry customers reply</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Follow up, offer short forms</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755904">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Leading question</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Wording pushes the answer</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"Do you love our great service?"</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Use neutral wording</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755904">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Social desirability</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People answer to look good</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Claiming to exercise daily</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Anonymous, private forms</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bl>
          </a:graphicData>
        </a:graphic>
      </p:graphicFrame>
      <p:sp>
        <p:nvSpPr>
          <p:cNvPr id="4" name="Text 1"/>
          <p:cNvSpPr txBox="1"/>
          <p:nvPr/>
        </p:nvSpPr>
        <p:spPr>
          <a:xfrm>
            <a:off x="548640" y="5120640"/>
            <a:ext cx="11091672" cy="548640"/>
          </a:xfrm>
          <a:prstGeom prst="rect">
            <a:avLst/>
          </a:prstGeom>
          <a:noFill/>
          <a:ln/>
        </p:spPr>
        <p:txBody>
          <a:bodyPr wrap="square" lIns="0" tIns="0" rIns="0" bIns="0" rtlCol="0" anchor="t"/>
          <a:lstStyle/>
          <a:p>
            <a:pPr indent="0" marL="0">
              <a:buNone/>
            </a:pPr>
            <a:r>
              <a:rPr lang="en-US" sz="1600" i="1" dirty="0">
                <a:solidFill>
                  <a:srgbClr val="56667A"/>
                </a:solidFill>
                <a:latin typeface="Calibri" pitchFamily="34" charset="0"/>
                <a:ea typeface="Calibri" pitchFamily="34" charset="-122"/>
                <a:cs typeface="Calibri" pitchFamily="34" charset="-120"/>
              </a:rPr>
              <a:t>Bias is a collection problem. No formula can fully repair it afterwards.</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Worked example: correcting a skewed sample</a:t>
            </a:r>
            <a:endParaRPr lang="en-US" sz="2800" dirty="0"/>
          </a:p>
        </p:txBody>
      </p:sp>
      <p:sp>
        <p:nvSpPr>
          <p:cNvPr id="3" name="Shape 1"/>
          <p:cNvSpPr/>
          <p:nvPr/>
        </p:nvSpPr>
        <p:spPr>
          <a:xfrm>
            <a:off x="548640" y="1417320"/>
            <a:ext cx="11091672" cy="914400"/>
          </a:xfrm>
          <a:prstGeom prst="roundRect">
            <a:avLst>
              <a:gd name="adj" fmla="val 12000"/>
            </a:avLst>
          </a:prstGeom>
          <a:solidFill>
            <a:srgbClr val="FDEBD6"/>
          </a:solidFill>
          <a:ln w="12700">
            <a:solidFill>
              <a:srgbClr val="FDEBD6"/>
            </a:solidFill>
            <a:prstDash val="solid"/>
          </a:ln>
        </p:spPr>
      </p:sp>
      <p:sp>
        <p:nvSpPr>
          <p:cNvPr id="4" name="Text 2"/>
          <p:cNvSpPr txBox="1"/>
          <p:nvPr/>
        </p:nvSpPr>
        <p:spPr>
          <a:xfrm>
            <a:off x="777240" y="1417320"/>
            <a:ext cx="1554480" cy="91440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WORKED EXAMPLE</a:t>
            </a:r>
            <a:endParaRPr lang="en-US" sz="1200" dirty="0"/>
          </a:p>
        </p:txBody>
      </p:sp>
      <p:sp>
        <p:nvSpPr>
          <p:cNvPr id="5" name="Text 3"/>
          <p:cNvSpPr txBox="1"/>
          <p:nvPr/>
        </p:nvSpPr>
        <p:spPr>
          <a:xfrm>
            <a:off x="2468880" y="1417320"/>
            <a:ext cx="8988552" cy="914400"/>
          </a:xfrm>
          <a:prstGeom prst="rect">
            <a:avLst/>
          </a:prstGeom>
          <a:noFill/>
          <a:ln/>
        </p:spPr>
        <p:txBody>
          <a:bodyPr wrap="square" lIns="0" tIns="0" rIns="0" bIns="0" rtlCol="0" anchor="ctr"/>
          <a:lstStyle/>
          <a:p>
            <a:pPr indent="0" marL="0">
              <a:buNone/>
            </a:pPr>
            <a:r>
              <a:rPr lang="en-US" sz="1800" dirty="0">
                <a:solidFill>
                  <a:srgbClr val="14213D"/>
                </a:solidFill>
                <a:latin typeface="Calibri" pitchFamily="34" charset="0"/>
                <a:ea typeface="Calibri" pitchFamily="34" charset="-122"/>
                <a:cs typeface="Calibri" pitchFamily="34" charset="-120"/>
              </a:rPr>
              <a:t>A cafe surveys 200 customers (illustrative). 150 are under 25, but under-25s are only 50% of all its customers. Rating 1 to 5.</a:t>
            </a:r>
            <a:endParaRPr lang="en-US" sz="1800" dirty="0"/>
          </a:p>
        </p:txBody>
      </p:sp>
      <p:sp>
        <p:nvSpPr>
          <p:cNvPr id="6" name="Text 4"/>
          <p:cNvSpPr txBox="1"/>
          <p:nvPr/>
        </p:nvSpPr>
        <p:spPr>
          <a:xfrm>
            <a:off x="548640" y="2606040"/>
            <a:ext cx="6675120" cy="3657600"/>
          </a:xfrm>
          <a:prstGeom prst="rect">
            <a:avLst/>
          </a:prstGeom>
          <a:noFill/>
          <a:ln/>
        </p:spPr>
        <p:txBody>
          <a:bodyPr wrap="square" lIns="0" tIns="0" rIns="0" bIns="0" rtlCol="0" anchor="t"/>
          <a:lstStyle/>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Mean rating: </a:t>
            </a:r>
            <a:pPr indent="0" marL="0">
              <a:buNone/>
            </a:pPr>
            <a:r>
              <a:rPr lang="en-US" sz="2200" dirty="0">
                <a:solidFill>
                  <a:srgbClr val="2B3A4F"/>
                </a:solidFill>
                <a:latin typeface="Calibri" pitchFamily="34" charset="0"/>
                <a:ea typeface="Calibri" pitchFamily="34" charset="-122"/>
                <a:cs typeface="Calibri" pitchFamily="34" charset="-120"/>
              </a:rPr>
              <a:t>under 25 gave 4.2, age 25 and over gave 3.4.</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Naive mean: </a:t>
            </a:r>
            <a:pPr indent="0" marL="0">
              <a:buNone/>
            </a:pPr>
            <a:r>
              <a:rPr lang="en-US" sz="2200" dirty="0">
                <a:solidFill>
                  <a:srgbClr val="2B3A4F"/>
                </a:solidFill>
                <a:latin typeface="Calibri" pitchFamily="34" charset="0"/>
                <a:ea typeface="Calibri" pitchFamily="34" charset="-122"/>
                <a:cs typeface="Calibri" pitchFamily="34" charset="-120"/>
              </a:rPr>
              <a:t>(150 × 4.2 + 50 × 3.4) / 200 = 4.0. Young people are over-counted.</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Weights: </a:t>
            </a:r>
            <a:pPr indent="0" marL="0">
              <a:buNone/>
            </a:pPr>
            <a:r>
              <a:rPr lang="en-US" sz="2200" dirty="0">
                <a:solidFill>
                  <a:srgbClr val="2B3A4F"/>
                </a:solidFill>
                <a:latin typeface="Calibri" pitchFamily="34" charset="0"/>
                <a:ea typeface="Calibri" pitchFamily="34" charset="-122"/>
                <a:cs typeface="Calibri" pitchFamily="34" charset="-120"/>
              </a:rPr>
              <a:t>use the true shares, 50% and 50%, instead of 75% and 25%.</a:t>
            </a:r>
            <a:endParaRPr lang="en-US" sz="2200" dirty="0"/>
          </a:p>
          <a:p>
            <a:pPr marL="304800" indent="-304800">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Weighted mean: </a:t>
            </a:r>
            <a:pPr indent="0" marL="0">
              <a:buNone/>
            </a:pPr>
            <a:r>
              <a:rPr lang="en-US" sz="2200" dirty="0">
                <a:solidFill>
                  <a:srgbClr val="2B3A4F"/>
                </a:solidFill>
                <a:latin typeface="Calibri" pitchFamily="34" charset="0"/>
                <a:ea typeface="Calibri" pitchFamily="34" charset="-122"/>
                <a:cs typeface="Calibri" pitchFamily="34" charset="-120"/>
              </a:rPr>
              <a:t>0.5 × 4.2 + 0.5 × 3.4 = 3.8.</a:t>
            </a:r>
            <a:endParaRPr lang="en-US" sz="2200" dirty="0"/>
          </a:p>
        </p:txBody>
      </p:sp>
      <p:sp>
        <p:nvSpPr>
          <p:cNvPr id="7" name="Shape 5"/>
          <p:cNvSpPr/>
          <p:nvPr/>
        </p:nvSpPr>
        <p:spPr>
          <a:xfrm>
            <a:off x="7498080" y="2606040"/>
            <a:ext cx="4142232" cy="3657600"/>
          </a:xfrm>
          <a:prstGeom prst="roundRect">
            <a:avLst>
              <a:gd name="adj" fmla="val 3000"/>
            </a:avLst>
          </a:prstGeom>
          <a:solidFill>
            <a:srgbClr val="14213D"/>
          </a:solidFill>
          <a:ln w="12700">
            <a:solidFill>
              <a:srgbClr val="14213D"/>
            </a:solidFill>
            <a:prstDash val="solid"/>
          </a:ln>
        </p:spPr>
      </p:sp>
      <p:sp>
        <p:nvSpPr>
          <p:cNvPr id="8" name="Text 6"/>
          <p:cNvSpPr txBox="1"/>
          <p:nvPr/>
        </p:nvSpPr>
        <p:spPr>
          <a:xfrm>
            <a:off x="7772400" y="2834640"/>
            <a:ext cx="3593592"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RESULT</a:t>
            </a:r>
            <a:endParaRPr lang="en-US" sz="1200" dirty="0"/>
          </a:p>
        </p:txBody>
      </p:sp>
      <p:sp>
        <p:nvSpPr>
          <p:cNvPr id="9" name="Text 7"/>
          <p:cNvSpPr txBox="1"/>
          <p:nvPr/>
        </p:nvSpPr>
        <p:spPr>
          <a:xfrm>
            <a:off x="7772400" y="3246120"/>
            <a:ext cx="3593592" cy="283464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The naive 4.0 overstates satisfaction. Weighting gives 3.8. It helps, but it cannot fix an age group that is missing entirely.</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Example: the same data, two averages</a:t>
            </a:r>
            <a:endParaRPr lang="en-US" sz="2800" dirty="0"/>
          </a:p>
        </p:txBody>
      </p:sp>
      <p:graphicFrame>
        <p:nvGraphicFramePr>
          <p:cNvPr id="3" name="Chart 0" descr=""/>
          <p:cNvGraphicFramePr/>
          <p:nvPr/>
        </p:nvGraphicFramePr>
        <p:xfrm>
          <a:off x="548640" y="1417320"/>
          <a:ext cx="7040880" cy="48463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863840" y="1417320"/>
            <a:ext cx="3776472" cy="4846320"/>
          </a:xfrm>
          <a:prstGeom prst="roundRect">
            <a:avLst>
              <a:gd name="adj" fmla="val 2906"/>
            </a:avLst>
          </a:prstGeom>
          <a:solidFill>
            <a:srgbClr val="EEF3F6"/>
          </a:solidFill>
          <a:ln w="12700">
            <a:solidFill>
              <a:srgbClr val="EEF3F6"/>
            </a:solidFill>
            <a:prstDash val="solid"/>
          </a:ln>
        </p:spPr>
      </p:sp>
      <p:sp>
        <p:nvSpPr>
          <p:cNvPr id="5" name="Text 2"/>
          <p:cNvSpPr txBox="1"/>
          <p:nvPr/>
        </p:nvSpPr>
        <p:spPr>
          <a:xfrm>
            <a:off x="8138160" y="1691640"/>
            <a:ext cx="322783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WHAT IT SHOWS</a:t>
            </a:r>
            <a:endParaRPr lang="en-US" sz="1200" dirty="0"/>
          </a:p>
        </p:txBody>
      </p:sp>
      <p:sp>
        <p:nvSpPr>
          <p:cNvPr id="6" name="Text 3"/>
          <p:cNvSpPr txBox="1"/>
          <p:nvPr/>
        </p:nvSpPr>
        <p:spPr>
          <a:xfrm>
            <a:off x="8138160" y="2148840"/>
            <a:ext cx="3227832" cy="388620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The sample is mostly young, so the naive mean sits close to the young group.</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Weighting moves the answer to the midpoint, 3.8, because the groups are equal in real life.</a:t>
            </a:r>
            <a:endParaRPr lang="en-US" sz="1800" dirty="0"/>
          </a:p>
          <a:p>
            <a:pPr marL="228600" indent="-228600">
              <a:buSzPct val="100000"/>
              <a:buChar char="•"/>
            </a:pPr>
            <a:r>
              <a:rPr lang="en-US" sz="1800" dirty="0">
                <a:solidFill>
                  <a:srgbClr val="2B3A4F"/>
                </a:solidFill>
                <a:latin typeface="Calibri" pitchFamily="34" charset="0"/>
                <a:ea typeface="Calibri" pitchFamily="34" charset="-122"/>
                <a:cs typeface="Calibri" pitchFamily="34" charset="-120"/>
              </a:rPr>
              <a:t>Always report the sample size and how it was reached.</a:t>
            </a:r>
            <a:endParaRPr lang="en-US" sz="1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India: the DPDP Act, 2023 in general terms</a:t>
            </a:r>
            <a:endParaRPr lang="en-US" sz="2800" dirty="0"/>
          </a:p>
        </p:txBody>
      </p:sp>
      <p:sp>
        <p:nvSpPr>
          <p:cNvPr id="3" name="Text 1"/>
          <p:cNvSpPr txBox="1"/>
          <p:nvPr/>
        </p:nvSpPr>
        <p:spPr>
          <a:xfrm>
            <a:off x="548640" y="1463040"/>
            <a:ext cx="6766560" cy="4754880"/>
          </a:xfrm>
          <a:prstGeom prst="rect">
            <a:avLst/>
          </a:prstGeom>
          <a:noFill/>
          <a:ln/>
        </p:spPr>
        <p:txBody>
          <a:bodyPr wrap="square" lIns="0" tIns="0" rIns="0" bIns="0" rtlCol="0" anchor="t"/>
          <a:lstStyle/>
          <a:p>
            <a:pPr marL="228600" indent="-228600">
              <a:spcAft>
                <a:spcPts val="1000"/>
              </a:spcAft>
              <a:buSzPct val="100000"/>
              <a:buChar char="•"/>
            </a:pPr>
            <a:r>
              <a:rPr lang="en-US" sz="2000" b="1" dirty="0">
                <a:solidFill>
                  <a:srgbClr val="14213D"/>
                </a:solidFill>
                <a:latin typeface="Calibri" pitchFamily="34" charset="0"/>
                <a:ea typeface="Calibri" pitchFamily="34" charset="-122"/>
                <a:cs typeface="Calibri" pitchFamily="34" charset="-120"/>
              </a:rPr>
              <a:t>What: </a:t>
            </a:r>
            <a:pPr indent="0" marL="0">
              <a:buNone/>
            </a:pPr>
            <a:r>
              <a:rPr lang="en-US" sz="2000" dirty="0">
                <a:solidFill>
                  <a:srgbClr val="2B3A4F"/>
                </a:solidFill>
                <a:latin typeface="Calibri" pitchFamily="34" charset="0"/>
                <a:ea typeface="Calibri" pitchFamily="34" charset="-122"/>
                <a:cs typeface="Calibri" pitchFamily="34" charset="-120"/>
              </a:rPr>
              <a:t>a law passed in 2023 on processing digital personal data of individuals in India.</a:t>
            </a:r>
            <a:endParaRPr lang="en-US" sz="2000" dirty="0"/>
          </a:p>
          <a:p>
            <a:pPr marL="228600" indent="-228600">
              <a:spcAft>
                <a:spcPts val="1000"/>
              </a:spcAft>
              <a:buSzPct val="100000"/>
              <a:buChar char="•"/>
            </a:pPr>
            <a:r>
              <a:rPr lang="en-US" sz="2000" b="1" dirty="0">
                <a:solidFill>
                  <a:srgbClr val="14213D"/>
                </a:solidFill>
                <a:latin typeface="Calibri" pitchFamily="34" charset="0"/>
                <a:ea typeface="Calibri" pitchFamily="34" charset="-122"/>
                <a:cs typeface="Calibri" pitchFamily="34" charset="-120"/>
              </a:rPr>
              <a:t>Roles: </a:t>
            </a:r>
            <a:pPr indent="0" marL="0">
              <a:buNone/>
            </a:pPr>
            <a:r>
              <a:rPr lang="en-US" sz="2000" dirty="0">
                <a:solidFill>
                  <a:srgbClr val="2B3A4F"/>
                </a:solidFill>
                <a:latin typeface="Calibri" pitchFamily="34" charset="0"/>
                <a:ea typeface="Calibri" pitchFamily="34" charset="-122"/>
                <a:cs typeface="Calibri" pitchFamily="34" charset="-120"/>
              </a:rPr>
              <a:t>the person is a "Data Principal". The organisation deciding why and how data is used is a "Data Fiduciary".</a:t>
            </a:r>
            <a:endParaRPr lang="en-US" sz="2000" dirty="0"/>
          </a:p>
          <a:p>
            <a:pPr marL="228600" indent="-228600">
              <a:spcAft>
                <a:spcPts val="1000"/>
              </a:spcAft>
              <a:buSzPct val="100000"/>
              <a:buChar char="•"/>
            </a:pPr>
            <a:r>
              <a:rPr lang="en-US" sz="2000" b="1" dirty="0">
                <a:solidFill>
                  <a:srgbClr val="14213D"/>
                </a:solidFill>
                <a:latin typeface="Calibri" pitchFamily="34" charset="0"/>
                <a:ea typeface="Calibri" pitchFamily="34" charset="-122"/>
                <a:cs typeface="Calibri" pitchFamily="34" charset="-120"/>
              </a:rPr>
              <a:t>Consent and notice: </a:t>
            </a:r>
            <a:pPr indent="0" marL="0">
              <a:buNone/>
            </a:pPr>
            <a:r>
              <a:rPr lang="en-US" sz="2000" dirty="0">
                <a:solidFill>
                  <a:srgbClr val="2B3A4F"/>
                </a:solidFill>
                <a:latin typeface="Calibri" pitchFamily="34" charset="0"/>
                <a:ea typeface="Calibri" pitchFamily="34" charset="-122"/>
                <a:cs typeface="Calibri" pitchFamily="34" charset="-120"/>
              </a:rPr>
              <a:t>data is generally processed with the person's consent, after a clear notice of purpose.</a:t>
            </a:r>
            <a:endParaRPr lang="en-US" sz="2000" dirty="0"/>
          </a:p>
          <a:p>
            <a:pPr marL="228600" indent="-228600">
              <a:spcAft>
                <a:spcPts val="1000"/>
              </a:spcAft>
              <a:buSzPct val="100000"/>
              <a:buChar char="•"/>
            </a:pPr>
            <a:r>
              <a:rPr lang="en-US" sz="2000" b="1" dirty="0">
                <a:solidFill>
                  <a:srgbClr val="14213D"/>
                </a:solidFill>
                <a:latin typeface="Calibri" pitchFamily="34" charset="0"/>
                <a:ea typeface="Calibri" pitchFamily="34" charset="-122"/>
                <a:cs typeface="Calibri" pitchFamily="34" charset="-120"/>
              </a:rPr>
              <a:t>Rights: </a:t>
            </a:r>
            <a:pPr indent="0" marL="0">
              <a:buNone/>
            </a:pPr>
            <a:r>
              <a:rPr lang="en-US" sz="2000" dirty="0">
                <a:solidFill>
                  <a:srgbClr val="2B3A4F"/>
                </a:solidFill>
                <a:latin typeface="Calibri" pitchFamily="34" charset="0"/>
                <a:ea typeface="Calibri" pitchFamily="34" charset="-122"/>
                <a:cs typeface="Calibri" pitchFamily="34" charset="-120"/>
              </a:rPr>
              <a:t>individuals can ask for access, correction and erasure of their data.</a:t>
            </a:r>
            <a:endParaRPr lang="en-US" sz="2000" dirty="0"/>
          </a:p>
          <a:p>
            <a:pPr marL="228600" indent="-228600">
              <a:buSzPct val="100000"/>
              <a:buChar char="•"/>
            </a:pPr>
            <a:r>
              <a:rPr lang="en-US" sz="2000" b="1" dirty="0">
                <a:solidFill>
                  <a:srgbClr val="14213D"/>
                </a:solidFill>
                <a:latin typeface="Calibri" pitchFamily="34" charset="0"/>
                <a:ea typeface="Calibri" pitchFamily="34" charset="-122"/>
                <a:cs typeface="Calibri" pitchFamily="34" charset="-120"/>
              </a:rPr>
              <a:t>Enforcement: </a:t>
            </a:r>
            <a:pPr indent="0" marL="0">
              <a:buNone/>
            </a:pPr>
            <a:r>
              <a:rPr lang="en-US" sz="2000" dirty="0">
                <a:solidFill>
                  <a:srgbClr val="2B3A4F"/>
                </a:solidFill>
                <a:latin typeface="Calibri" pitchFamily="34" charset="0"/>
                <a:ea typeface="Calibri" pitchFamily="34" charset="-122"/>
                <a:cs typeface="Calibri" pitchFamily="34" charset="-120"/>
              </a:rPr>
              <a:t>a Data Protection Board and financial penalties for serious failures such as breaches.</a:t>
            </a:r>
            <a:endParaRPr lang="en-US" sz="2000" dirty="0"/>
          </a:p>
        </p:txBody>
      </p:sp>
      <p:sp>
        <p:nvSpPr>
          <p:cNvPr id="4" name="Shape 2"/>
          <p:cNvSpPr/>
          <p:nvPr/>
        </p:nvSpPr>
        <p:spPr>
          <a:xfrm>
            <a:off x="7680960" y="1417320"/>
            <a:ext cx="3959352" cy="4846320"/>
          </a:xfrm>
          <a:prstGeom prst="roundRect">
            <a:avLst>
              <a:gd name="adj" fmla="val 2771"/>
            </a:avLst>
          </a:prstGeom>
          <a:solidFill>
            <a:srgbClr val="FDEBD6"/>
          </a:solidFill>
          <a:ln w="12700">
            <a:solidFill>
              <a:srgbClr val="FDEBD6"/>
            </a:solidFill>
            <a:prstDash val="solid"/>
          </a:ln>
        </p:spPr>
      </p:sp>
      <p:sp>
        <p:nvSpPr>
          <p:cNvPr id="5" name="Text 3"/>
          <p:cNvSpPr txBox="1"/>
          <p:nvPr/>
        </p:nvSpPr>
        <p:spPr>
          <a:xfrm>
            <a:off x="7955280" y="1691640"/>
            <a:ext cx="3410712" cy="27432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NOTE</a:t>
            </a:r>
            <a:endParaRPr lang="en-US" sz="1200" dirty="0"/>
          </a:p>
        </p:txBody>
      </p:sp>
      <p:sp>
        <p:nvSpPr>
          <p:cNvPr id="6" name="Text 4"/>
          <p:cNvSpPr txBox="1"/>
          <p:nvPr/>
        </p:nvSpPr>
        <p:spPr>
          <a:xfrm>
            <a:off x="7955280" y="2148840"/>
            <a:ext cx="3410712" cy="3840480"/>
          </a:xfrm>
          <a:prstGeom prst="rect">
            <a:avLst/>
          </a:prstGeom>
          <a:noFill/>
          <a:ln/>
        </p:spPr>
        <p:txBody>
          <a:bodyPr wrap="square" lIns="0" tIns="0" rIns="0" bIns="0" rtlCol="0" anchor="t"/>
          <a:lstStyle/>
          <a:p>
            <a:pPr indent="0" marL="0">
              <a:buNone/>
            </a:pPr>
            <a:r>
              <a:rPr lang="en-US" sz="2000" dirty="0">
                <a:solidFill>
                  <a:srgbClr val="14213D"/>
                </a:solidFill>
                <a:latin typeface="Calibri" pitchFamily="34" charset="0"/>
                <a:ea typeface="Calibri" pitchFamily="34" charset="-122"/>
                <a:cs typeface="Calibri" pitchFamily="34" charset="-120"/>
              </a:rPr>
              <a:t>This is a general overview, not legal advice. Rules and dates are being phased in, so check the official text before relying on details.</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Pitfalls and edge cases</a:t>
            </a:r>
            <a:endParaRPr lang="en-US" sz="2800" dirty="0"/>
          </a:p>
        </p:txBody>
      </p:sp>
      <p:sp>
        <p:nvSpPr>
          <p:cNvPr id="3" name="Shape 1"/>
          <p:cNvSpPr/>
          <p:nvPr/>
        </p:nvSpPr>
        <p:spPr>
          <a:xfrm>
            <a:off x="548640" y="1417320"/>
            <a:ext cx="5408676" cy="2286000"/>
          </a:xfrm>
          <a:prstGeom prst="roundRect">
            <a:avLst>
              <a:gd name="adj" fmla="val 4800"/>
            </a:avLst>
          </a:prstGeom>
          <a:solidFill>
            <a:srgbClr val="EEF3F6"/>
          </a:solidFill>
          <a:ln w="12700">
            <a:solidFill>
              <a:srgbClr val="EEF3F6"/>
            </a:solidFill>
            <a:prstDash val="solid"/>
          </a:ln>
        </p:spPr>
      </p:sp>
      <p:sp>
        <p:nvSpPr>
          <p:cNvPr id="4" name="Text 2"/>
          <p:cNvSpPr/>
          <p:nvPr/>
        </p:nvSpPr>
        <p:spPr>
          <a:xfrm>
            <a:off x="777240" y="1645920"/>
            <a:ext cx="457200" cy="457200"/>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371600" y="155448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Public is not free to use</a:t>
            </a:r>
            <a:endParaRPr lang="en-US" sz="2000" dirty="0"/>
          </a:p>
        </p:txBody>
      </p:sp>
      <p:sp>
        <p:nvSpPr>
          <p:cNvPr id="6" name="Text 4"/>
          <p:cNvSpPr txBox="1"/>
          <p:nvPr/>
        </p:nvSpPr>
        <p:spPr>
          <a:xfrm>
            <a:off x="777240" y="233172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A public Instagram profile or open Google Sheet is still personal data. Scraping it for a project needs a purpose and care.</a:t>
            </a:r>
            <a:endParaRPr lang="en-US" sz="2000" dirty="0"/>
          </a:p>
        </p:txBody>
      </p:sp>
      <p:sp>
        <p:nvSpPr>
          <p:cNvPr id="7" name="Shape 5"/>
          <p:cNvSpPr/>
          <p:nvPr/>
        </p:nvSpPr>
        <p:spPr>
          <a:xfrm>
            <a:off x="6231636" y="1417320"/>
            <a:ext cx="5408676" cy="2286000"/>
          </a:xfrm>
          <a:prstGeom prst="roundRect">
            <a:avLst>
              <a:gd name="adj" fmla="val 4800"/>
            </a:avLst>
          </a:prstGeom>
          <a:solidFill>
            <a:srgbClr val="EEF3F6"/>
          </a:solidFill>
          <a:ln w="12700">
            <a:solidFill>
              <a:srgbClr val="EEF3F6"/>
            </a:solidFill>
            <a:prstDash val="solid"/>
          </a:ln>
        </p:spPr>
      </p:sp>
      <p:sp>
        <p:nvSpPr>
          <p:cNvPr id="8" name="Text 6"/>
          <p:cNvSpPr/>
          <p:nvPr/>
        </p:nvSpPr>
        <p:spPr>
          <a:xfrm>
            <a:off x="6460236" y="1645920"/>
            <a:ext cx="457200" cy="457200"/>
          </a:xfrm>
          <a:prstGeom prst="ellipse">
            <a:avLst/>
          </a:prstGeom>
          <a:solidFill>
            <a:srgbClr val="F29E4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9" name="Text 7"/>
          <p:cNvSpPr txBox="1"/>
          <p:nvPr/>
        </p:nvSpPr>
        <p:spPr>
          <a:xfrm>
            <a:off x="7054596" y="155448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Free-text answers leak</a:t>
            </a:r>
            <a:endParaRPr lang="en-US" sz="2000" dirty="0"/>
          </a:p>
        </p:txBody>
      </p:sp>
      <p:sp>
        <p:nvSpPr>
          <p:cNvPr id="10" name="Text 8"/>
          <p:cNvSpPr txBox="1"/>
          <p:nvPr/>
        </p:nvSpPr>
        <p:spPr>
          <a:xfrm>
            <a:off x="6460236" y="233172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People type names, phone numbers or addresses into comment boxes. Review and clean comments before sharing.</a:t>
            </a:r>
            <a:endParaRPr lang="en-US" sz="2000" dirty="0"/>
          </a:p>
        </p:txBody>
      </p:sp>
      <p:sp>
        <p:nvSpPr>
          <p:cNvPr id="11" name="Shape 9"/>
          <p:cNvSpPr/>
          <p:nvPr/>
        </p:nvSpPr>
        <p:spPr>
          <a:xfrm>
            <a:off x="548640" y="3977640"/>
            <a:ext cx="5408676" cy="2286000"/>
          </a:xfrm>
          <a:prstGeom prst="roundRect">
            <a:avLst>
              <a:gd name="adj" fmla="val 4800"/>
            </a:avLst>
          </a:prstGeom>
          <a:solidFill>
            <a:srgbClr val="EEF3F6"/>
          </a:solidFill>
          <a:ln w="12700">
            <a:solidFill>
              <a:srgbClr val="EEF3F6"/>
            </a:solidFill>
            <a:prstDash val="solid"/>
          </a:ln>
        </p:spPr>
      </p:sp>
      <p:sp>
        <p:nvSpPr>
          <p:cNvPr id="12" name="Text 10"/>
          <p:cNvSpPr/>
          <p:nvPr/>
        </p:nvSpPr>
        <p:spPr>
          <a:xfrm>
            <a:off x="777240" y="4206240"/>
            <a:ext cx="457200" cy="457200"/>
          </a:xfrm>
          <a:prstGeom prst="ellipse">
            <a:avLst/>
          </a:prstGeom>
          <a:solidFill>
            <a:srgbClr val="3A5BA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3" name="Text 11"/>
          <p:cNvSpPr txBox="1"/>
          <p:nvPr/>
        </p:nvSpPr>
        <p:spPr>
          <a:xfrm>
            <a:off x="1371600" y="411480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Sharing raw files</a:t>
            </a:r>
            <a:endParaRPr lang="en-US" sz="2000" dirty="0"/>
          </a:p>
        </p:txBody>
      </p:sp>
      <p:sp>
        <p:nvSpPr>
          <p:cNvPr id="14" name="Text 12"/>
          <p:cNvSpPr txBox="1"/>
          <p:nvPr/>
        </p:nvSpPr>
        <p:spPr>
          <a:xfrm>
            <a:off x="777240" y="489204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Sending the raw sheet on WhatsApp or email spreads copies you cannot control. Share summaries, or protect the file.</a:t>
            </a:r>
            <a:endParaRPr lang="en-US" sz="2000" dirty="0"/>
          </a:p>
        </p:txBody>
      </p:sp>
      <p:sp>
        <p:nvSpPr>
          <p:cNvPr id="15" name="Shape 13"/>
          <p:cNvSpPr/>
          <p:nvPr/>
        </p:nvSpPr>
        <p:spPr>
          <a:xfrm>
            <a:off x="6231636" y="3977640"/>
            <a:ext cx="5408676" cy="2286000"/>
          </a:xfrm>
          <a:prstGeom prst="roundRect">
            <a:avLst>
              <a:gd name="adj" fmla="val 4800"/>
            </a:avLst>
          </a:prstGeom>
          <a:solidFill>
            <a:srgbClr val="EEF3F6"/>
          </a:solidFill>
          <a:ln w="12700">
            <a:solidFill>
              <a:srgbClr val="EEF3F6"/>
            </a:solidFill>
            <a:prstDash val="solid"/>
          </a:ln>
        </p:spPr>
      </p:sp>
      <p:sp>
        <p:nvSpPr>
          <p:cNvPr id="16" name="Text 14"/>
          <p:cNvSpPr/>
          <p:nvPr/>
        </p:nvSpPr>
        <p:spPr>
          <a:xfrm>
            <a:off x="6460236" y="4206240"/>
            <a:ext cx="457200" cy="457200"/>
          </a:xfrm>
          <a:prstGeom prst="ellipse">
            <a:avLst/>
          </a:prstGeom>
          <a:solidFill>
            <a:srgbClr val="C8553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7" name="Text 15"/>
          <p:cNvSpPr txBox="1"/>
          <p:nvPr/>
        </p:nvSpPr>
        <p:spPr>
          <a:xfrm>
            <a:off x="7054596" y="411480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Keeping data forever</a:t>
            </a:r>
            <a:endParaRPr lang="en-US" sz="2000" dirty="0"/>
          </a:p>
        </p:txBody>
      </p:sp>
      <p:sp>
        <p:nvSpPr>
          <p:cNvPr id="18" name="Text 16"/>
          <p:cNvSpPr txBox="1"/>
          <p:nvPr/>
        </p:nvSpPr>
        <p:spPr>
          <a:xfrm>
            <a:off x="6460236" y="489204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Old survey files become a liability. Set a delete date and remove the file and its backups after the project.</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Practice questions</a:t>
            </a:r>
            <a:endParaRPr lang="en-US" sz="2800" dirty="0"/>
          </a:p>
        </p:txBody>
      </p:sp>
      <p:sp>
        <p:nvSpPr>
          <p:cNvPr id="3" name="Shape 1"/>
          <p:cNvSpPr/>
          <p:nvPr/>
        </p:nvSpPr>
        <p:spPr>
          <a:xfrm>
            <a:off x="548640" y="1417320"/>
            <a:ext cx="11091672" cy="1074420"/>
          </a:xfrm>
          <a:prstGeom prst="roundRect">
            <a:avLst>
              <a:gd name="adj" fmla="val 10213"/>
            </a:avLst>
          </a:prstGeom>
          <a:solidFill>
            <a:srgbClr val="EEF3F6"/>
          </a:solidFill>
          <a:ln w="12700">
            <a:solidFill>
              <a:srgbClr val="EEF3F6"/>
            </a:solidFill>
            <a:prstDash val="solid"/>
          </a:ln>
        </p:spPr>
      </p:sp>
      <p:sp>
        <p:nvSpPr>
          <p:cNvPr id="4" name="Text 2"/>
          <p:cNvSpPr/>
          <p:nvPr/>
        </p:nvSpPr>
        <p:spPr>
          <a:xfrm>
            <a:off x="777240" y="1725930"/>
            <a:ext cx="457200" cy="457200"/>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463040" y="14173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A form collects emails but the report shows no names. Is it anonymous?</a:t>
            </a:r>
            <a:endParaRPr lang="en-US" sz="1900" dirty="0"/>
          </a:p>
        </p:txBody>
      </p:sp>
      <p:sp>
        <p:nvSpPr>
          <p:cNvPr id="6" name="Shape 4"/>
          <p:cNvSpPr/>
          <p:nvPr/>
        </p:nvSpPr>
        <p:spPr>
          <a:xfrm>
            <a:off x="548640" y="2674620"/>
            <a:ext cx="11091672" cy="1074420"/>
          </a:xfrm>
          <a:prstGeom prst="roundRect">
            <a:avLst>
              <a:gd name="adj" fmla="val 10213"/>
            </a:avLst>
          </a:prstGeom>
          <a:solidFill>
            <a:srgbClr val="EEF3F6"/>
          </a:solidFill>
          <a:ln w="12700">
            <a:solidFill>
              <a:srgbClr val="EEF3F6"/>
            </a:solidFill>
            <a:prstDash val="solid"/>
          </a:ln>
        </p:spPr>
      </p:sp>
      <p:sp>
        <p:nvSpPr>
          <p:cNvPr id="7" name="Text 5"/>
          <p:cNvSpPr/>
          <p:nvPr/>
        </p:nvSpPr>
        <p:spPr>
          <a:xfrm>
            <a:off x="777240" y="2983230"/>
            <a:ext cx="457200" cy="457200"/>
          </a:xfrm>
          <a:prstGeom prst="ellipse">
            <a:avLst/>
          </a:prstGeom>
          <a:solidFill>
            <a:srgbClr val="F29E4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8" name="Text 6"/>
          <p:cNvSpPr txBox="1"/>
          <p:nvPr/>
        </p:nvSpPr>
        <p:spPr>
          <a:xfrm>
            <a:off x="1463040" y="26746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Why is a tick box that is already ticked not valid consent?</a:t>
            </a:r>
            <a:endParaRPr lang="en-US" sz="1900" dirty="0"/>
          </a:p>
        </p:txBody>
      </p:sp>
      <p:sp>
        <p:nvSpPr>
          <p:cNvPr id="9" name="Shape 7"/>
          <p:cNvSpPr/>
          <p:nvPr/>
        </p:nvSpPr>
        <p:spPr>
          <a:xfrm>
            <a:off x="548640" y="3931920"/>
            <a:ext cx="11091672" cy="1074420"/>
          </a:xfrm>
          <a:prstGeom prst="roundRect">
            <a:avLst>
              <a:gd name="adj" fmla="val 10213"/>
            </a:avLst>
          </a:prstGeom>
          <a:solidFill>
            <a:srgbClr val="EEF3F6"/>
          </a:solidFill>
          <a:ln w="12700">
            <a:solidFill>
              <a:srgbClr val="EEF3F6"/>
            </a:solidFill>
            <a:prstDash val="solid"/>
          </a:ln>
        </p:spPr>
      </p:sp>
      <p:sp>
        <p:nvSpPr>
          <p:cNvPr id="10" name="Text 8"/>
          <p:cNvSpPr/>
          <p:nvPr/>
        </p:nvSpPr>
        <p:spPr>
          <a:xfrm>
            <a:off x="777240" y="4240530"/>
            <a:ext cx="457200" cy="457200"/>
          </a:xfrm>
          <a:prstGeom prst="ellipse">
            <a:avLst/>
          </a:prstGeom>
          <a:solidFill>
            <a:srgbClr val="3A5BA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1" name="Text 9"/>
          <p:cNvSpPr txBox="1"/>
          <p:nvPr/>
        </p:nvSpPr>
        <p:spPr>
          <a:xfrm>
            <a:off x="1463040" y="39319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A table has 1 respondent in the group "MBA, Sem 3, female". What should you do before publishing?</a:t>
            </a:r>
            <a:endParaRPr lang="en-US" sz="1900" dirty="0"/>
          </a:p>
        </p:txBody>
      </p:sp>
      <p:sp>
        <p:nvSpPr>
          <p:cNvPr id="12" name="Shape 10"/>
          <p:cNvSpPr/>
          <p:nvPr/>
        </p:nvSpPr>
        <p:spPr>
          <a:xfrm>
            <a:off x="548640" y="5189220"/>
            <a:ext cx="11091672" cy="1074420"/>
          </a:xfrm>
          <a:prstGeom prst="roundRect">
            <a:avLst>
              <a:gd name="adj" fmla="val 10213"/>
            </a:avLst>
          </a:prstGeom>
          <a:solidFill>
            <a:srgbClr val="EEF3F6"/>
          </a:solidFill>
          <a:ln w="12700">
            <a:solidFill>
              <a:srgbClr val="EEF3F6"/>
            </a:solidFill>
            <a:prstDash val="solid"/>
          </a:ln>
        </p:spPr>
      </p:sp>
      <p:sp>
        <p:nvSpPr>
          <p:cNvPr id="13" name="Text 11"/>
          <p:cNvSpPr/>
          <p:nvPr/>
        </p:nvSpPr>
        <p:spPr>
          <a:xfrm>
            <a:off x="777240" y="5497830"/>
            <a:ext cx="457200" cy="457200"/>
          </a:xfrm>
          <a:prstGeom prst="ellipse">
            <a:avLst/>
          </a:prstGeom>
          <a:solidFill>
            <a:srgbClr val="C8553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4" name="Text 12"/>
          <p:cNvSpPr txBox="1"/>
          <p:nvPr/>
        </p:nvSpPr>
        <p:spPr>
          <a:xfrm>
            <a:off x="1463040" y="51892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A sample has 60% under 25, but the true share is 40%. Under-25 mean 4.5, others 3.5. Find the weighted mean.</a:t>
            </a:r>
            <a:endParaRPr lang="en-US" sz="19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Key takeaways</a:t>
            </a:r>
            <a:endParaRPr lang="en-US" sz="2800" dirty="0"/>
          </a:p>
        </p:txBody>
      </p:sp>
      <p:sp>
        <p:nvSpPr>
          <p:cNvPr id="3" name="Text 1"/>
          <p:cNvSpPr/>
          <p:nvPr/>
        </p:nvSpPr>
        <p:spPr>
          <a:xfrm>
            <a:off x="548640" y="1561795"/>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4" name="Text 2"/>
          <p:cNvSpPr txBox="1"/>
          <p:nvPr/>
        </p:nvSpPr>
        <p:spPr>
          <a:xfrm>
            <a:off x="1234440" y="1417320"/>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Consent: </a:t>
            </a:r>
            <a:pPr indent="0" marL="0">
              <a:buNone/>
            </a:pPr>
            <a:r>
              <a:rPr lang="en-US" sz="2000" dirty="0">
                <a:solidFill>
                  <a:srgbClr val="FFFFFF"/>
                </a:solidFill>
                <a:latin typeface="Calibri" pitchFamily="34" charset="0"/>
                <a:ea typeface="Calibri" pitchFamily="34" charset="-122"/>
                <a:cs typeface="Calibri" pitchFamily="34" charset="-120"/>
              </a:rPr>
              <a:t>informed, voluntary and recorded. Silence is not consent.</a:t>
            </a:r>
            <a:endParaRPr lang="en-US" sz="2000" dirty="0"/>
          </a:p>
        </p:txBody>
      </p:sp>
      <p:sp>
        <p:nvSpPr>
          <p:cNvPr id="5" name="Text 3"/>
          <p:cNvSpPr/>
          <p:nvPr/>
        </p:nvSpPr>
        <p:spPr>
          <a:xfrm>
            <a:off x="548640" y="2435962"/>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6" name="Text 4"/>
          <p:cNvSpPr txBox="1"/>
          <p:nvPr/>
        </p:nvSpPr>
        <p:spPr>
          <a:xfrm>
            <a:off x="1234440" y="2291486"/>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Privacy: </a:t>
            </a:r>
            <a:pPr indent="0" marL="0">
              <a:buNone/>
            </a:pPr>
            <a:r>
              <a:rPr lang="en-US" sz="2000" dirty="0">
                <a:solidFill>
                  <a:srgbClr val="FFFFFF"/>
                </a:solidFill>
                <a:latin typeface="Calibri" pitchFamily="34" charset="0"/>
                <a:ea typeface="Calibri" pitchFamily="34" charset="-122"/>
                <a:cs typeface="Calibri" pitchFamily="34" charset="-120"/>
              </a:rPr>
              <a:t>collect only what the question needs.</a:t>
            </a:r>
            <a:endParaRPr lang="en-US" sz="2000" dirty="0"/>
          </a:p>
        </p:txBody>
      </p:sp>
      <p:sp>
        <p:nvSpPr>
          <p:cNvPr id="7" name="Text 5"/>
          <p:cNvSpPr/>
          <p:nvPr/>
        </p:nvSpPr>
        <p:spPr>
          <a:xfrm>
            <a:off x="548640" y="3310128"/>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8" name="Text 6"/>
          <p:cNvSpPr txBox="1"/>
          <p:nvPr/>
        </p:nvSpPr>
        <p:spPr>
          <a:xfrm>
            <a:off x="1234440" y="3165653"/>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Anonymity: </a:t>
            </a:r>
            <a:pPr indent="0" marL="0">
              <a:buNone/>
            </a:pPr>
            <a:r>
              <a:rPr lang="en-US" sz="2000" dirty="0">
                <a:solidFill>
                  <a:srgbClr val="FFFFFF"/>
                </a:solidFill>
                <a:latin typeface="Calibri" pitchFamily="34" charset="0"/>
                <a:ea typeface="Calibri" pitchFamily="34" charset="-122"/>
                <a:cs typeface="Calibri" pitchFamily="34" charset="-120"/>
              </a:rPr>
              <a:t>names removed is not enough. Check small groups.</a:t>
            </a:r>
            <a:endParaRPr lang="en-US" sz="2000" dirty="0"/>
          </a:p>
        </p:txBody>
      </p:sp>
      <p:sp>
        <p:nvSpPr>
          <p:cNvPr id="9" name="Text 7"/>
          <p:cNvSpPr/>
          <p:nvPr/>
        </p:nvSpPr>
        <p:spPr>
          <a:xfrm>
            <a:off x="548640" y="4184294"/>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 name="Text 8"/>
          <p:cNvSpPr txBox="1"/>
          <p:nvPr/>
        </p:nvSpPr>
        <p:spPr>
          <a:xfrm>
            <a:off x="1234440" y="4039819"/>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Bias: </a:t>
            </a:r>
            <a:pPr indent="0" marL="0">
              <a:buNone/>
            </a:pPr>
            <a:r>
              <a:rPr lang="en-US" sz="2000" dirty="0">
                <a:solidFill>
                  <a:srgbClr val="FFFFFF"/>
                </a:solidFill>
                <a:latin typeface="Calibri" pitchFamily="34" charset="0"/>
                <a:ea typeface="Calibri" pitchFamily="34" charset="-122"/>
                <a:cs typeface="Calibri" pitchFamily="34" charset="-120"/>
              </a:rPr>
              <a:t>prevent it at collection. Weighting only partly repairs it.</a:t>
            </a:r>
            <a:endParaRPr lang="en-US" sz="2000" dirty="0"/>
          </a:p>
        </p:txBody>
      </p:sp>
      <p:sp>
        <p:nvSpPr>
          <p:cNvPr id="11" name="Text 9"/>
          <p:cNvSpPr/>
          <p:nvPr/>
        </p:nvSpPr>
        <p:spPr>
          <a:xfrm>
            <a:off x="548640" y="5058461"/>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txBox="1"/>
          <p:nvPr/>
        </p:nvSpPr>
        <p:spPr>
          <a:xfrm>
            <a:off x="1234440" y="4913986"/>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Protection: </a:t>
            </a:r>
            <a:pPr indent="0" marL="0">
              <a:buNone/>
            </a:pPr>
            <a:r>
              <a:rPr lang="en-US" sz="2000" dirty="0">
                <a:solidFill>
                  <a:srgbClr val="FFFFFF"/>
                </a:solidFill>
                <a:latin typeface="Calibri" pitchFamily="34" charset="0"/>
                <a:ea typeface="Calibri" pitchFamily="34" charset="-122"/>
                <a:cs typeface="Calibri" pitchFamily="34" charset="-120"/>
              </a:rPr>
              <a:t>store safely, share summaries, delete on time. India's DPDP Act, 2023 expects notice, consent and safeguards.</a:t>
            </a:r>
            <a:endParaRPr lang="en-US" sz="2000" dirty="0"/>
          </a:p>
        </p:txBody>
      </p:sp>
      <p:sp>
        <p:nvSpPr>
          <p:cNvPr id="13" name="Text 11"/>
          <p:cNvSpPr txBox="1"/>
          <p:nvPr/>
        </p:nvSpPr>
        <p:spPr>
          <a:xfrm>
            <a:off x="548640" y="5806440"/>
            <a:ext cx="11091672" cy="457200"/>
          </a:xfrm>
          <a:prstGeom prst="rect">
            <a:avLst/>
          </a:prstGeom>
          <a:noFill/>
          <a:ln/>
        </p:spPr>
        <p:txBody>
          <a:bodyPr wrap="square" lIns="0" tIns="0" rIns="0" bIns="0" rtlCol="0" anchor="ctr"/>
          <a:lstStyle/>
          <a:p>
            <a:pPr indent="0" marL="0">
              <a:buNone/>
            </a:pPr>
            <a:r>
              <a:rPr lang="en-US" sz="1600" i="1" dirty="0">
                <a:solidFill>
                  <a:srgbClr val="B8C7D9"/>
                </a:solidFill>
                <a:latin typeface="Calibri" pitchFamily="34" charset="0"/>
                <a:ea typeface="Calibri" pitchFamily="34" charset="-122"/>
                <a:cs typeface="Calibri" pitchFamily="34" charset="-120"/>
              </a:rPr>
              <a:t>Next: Basic Data Operations</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1C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BMT Data">
  <a:themeElements>
    <a:clrScheme name="BMT Data">
      <a:dk1>
        <a:srgbClr val="14213D"/>
      </a:dk1>
      <a:lt1>
        <a:srgbClr val="FFFFFF"/>
      </a:lt1>
      <a:dk2>
        <a:srgbClr val="0B6E6E"/>
      </a:dk2>
      <a:lt2>
        <a:srgbClr val="EEF3F6"/>
      </a:lt2>
      <a:accent1>
        <a:srgbClr val="0F8B8D"/>
      </a:accent1>
      <a:accent2>
        <a:srgbClr val="F29E4C"/>
      </a:accent2>
      <a:accent3>
        <a:srgbClr val="3A5BA0"/>
      </a:accent3>
      <a:accent4>
        <a:srgbClr val="C8553D"/>
      </a:accent4>
      <a:accent5>
        <a:srgbClr val="6E9B2F"/>
      </a:accent5>
      <a:accent6>
        <a:srgbClr val="8E6BBF"/>
      </a:accent6>
      <a:hlink>
        <a:srgbClr val="0F8B8D"/>
      </a:hlink>
      <a:folHlink>
        <a:srgbClr val="8E6BBF"/>
      </a:folHlink>
    </a:clrScheme>
    <a:fontScheme name="BMT Dat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SAGE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Ethical Considerations in Data Collection</dc:title>
  <dc:subject>Business Management Tools I</dc:subject>
  <dc:creator>Sushant Bhargav</dc:creator>
  <cp:lastModifiedBy>Sushant Bhargav</cp:lastModifiedBy>
  <cp:revision>1</cp:revision>
  <dcterms:created xsi:type="dcterms:W3CDTF">2026-10-07T01:36:13Z</dcterms:created>
  <dcterms:modified xsi:type="dcterms:W3CDTF">2026-10-07T01:36:13Z</dcterms:modified>
</cp:coreProperties>
</file>