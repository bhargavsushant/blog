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2: Principles of Effective Visualization" id="{b743b524-0910-b37d-9a96-5680e8ef0207}">
          <p14:sldIdLst>
            <p14:sldId id="256"/>
            <p14:sldId id="257"/>
            <p14:sldId id="258"/>
            <p14:sldId id="259"/>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Sales</c:v>
                </c:pt>
              </c:strCache>
            </c:strRef>
          </c:tx>
          <c:spPr>
            <a:solidFill>
              <a:srgbClr val="0F8B8D"/>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Gwalior</c:v>
                  </c:pt>
                  <c:pt idx="1">
                    <c:v>Jabalpur</c:v>
                  </c:pt>
                  <c:pt idx="2">
                    <c:v>Indore</c:v>
                  </c:pt>
                  <c:pt idx="3">
                    <c:v>Bhopal</c:v>
                  </c:pt>
                </c:lvl>
              </c:multiLvlStrCache>
            </c:multiLvlStrRef>
          </c:cat>
          <c:val>
            <c:numRef>
              <c:f>Sheet1!$B$2:$B$5</c:f>
              <c:numCache>
                <c:formatCode>General</c:formatCode>
                <c:ptCount val="4"/>
                <c:pt idx="0">
                  <c:v>40</c:v>
                </c:pt>
                <c:pt idx="1">
                  <c:v>52</c:v>
                </c:pt>
                <c:pt idx="2">
                  <c:v>64</c:v>
                </c:pt>
                <c:pt idx="3">
                  <c:v>88</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b"/>
        <c:title>
          <c:tx>
            <c:rich>
              <a:bodyPr/>
              <a:lstStyle/>
              <a:p>
                <a:pPr>
                  <a:defRPr sz="1200" b="0" i="0" u="none" strike="noStrike">
                    <a:solidFill>
                      <a:srgbClr val="56667A"/>
                    </a:solidFill>
                    <a:latin typeface="Arial"/>
                  </a:defRPr>
                </a:pPr>
                <a:r>
                  <a:rPr sz="1200" b="0" i="0" u="none" strike="noStrike">
                    <a:solidFill>
                      <a:srgbClr val="56667A"/>
                    </a:solidFill>
                    <a:latin typeface="Arial"/>
                  </a:rPr>
                  <a:t>₹ lakh</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c:v>
                </c:pt>
              </c:strCache>
            </c:strRef>
          </c:tx>
          <c:spPr>
            <a:solidFill>
              <a:srgbClr val="0F8B8D"/>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400</c:v>
                </c:pt>
                <c:pt idx="1">
                  <c:v>420</c:v>
                </c:pt>
                <c:pt idx="2">
                  <c:v>460</c:v>
                </c:pt>
                <c:pt idx="3">
                  <c:v>500</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min val="0"/>
        </c:scaling>
        <c:delete val="1"/>
        <c:axPos val="l"/>
        <c:title>
          <c:tx>
            <c:rich>
              <a:bodyPr/>
              <a:lstStyle/>
              <a:p>
                <a:pPr>
                  <a:defRPr sz="1200" b="0" i="0" u="none" strike="noStrike">
                    <a:solidFill>
                      <a:srgbClr val="56667A"/>
                    </a:solidFill>
                    <a:latin typeface="Arial"/>
                  </a:defRPr>
                </a:pPr>
                <a:r>
                  <a:rPr sz="1200" b="0" i="0" u="none" strike="noStrike">
                    <a:solidFill>
                      <a:srgbClr val="56667A"/>
                    </a:solidFill>
                    <a:latin typeface="Arial"/>
                  </a:rPr>
                  <a:t>₹ lakh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gives three tests for any chart: is it clear, is it simple and is it accurate. Students will use the same tests later to judge charts in newspapers, reports and their own assignments.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two charts of the same data if you have them, one messy and one clean, and ask which one the class would trust. Then tell them today is about the reasons behind that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can conflict. A very simple chart may drop context and become inaccurate. A very accurate chart with every detail may lose clarity. Good design balances the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is the cheapest clarity fix. Category data such as cities has no natural order, so rank it. The exception is categories with a real order, such as months or age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row by row. The clean version is not poorer. It tells the same story with fewer things to decode. Ask the class which element they would remove first from a chart they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Lie factor is Tufte's measure. We will compute one in a worked example in a few slides. The key idea is that the visual change should match the real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data for a regional retailer, in ₹ lakh. Note that Bhopal is 2.2 times Gwalior and the bar lengths show that honestly because the axis starts at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growth is 460 / 420 = 1.0952, so 9.5%. Q4 is 500 / 460 = 1.0870, so 8.7%. Remind students that a headline must be true: every number in it should be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 heights are 400 and 500, a ratio of 1.25, and that matches the data. The next slide shows what happens when the axis is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what a reader would think: that sales tripled. In truth they grew by a quarter. A cut axis is acceptable only on line charts where the shape matters, and then it must be clearly marked.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process turns the three principles into habits. Step 2 is the topic of the next session. Ask students to apply the five steps to a chart from their own college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grey areas. The rule for bars is firm, but for lines judgement matters. Ask the class for an example of a period that was cut to hide a bad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question 3, (97 - 92) / 92 = 5.43%. Heights are 7 and 2 so the drawn change is 5 / 2 = 250%. Lie factor is 250 / 5.43 = 46.
ANSWERS
1. Clarity: can a reader state the message in seconds? Simplicity: does every element support the message? Accuracy: does the visual change match the data change?
2. (250 - 200) / 200 = 25%. "Sales grew 25% to ₹250k."
3. Drawn heights 2 and 7, so the graphic shows 250%. 250 / 5.4 ≈ 46, far from the honest value of 1.
4. Any three of: heavy gridlines, 3D effects, shadows, unneeded legend, extra colours, redundant axis and bar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II  ·  TOPIC 2</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Principles of Effective Visualization</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Data Visualization</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State </a:t>
            </a:r>
            <a:pPr indent="0" marL="0">
              <a:buNone/>
            </a:pPr>
            <a:r>
              <a:rPr lang="en-US" sz="2400" dirty="0">
                <a:solidFill>
                  <a:srgbClr val="2B3A4F"/>
                </a:solidFill>
                <a:latin typeface="Calibri" pitchFamily="34" charset="0"/>
                <a:ea typeface="Calibri" pitchFamily="34" charset="-122"/>
                <a:cs typeface="Calibri" pitchFamily="34" charset="-120"/>
              </a:rPr>
              <a:t>the three principles of effective visualization: clarity, simplicity and accuracy.</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Write </a:t>
            </a:r>
            <a:pPr indent="0" marL="0">
              <a:buNone/>
            </a:pPr>
            <a:r>
              <a:rPr lang="en-US" sz="2400" dirty="0">
                <a:solidFill>
                  <a:srgbClr val="2B3A4F"/>
                </a:solidFill>
                <a:latin typeface="Calibri" pitchFamily="34" charset="0"/>
                <a:ea typeface="Calibri" pitchFamily="34" charset="-122"/>
                <a:cs typeface="Calibri" pitchFamily="34" charset="-120"/>
              </a:rPr>
              <a:t>a chart title that states the message, not just the topic.</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Remove </a:t>
            </a:r>
            <a:pPr indent="0" marL="0">
              <a:buNone/>
            </a:pPr>
            <a:r>
              <a:rPr lang="en-US" sz="2400" dirty="0">
                <a:solidFill>
                  <a:srgbClr val="2B3A4F"/>
                </a:solidFill>
                <a:latin typeface="Calibri" pitchFamily="34" charset="0"/>
                <a:ea typeface="Calibri" pitchFamily="34" charset="-122"/>
                <a:cs typeface="Calibri" pitchFamily="34" charset="-120"/>
              </a:rPr>
              <a:t>clutter that adds no information, such as heavy gridlines and decoration.</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Check </a:t>
            </a:r>
            <a:pPr indent="0" marL="0">
              <a:buNone/>
            </a:pPr>
            <a:r>
              <a:rPr lang="en-US" sz="2400" dirty="0">
                <a:solidFill>
                  <a:srgbClr val="2B3A4F"/>
                </a:solidFill>
                <a:latin typeface="Calibri" pitchFamily="34" charset="0"/>
                <a:ea typeface="Calibri" pitchFamily="34" charset="-122"/>
                <a:cs typeface="Calibri" pitchFamily="34" charset="-120"/>
              </a:rPr>
              <a:t>a chart for accuracy using the zero baseline and the lie factor.</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Apply </a:t>
            </a:r>
            <a:pPr indent="0" marL="0">
              <a:buNone/>
            </a:pPr>
            <a:r>
              <a:rPr lang="en-US" sz="2400" dirty="0">
                <a:solidFill>
                  <a:srgbClr val="2B3A4F"/>
                </a:solidFill>
                <a:latin typeface="Calibri" pitchFamily="34" charset="0"/>
                <a:ea typeface="Calibri" pitchFamily="34" charset="-122"/>
                <a:cs typeface="Calibri" pitchFamily="34" charset="-120"/>
              </a:rPr>
              <a:t>a five-step process to design a chart from a question.</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3</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tests for every chart: clear to read, simple to scan, honest about the data.</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Three principles at a glance</a:t>
            </a:r>
            <a:endParaRPr lang="en-US" sz="2800" dirty="0"/>
          </a:p>
        </p:txBody>
      </p:sp>
      <p:sp>
        <p:nvSpPr>
          <p:cNvPr id="3" name="Shape 1"/>
          <p:cNvSpPr/>
          <p:nvPr/>
        </p:nvSpPr>
        <p:spPr>
          <a:xfrm>
            <a:off x="548640" y="1508760"/>
            <a:ext cx="3514344" cy="4206240"/>
          </a:xfrm>
          <a:prstGeom prst="roundRect">
            <a:avLst>
              <a:gd name="adj" fmla="val 3122"/>
            </a:avLst>
          </a:prstGeom>
          <a:solidFill>
            <a:srgbClr val="EEF3F6"/>
          </a:solidFill>
          <a:ln w="12700">
            <a:solidFill>
              <a:srgbClr val="EEF3F6"/>
            </a:solidFill>
            <a:prstDash val="solid"/>
          </a:ln>
        </p:spPr>
      </p:sp>
      <p:sp>
        <p:nvSpPr>
          <p:cNvPr id="4" name="Text 2"/>
          <p:cNvSpPr/>
          <p:nvPr/>
        </p:nvSpPr>
        <p:spPr>
          <a:xfrm>
            <a:off x="777240" y="173736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64592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Clarity</a:t>
            </a:r>
            <a:endParaRPr lang="en-US" sz="2000" dirty="0"/>
          </a:p>
        </p:txBody>
      </p:sp>
      <p:sp>
        <p:nvSpPr>
          <p:cNvPr id="6" name="Text 4"/>
          <p:cNvSpPr txBox="1"/>
          <p:nvPr/>
        </p:nvSpPr>
        <p:spPr>
          <a:xfrm>
            <a:off x="777240" y="2423160"/>
            <a:ext cx="3057144" cy="315468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The reader gets the message in a few seconds. A clear title, labelled axes with units, readable fonts and a logical order.</a:t>
            </a:r>
            <a:endParaRPr lang="en-US" sz="2000" dirty="0"/>
          </a:p>
        </p:txBody>
      </p:sp>
      <p:sp>
        <p:nvSpPr>
          <p:cNvPr id="7" name="Shape 5"/>
          <p:cNvSpPr/>
          <p:nvPr/>
        </p:nvSpPr>
        <p:spPr>
          <a:xfrm>
            <a:off x="4337304" y="1508760"/>
            <a:ext cx="3514344" cy="4206240"/>
          </a:xfrm>
          <a:prstGeom prst="roundRect">
            <a:avLst>
              <a:gd name="adj" fmla="val 3122"/>
            </a:avLst>
          </a:prstGeom>
          <a:solidFill>
            <a:srgbClr val="EEF3F6"/>
          </a:solidFill>
          <a:ln w="12700">
            <a:solidFill>
              <a:srgbClr val="EEF3F6"/>
            </a:solidFill>
            <a:prstDash val="solid"/>
          </a:ln>
        </p:spPr>
      </p:sp>
      <p:sp>
        <p:nvSpPr>
          <p:cNvPr id="8" name="Text 6"/>
          <p:cNvSpPr/>
          <p:nvPr/>
        </p:nvSpPr>
        <p:spPr>
          <a:xfrm>
            <a:off x="4565904" y="173736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5160264" y="164592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Simplicity</a:t>
            </a:r>
            <a:endParaRPr lang="en-US" sz="2000" dirty="0"/>
          </a:p>
        </p:txBody>
      </p:sp>
      <p:sp>
        <p:nvSpPr>
          <p:cNvPr id="10" name="Text 8"/>
          <p:cNvSpPr txBox="1"/>
          <p:nvPr/>
        </p:nvSpPr>
        <p:spPr>
          <a:xfrm>
            <a:off x="4565904" y="2423160"/>
            <a:ext cx="3057144" cy="315468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Show only what supports the message. Every line, colour and label must earn its place. Less ink, more insight.</a:t>
            </a:r>
            <a:endParaRPr lang="en-US" sz="2000" dirty="0"/>
          </a:p>
        </p:txBody>
      </p:sp>
      <p:sp>
        <p:nvSpPr>
          <p:cNvPr id="11" name="Shape 9"/>
          <p:cNvSpPr/>
          <p:nvPr/>
        </p:nvSpPr>
        <p:spPr>
          <a:xfrm>
            <a:off x="8125968" y="1508760"/>
            <a:ext cx="3514344" cy="4206240"/>
          </a:xfrm>
          <a:prstGeom prst="roundRect">
            <a:avLst>
              <a:gd name="adj" fmla="val 3122"/>
            </a:avLst>
          </a:prstGeom>
          <a:solidFill>
            <a:srgbClr val="EEF3F6"/>
          </a:solidFill>
          <a:ln w="12700">
            <a:solidFill>
              <a:srgbClr val="EEF3F6"/>
            </a:solidFill>
            <a:prstDash val="solid"/>
          </a:ln>
        </p:spPr>
      </p:sp>
      <p:sp>
        <p:nvSpPr>
          <p:cNvPr id="12" name="Text 10"/>
          <p:cNvSpPr/>
          <p:nvPr/>
        </p:nvSpPr>
        <p:spPr>
          <a:xfrm>
            <a:off x="8354568" y="173736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8948928" y="164592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Accuracy</a:t>
            </a:r>
            <a:endParaRPr lang="en-US" sz="2000" dirty="0"/>
          </a:p>
        </p:txBody>
      </p:sp>
      <p:sp>
        <p:nvSpPr>
          <p:cNvPr id="14" name="Text 12"/>
          <p:cNvSpPr txBox="1"/>
          <p:nvPr/>
        </p:nvSpPr>
        <p:spPr>
          <a:xfrm>
            <a:off x="8354568" y="2423160"/>
            <a:ext cx="3057144" cy="315468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The picture must match the numbers. Bars start at zero, scales are even, and no effect is made to look bigger than it is.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Clarity: unclear versus clear</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Unclear chart</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Title says "Sales chart".</a:t>
            </a:r>
            <a:endParaRPr lang="en-US" sz="2200" dirty="0"/>
          </a:p>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Axes have no labels or units.</a:t>
            </a:r>
            <a:endParaRPr lang="en-US" sz="2200" dirty="0"/>
          </a:p>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Bars sit in random order.</a:t>
            </a:r>
            <a:endParaRPr lang="en-US" sz="2200" dirty="0"/>
          </a:p>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Tiny fonts and a legend far from the data.</a:t>
            </a:r>
            <a:endParaRPr lang="en-US" sz="2200" dirty="0"/>
          </a:p>
          <a:p>
            <a:pPr marL="228600" indent="-228600">
              <a:buSzPct val="100000"/>
              <a:buChar char="•"/>
            </a:pPr>
            <a:r>
              <a:rPr lang="en-US" sz="2200" dirty="0">
                <a:solidFill>
                  <a:srgbClr val="2B3A4F"/>
                </a:solidFill>
                <a:latin typeface="Calibri" pitchFamily="34" charset="0"/>
                <a:ea typeface="Calibri" pitchFamily="34" charset="-122"/>
                <a:cs typeface="Calibri" pitchFamily="34" charset="-120"/>
              </a:rPr>
              <a:t>Reader must work out the message alone.</a:t>
            </a:r>
            <a:endParaRPr lang="en-US" sz="22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Clear chart</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2B3A4F"/>
                </a:solidFill>
                <a:latin typeface="Calibri" pitchFamily="34" charset="0"/>
                <a:ea typeface="Calibri" pitchFamily="34" charset="-122"/>
                <a:cs typeface="Calibri" pitchFamily="34" charset="-120"/>
              </a:rPr>
              <a:t>Title states the finding: "Bhopal leads regional sales".</a:t>
            </a:r>
            <a:endParaRPr lang="en-US" sz="1800" dirty="0"/>
          </a:p>
          <a:p>
            <a:pPr marL="228600" indent="-228600">
              <a:spcAft>
                <a:spcPts val="800"/>
              </a:spcAft>
              <a:buSzPct val="100000"/>
              <a:buChar char="•"/>
            </a:pPr>
            <a:r>
              <a:rPr lang="en-US" sz="1800" dirty="0">
                <a:solidFill>
                  <a:srgbClr val="2B3A4F"/>
                </a:solidFill>
                <a:latin typeface="Calibri" pitchFamily="34" charset="0"/>
                <a:ea typeface="Calibri" pitchFamily="34" charset="-122"/>
                <a:cs typeface="Calibri" pitchFamily="34" charset="-120"/>
              </a:rPr>
              <a:t>Axes labelled with units such as ₹ lakh.</a:t>
            </a:r>
            <a:endParaRPr lang="en-US" sz="1800" dirty="0"/>
          </a:p>
          <a:p>
            <a:pPr marL="228600" indent="-228600">
              <a:spcAft>
                <a:spcPts val="800"/>
              </a:spcAft>
              <a:buSzPct val="100000"/>
              <a:buChar char="•"/>
            </a:pPr>
            <a:r>
              <a:rPr lang="en-US" sz="1800" dirty="0">
                <a:solidFill>
                  <a:srgbClr val="2B3A4F"/>
                </a:solidFill>
                <a:latin typeface="Calibri" pitchFamily="34" charset="0"/>
                <a:ea typeface="Calibri" pitchFamily="34" charset="-122"/>
                <a:cs typeface="Calibri" pitchFamily="34" charset="-120"/>
              </a:rPr>
              <a:t>Bars sorted from largest to smallest.</a:t>
            </a:r>
            <a:endParaRPr lang="en-US" sz="1800" dirty="0"/>
          </a:p>
          <a:p>
            <a:pPr marL="228600" indent="-228600">
              <a:spcAft>
                <a:spcPts val="800"/>
              </a:spcAft>
              <a:buSzPct val="100000"/>
              <a:buChar char="•"/>
            </a:pPr>
            <a:r>
              <a:rPr lang="en-US" sz="1800" dirty="0">
                <a:solidFill>
                  <a:srgbClr val="2B3A4F"/>
                </a:solidFill>
                <a:latin typeface="Calibri" pitchFamily="34" charset="0"/>
                <a:ea typeface="Calibri" pitchFamily="34" charset="-122"/>
                <a:cs typeface="Calibri" pitchFamily="34" charset="-120"/>
              </a:rPr>
              <a:t>Large fonts and direct labels on the bars.</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Message is visible in about five seconds.</a:t>
            </a:r>
            <a:endParaRPr lang="en-US" sz="18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Test: cover the title and ask a colleague what the chart says. If they cannot tell, add labels or simplify.</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Simplicity: cluttered versus clean</a:t>
            </a:r>
            <a:endParaRPr lang="en-US" sz="2800" dirty="0"/>
          </a:p>
        </p:txBody>
      </p:sp>
      <p:sp>
        <p:nvSpPr>
          <p:cNvPr id="3" name="Shape 1"/>
          <p:cNvSpPr/>
          <p:nvPr/>
        </p:nvSpPr>
        <p:spPr>
          <a:xfrm>
            <a:off x="548640" y="1417320"/>
            <a:ext cx="5385816" cy="457200"/>
          </a:xfrm>
          <a:prstGeom prst="roundRect">
            <a:avLst>
              <a:gd name="adj" fmla="val 24000"/>
            </a:avLst>
          </a:prstGeom>
          <a:solidFill>
            <a:srgbClr val="C8553D"/>
          </a:solidFill>
          <a:ln w="12700">
            <a:solidFill>
              <a:srgbClr val="C8553D"/>
            </a:solidFill>
            <a:prstDash val="solid"/>
          </a:ln>
        </p:spPr>
      </p:sp>
      <p:sp>
        <p:nvSpPr>
          <p:cNvPr id="4" name="Text 2"/>
          <p:cNvSpPr txBox="1"/>
          <p:nvPr/>
        </p:nvSpPr>
        <p:spPr>
          <a:xfrm>
            <a:off x="731520"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Cluttered</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385816" cy="914400"/>
        </p:xfrm>
        <a:graphic>
          <a:graphicData uri="http://schemas.openxmlformats.org/drawingml/2006/table">
            <a:tbl>
              <a:tblPr/>
              <a:tblGrid>
                <a:gridCol w="1857178"/>
                <a:gridCol w="3528638"/>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Element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Choice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Gridlines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Dark, every unit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Colours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Six, one per bar</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Decoration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Shadows, 3D, icons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Labels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Axis and every bar</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Legend</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Kept for one series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6" name="Shape 3"/>
          <p:cNvSpPr/>
          <p:nvPr/>
        </p:nvSpPr>
        <p:spPr>
          <a:xfrm>
            <a:off x="6254496" y="1417320"/>
            <a:ext cx="5385816" cy="457200"/>
          </a:xfrm>
          <a:prstGeom prst="roundRect">
            <a:avLst>
              <a:gd name="adj" fmla="val 24000"/>
            </a:avLst>
          </a:prstGeom>
          <a:solidFill>
            <a:srgbClr val="0F8B8D"/>
          </a:solidFill>
          <a:ln w="12700">
            <a:solidFill>
              <a:srgbClr val="0F8B8D"/>
            </a:solidFill>
            <a:prstDash val="solid"/>
          </a:ln>
        </p:spPr>
      </p:sp>
      <p:sp>
        <p:nvSpPr>
          <p:cNvPr id="7" name="Text 4"/>
          <p:cNvSpPr txBox="1"/>
          <p:nvPr/>
        </p:nvSpPr>
        <p:spPr>
          <a:xfrm>
            <a:off x="6437376"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Clean</a:t>
            </a:r>
            <a:endParaRPr lang="en-US" sz="16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54496" y="2011680"/>
          <a:ext cx="5385816" cy="914400"/>
        </p:xfrm>
        <a:graphic>
          <a:graphicData uri="http://schemas.openxmlformats.org/drawingml/2006/table">
            <a:tbl>
              <a:tblPr/>
              <a:tblGrid>
                <a:gridCol w="1795272"/>
                <a:gridCol w="3590544"/>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Element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Choice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Gridlines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Light or removed</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Colours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One, plus one accent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Decoration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None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Labels</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On bars, axis hidden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Legend</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Removed</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5623560"/>
            <a:ext cx="11091672" cy="640080"/>
          </a:xfrm>
          <a:prstGeom prst="roundRect">
            <a:avLst>
              <a:gd name="adj" fmla="val 17143"/>
            </a:avLst>
          </a:prstGeom>
          <a:solidFill>
            <a:srgbClr val="FDEBD6"/>
          </a:solidFill>
          <a:ln w="12700">
            <a:solidFill>
              <a:srgbClr val="FDEBD6"/>
            </a:solidFill>
            <a:prstDash val="solid"/>
          </a:ln>
        </p:spPr>
      </p:sp>
      <p:sp>
        <p:nvSpPr>
          <p:cNvPr id="10" name="Text 6"/>
          <p:cNvSpPr txBox="1"/>
          <p:nvPr/>
        </p:nvSpPr>
        <p:spPr>
          <a:xfrm>
            <a:off x="822960" y="5623560"/>
            <a:ext cx="10543032" cy="640080"/>
          </a:xfrm>
          <a:prstGeom prst="rect">
            <a:avLst/>
          </a:prstGeom>
          <a:noFill/>
          <a:ln/>
        </p:spPr>
        <p:txBody>
          <a:bodyPr wrap="square" lIns="0" tIns="0" rIns="0" bIns="0" rtlCol="0" anchor="ctr"/>
          <a:lstStyle/>
          <a:p>
            <a:pPr indent="0" marL="0">
              <a:buNone/>
            </a:pPr>
            <a:r>
              <a:rPr lang="en-US" sz="1600" dirty="0">
                <a:solidFill>
                  <a:srgbClr val="14213D"/>
                </a:solidFill>
                <a:latin typeface="Calibri" pitchFamily="34" charset="0"/>
                <a:ea typeface="Calibri" pitchFamily="34" charset="-122"/>
                <a:cs typeface="Calibri" pitchFamily="34" charset="-120"/>
              </a:rPr>
              <a:t>Idea from Edward Tufte: maximise the share of ink that shows data, and remove the rest.</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Accuracy: draw what the data says</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300" b="1" dirty="0">
                <a:solidFill>
                  <a:srgbClr val="14213D"/>
                </a:solidFill>
                <a:latin typeface="Calibri" pitchFamily="34" charset="0"/>
                <a:ea typeface="Calibri" pitchFamily="34" charset="-122"/>
                <a:cs typeface="Calibri" pitchFamily="34" charset="-120"/>
              </a:rPr>
              <a:t>Bars start at zero. </a:t>
            </a:r>
            <a:pPr indent="0" marL="0">
              <a:buNone/>
            </a:pPr>
            <a:r>
              <a:rPr lang="en-US" sz="2300" dirty="0">
                <a:solidFill>
                  <a:srgbClr val="2B3A4F"/>
                </a:solidFill>
                <a:latin typeface="Calibri" pitchFamily="34" charset="0"/>
                <a:ea typeface="Calibri" pitchFamily="34" charset="-122"/>
                <a:cs typeface="Calibri" pitchFamily="34" charset="-120"/>
              </a:rPr>
              <a:t>Bar length is the value, so cutting the axis changes the story.</a:t>
            </a:r>
            <a:endParaRPr lang="en-US" sz="2300" dirty="0"/>
          </a:p>
          <a:p>
            <a:pPr marL="228600" indent="-228600">
              <a:spcAft>
                <a:spcPts val="1000"/>
              </a:spcAft>
              <a:buSzPct val="100000"/>
              <a:buChar char="•"/>
            </a:pPr>
            <a:r>
              <a:rPr lang="en-US" sz="2300" b="1" dirty="0">
                <a:solidFill>
                  <a:srgbClr val="14213D"/>
                </a:solidFill>
                <a:latin typeface="Calibri" pitchFamily="34" charset="0"/>
                <a:ea typeface="Calibri" pitchFamily="34" charset="-122"/>
                <a:cs typeface="Calibri" pitchFamily="34" charset="-120"/>
              </a:rPr>
              <a:t>Even scales: </a:t>
            </a:r>
            <a:pPr indent="0" marL="0">
              <a:buNone/>
            </a:pPr>
            <a:r>
              <a:rPr lang="en-US" sz="2300" dirty="0">
                <a:solidFill>
                  <a:srgbClr val="2B3A4F"/>
                </a:solidFill>
                <a:latin typeface="Calibri" pitchFamily="34" charset="0"/>
                <a:ea typeface="Calibri" pitchFamily="34" charset="-122"/>
                <a:cs typeface="Calibri" pitchFamily="34" charset="-120"/>
              </a:rPr>
              <a:t>equal steps on the axis must mean equal changes in value.</a:t>
            </a:r>
            <a:endParaRPr lang="en-US" sz="2300" dirty="0"/>
          </a:p>
          <a:p>
            <a:pPr marL="228600" indent="-228600">
              <a:spcAft>
                <a:spcPts val="1000"/>
              </a:spcAft>
              <a:buSzPct val="100000"/>
              <a:buChar char="•"/>
            </a:pPr>
            <a:r>
              <a:rPr lang="en-US" sz="2300" b="1" dirty="0">
                <a:solidFill>
                  <a:srgbClr val="14213D"/>
                </a:solidFill>
                <a:latin typeface="Calibri" pitchFamily="34" charset="0"/>
                <a:ea typeface="Calibri" pitchFamily="34" charset="-122"/>
                <a:cs typeface="Calibri" pitchFamily="34" charset="-120"/>
              </a:rPr>
              <a:t>Full context: </a:t>
            </a:r>
            <a:pPr indent="0" marL="0">
              <a:buNone/>
            </a:pPr>
            <a:r>
              <a:rPr lang="en-US" sz="2300" dirty="0">
                <a:solidFill>
                  <a:srgbClr val="2B3A4F"/>
                </a:solidFill>
                <a:latin typeface="Calibri" pitchFamily="34" charset="0"/>
                <a:ea typeface="Calibri" pitchFamily="34" charset="-122"/>
                <a:cs typeface="Calibri" pitchFamily="34" charset="-120"/>
              </a:rPr>
              <a:t>show all categories or periods, not only the ones that help your case.</a:t>
            </a:r>
            <a:endParaRPr lang="en-US" sz="2300" dirty="0"/>
          </a:p>
          <a:p>
            <a:pPr marL="228600" indent="-228600">
              <a:spcAft>
                <a:spcPts val="1000"/>
              </a:spcAft>
              <a:buSzPct val="100000"/>
              <a:buChar char="•"/>
            </a:pPr>
            <a:r>
              <a:rPr lang="en-US" sz="2300" b="1" dirty="0">
                <a:solidFill>
                  <a:srgbClr val="14213D"/>
                </a:solidFill>
                <a:latin typeface="Calibri" pitchFamily="34" charset="0"/>
                <a:ea typeface="Calibri" pitchFamily="34" charset="-122"/>
                <a:cs typeface="Calibri" pitchFamily="34" charset="-120"/>
              </a:rPr>
              <a:t>Honest area: </a:t>
            </a:r>
            <a:pPr indent="0" marL="0">
              <a:buNone/>
            </a:pPr>
            <a:r>
              <a:rPr lang="en-US" sz="2300" dirty="0">
                <a:solidFill>
                  <a:srgbClr val="2B3A4F"/>
                </a:solidFill>
                <a:latin typeface="Calibri" pitchFamily="34" charset="0"/>
                <a:ea typeface="Calibri" pitchFamily="34" charset="-122"/>
                <a:cs typeface="Calibri" pitchFamily="34" charset="-120"/>
              </a:rPr>
              <a:t>in a bubble or icon chart, area must grow with the value, not the height.</a:t>
            </a:r>
            <a:endParaRPr lang="en-US" sz="2300" dirty="0"/>
          </a:p>
          <a:p>
            <a:pPr marL="228600" indent="-228600">
              <a:buSzPct val="100000"/>
              <a:buChar char="•"/>
            </a:pPr>
            <a:r>
              <a:rPr lang="en-US" sz="2300" b="1" dirty="0">
                <a:solidFill>
                  <a:srgbClr val="14213D"/>
                </a:solidFill>
                <a:latin typeface="Calibri" pitchFamily="34" charset="0"/>
                <a:ea typeface="Calibri" pitchFamily="34" charset="-122"/>
                <a:cs typeface="Calibri" pitchFamily="34" charset="-120"/>
              </a:rPr>
              <a:t>Source and units: </a:t>
            </a:r>
            <a:pPr indent="0" marL="0">
              <a:buNone/>
            </a:pPr>
            <a:r>
              <a:rPr lang="en-US" sz="2300" dirty="0">
                <a:solidFill>
                  <a:srgbClr val="2B3A4F"/>
                </a:solidFill>
                <a:latin typeface="Calibri" pitchFamily="34" charset="0"/>
                <a:ea typeface="Calibri" pitchFamily="34" charset="-122"/>
                <a:cs typeface="Calibri" pitchFamily="34" charset="-120"/>
              </a:rPr>
              <a:t>say where the data came from and what it measures.</a:t>
            </a:r>
            <a:endParaRPr lang="en-US" sz="23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LIE FACTOR</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1</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Effect shown in the graphic divided by effect in the data. A value of 1 is honest. Far from 1 is distortion.</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 clear chart: sorted bars, direct labels</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WHY IT WORKS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Sorted so the ranking is visible at once.</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One colour, labels on the bars, no legend or gridlines.</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Horizontal bars leave room for long names.</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Bhopal at 88 is more than double Gwalior at 40.</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Write a title that states the message</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retailer's quarterly sales in ₹ lakh are 400, 420, 460 and 500 (illustrative). Turn the data into a headline.</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Weak title: </a:t>
            </a:r>
            <a:pPr indent="0" marL="0">
              <a:buNone/>
            </a:pPr>
            <a:r>
              <a:rPr lang="en-US" sz="2200" dirty="0">
                <a:solidFill>
                  <a:srgbClr val="2B3A4F"/>
                </a:solidFill>
                <a:latin typeface="Calibri" pitchFamily="34" charset="0"/>
                <a:ea typeface="Calibri" pitchFamily="34" charset="-122"/>
                <a:cs typeface="Calibri" pitchFamily="34" charset="-120"/>
              </a:rPr>
              <a:t>"Quarterly sales". It names the topic and says nothing.</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Find the change: </a:t>
            </a:r>
            <a:pPr indent="0" marL="0">
              <a:buNone/>
            </a:pPr>
            <a:r>
              <a:rPr lang="en-US" sz="2200" dirty="0">
                <a:solidFill>
                  <a:srgbClr val="2B3A4F"/>
                </a:solidFill>
                <a:latin typeface="Calibri" pitchFamily="34" charset="0"/>
                <a:ea typeface="Calibri" pitchFamily="34" charset="-122"/>
                <a:cs typeface="Calibri" pitchFamily="34" charset="-120"/>
              </a:rPr>
              <a:t>(500 - 400) / 400 = 0.25, so sales grew 25% from Q1 to Q4.</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Check each step: </a:t>
            </a:r>
            <a:pPr indent="0" marL="0">
              <a:buNone/>
            </a:pPr>
            <a:r>
              <a:rPr lang="en-US" sz="2200" dirty="0">
                <a:solidFill>
                  <a:srgbClr val="2B3A4F"/>
                </a:solidFill>
                <a:latin typeface="Calibri" pitchFamily="34" charset="0"/>
                <a:ea typeface="Calibri" pitchFamily="34" charset="-122"/>
                <a:cs typeface="Calibri" pitchFamily="34" charset="-120"/>
              </a:rPr>
              <a:t>Q2 +5.0%, Q3 +9.5%, Q4 +8.7% over the previous quarter.</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Strong title: </a:t>
            </a:r>
            <a:pPr indent="0" marL="0">
              <a:buNone/>
            </a:pPr>
            <a:r>
              <a:rPr lang="en-US" sz="2200" dirty="0">
                <a:solidFill>
                  <a:srgbClr val="2B3A4F"/>
                </a:solidFill>
                <a:latin typeface="Calibri" pitchFamily="34" charset="0"/>
                <a:ea typeface="Calibri" pitchFamily="34" charset="-122"/>
                <a:cs typeface="Calibri" pitchFamily="34" charset="-120"/>
              </a:rPr>
              <a:t>"Sales grew 25% from Q1 to Q4, led by Q3 and Q4".</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The title now tells the reader the message before they study the bars. Back it up with the chart.</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The same data, honestly drawn</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WHY IT WORKS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axis starts at zero, so Q4 looks 25% taller than Q1, the true gap.</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Time runs left to right in natural order.</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Labels give exact values, so no guessing.</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Compute the lie factor of a cut axis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Sales were ₹80 lakh last year and ₹100 lakh this year. A chart starts its axis at ₹70 lakh instead of zero.</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Effect in the data: </a:t>
            </a:r>
            <a:pPr indent="0" marL="0">
              <a:buNone/>
            </a:pPr>
            <a:r>
              <a:rPr lang="en-US" sz="2200" dirty="0">
                <a:solidFill>
                  <a:srgbClr val="2B3A4F"/>
                </a:solidFill>
                <a:latin typeface="Calibri" pitchFamily="34" charset="0"/>
                <a:ea typeface="Calibri" pitchFamily="34" charset="-122"/>
                <a:cs typeface="Calibri" pitchFamily="34" charset="-120"/>
              </a:rPr>
              <a:t>(100 - 80) / 80 = 25% growth.</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Bar heights drawn: </a:t>
            </a:r>
            <a:pPr indent="0" marL="0">
              <a:buNone/>
            </a:pPr>
            <a:r>
              <a:rPr lang="en-US" sz="2200" dirty="0">
                <a:solidFill>
                  <a:srgbClr val="2B3A4F"/>
                </a:solidFill>
                <a:latin typeface="Calibri" pitchFamily="34" charset="0"/>
                <a:ea typeface="Calibri" pitchFamily="34" charset="-122"/>
                <a:cs typeface="Calibri" pitchFamily="34" charset="-120"/>
              </a:rPr>
              <a:t>from the ₹70 baseline, 10 units and 30 units.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Effect in the graphic: </a:t>
            </a:r>
            <a:pPr indent="0" marL="0">
              <a:buNone/>
            </a:pPr>
            <a:r>
              <a:rPr lang="en-US" sz="2200" dirty="0">
                <a:solidFill>
                  <a:srgbClr val="2B3A4F"/>
                </a:solidFill>
                <a:latin typeface="Calibri" pitchFamily="34" charset="0"/>
                <a:ea typeface="Calibri" pitchFamily="34" charset="-122"/>
                <a:cs typeface="Calibri" pitchFamily="34" charset="-120"/>
              </a:rPr>
              <a:t>(30 - 10) / 10 = 200% taller.</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Lie factor: </a:t>
            </a:r>
            <a:pPr indent="0" marL="0">
              <a:buNone/>
            </a:pPr>
            <a:r>
              <a:rPr lang="en-US" sz="2200" dirty="0">
                <a:solidFill>
                  <a:srgbClr val="2B3A4F"/>
                </a:solidFill>
                <a:latin typeface="Calibri" pitchFamily="34" charset="0"/>
                <a:ea typeface="Calibri" pitchFamily="34" charset="-122"/>
                <a:cs typeface="Calibri" pitchFamily="34" charset="-120"/>
              </a:rPr>
              <a:t>200% / 25% = 8.</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The picture exaggerates growth eight times. A lie factor near 1 is honest. Start bar axes at zero.</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Designing a chart in five steps</a:t>
            </a:r>
            <a:endParaRPr lang="en-US" sz="2800" dirty="0"/>
          </a:p>
        </p:txBody>
      </p:sp>
      <p:sp>
        <p:nvSpPr>
          <p:cNvPr id="3" name="Shape 1"/>
          <p:cNvSpPr/>
          <p:nvPr/>
        </p:nvSpPr>
        <p:spPr>
          <a:xfrm>
            <a:off x="548640" y="1417320"/>
            <a:ext cx="213055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State the message</a:t>
            </a:r>
            <a:endParaRPr lang="en-US" sz="1700" dirty="0"/>
          </a:p>
        </p:txBody>
      </p:sp>
      <p:sp>
        <p:nvSpPr>
          <p:cNvPr id="5" name="Shape 3"/>
          <p:cNvSpPr/>
          <p:nvPr/>
        </p:nvSpPr>
        <p:spPr>
          <a:xfrm>
            <a:off x="548640" y="2331720"/>
            <a:ext cx="208483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Write one sentence the reader should take away.</a:t>
            </a:r>
            <a:endParaRPr lang="en-US" sz="2000" dirty="0"/>
          </a:p>
        </p:txBody>
      </p:sp>
      <p:sp>
        <p:nvSpPr>
          <p:cNvPr id="7" name="Shape 5"/>
          <p:cNvSpPr/>
          <p:nvPr/>
        </p:nvSpPr>
        <p:spPr>
          <a:xfrm>
            <a:off x="2788920" y="1417320"/>
            <a:ext cx="2130552" cy="777240"/>
          </a:xfrm>
          <a:prstGeom prst="homePlate">
            <a:avLst/>
          </a:prstGeom>
          <a:solidFill>
            <a:srgbClr val="F29E4C"/>
          </a:solidFill>
          <a:ln w="12700">
            <a:solidFill>
              <a:srgbClr val="F29E4C"/>
            </a:solidFill>
            <a:prstDash val="solid"/>
          </a:ln>
        </p:spPr>
      </p:sp>
      <p:sp>
        <p:nvSpPr>
          <p:cNvPr id="8" name="Text 6"/>
          <p:cNvSpPr txBox="1"/>
          <p:nvPr/>
        </p:nvSpPr>
        <p:spPr>
          <a:xfrm>
            <a:off x="297180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Pick the chart type</a:t>
            </a:r>
            <a:endParaRPr lang="en-US" sz="1700" dirty="0"/>
          </a:p>
        </p:txBody>
      </p:sp>
      <p:sp>
        <p:nvSpPr>
          <p:cNvPr id="9" name="Shape 7"/>
          <p:cNvSpPr/>
          <p:nvPr/>
        </p:nvSpPr>
        <p:spPr>
          <a:xfrm>
            <a:off x="2788920" y="2331720"/>
            <a:ext cx="208483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297180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Match the type to the question: compare, trend, share or link.</a:t>
            </a:r>
            <a:endParaRPr lang="en-US" sz="1900" dirty="0"/>
          </a:p>
        </p:txBody>
      </p:sp>
      <p:sp>
        <p:nvSpPr>
          <p:cNvPr id="11" name="Shape 9"/>
          <p:cNvSpPr/>
          <p:nvPr/>
        </p:nvSpPr>
        <p:spPr>
          <a:xfrm>
            <a:off x="5029200" y="1417320"/>
            <a:ext cx="2130552" cy="777240"/>
          </a:xfrm>
          <a:prstGeom prst="homePlate">
            <a:avLst/>
          </a:prstGeom>
          <a:solidFill>
            <a:srgbClr val="3A5BA0"/>
          </a:solidFill>
          <a:ln w="12700">
            <a:solidFill>
              <a:srgbClr val="3A5BA0"/>
            </a:solidFill>
            <a:prstDash val="solid"/>
          </a:ln>
        </p:spPr>
      </p:sp>
      <p:sp>
        <p:nvSpPr>
          <p:cNvPr id="12" name="Text 10"/>
          <p:cNvSpPr txBox="1"/>
          <p:nvPr/>
        </p:nvSpPr>
        <p:spPr>
          <a:xfrm>
            <a:off x="521208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Remove clutter</a:t>
            </a:r>
            <a:endParaRPr lang="en-US" sz="1700" dirty="0"/>
          </a:p>
        </p:txBody>
      </p:sp>
      <p:sp>
        <p:nvSpPr>
          <p:cNvPr id="13" name="Shape 11"/>
          <p:cNvSpPr/>
          <p:nvPr/>
        </p:nvSpPr>
        <p:spPr>
          <a:xfrm>
            <a:off x="5029200" y="2331720"/>
            <a:ext cx="208483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521208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Delete anything that does not help the message.</a:t>
            </a:r>
            <a:endParaRPr lang="en-US" sz="2000" dirty="0"/>
          </a:p>
        </p:txBody>
      </p:sp>
      <p:sp>
        <p:nvSpPr>
          <p:cNvPr id="15" name="Shape 13"/>
          <p:cNvSpPr/>
          <p:nvPr/>
        </p:nvSpPr>
        <p:spPr>
          <a:xfrm>
            <a:off x="7269480" y="1417320"/>
            <a:ext cx="2130552" cy="777240"/>
          </a:xfrm>
          <a:prstGeom prst="homePlate">
            <a:avLst/>
          </a:prstGeom>
          <a:solidFill>
            <a:srgbClr val="C8553D"/>
          </a:solidFill>
          <a:ln w="12700">
            <a:solidFill>
              <a:srgbClr val="C8553D"/>
            </a:solidFill>
            <a:prstDash val="solid"/>
          </a:ln>
        </p:spPr>
      </p:sp>
      <p:sp>
        <p:nvSpPr>
          <p:cNvPr id="16" name="Text 14"/>
          <p:cNvSpPr txBox="1"/>
          <p:nvPr/>
        </p:nvSpPr>
        <p:spPr>
          <a:xfrm>
            <a:off x="745236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Label clearly</a:t>
            </a:r>
            <a:endParaRPr lang="en-US" sz="1700" dirty="0"/>
          </a:p>
        </p:txBody>
      </p:sp>
      <p:sp>
        <p:nvSpPr>
          <p:cNvPr id="17" name="Shape 15"/>
          <p:cNvSpPr/>
          <p:nvPr/>
        </p:nvSpPr>
        <p:spPr>
          <a:xfrm>
            <a:off x="7269480" y="2331720"/>
            <a:ext cx="208483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745236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Message title, axis units, direct labels, source.</a:t>
            </a:r>
            <a:endParaRPr lang="en-US" sz="2000" dirty="0"/>
          </a:p>
        </p:txBody>
      </p:sp>
      <p:sp>
        <p:nvSpPr>
          <p:cNvPr id="19" name="Shape 17"/>
          <p:cNvSpPr/>
          <p:nvPr/>
        </p:nvSpPr>
        <p:spPr>
          <a:xfrm>
            <a:off x="9509760" y="1417320"/>
            <a:ext cx="2130552" cy="777240"/>
          </a:xfrm>
          <a:prstGeom prst="homePlate">
            <a:avLst/>
          </a:prstGeom>
          <a:solidFill>
            <a:srgbClr val="6E9B2F"/>
          </a:solidFill>
          <a:ln w="12700">
            <a:solidFill>
              <a:srgbClr val="6E9B2F"/>
            </a:solidFill>
            <a:prstDash val="solid"/>
          </a:ln>
        </p:spPr>
      </p:sp>
      <p:sp>
        <p:nvSpPr>
          <p:cNvPr id="20" name="Text 18"/>
          <p:cNvSpPr txBox="1"/>
          <p:nvPr/>
        </p:nvSpPr>
        <p:spPr>
          <a:xfrm>
            <a:off x="969264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5  Check accuracy</a:t>
            </a:r>
            <a:endParaRPr lang="en-US" sz="1700" dirty="0"/>
          </a:p>
        </p:txBody>
      </p:sp>
      <p:sp>
        <p:nvSpPr>
          <p:cNvPr id="21" name="Shape 19"/>
          <p:cNvSpPr/>
          <p:nvPr/>
        </p:nvSpPr>
        <p:spPr>
          <a:xfrm>
            <a:off x="9509760" y="2331720"/>
            <a:ext cx="2084832" cy="2011680"/>
          </a:xfrm>
          <a:prstGeom prst="roundRect">
            <a:avLst>
              <a:gd name="adj" fmla="val 5455"/>
            </a:avLst>
          </a:prstGeom>
          <a:solidFill>
            <a:srgbClr val="EEF3F6"/>
          </a:solidFill>
          <a:ln w="12700">
            <a:solidFill>
              <a:srgbClr val="EEF3F6"/>
            </a:solidFill>
            <a:prstDash val="solid"/>
          </a:ln>
        </p:spPr>
      </p:sp>
      <p:sp>
        <p:nvSpPr>
          <p:cNvPr id="22" name="Text 20"/>
          <p:cNvSpPr txBox="1"/>
          <p:nvPr/>
        </p:nvSpPr>
        <p:spPr>
          <a:xfrm>
            <a:off x="969264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Zero baseline, even scales, no cropped data.</a:t>
            </a:r>
            <a:endParaRPr lang="en-US" sz="2000" dirty="0"/>
          </a:p>
        </p:txBody>
      </p:sp>
      <p:sp>
        <p:nvSpPr>
          <p:cNvPr id="23" name="Shape 21"/>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4" name="Text 22"/>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Show the chart to one person for five seconds. If they can say the message, it works.</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Colour alone carries meaning</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Some readers cannot tell red from green. Add labels, or use a contrast in lightness as well as hue.</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Simple is not always better</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Remove decoration, not context. Dropping units, dates or the source makes a chart simple and useless.</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Cut axes on line charts</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line chart may start above zero to show small changes, but label the axis and never do it on bars.</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Cherry-picked periods</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Showing only the best three months can reverse the story. Show the full period the decision needs.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Name the three principles and give one test for each.</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Sales rise from ₹200k to ₹250k. Write a message title.</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bar chart starts at ₹90 and shows bars of 92 and 97. The data change is 5.4%. What is the lie factor?</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List three items to remove from a cluttered chart.</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Clarity: </a:t>
            </a:r>
            <a:pPr indent="0" marL="0">
              <a:buNone/>
            </a:pPr>
            <a:r>
              <a:rPr lang="en-US" sz="2000" dirty="0">
                <a:solidFill>
                  <a:srgbClr val="FFFFFF"/>
                </a:solidFill>
                <a:latin typeface="Calibri" pitchFamily="34" charset="0"/>
                <a:ea typeface="Calibri" pitchFamily="34" charset="-122"/>
                <a:cs typeface="Calibri" pitchFamily="34" charset="-120"/>
              </a:rPr>
              <a:t>a message title, labelled axes, sorted data and readable text.</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Simplicity: </a:t>
            </a:r>
            <a:pPr indent="0" marL="0">
              <a:buNone/>
            </a:pPr>
            <a:r>
              <a:rPr lang="en-US" sz="2000" dirty="0">
                <a:solidFill>
                  <a:srgbClr val="FFFFFF"/>
                </a:solidFill>
                <a:latin typeface="Calibri" pitchFamily="34" charset="0"/>
                <a:ea typeface="Calibri" pitchFamily="34" charset="-122"/>
                <a:cs typeface="Calibri" pitchFamily="34" charset="-120"/>
              </a:rPr>
              <a:t>remove everything that does not help the message.</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Accuracy: </a:t>
            </a:r>
            <a:pPr indent="0" marL="0">
              <a:buNone/>
            </a:pPr>
            <a:r>
              <a:rPr lang="en-US" sz="2000" dirty="0">
                <a:solidFill>
                  <a:srgbClr val="FFFFFF"/>
                </a:solidFill>
                <a:latin typeface="Calibri" pitchFamily="34" charset="0"/>
                <a:ea typeface="Calibri" pitchFamily="34" charset="-122"/>
                <a:cs typeface="Calibri" pitchFamily="34" charset="-120"/>
              </a:rPr>
              <a:t>zero baseline for bars, even scales and a lie factor near 1.</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Process: </a:t>
            </a:r>
            <a:pPr indent="0" marL="0">
              <a:buNone/>
            </a:pPr>
            <a:r>
              <a:rPr lang="en-US" sz="2000" dirty="0">
                <a:solidFill>
                  <a:srgbClr val="FFFFFF"/>
                </a:solidFill>
                <a:latin typeface="Calibri" pitchFamily="34" charset="0"/>
                <a:ea typeface="Calibri" pitchFamily="34" charset="-122"/>
                <a:cs typeface="Calibri" pitchFamily="34" charset="-120"/>
              </a:rPr>
              <a:t>message, type, declutter, label, check.</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Show the chart to someone for five seconds to test it.</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Choosing the Right Type of Visualization</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Effective Visualization</dc:title>
  <dc:subject>Business Management Tools I</dc:subject>
  <dc:creator>Sushant Bhargav</dc:creator>
  <cp:lastModifiedBy>Sushant Bhargav</cp:lastModifiedBy>
  <cp:revision>1</cp:revision>
  <dcterms:created xsi:type="dcterms:W3CDTF">2026-10-07T01:36:15Z</dcterms:created>
  <dcterms:modified xsi:type="dcterms:W3CDTF">2026-10-07T01:36:15Z</dcterms:modified>
</cp:coreProperties>
</file>