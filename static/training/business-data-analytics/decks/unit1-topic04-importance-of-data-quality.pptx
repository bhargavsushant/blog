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4: Importance of Data Quality" id="{0dceb5c7-ad3e-2275-4530-d03796eda228}">
          <p14:sldIdLst>
            <p14:sldId id="256"/>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Orders</c:v>
                </c:pt>
              </c:strCache>
            </c:strRef>
          </c:tx>
          <c:spPr>
            <a:solidFill>
              <a:srgbClr val="D9534F"/>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Bhopal</c:v>
                  </c:pt>
                  <c:pt idx="1">
                    <c:v>bhopal</c:v>
                  </c:pt>
                  <c:pt idx="2">
                    <c:v>BHOPAL</c:v>
                  </c:pt>
                  <c:pt idx="3">
                    <c:v>Bhopal (space)</c:v>
                  </c:pt>
                </c:lvl>
              </c:multiLvlStrCache>
            </c:multiLvlStrRef>
          </c:cat>
          <c:val>
            <c:numRef>
              <c:f>Sheet1!$B$2:$B$5</c:f>
              <c:numCache>
                <c:formatCode>General</c:formatCode>
                <c:ptCount val="4"/>
                <c:pt idx="0">
                  <c:v>48</c:v>
                </c:pt>
                <c:pt idx="1">
                  <c:v>27</c:v>
                </c:pt>
                <c:pt idx="2">
                  <c:v>15</c:v>
                </c:pt>
                <c:pt idx="3">
                  <c:v>10</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Orders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analysis is only as good as the data under it. This session explains what data quality means, its main dimensions, and what poor quality costs a business, using small numeric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if a teacher enters your marks wrongly in the register, whose problem is it later? Everyone who uses that register. Data quality problems travel with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 fit for purpose is important. The same data can be good for one use and bad for another. Ask for one dataset from college life that is good for one task and poor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these as a checklist. Ask students to match each dimension to a small error: wrong amount, blank cell, mixed spelling, impossible age, old data and repeated customer. Some sources list slightly different dimensions, but these six are widely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slide. Suggest that students photograph it. Point out that accuracy is the hardest to test, since you need a true source to compare with. The others can be checked by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rupee loss here is small, but real campaigns, courier shipments and mailers are much larger. Mention the hidden cost: repeated messages make customers unsubscribe. Ask students what Excel tool finds duplicates. Remove Duplicates, which is the next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zero is a value, blank means unknown. The two look similar on screen but behave differently in formulas. Ask: would the owner think this chain is performing badly? Yes, and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find all four problems before you show the right side. Spelling and spaces are consistency, the duplicate is uniqueness, the dash is completeness or validity, and 4800 is accuracy. Note that the typo fix needed the original bill, so it cannot be done by a formula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trailing space always makes a separate item, and depending on the tool, different capitals may also be grouped separately. The lesson is that inconsistent text splits one group into many. Ask what the chart would look like after cleaning: a single bar of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as a chain on the board. A rough rule of thumb in industry is that fixing an error costs more at each later stage. Ask students where in their own college data an error could spread, for example attendance feeding exam eligibility.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card is subtle. Validation rules only check form. A person can enter a valid but wrong phone number. Ask students how a business could check truth, for example by sending an OTP.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arithmetic for question 3: (60 + 55 + 65) = 180. 180/4 = 45 and 180/3 = 60. The drop from 60 to 45 is 15, which is 25% of 60. Let students explain each answer to a neighbour.
ANSWERS
1. (a) validity (b) uniqueness (c) completeness (d) consistency.
2. 400 × 0.20 = ₹80, which is 8% of the 5,000 × 0.20 = ₹1,000 budget.
3. With 0: 180/4 = 45. Without: 180/3 = 60. The average is understated by 25%.
4. Valid means it follows the format rules. Accurate means it is true. A 10-digit phone number can still be the wrong person's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  ·  TOPIC 4</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Importance of Data Quality</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Introduction to Data Analysis</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Define </a:t>
            </a:r>
            <a:pPr indent="0" marL="0">
              <a:buNone/>
            </a:pPr>
            <a:r>
              <a:rPr lang="en-US" sz="2400" dirty="0">
                <a:solidFill>
                  <a:srgbClr val="2B3A4F"/>
                </a:solidFill>
                <a:latin typeface="Calibri" pitchFamily="34" charset="0"/>
                <a:ea typeface="Calibri" pitchFamily="34" charset="-122"/>
                <a:cs typeface="Calibri" pitchFamily="34" charset="-120"/>
              </a:rPr>
              <a:t>data quality and explain why it decides the value of analysis.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Describe </a:t>
            </a:r>
            <a:pPr indent="0" marL="0">
              <a:buNone/>
            </a:pPr>
            <a:r>
              <a:rPr lang="en-US" sz="2400" dirty="0">
                <a:solidFill>
                  <a:srgbClr val="2B3A4F"/>
                </a:solidFill>
                <a:latin typeface="Calibri" pitchFamily="34" charset="0"/>
                <a:ea typeface="Calibri" pitchFamily="34" charset="-122"/>
                <a:cs typeface="Calibri" pitchFamily="34" charset="-120"/>
              </a:rPr>
              <a:t>six dimensions: accuracy, completeness, consistency, validity, timeliness, uniqueness.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Calculate </a:t>
            </a:r>
            <a:pPr indent="0" marL="0">
              <a:buNone/>
            </a:pPr>
            <a:r>
              <a:rPr lang="en-US" sz="2400" dirty="0">
                <a:solidFill>
                  <a:srgbClr val="2B3A4F"/>
                </a:solidFill>
                <a:latin typeface="Calibri" pitchFamily="34" charset="0"/>
                <a:ea typeface="Calibri" pitchFamily="34" charset="-122"/>
                <a:cs typeface="Calibri" pitchFamily="34" charset="-120"/>
              </a:rPr>
              <a:t>the effect of duplicates and missing values on cost and averages.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Recognise </a:t>
            </a:r>
            <a:pPr indent="0" marL="0">
              <a:buNone/>
            </a:pPr>
            <a:r>
              <a:rPr lang="en-US" sz="2400" dirty="0">
                <a:solidFill>
                  <a:srgbClr val="2B3A4F"/>
                </a:solidFill>
                <a:latin typeface="Calibri" pitchFamily="34" charset="0"/>
                <a:ea typeface="Calibri" pitchFamily="34" charset="-122"/>
                <a:cs typeface="Calibri" pitchFamily="34" charset="-120"/>
              </a:rPr>
              <a:t>dirty data such as spelling variants and typing errors.</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Explain </a:t>
            </a:r>
            <a:pPr indent="0" marL="0">
              <a:buNone/>
            </a:pPr>
            <a:r>
              <a:rPr lang="en-US" sz="2400" dirty="0">
                <a:solidFill>
                  <a:srgbClr val="2B3A4F"/>
                </a:solidFill>
                <a:latin typeface="Calibri" pitchFamily="34" charset="0"/>
                <a:ea typeface="Calibri" pitchFamily="34" charset="-122"/>
                <a:cs typeface="Calibri" pitchFamily="34" charset="-120"/>
              </a:rPr>
              <a:t>how bad data leads to bad decisions.</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GIGO</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Garbage in, garbage out. Perfect formulas on poor data still give poor answers.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is data quality?</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Data quality </a:t>
            </a:r>
            <a:pPr indent="0" marL="0">
              <a:buNone/>
            </a:pPr>
            <a:r>
              <a:rPr lang="en-US" sz="2300" dirty="0">
                <a:solidFill>
                  <a:srgbClr val="2B3A4F"/>
                </a:solidFill>
                <a:latin typeface="Calibri" pitchFamily="34" charset="0"/>
                <a:ea typeface="Calibri" pitchFamily="34" charset="-122"/>
                <a:cs typeface="Calibri" pitchFamily="34" charset="-120"/>
              </a:rPr>
              <a:t>is how well data fits the purpose it is used for.</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Fit for purpose: </a:t>
            </a:r>
            <a:pPr indent="0" marL="0">
              <a:buNone/>
            </a:pPr>
            <a:r>
              <a:rPr lang="en-US" sz="2300" dirty="0">
                <a:solidFill>
                  <a:srgbClr val="2B3A4F"/>
                </a:solidFill>
                <a:latin typeface="Calibri" pitchFamily="34" charset="0"/>
                <a:ea typeface="Calibri" pitchFamily="34" charset="-122"/>
                <a:cs typeface="Calibri" pitchFamily="34" charset="-120"/>
              </a:rPr>
              <a:t>phone numbers may be fine for a mailing list but not for an SMS campaign.</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High quality </a:t>
            </a:r>
            <a:pPr indent="0" marL="0">
              <a:buNone/>
            </a:pPr>
            <a:r>
              <a:rPr lang="en-US" sz="2300" dirty="0">
                <a:solidFill>
                  <a:srgbClr val="2B3A4F"/>
                </a:solidFill>
                <a:latin typeface="Calibri" pitchFamily="34" charset="0"/>
                <a:ea typeface="Calibri" pitchFamily="34" charset="-122"/>
                <a:cs typeface="Calibri" pitchFamily="34" charset="-120"/>
              </a:rPr>
              <a:t>means the data is trustworthy, complete, current and consistent.</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Quality is measured, </a:t>
            </a:r>
            <a:pPr indent="0" marL="0">
              <a:buNone/>
            </a:pPr>
            <a:r>
              <a:rPr lang="en-US" sz="2300" dirty="0">
                <a:solidFill>
                  <a:srgbClr val="2B3A4F"/>
                </a:solidFill>
                <a:latin typeface="Calibri" pitchFamily="34" charset="0"/>
                <a:ea typeface="Calibri" pitchFamily="34" charset="-122"/>
                <a:cs typeface="Calibri" pitchFamily="34" charset="-120"/>
              </a:rPr>
              <a:t>not guessed. You can count blanks, duplicates and errors.</a:t>
            </a:r>
            <a:endParaRPr lang="en-US" sz="2300" dirty="0"/>
          </a:p>
          <a:p>
            <a:pPr marL="228600" indent="-228600">
              <a:buSzPct val="100000"/>
              <a:buChar char="•"/>
            </a:pPr>
            <a:r>
              <a:rPr lang="en-US" sz="2300" b="1" dirty="0">
                <a:solidFill>
                  <a:srgbClr val="14213D"/>
                </a:solidFill>
                <a:latin typeface="Calibri" pitchFamily="34" charset="0"/>
                <a:ea typeface="Calibri" pitchFamily="34" charset="-122"/>
                <a:cs typeface="Calibri" pitchFamily="34" charset="-120"/>
              </a:rPr>
              <a:t>It is everyone's job: </a:t>
            </a:r>
            <a:pPr indent="0" marL="0">
              <a:buNone/>
            </a:pPr>
            <a:r>
              <a:rPr lang="en-US" sz="2300" dirty="0">
                <a:solidFill>
                  <a:srgbClr val="2B3A4F"/>
                </a:solidFill>
                <a:latin typeface="Calibri" pitchFamily="34" charset="0"/>
                <a:ea typeface="Calibri" pitchFamily="34" charset="-122"/>
                <a:cs typeface="Calibri" pitchFamily="34" charset="-120"/>
              </a:rPr>
              <a:t>from the person at the billing counter to the analyst.</a:t>
            </a:r>
            <a:endParaRPr lang="en-US" sz="23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EXAMPLE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A customer list with 30% missing phone numbers is poor for an SMS campaign, but fine for an email campaign.</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Six dimensions of data quality</a:t>
            </a:r>
            <a:endParaRPr lang="en-US" sz="2800" dirty="0"/>
          </a:p>
        </p:txBody>
      </p:sp>
      <p:sp>
        <p:nvSpPr>
          <p:cNvPr id="3" name="Shape 1"/>
          <p:cNvSpPr/>
          <p:nvPr/>
        </p:nvSpPr>
        <p:spPr>
          <a:xfrm>
            <a:off x="548640" y="1417320"/>
            <a:ext cx="3514344"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Accuracy</a:t>
            </a:r>
            <a:endParaRPr lang="en-US" sz="2000" dirty="0"/>
          </a:p>
        </p:txBody>
      </p:sp>
      <p:sp>
        <p:nvSpPr>
          <p:cNvPr id="6" name="Text 4"/>
          <p:cNvSpPr txBox="1"/>
          <p:nvPr/>
        </p:nvSpPr>
        <p:spPr>
          <a:xfrm>
            <a:off x="777240"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Values match reality. A bill of ₹4,800 when the real bill was ₹480 is inaccurate.</a:t>
            </a:r>
            <a:endParaRPr lang="en-US" sz="2000" dirty="0"/>
          </a:p>
        </p:txBody>
      </p:sp>
      <p:sp>
        <p:nvSpPr>
          <p:cNvPr id="7" name="Shape 5"/>
          <p:cNvSpPr/>
          <p:nvPr/>
        </p:nvSpPr>
        <p:spPr>
          <a:xfrm>
            <a:off x="4337304" y="1417320"/>
            <a:ext cx="3514344"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4565904"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Completeness</a:t>
            </a:r>
            <a:endParaRPr lang="en-US" sz="2000" dirty="0"/>
          </a:p>
        </p:txBody>
      </p:sp>
      <p:sp>
        <p:nvSpPr>
          <p:cNvPr id="10" name="Text 8"/>
          <p:cNvSpPr txBox="1"/>
          <p:nvPr/>
        </p:nvSpPr>
        <p:spPr>
          <a:xfrm>
            <a:off x="4565904"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Required values are present. A blank phone number is a gap.</a:t>
            </a:r>
            <a:endParaRPr lang="en-US" sz="2000" dirty="0"/>
          </a:p>
        </p:txBody>
      </p:sp>
      <p:sp>
        <p:nvSpPr>
          <p:cNvPr id="11" name="Shape 9"/>
          <p:cNvSpPr/>
          <p:nvPr/>
        </p:nvSpPr>
        <p:spPr>
          <a:xfrm>
            <a:off x="8125968" y="1417320"/>
            <a:ext cx="3514344"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8354568" y="164592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Consistency</a:t>
            </a:r>
            <a:endParaRPr lang="en-US" sz="2000" dirty="0"/>
          </a:p>
        </p:txBody>
      </p:sp>
      <p:sp>
        <p:nvSpPr>
          <p:cNvPr id="14" name="Text 12"/>
          <p:cNvSpPr txBox="1"/>
          <p:nvPr/>
        </p:nvSpPr>
        <p:spPr>
          <a:xfrm>
            <a:off x="8354568"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The same fact looks the same everywhere: Bhopal, not bhopal or BHOPAL.</a:t>
            </a:r>
            <a:endParaRPr lang="en-US" sz="2000" dirty="0"/>
          </a:p>
        </p:txBody>
      </p:sp>
      <p:sp>
        <p:nvSpPr>
          <p:cNvPr id="15" name="Shape 13"/>
          <p:cNvSpPr/>
          <p:nvPr/>
        </p:nvSpPr>
        <p:spPr>
          <a:xfrm>
            <a:off x="548640" y="3977640"/>
            <a:ext cx="3514344"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777240"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371600"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Validity</a:t>
            </a:r>
            <a:endParaRPr lang="en-US" sz="2000" dirty="0"/>
          </a:p>
        </p:txBody>
      </p:sp>
      <p:sp>
        <p:nvSpPr>
          <p:cNvPr id="18" name="Text 16"/>
          <p:cNvSpPr txBox="1"/>
          <p:nvPr/>
        </p:nvSpPr>
        <p:spPr>
          <a:xfrm>
            <a:off x="777240"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Values follow the rules. A phone number has 10 digits. Age is not negative.</a:t>
            </a:r>
            <a:endParaRPr lang="en-US" sz="2000" dirty="0"/>
          </a:p>
        </p:txBody>
      </p:sp>
      <p:sp>
        <p:nvSpPr>
          <p:cNvPr id="19" name="Shape 17"/>
          <p:cNvSpPr/>
          <p:nvPr/>
        </p:nvSpPr>
        <p:spPr>
          <a:xfrm>
            <a:off x="4337304" y="3977640"/>
            <a:ext cx="3514344" cy="2286000"/>
          </a:xfrm>
          <a:prstGeom prst="roundRect">
            <a:avLst>
              <a:gd name="adj" fmla="val 4800"/>
            </a:avLst>
          </a:prstGeom>
          <a:solidFill>
            <a:srgbClr val="EEF3F6"/>
          </a:solidFill>
          <a:ln w="12700">
            <a:solidFill>
              <a:srgbClr val="EEF3F6"/>
            </a:solidFill>
            <a:prstDash val="solid"/>
          </a:ln>
        </p:spPr>
      </p:sp>
      <p:sp>
        <p:nvSpPr>
          <p:cNvPr id="20" name="Text 18"/>
          <p:cNvSpPr/>
          <p:nvPr/>
        </p:nvSpPr>
        <p:spPr>
          <a:xfrm>
            <a:off x="4565904" y="4206240"/>
            <a:ext cx="457200" cy="457200"/>
          </a:xfrm>
          <a:prstGeom prst="ellipse">
            <a:avLst/>
          </a:prstGeom>
          <a:solidFill>
            <a:srgbClr val="6E9B2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5160264"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Timeliness</a:t>
            </a:r>
            <a:endParaRPr lang="en-US" sz="2000" dirty="0"/>
          </a:p>
        </p:txBody>
      </p:sp>
      <p:sp>
        <p:nvSpPr>
          <p:cNvPr id="22" name="Text 20"/>
          <p:cNvSpPr txBox="1"/>
          <p:nvPr/>
        </p:nvSpPr>
        <p:spPr>
          <a:xfrm>
            <a:off x="4565904"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Data is recent enough to use. Last year's stock list is no help today.</a:t>
            </a:r>
            <a:endParaRPr lang="en-US" sz="2000" dirty="0"/>
          </a:p>
        </p:txBody>
      </p:sp>
      <p:sp>
        <p:nvSpPr>
          <p:cNvPr id="23" name="Shape 21"/>
          <p:cNvSpPr/>
          <p:nvPr/>
        </p:nvSpPr>
        <p:spPr>
          <a:xfrm>
            <a:off x="8125968" y="3977640"/>
            <a:ext cx="3514344" cy="2286000"/>
          </a:xfrm>
          <a:prstGeom prst="roundRect">
            <a:avLst>
              <a:gd name="adj" fmla="val 4800"/>
            </a:avLst>
          </a:prstGeom>
          <a:solidFill>
            <a:srgbClr val="EEF3F6"/>
          </a:solidFill>
          <a:ln w="12700">
            <a:solidFill>
              <a:srgbClr val="EEF3F6"/>
            </a:solidFill>
            <a:prstDash val="solid"/>
          </a:ln>
        </p:spPr>
      </p:sp>
      <p:sp>
        <p:nvSpPr>
          <p:cNvPr id="24" name="Text 22"/>
          <p:cNvSpPr/>
          <p:nvPr/>
        </p:nvSpPr>
        <p:spPr>
          <a:xfrm>
            <a:off x="8354568" y="4206240"/>
            <a:ext cx="457200" cy="457200"/>
          </a:xfrm>
          <a:prstGeom prst="ellipse">
            <a:avLst/>
          </a:prstGeom>
          <a:solidFill>
            <a:srgbClr val="8E6BB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5" name="Text 23"/>
          <p:cNvSpPr txBox="1"/>
          <p:nvPr/>
        </p:nvSpPr>
        <p:spPr>
          <a:xfrm>
            <a:off x="8948928"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Uniqueness</a:t>
            </a:r>
            <a:endParaRPr lang="en-US" sz="2000" dirty="0"/>
          </a:p>
        </p:txBody>
      </p:sp>
      <p:sp>
        <p:nvSpPr>
          <p:cNvPr id="26" name="Text 24"/>
          <p:cNvSpPr txBox="1"/>
          <p:nvPr/>
        </p:nvSpPr>
        <p:spPr>
          <a:xfrm>
            <a:off x="8354568"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Each real thing appears once. A customer listed twice is a duplicate.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Dimensions with a test and an example error</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376787"/>
                <a:gridCol w="3433137"/>
                <a:gridCol w="5281749"/>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Dimension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Test question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Error example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Accuracy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Is it true?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Bill typed as 4800, real bill 480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Completeness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Is anything missing?</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Phone number cell is blank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Consistency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Same everywhere?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"Bhopal" and "bhopal "</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Validity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Does it follow the rule?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Phone has 9 digits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Timeliness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Is it current?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Price list from 2 years ago</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Uniqueness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Is it listed once?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Order 102 appears twice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4" name="Text 1"/>
          <p:cNvSpPr txBox="1"/>
          <p:nvPr/>
        </p:nvSpPr>
        <p:spPr>
          <a:xfrm>
            <a:off x="548640" y="4803648"/>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Run these six questions on any dataset before you trust it.</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Duplicates waste money</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coaching centre sends an SMS to its list of 20,000 contacts at ₹0.25 per SMS (illustrative). Later it finds 2,400 duplicate entries.</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Cost as planned: </a:t>
            </a:r>
            <a:pPr indent="0" marL="0">
              <a:buNone/>
            </a:pPr>
            <a:r>
              <a:rPr lang="en-US" sz="2200" dirty="0">
                <a:solidFill>
                  <a:srgbClr val="2B3A4F"/>
                </a:solidFill>
                <a:latin typeface="Calibri" pitchFamily="34" charset="0"/>
                <a:ea typeface="Calibri" pitchFamily="34" charset="-122"/>
                <a:cs typeface="Calibri" pitchFamily="34" charset="-120"/>
              </a:rPr>
              <a:t>20,000 × ₹0.25 = ₹5,000.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Unique contacts: </a:t>
            </a:r>
            <a:pPr indent="0" marL="0">
              <a:buNone/>
            </a:pPr>
            <a:r>
              <a:rPr lang="en-US" sz="2200" dirty="0">
                <a:solidFill>
                  <a:srgbClr val="2B3A4F"/>
                </a:solidFill>
                <a:latin typeface="Calibri" pitchFamily="34" charset="0"/>
                <a:ea typeface="Calibri" pitchFamily="34" charset="-122"/>
                <a:cs typeface="Calibri" pitchFamily="34" charset="-120"/>
              </a:rPr>
              <a:t>20,000 - 2,400 = 17,600.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Cost needed: </a:t>
            </a:r>
            <a:pPr indent="0" marL="0">
              <a:buNone/>
            </a:pPr>
            <a:r>
              <a:rPr lang="en-US" sz="2200" dirty="0">
                <a:solidFill>
                  <a:srgbClr val="2B3A4F"/>
                </a:solidFill>
                <a:latin typeface="Calibri" pitchFamily="34" charset="0"/>
                <a:ea typeface="Calibri" pitchFamily="34" charset="-122"/>
                <a:cs typeface="Calibri" pitchFamily="34" charset="-120"/>
              </a:rPr>
              <a:t>17,600 × ₹0.25 = ₹4,400.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Waste: </a:t>
            </a:r>
            <a:pPr indent="0" marL="0">
              <a:buNone/>
            </a:pPr>
            <a:r>
              <a:rPr lang="en-US" sz="2200" dirty="0">
                <a:solidFill>
                  <a:srgbClr val="2B3A4F"/>
                </a:solidFill>
                <a:latin typeface="Calibri" pitchFamily="34" charset="0"/>
                <a:ea typeface="Calibri" pitchFamily="34" charset="-122"/>
                <a:cs typeface="Calibri" pitchFamily="34" charset="-120"/>
              </a:rPr>
              <a:t>₹5,000 - ₹4,400 = ₹600, which is 2,400/20,000 = 12%.</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12% of the budget is wasted, and 2,400 people receive the same message twice, which also annoys them.</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 missing value distorts the average</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Five stores report monthly sales in ₹ thousand (illustrative): 42, 38, blank, 45, 40. The blank was entered as 0 by mistake.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Wrong, with the 0: </a:t>
            </a:r>
            <a:pPr indent="0" marL="0">
              <a:buNone/>
            </a:pPr>
            <a:r>
              <a:rPr lang="en-US" sz="2200" dirty="0">
                <a:solidFill>
                  <a:srgbClr val="2B3A4F"/>
                </a:solidFill>
                <a:latin typeface="Calibri" pitchFamily="34" charset="0"/>
                <a:ea typeface="Calibri" pitchFamily="34" charset="-122"/>
                <a:cs typeface="Calibri" pitchFamily="34" charset="-120"/>
              </a:rPr>
              <a:t>(42 + 38 + 0 + 45 + 40) / 5 = 165 / 5 = 33.</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Correct, ignoring the blank: </a:t>
            </a:r>
            <a:pPr indent="0" marL="0">
              <a:buNone/>
            </a:pPr>
            <a:r>
              <a:rPr lang="en-US" sz="2200" dirty="0">
                <a:solidFill>
                  <a:srgbClr val="2B3A4F"/>
                </a:solidFill>
                <a:latin typeface="Calibri" pitchFamily="34" charset="0"/>
                <a:ea typeface="Calibri" pitchFamily="34" charset="-122"/>
                <a:cs typeface="Calibri" pitchFamily="34" charset="-120"/>
              </a:rPr>
              <a:t>(42 + 38 + 45 + 40) / 4 = 165 / 4 = 41.25.</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Gap: </a:t>
            </a:r>
            <a:pPr indent="0" marL="0">
              <a:buNone/>
            </a:pPr>
            <a:r>
              <a:rPr lang="en-US" sz="2200" dirty="0">
                <a:solidFill>
                  <a:srgbClr val="2B3A4F"/>
                </a:solidFill>
                <a:latin typeface="Calibri" pitchFamily="34" charset="0"/>
                <a:ea typeface="Calibri" pitchFamily="34" charset="-122"/>
                <a:cs typeface="Calibri" pitchFamily="34" charset="-120"/>
              </a:rPr>
              <a:t>41.25 - 33 = 8.25, so the average is understated by 20%.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Excel: </a:t>
            </a:r>
            <a:pPr indent="0" marL="0">
              <a:buNone/>
            </a:pPr>
            <a:r>
              <a:rPr lang="en-US" sz="2200" dirty="0">
                <a:solidFill>
                  <a:srgbClr val="2B3A4F"/>
                </a:solidFill>
                <a:latin typeface="Calibri" pitchFamily="34" charset="0"/>
                <a:ea typeface="Calibri" pitchFamily="34" charset="-122"/>
                <a:cs typeface="Calibri" pitchFamily="34" charset="-120"/>
              </a:rPr>
              <a:t>=AVERAGE() skips a truly blank cell but counts a typed 0.</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Entering 0 for "unknown" lowers the average from 41.25 to 33. Leave unknown values blank or flag them.</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dirty records and the cleaned version</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Before cleaning</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1657174"/>
                <a:gridCol w="1657174"/>
                <a:gridCol w="2071468"/>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Order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City</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Amount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450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520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520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104</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4800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After cleaning</a:t>
            </a:r>
            <a:endParaRPr lang="en-US" sz="16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1657174"/>
                <a:gridCol w="1657174"/>
                <a:gridCol w="2071468"/>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Order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City</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Amount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450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520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blank</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104</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480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Fixed: spelling and spaces, one duplicate row, "-" replaced by blank, and the 4800 typo checked against the bill (480).</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one city split into four</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A PivotTable on the raw column lists four "cities" for 100 orders.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largest looks like 48 orders, but the real count for Bhopal is 100.</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Another city with 60 orders would wrongly appear to be the top market.</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How poor data becomes a poor decision</a:t>
            </a:r>
            <a:endParaRPr lang="en-US" sz="2800" dirty="0"/>
          </a:p>
        </p:txBody>
      </p:sp>
      <p:sp>
        <p:nvSpPr>
          <p:cNvPr id="3" name="Shape 1"/>
          <p:cNvSpPr/>
          <p:nvPr/>
        </p:nvSpPr>
        <p:spPr>
          <a:xfrm>
            <a:off x="548640" y="1417320"/>
            <a:ext cx="269062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Error enters</a:t>
            </a:r>
            <a:endParaRPr lang="en-US" sz="1700" dirty="0"/>
          </a:p>
        </p:txBody>
      </p:sp>
      <p:sp>
        <p:nvSpPr>
          <p:cNvPr id="5" name="Shape 3"/>
          <p:cNvSpPr/>
          <p:nvPr/>
        </p:nvSpPr>
        <p:spPr>
          <a:xfrm>
            <a:off x="548640" y="2331720"/>
            <a:ext cx="264490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typo, blank, duplicate or old value is recorded.</a:t>
            </a:r>
            <a:endParaRPr lang="en-US" sz="2000" dirty="0"/>
          </a:p>
        </p:txBody>
      </p:sp>
      <p:sp>
        <p:nvSpPr>
          <p:cNvPr id="7" name="Shape 5"/>
          <p:cNvSpPr/>
          <p:nvPr/>
        </p:nvSpPr>
        <p:spPr>
          <a:xfrm>
            <a:off x="3348990" y="1417320"/>
            <a:ext cx="2690622" cy="777240"/>
          </a:xfrm>
          <a:prstGeom prst="homePlate">
            <a:avLst/>
          </a:prstGeom>
          <a:solidFill>
            <a:srgbClr val="F29E4C"/>
          </a:solidFill>
          <a:ln w="12700">
            <a:solidFill>
              <a:srgbClr val="F29E4C"/>
            </a:solidFill>
            <a:prstDash val="solid"/>
          </a:ln>
        </p:spPr>
      </p:sp>
      <p:sp>
        <p:nvSpPr>
          <p:cNvPr id="8" name="Text 6"/>
          <p:cNvSpPr txBox="1"/>
          <p:nvPr/>
        </p:nvSpPr>
        <p:spPr>
          <a:xfrm>
            <a:off x="35318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Error spreads</a:t>
            </a:r>
            <a:endParaRPr lang="en-US" sz="1700" dirty="0"/>
          </a:p>
        </p:txBody>
      </p:sp>
      <p:sp>
        <p:nvSpPr>
          <p:cNvPr id="9" name="Shape 7"/>
          <p:cNvSpPr/>
          <p:nvPr/>
        </p:nvSpPr>
        <p:spPr>
          <a:xfrm>
            <a:off x="3348990" y="2331720"/>
            <a:ext cx="264490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35318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It is copied into reports, dashboards and other sheets.</a:t>
            </a:r>
            <a:endParaRPr lang="en-US" sz="2000" dirty="0"/>
          </a:p>
        </p:txBody>
      </p:sp>
      <p:sp>
        <p:nvSpPr>
          <p:cNvPr id="11" name="Shape 9"/>
          <p:cNvSpPr/>
          <p:nvPr/>
        </p:nvSpPr>
        <p:spPr>
          <a:xfrm>
            <a:off x="6149340" y="1417320"/>
            <a:ext cx="2690622" cy="777240"/>
          </a:xfrm>
          <a:prstGeom prst="homePlate">
            <a:avLst/>
          </a:prstGeom>
          <a:solidFill>
            <a:srgbClr val="3A5BA0"/>
          </a:solidFill>
          <a:ln w="12700">
            <a:solidFill>
              <a:srgbClr val="3A5BA0"/>
            </a:solidFill>
            <a:prstDash val="solid"/>
          </a:ln>
        </p:spPr>
      </p:sp>
      <p:sp>
        <p:nvSpPr>
          <p:cNvPr id="12" name="Text 10"/>
          <p:cNvSpPr txBox="1"/>
          <p:nvPr/>
        </p:nvSpPr>
        <p:spPr>
          <a:xfrm>
            <a:off x="63322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Analysis misleads</a:t>
            </a:r>
            <a:endParaRPr lang="en-US" sz="1700" dirty="0"/>
          </a:p>
        </p:txBody>
      </p:sp>
      <p:sp>
        <p:nvSpPr>
          <p:cNvPr id="13" name="Shape 11"/>
          <p:cNvSpPr/>
          <p:nvPr/>
        </p:nvSpPr>
        <p:spPr>
          <a:xfrm>
            <a:off x="6149340" y="2331720"/>
            <a:ext cx="264490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63322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Averages, totals and charts show a false picture.</a:t>
            </a:r>
            <a:endParaRPr lang="en-US" sz="2000" dirty="0"/>
          </a:p>
        </p:txBody>
      </p:sp>
      <p:sp>
        <p:nvSpPr>
          <p:cNvPr id="15" name="Shape 13"/>
          <p:cNvSpPr/>
          <p:nvPr/>
        </p:nvSpPr>
        <p:spPr>
          <a:xfrm>
            <a:off x="8949690" y="1417320"/>
            <a:ext cx="2690622" cy="777240"/>
          </a:xfrm>
          <a:prstGeom prst="homePlate">
            <a:avLst/>
          </a:prstGeom>
          <a:solidFill>
            <a:srgbClr val="C8553D"/>
          </a:solidFill>
          <a:ln w="12700">
            <a:solidFill>
              <a:srgbClr val="C8553D"/>
            </a:solidFill>
            <a:prstDash val="solid"/>
          </a:ln>
        </p:spPr>
      </p:sp>
      <p:sp>
        <p:nvSpPr>
          <p:cNvPr id="16" name="Text 14"/>
          <p:cNvSpPr txBox="1"/>
          <p:nvPr/>
        </p:nvSpPr>
        <p:spPr>
          <a:xfrm>
            <a:off x="91325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Decision fails</a:t>
            </a:r>
            <a:endParaRPr lang="en-US" sz="1700" dirty="0"/>
          </a:p>
        </p:txBody>
      </p:sp>
      <p:sp>
        <p:nvSpPr>
          <p:cNvPr id="17" name="Shape 15"/>
          <p:cNvSpPr/>
          <p:nvPr/>
        </p:nvSpPr>
        <p:spPr>
          <a:xfrm>
            <a:off x="8949690" y="2331720"/>
            <a:ext cx="264490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91325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Wrong stock, wrong market, wasted budget or lost customers.</a:t>
            </a:r>
            <a:endParaRPr lang="en-US" sz="2000" dirty="0"/>
          </a:p>
        </p:txBody>
      </p:sp>
      <p:sp>
        <p:nvSpPr>
          <p:cNvPr id="19" name="Shape 17"/>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0" name="Text 18"/>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The earlier an error is caught, the cheaper it is to fix.</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Zero is not "unknown"</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Typing 0 for a missing value changes totals and averages. Blank and zero mean different things.</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Looks fine, is wrong</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value can be valid (10 digits) yet inaccurate (someone else's number). Rules catch format, not truth.</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Quality is relative to use</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Data good enough for a monthly trend may be too rough for a single customer's invoice.</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Quality decays</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Customers move, change phones and leave. Data that was correct last year is partly wrong now.</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Match the error to the dimension: (a) age = -5 (b) two rows for one customer (c) blank email (d) "delhi" and "Delhi".</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list of 5,000 contacts has 400 duplicates. SMS costs ₹0.20. How much is wasted?</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Sales: 60, 55, blank, 65. A clerk enters 0 for the blank. Find the average with and without the 0.</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is data that is "valid" not always "accurate"?</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Data quality: </a:t>
            </a:r>
            <a:pPr indent="0" marL="0">
              <a:buNone/>
            </a:pPr>
            <a:r>
              <a:rPr lang="en-US" sz="2000" dirty="0">
                <a:solidFill>
                  <a:srgbClr val="FFFFFF"/>
                </a:solidFill>
                <a:latin typeface="Calibri" pitchFamily="34" charset="0"/>
                <a:ea typeface="Calibri" pitchFamily="34" charset="-122"/>
                <a:cs typeface="Calibri" pitchFamily="34" charset="-120"/>
              </a:rPr>
              <a:t>how well data fits its purpose.</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Six dimensions: </a:t>
            </a:r>
            <a:pPr indent="0" marL="0">
              <a:buNone/>
            </a:pPr>
            <a:r>
              <a:rPr lang="en-US" sz="2000" dirty="0">
                <a:solidFill>
                  <a:srgbClr val="FFFFFF"/>
                </a:solidFill>
                <a:latin typeface="Calibri" pitchFamily="34" charset="0"/>
                <a:ea typeface="Calibri" pitchFamily="34" charset="-122"/>
                <a:cs typeface="Calibri" pitchFamily="34" charset="-120"/>
              </a:rPr>
              <a:t>accuracy, completeness, consistency, validity, timeliness, uniqueness.</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Costs: </a:t>
            </a:r>
            <a:pPr indent="0" marL="0">
              <a:buNone/>
            </a:pPr>
            <a:r>
              <a:rPr lang="en-US" sz="2000" dirty="0">
                <a:solidFill>
                  <a:srgbClr val="FFFFFF"/>
                </a:solidFill>
                <a:latin typeface="Calibri" pitchFamily="34" charset="0"/>
                <a:ea typeface="Calibri" pitchFamily="34" charset="-122"/>
                <a:cs typeface="Calibri" pitchFamily="34" charset="-120"/>
              </a:rPr>
              <a:t>wasted money, distorted averages, split groups and wrong decisions.</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Blank is not zero. </a:t>
            </a:r>
            <a:pPr indent="0" marL="0">
              <a:buNone/>
            </a:pPr>
            <a:r>
              <a:rPr lang="en-US" sz="2000" dirty="0">
                <a:solidFill>
                  <a:srgbClr val="FFFFFF"/>
                </a:solidFill>
                <a:latin typeface="Calibri" pitchFamily="34" charset="0"/>
                <a:ea typeface="Calibri" pitchFamily="34" charset="-122"/>
                <a:cs typeface="Calibri" pitchFamily="34" charset="-120"/>
              </a:rPr>
              <a:t>Unknown values must stay unknown.</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Check quality before analysis, not after the report is sent.</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Ensuring Data Quality</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Importance of Data Quality</dc:title>
  <dc:subject>Business Management Tools I</dc:subject>
  <dc:creator>Sushant Bhargav</dc:creator>
  <cp:lastModifiedBy>Sushant Bhargav</cp:lastModifiedBy>
  <cp:revision>1</cp:revision>
  <dcterms:created xsi:type="dcterms:W3CDTF">2026-10-07T01:36:11Z</dcterms:created>
  <dcterms:modified xsi:type="dcterms:W3CDTF">2026-10-07T01:36:11Z</dcterms:modified>
</cp:coreProperties>
</file>