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 Understanding Data" id="{60865484-ef0e-3d30-a285-daf3df3a0143}">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 (₹)</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4200</c:v>
                </c:pt>
                <c:pt idx="1">
                  <c:v>3900</c:v>
                </c:pt>
                <c:pt idx="2">
                  <c:v>4100</c:v>
                </c:pt>
                <c:pt idx="3">
                  <c:v>4500</c:v>
                </c:pt>
                <c:pt idx="4">
                  <c:v>6800</c:v>
                </c:pt>
                <c:pt idx="5">
                  <c:v>7400</c:v>
                </c:pt>
                <c:pt idx="6">
                  <c:v>4000</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Sales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answers a basic question: what is data, and how does it become something a manager can act on? We separate data, information and knowledge, look at where data comes from, and follow it through its life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how many pieces of data did you create before 9 am today? UPI payments, WhatsApp messages, attendance, steps on a phone. Everyone creates data all day, which is why analysing it is a core business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a number without context is almost useless. Whenever you see a figure, ask: of what, when, and for whom? Those three questions turn a number into a usable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kitchen comparison. Vegetables are data, the cooked dish is information. Ask students to name another pair, such as exam marks and a class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one row at a time. Point out that software helps with the first two steps, but wisdom needs human judgement about cost, people and risk. We will compute these numbers in the next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pairs overlap. A survey you run is both primary and external if the respondents are non-customers. Ask: is a bank statement primary or secondary for the business that owns the account? It is internal and primary, because the business generated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do the arithmetic with a calculator or Excel. Note that Sunday is the lowest day, which might surprise them. A good follow-up question is why, and what extra data would answer it, such as footfall or the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weekday figure: Mon, Tue, Wed, Thu and Sun sum to 20,700, which is 4,140 per day. Fri and Sat average 7,100, about 71% higher. Ask students to confirm the claim over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five orders are below 360, so the average alone hides the spread. Point this out as a hint for later sessions on measures of spread. Ask how many orders are below the ₹400 threshold: four of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beginners jump straight to analysis. Remind them that a large share of real work is in collecting, storing and cleaning. We spend the next two topics on exactly this: data quality and how to ensure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survey point and ask: if a cafe survey is filled only by people who like the cafe, what is wrong with the result? That is selection bias, which we will name in a later unit. Also mention that India has a data protection law, so consent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in pairs. For question 3, check the arithmetic: 3000 + 3500 + 2500 + 4000 + 7000 = 20,000, and 7,000 / 20,000 = 0.35. Ask one pair to explain the decision they would make.
ANSWERS
1. (a) data (b) information (c) data. Only (b) has been processed into something meaningful.
2. Secondary, because the report was compiled earlier. It would be primary only if the owner collected the figures for this study.
3. Total = 20,000. Best day 7,000 / 20,000 = 35%.
4. Collect, store, clean, analyse,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  ·  TOPIC 1</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Understanding Data</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Introduction to Data Analysis</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Define </a:t>
            </a:r>
            <a:pPr indent="0" marL="0">
              <a:buNone/>
            </a:pPr>
            <a:r>
              <a:rPr lang="en-US" sz="2400" dirty="0">
                <a:solidFill>
                  <a:srgbClr val="2B3A4F"/>
                </a:solidFill>
                <a:latin typeface="Calibri" pitchFamily="34" charset="0"/>
                <a:ea typeface="Calibri" pitchFamily="34" charset="-122"/>
                <a:cs typeface="Calibri" pitchFamily="34" charset="-120"/>
              </a:rPr>
              <a:t>data and explain how it differs from information.</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Describe </a:t>
            </a:r>
            <a:pPr indent="0" marL="0">
              <a:buNone/>
            </a:pPr>
            <a:r>
              <a:rPr lang="en-US" sz="2400" dirty="0">
                <a:solidFill>
                  <a:srgbClr val="2B3A4F"/>
                </a:solidFill>
                <a:latin typeface="Calibri" pitchFamily="34" charset="0"/>
                <a:ea typeface="Calibri" pitchFamily="34" charset="-122"/>
                <a:cs typeface="Calibri" pitchFamily="34" charset="-120"/>
              </a:rPr>
              <a:t>the data to wisdom ladder: data, information, knowledge, wisdom.</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Identify </a:t>
            </a:r>
            <a:pPr indent="0" marL="0">
              <a:buNone/>
            </a:pPr>
            <a:r>
              <a:rPr lang="en-US" sz="2400" dirty="0">
                <a:solidFill>
                  <a:srgbClr val="2B3A4F"/>
                </a:solidFill>
                <a:latin typeface="Calibri" pitchFamily="34" charset="0"/>
                <a:ea typeface="Calibri" pitchFamily="34" charset="-122"/>
                <a:cs typeface="Calibri" pitchFamily="34" charset="-120"/>
              </a:rPr>
              <a:t>the main sources of business data, primary and secondary.</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Trace </a:t>
            </a:r>
            <a:pPr indent="0" marL="0">
              <a:buNone/>
            </a:pPr>
            <a:r>
              <a:rPr lang="en-US" sz="2400" dirty="0">
                <a:solidFill>
                  <a:srgbClr val="2B3A4F"/>
                </a:solidFill>
                <a:latin typeface="Calibri" pitchFamily="34" charset="0"/>
                <a:ea typeface="Calibri" pitchFamily="34" charset="-122"/>
                <a:cs typeface="Calibri" pitchFamily="34" charset="-120"/>
              </a:rPr>
              <a:t>the life cycle of data from collection to decision.</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Spot </a:t>
            </a:r>
            <a:pPr indent="0" marL="0">
              <a:buNone/>
            </a:pPr>
            <a:r>
              <a:rPr lang="en-US" sz="2400" dirty="0">
                <a:solidFill>
                  <a:srgbClr val="2B3A4F"/>
                </a:solidFill>
                <a:latin typeface="Calibri" pitchFamily="34" charset="0"/>
                <a:ea typeface="Calibri" pitchFamily="34" charset="-122"/>
                <a:cs typeface="Calibri" pitchFamily="34" charset="-120"/>
              </a:rPr>
              <a:t>common mistakes such as confusing raw numbers with insight.</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1</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Data on its own decides nothing. It must be organised and interpreted before it helps a business.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is data?</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Data </a:t>
            </a:r>
            <a:pPr indent="0" marL="0">
              <a:buNone/>
            </a:pPr>
            <a:r>
              <a:rPr lang="en-US" sz="2200" dirty="0">
                <a:solidFill>
                  <a:srgbClr val="2B3A4F"/>
                </a:solidFill>
                <a:latin typeface="Calibri" pitchFamily="34" charset="0"/>
                <a:ea typeface="Calibri" pitchFamily="34" charset="-122"/>
                <a:cs typeface="Calibri" pitchFamily="34" charset="-120"/>
              </a:rPr>
              <a:t>is a collection of raw facts, figures or observations about people, things or events.</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Raw means </a:t>
            </a:r>
            <a:pPr indent="0" marL="0">
              <a:buNone/>
            </a:pPr>
            <a:r>
              <a:rPr lang="en-US" sz="2200" dirty="0">
                <a:solidFill>
                  <a:srgbClr val="2B3A4F"/>
                </a:solidFill>
                <a:latin typeface="Calibri" pitchFamily="34" charset="0"/>
                <a:ea typeface="Calibri" pitchFamily="34" charset="-122"/>
                <a:cs typeface="Calibri" pitchFamily="34" charset="-120"/>
              </a:rPr>
              <a:t>not yet organised, summarised or explained. "4200" alone is just a number.</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Data can be </a:t>
            </a:r>
            <a:pPr indent="0" marL="0">
              <a:buNone/>
            </a:pPr>
            <a:r>
              <a:rPr lang="en-US" sz="2200" dirty="0">
                <a:solidFill>
                  <a:srgbClr val="2B3A4F"/>
                </a:solidFill>
                <a:latin typeface="Calibri" pitchFamily="34" charset="0"/>
                <a:ea typeface="Calibri" pitchFamily="34" charset="-122"/>
                <a:cs typeface="Calibri" pitchFamily="34" charset="-120"/>
              </a:rPr>
              <a:t>numbers, text, dates, images, audio or clicks on a website.</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Every record </a:t>
            </a:r>
            <a:pPr indent="0" marL="0">
              <a:buNone/>
            </a:pPr>
            <a:r>
              <a:rPr lang="en-US" sz="2200" dirty="0">
                <a:solidFill>
                  <a:srgbClr val="2B3A4F"/>
                </a:solidFill>
                <a:latin typeface="Calibri" pitchFamily="34" charset="0"/>
                <a:ea typeface="Calibri" pitchFamily="34" charset="-122"/>
                <a:cs typeface="Calibri" pitchFamily="34" charset="-120"/>
              </a:rPr>
              <a:t>describes something: a sale, a customer, a delivery, an attendance entry.</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Plural and singular: </a:t>
            </a:r>
            <a:pPr indent="0" marL="0">
              <a:buNone/>
            </a:pPr>
            <a:r>
              <a:rPr lang="en-US" sz="2200" dirty="0">
                <a:solidFill>
                  <a:srgbClr val="2B3A4F"/>
                </a:solidFill>
                <a:latin typeface="Calibri" pitchFamily="34" charset="0"/>
                <a:ea typeface="Calibri" pitchFamily="34" charset="-122"/>
                <a:cs typeface="Calibri" pitchFamily="34" charset="-120"/>
              </a:rPr>
              <a:t>one fact is a datum, many facts are data. In business we say "data is".</a:t>
            </a:r>
            <a:endParaRPr lang="en-US" sz="22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EXAMPLE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The number 4200 is data. "Monday sales at a kirana store were ₹4,200" gives it meaning.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Data versus information</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Data: raw facts</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Unprocessed and often too large to read.</a:t>
            </a:r>
            <a:endParaRPr lang="en-US" sz="2200" dirty="0"/>
          </a:p>
          <a:p>
            <a:pPr marL="228600" indent="-228600">
              <a:spcAft>
                <a:spcPts val="800"/>
              </a:spcAft>
              <a:buSzPct val="100000"/>
              <a:buChar char="•"/>
            </a:pPr>
            <a:r>
              <a:rPr lang="en-US" sz="2200" b="1" dirty="0">
                <a:solidFill>
                  <a:srgbClr val="14213D"/>
                </a:solidFill>
                <a:latin typeface="Calibri" pitchFamily="34" charset="0"/>
                <a:ea typeface="Calibri" pitchFamily="34" charset="-122"/>
                <a:cs typeface="Calibri" pitchFamily="34" charset="-120"/>
              </a:rPr>
              <a:t>Example: </a:t>
            </a:r>
            <a:pPr indent="0" marL="0">
              <a:buNone/>
            </a:pPr>
            <a:r>
              <a:rPr lang="en-US" sz="2200" dirty="0">
                <a:solidFill>
                  <a:srgbClr val="2B3A4F"/>
                </a:solidFill>
                <a:latin typeface="Calibri" pitchFamily="34" charset="0"/>
                <a:ea typeface="Calibri" pitchFamily="34" charset="-122"/>
                <a:cs typeface="Calibri" pitchFamily="34" charset="-120"/>
              </a:rPr>
              <a:t>500 order amounts in a column.</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Has no meaning until it is organised.</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Question it answers: </a:t>
            </a:r>
            <a:pPr indent="0" marL="0">
              <a:buNone/>
            </a:pPr>
            <a:r>
              <a:rPr lang="en-US" sz="2200" dirty="0">
                <a:solidFill>
                  <a:srgbClr val="2B3A4F"/>
                </a:solidFill>
                <a:latin typeface="Calibri" pitchFamily="34" charset="0"/>
                <a:ea typeface="Calibri" pitchFamily="34" charset="-122"/>
                <a:cs typeface="Calibri" pitchFamily="34" charset="-120"/>
              </a:rPr>
              <a:t>none yet.</a:t>
            </a:r>
            <a:endParaRPr lang="en-US" sz="22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Information: data with meaning</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Data that is processed, sorted or summarised.</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Example: </a:t>
            </a:r>
            <a:pPr indent="0" marL="0">
              <a:buNone/>
            </a:pPr>
            <a:r>
              <a:rPr lang="en-US" sz="2100" dirty="0">
                <a:solidFill>
                  <a:srgbClr val="2B3A4F"/>
                </a:solidFill>
                <a:latin typeface="Calibri" pitchFamily="34" charset="0"/>
                <a:ea typeface="Calibri" pitchFamily="34" charset="-122"/>
                <a:cs typeface="Calibri" pitchFamily="34" charset="-120"/>
              </a:rPr>
              <a:t>average order value is ₹360.</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Helps a person understand a situation.</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Question it answers: </a:t>
            </a:r>
            <a:pPr indent="0" marL="0">
              <a:buNone/>
            </a:pPr>
            <a:r>
              <a:rPr lang="en-US" sz="2100" dirty="0">
                <a:solidFill>
                  <a:srgbClr val="2B3A4F"/>
                </a:solidFill>
                <a:latin typeface="Calibri" pitchFamily="34" charset="0"/>
                <a:ea typeface="Calibri" pitchFamily="34" charset="-122"/>
                <a:cs typeface="Calibri" pitchFamily="34" charset="-120"/>
              </a:rPr>
              <a:t>what happened?</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Data goes in, a process runs (sort, total, average, chart), and information comes out.</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ladder from data to wisdom</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941043"/>
                <a:gridCol w="2772918"/>
                <a:gridCol w="6377711"/>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Level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What it is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Cafe example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Data</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Raw facts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Daily sales: 4200, 3900, 4100, 4500, 6800, 7400, 4000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Information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Organised facts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Total for the week is ₹34,900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Knowledge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Patterns and reasons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Friday and Saturday bring 41% of weekly sales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Wisdom</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 good decision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Add one more staff member on Friday and Saturday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4206240"/>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Each level adds context and judgement. Most analysis work happens between data and knowledge.</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Where does business data come from?</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Primary data</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Collected first-hand for your own purpose: a customer survey, an interview, a counter at your shop door.</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Secondary data</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Collected by someone else earlier: government reports, industry reports, company annual reports, published datasets.</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Internal data</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Generated inside the business: billing software, UPI payment logs, inventory sheets, HR records.</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External data</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Comes from outside: market prices, competitor websites, weather, social media posts, census figures.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From raw sales to a decision</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cafe in Bhopal records daily sales (₹, illustrative) from Monday to Sunday: 4200, 3900, 4100, 4500, 6800, 7400, 4000.</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Information, total: </a:t>
            </a:r>
            <a:pPr indent="0" marL="0">
              <a:buNone/>
            </a:pPr>
            <a:r>
              <a:rPr lang="en-US" sz="2200" dirty="0">
                <a:solidFill>
                  <a:srgbClr val="2B3A4F"/>
                </a:solidFill>
                <a:latin typeface="Calibri" pitchFamily="34" charset="0"/>
                <a:ea typeface="Calibri" pitchFamily="34" charset="-122"/>
                <a:cs typeface="Calibri" pitchFamily="34" charset="-120"/>
              </a:rPr>
              <a:t>4200 + 3900 + 4100 + 4500 + 6800 + 7400 + 4000 = ₹34,900.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Information, average: </a:t>
            </a:r>
            <a:pPr indent="0" marL="0">
              <a:buNone/>
            </a:pPr>
            <a:r>
              <a:rPr lang="en-US" sz="2200" dirty="0">
                <a:solidFill>
                  <a:srgbClr val="2B3A4F"/>
                </a:solidFill>
                <a:latin typeface="Calibri" pitchFamily="34" charset="0"/>
                <a:ea typeface="Calibri" pitchFamily="34" charset="-122"/>
                <a:cs typeface="Calibri" pitchFamily="34" charset="-120"/>
              </a:rPr>
              <a:t>34,900 / 7 ≈ ₹4,986 per day.</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Knowledge, weekend rush: </a:t>
            </a:r>
            <a:pPr indent="0" marL="0">
              <a:buNone/>
            </a:pPr>
            <a:r>
              <a:rPr lang="en-US" sz="2200" dirty="0">
                <a:solidFill>
                  <a:srgbClr val="2B3A4F"/>
                </a:solidFill>
                <a:latin typeface="Calibri" pitchFamily="34" charset="0"/>
                <a:ea typeface="Calibri" pitchFamily="34" charset="-122"/>
                <a:cs typeface="Calibri" pitchFamily="34" charset="-120"/>
              </a:rPr>
              <a:t>Friday and Saturday sales are 6,800 + 7,400 = ₹14,200.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Knowledge, share: </a:t>
            </a:r>
            <a:pPr indent="0" marL="0">
              <a:buNone/>
            </a:pPr>
            <a:r>
              <a:rPr lang="en-US" sz="2200" dirty="0">
                <a:solidFill>
                  <a:srgbClr val="2B3A4F"/>
                </a:solidFill>
                <a:latin typeface="Calibri" pitchFamily="34" charset="0"/>
                <a:ea typeface="Calibri" pitchFamily="34" charset="-122"/>
                <a:cs typeface="Calibri" pitchFamily="34" charset="-120"/>
              </a:rPr>
              <a:t>14,200 / 34,900 ≈ 41%, from only 2 of 7 days.</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DECISION</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Two days bring 41% of sales, so staff and stock should be planned for Friday and Saturday first.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the same data as a chart</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pattern is obvious at a glance: Friday and Saturday stand out.</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other five days average ₹4,140. Fri and Sat are over 60% higher.</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A chart is information in a form the eye can read quickly.</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Turning order records into one number</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food-delivery start-up logs 5 orders (₹, illustrative): 250, 480, 320, 150, 600. The owner asks: what does an average order bring in?</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Raw data: </a:t>
            </a:r>
            <a:pPr indent="0" marL="0">
              <a:buNone/>
            </a:pPr>
            <a:r>
              <a:rPr lang="en-US" sz="2200" dirty="0">
                <a:solidFill>
                  <a:srgbClr val="2B3A4F"/>
                </a:solidFill>
                <a:latin typeface="Calibri" pitchFamily="34" charset="0"/>
                <a:ea typeface="Calibri" pitchFamily="34" charset="-122"/>
                <a:cs typeface="Calibri" pitchFamily="34" charset="-120"/>
              </a:rPr>
              <a:t>five separate order values, hard to compare by eye.</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Total revenue: </a:t>
            </a:r>
            <a:pPr indent="0" marL="0">
              <a:buNone/>
            </a:pPr>
            <a:r>
              <a:rPr lang="en-US" sz="2200" dirty="0">
                <a:solidFill>
                  <a:srgbClr val="2B3A4F"/>
                </a:solidFill>
                <a:latin typeface="Calibri" pitchFamily="34" charset="0"/>
                <a:ea typeface="Calibri" pitchFamily="34" charset="-122"/>
                <a:cs typeface="Calibri" pitchFamily="34" charset="-120"/>
              </a:rPr>
              <a:t>250 + 480 + 320 + 150 + 600 = ₹1,800.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Average order value: </a:t>
            </a:r>
            <a:pPr indent="0" marL="0">
              <a:buNone/>
            </a:pPr>
            <a:r>
              <a:rPr lang="en-US" sz="2200" dirty="0">
                <a:solidFill>
                  <a:srgbClr val="2B3A4F"/>
                </a:solidFill>
                <a:latin typeface="Calibri" pitchFamily="34" charset="0"/>
                <a:ea typeface="Calibri" pitchFamily="34" charset="-122"/>
                <a:cs typeface="Calibri" pitchFamily="34" charset="-120"/>
              </a:rPr>
              <a:t>1,800 / 5 = ₹360.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In Excel: </a:t>
            </a:r>
            <a:pPr indent="0" marL="0">
              <a:buNone/>
            </a:pPr>
            <a:r>
              <a:rPr lang="en-US" sz="2200" dirty="0">
                <a:solidFill>
                  <a:srgbClr val="2B3A4F"/>
                </a:solidFill>
                <a:latin typeface="Calibri" pitchFamily="34" charset="0"/>
                <a:ea typeface="Calibri" pitchFamily="34" charset="-122"/>
                <a:cs typeface="Calibri" pitchFamily="34" charset="-120"/>
              </a:rPr>
              <a:t>=AVERAGE(B2:B6) returns 360.</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INTERPRETATION</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Average order value is ₹360. If the free-delivery threshold is ₹400, most orders fall below it.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life cycle of data</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Collect</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Capture facts through billing, forms, sensors, surveys or downloads.</a:t>
            </a:r>
            <a:endParaRPr lang="en-US" sz="17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Store</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Keep them safely in sheets, databases or cloud storage.</a:t>
            </a:r>
            <a:endParaRPr lang="en-US" sz="19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Clean</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Fix errors, duplicates and gaps so the data can be trusted.</a:t>
            </a:r>
            <a:endParaRPr lang="en-US" sz="20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Analyse</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Summarise, compare and chart to find patterns.</a:t>
            </a:r>
            <a:endParaRPr lang="en-US" sz="20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Decide</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Act on the findings, then collect new data to check the result.</a:t>
            </a:r>
            <a:endParaRPr lang="en-US" sz="19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The cycle repeats: every decision creates new data to learn from.</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More data is not better data</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10,000 wrong records are worse than 500 correct ones. Size does not fix poor quality.</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Numbers without context</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figure without unit, date or scope can mislead. Is 4200 in rupees, in thousands or in units sold?</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Data is not truth</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Data records what was measured, not what is real. A survey only reflects the people who answered it.</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Privacy and consent</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Customer data must be collected with permission and kept safe. Not everything you can collect, you should.</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Classify each as data or information: (a) 120, 95, 140, 80 (b) average of these is ₹108.75 (c) a list of 300 PIN codes.</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shop owner studies last year's sales from the company annual report. Is this primary or secondary data?</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Daily sales were 3000, 3500, 2500, 4000, 7000. Find the total and the share of the best day.</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Name the five stages of the life cycle of data in order.</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Data: </a:t>
            </a:r>
            <a:pPr indent="0" marL="0">
              <a:buNone/>
            </a:pPr>
            <a:r>
              <a:rPr lang="en-US" sz="2000" dirty="0">
                <a:solidFill>
                  <a:srgbClr val="FFFFFF"/>
                </a:solidFill>
                <a:latin typeface="Calibri" pitchFamily="34" charset="0"/>
                <a:ea typeface="Calibri" pitchFamily="34" charset="-122"/>
                <a:cs typeface="Calibri" pitchFamily="34" charset="-120"/>
              </a:rPr>
              <a:t>raw facts. Information: data given meaning.</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Ladder: </a:t>
            </a:r>
            <a:pPr indent="0" marL="0">
              <a:buNone/>
            </a:pPr>
            <a:r>
              <a:rPr lang="en-US" sz="2000" dirty="0">
                <a:solidFill>
                  <a:srgbClr val="FFFFFF"/>
                </a:solidFill>
                <a:latin typeface="Calibri" pitchFamily="34" charset="0"/>
                <a:ea typeface="Calibri" pitchFamily="34" charset="-122"/>
                <a:cs typeface="Calibri" pitchFamily="34" charset="-120"/>
              </a:rPr>
              <a:t>data, information, knowledge, wisdom.</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Sources: </a:t>
            </a:r>
            <a:pPr indent="0" marL="0">
              <a:buNone/>
            </a:pPr>
            <a:r>
              <a:rPr lang="en-US" sz="2000" dirty="0">
                <a:solidFill>
                  <a:srgbClr val="FFFFFF"/>
                </a:solidFill>
                <a:latin typeface="Calibri" pitchFamily="34" charset="0"/>
                <a:ea typeface="Calibri" pitchFamily="34" charset="-122"/>
                <a:cs typeface="Calibri" pitchFamily="34" charset="-120"/>
              </a:rPr>
              <a:t>primary or secondary, internal or external.</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Life cycle: </a:t>
            </a:r>
            <a:pPr indent="0" marL="0">
              <a:buNone/>
            </a:pPr>
            <a:r>
              <a:rPr lang="en-US" sz="2000" dirty="0">
                <a:solidFill>
                  <a:srgbClr val="FFFFFF"/>
                </a:solidFill>
                <a:latin typeface="Calibri" pitchFamily="34" charset="0"/>
                <a:ea typeface="Calibri" pitchFamily="34" charset="-122"/>
                <a:cs typeface="Calibri" pitchFamily="34" charset="-120"/>
              </a:rPr>
              <a:t>collect, store, clean, analyse, decide.</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Always ask: of what, when and for whom, before trusting a number.</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Types of Data</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Data</dc:title>
  <dc:subject>Business Management Tools I</dc:subject>
  <dc:creator>Sushant Bhargav</dc:creator>
  <cp:lastModifiedBy>Sushant Bhargav</cp:lastModifiedBy>
  <cp:revision>1</cp:revision>
  <dcterms:created xsi:type="dcterms:W3CDTF">2026-10-07T01:36:09Z</dcterms:created>
  <dcterms:modified xsi:type="dcterms:W3CDTF">2026-10-07T01:36:09Z</dcterms:modified>
</cp:coreProperties>
</file>