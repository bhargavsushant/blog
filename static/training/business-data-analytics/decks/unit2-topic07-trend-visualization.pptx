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7: Trend Visualization" id="{0223d0f7-ecbd-a41a-119a-7a253ccdffb4}">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Sales (₹ thousand)</c:v>
                </c:pt>
              </c:strCache>
            </c:strRef>
          </c:tx>
          <c:spPr>
            <a:solidFill>
              <a:srgbClr val="0F8B8D"/>
            </a:solidFill>
            <a:ln w="38100" cap="flat">
              <a:solidFill>
                <a:srgbClr val="0F8B8D"/>
              </a:solidFill>
              <a:prstDash val="solid"/>
              <a:round/>
            </a:ln>
            <a:effectLst/>
          </c:spPr>
          <c:invertIfNegative val="0"/>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c:symbol val="circle"/>
            <c:size val="8"/>
            <c:spPr>
              <a:solidFill>
                <a:srgbClr val="0F8B8D"/>
              </a:solidFill>
              <a:ln w="9525" cap="flat">
                <a:solidFill>
                  <a:srgbClr val="0F8B8D"/>
                </a:solidFill>
                <a:prstDash val="solid"/>
                <a:round/>
              </a:ln>
              <a:effectLst/>
            </c:spPr>
          </c:marker>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Sheet1!$B$2:$B$13</c:f>
              <c:numCache>
                <c:formatCode>General</c:formatCode>
                <c:ptCount val="12"/>
                <c:pt idx="0">
                  <c:v>310</c:v>
                </c:pt>
                <c:pt idx="1">
                  <c:v>295</c:v>
                </c:pt>
                <c:pt idx="2">
                  <c:v>300</c:v>
                </c:pt>
                <c:pt idx="3">
                  <c:v>320</c:v>
                </c:pt>
                <c:pt idx="4">
                  <c:v>335</c:v>
                </c:pt>
                <c:pt idx="5">
                  <c:v>380</c:v>
                </c:pt>
                <c:pt idx="6">
                  <c:v>520</c:v>
                </c:pt>
                <c:pt idx="7">
                  <c:v>610</c:v>
                </c:pt>
                <c:pt idx="8">
                  <c:v>360</c:v>
                </c:pt>
                <c:pt idx="9">
                  <c:v>340</c:v>
                </c:pt>
                <c:pt idx="10">
                  <c:v>345</c:v>
                </c:pt>
                <c:pt idx="11">
                  <c:v>350</c:v>
                </c:pt>
              </c:numCache>
            </c:numRef>
          </c:val>
          <c:smooth val="0"/>
        </c:ser>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Sales (₹ thousand)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0F8B8D"/>
            </a:solidFill>
            <a:ln w="38100" cap="flat">
              <a:solidFill>
                <a:srgbClr val="0F8B8D"/>
              </a:solidFill>
              <a:prstDash val="solid"/>
              <a:round/>
            </a:ln>
            <a:effectLst/>
          </c:spPr>
          <c:invertIfNegative val="0"/>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c:symbol val="circle"/>
            <c:size val="8"/>
            <c:spPr>
              <a:solidFill>
                <a:srgbClr val="0F8B8D"/>
              </a:solidFill>
              <a:ln w="9525" cap="flat">
                <a:solidFill>
                  <a:srgbClr val="0F8B8D"/>
                </a:solidFill>
                <a:prstDash val="solid"/>
                <a:round/>
              </a:ln>
              <a:effectLst/>
            </c:spPr>
          </c:marker>
          <c:cat>
            <c:multiLvlStrRef>
              <c:f>Sheet1!$A$2:$A$11</c:f>
              <c:multiLvlStrCache>
                <c:ptCount val="10"/>
                <c:lvl>
                  <c:pt idx="0">
                    <c:v>Jun</c:v>
                  </c:pt>
                  <c:pt idx="1">
                    <c:v>Jul</c:v>
                  </c:pt>
                  <c:pt idx="2">
                    <c:v>Aug</c:v>
                  </c:pt>
                  <c:pt idx="3">
                    <c:v>Sep</c:v>
                  </c:pt>
                  <c:pt idx="4">
                    <c:v>Oct</c:v>
                  </c:pt>
                  <c:pt idx="5">
                    <c:v>Nov</c:v>
                  </c:pt>
                  <c:pt idx="6">
                    <c:v>Dec</c:v>
                  </c:pt>
                  <c:pt idx="7">
                    <c:v>Jan</c:v>
                  </c:pt>
                  <c:pt idx="8">
                    <c:v>Feb</c:v>
                  </c:pt>
                  <c:pt idx="9">
                    <c:v>Mar</c:v>
                  </c:pt>
                </c:lvl>
              </c:multiLvlStrCache>
            </c:multiLvlStrRef>
          </c:cat>
          <c:val>
            <c:numRef>
              <c:f>Sheet1!$B$2:$B$11</c:f>
              <c:numCache>
                <c:formatCode>General</c:formatCode>
                <c:ptCount val="10"/>
                <c:pt idx="0">
                  <c:v>300</c:v>
                </c:pt>
                <c:pt idx="1">
                  <c:v>320</c:v>
                </c:pt>
                <c:pt idx="2">
                  <c:v>335</c:v>
                </c:pt>
                <c:pt idx="3">
                  <c:v>380</c:v>
                </c:pt>
                <c:pt idx="4">
                  <c:v>520</c:v>
                </c:pt>
                <c:pt idx="5">
                  <c:v>610</c:v>
                </c:pt>
                <c:pt idx="6">
                  <c:v>360</c:v>
                </c:pt>
                <c:pt idx="7">
                  <c:v>340</c:v>
                </c:pt>
                <c:pt idx="8">
                  <c:v>345</c:v>
                </c:pt>
                <c:pt idx="9">
                  <c:v>350</c:v>
                </c:pt>
              </c:numCache>
            </c:numRef>
          </c:val>
          <c:smooth val="0"/>
        </c:ser>
        <c:ser>
          <c:idx val="1"/>
          <c:order val="1"/>
          <c:tx>
            <c:strRef>
              <c:f>Sheet1!$C$1</c:f>
              <c:strCache>
                <c:ptCount val="1"/>
                <c:pt idx="0">
                  <c:v>3-month moving average</c:v>
                </c:pt>
              </c:strCache>
            </c:strRef>
          </c:tx>
          <c:spPr>
            <a:solidFill>
              <a:srgbClr val="F29E4C"/>
            </a:solidFill>
            <a:ln w="38100" cap="flat">
              <a:solidFill>
                <a:srgbClr val="F29E4C"/>
              </a:solidFill>
              <a:prstDash val="solid"/>
              <a:round/>
            </a:ln>
            <a:effectLst/>
          </c:spPr>
          <c:invertIfNegative val="0"/>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c:symbol val="circle"/>
            <c:size val="8"/>
            <c:spPr>
              <a:solidFill>
                <a:srgbClr val="F29E4C"/>
              </a:solidFill>
              <a:ln w="9525" cap="flat">
                <a:solidFill>
                  <a:srgbClr val="F29E4C"/>
                </a:solidFill>
                <a:prstDash val="solid"/>
                <a:round/>
              </a:ln>
              <a:effectLst/>
            </c:spPr>
          </c:marker>
          <c:cat>
            <c:multiLvlStrRef>
              <c:f>Sheet1!$A$2:$A$11</c:f>
              <c:multiLvlStrCache>
                <c:ptCount val="10"/>
                <c:lvl>
                  <c:pt idx="0">
                    <c:v>Jun</c:v>
                  </c:pt>
                  <c:pt idx="1">
                    <c:v>Jul</c:v>
                  </c:pt>
                  <c:pt idx="2">
                    <c:v>Aug</c:v>
                  </c:pt>
                  <c:pt idx="3">
                    <c:v>Sep</c:v>
                  </c:pt>
                  <c:pt idx="4">
                    <c:v>Oct</c:v>
                  </c:pt>
                  <c:pt idx="5">
                    <c:v>Nov</c:v>
                  </c:pt>
                  <c:pt idx="6">
                    <c:v>Dec</c:v>
                  </c:pt>
                  <c:pt idx="7">
                    <c:v>Jan</c:v>
                  </c:pt>
                  <c:pt idx="8">
                    <c:v>Feb</c:v>
                  </c:pt>
                  <c:pt idx="9">
                    <c:v>Mar</c:v>
                  </c:pt>
                </c:lvl>
              </c:multiLvlStrCache>
            </c:multiLvlStrRef>
          </c:cat>
          <c:val>
            <c:numRef>
              <c:f>Sheet1!$C$2:$C$11</c:f>
              <c:numCache>
                <c:formatCode>General</c:formatCode>
                <c:ptCount val="10"/>
                <c:pt idx="0">
                  <c:v>301.7</c:v>
                </c:pt>
                <c:pt idx="1">
                  <c:v>305</c:v>
                </c:pt>
                <c:pt idx="2">
                  <c:v>318.3</c:v>
                </c:pt>
                <c:pt idx="3">
                  <c:v>345</c:v>
                </c:pt>
                <c:pt idx="4">
                  <c:v>411.7</c:v>
                </c:pt>
                <c:pt idx="5">
                  <c:v>503.3</c:v>
                </c:pt>
                <c:pt idx="6">
                  <c:v>496.7</c:v>
                </c:pt>
                <c:pt idx="7">
                  <c:v>436.7</c:v>
                </c:pt>
                <c:pt idx="8">
                  <c:v>348.3</c:v>
                </c:pt>
                <c:pt idx="9">
                  <c:v>345</c:v>
                </c:pt>
              </c:numCache>
            </c:numRef>
          </c:val>
          <c:smooth val="0"/>
        </c:ser>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 thousand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grouping val="stacked"/>
        <c:varyColors val="0"/>
        <c:ser>
          <c:idx val="0"/>
          <c:order val="0"/>
          <c:tx>
            <c:strRef>
              <c:f>Sheet1!$B$1</c:f>
              <c:strCache>
                <c:ptCount val="1"/>
                <c:pt idx="0">
                  <c:v>Product A</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Sheet1!$B$2:$B$13</c:f>
              <c:numCache>
                <c:formatCode>General</c:formatCode>
                <c:ptCount val="12"/>
                <c:pt idx="0">
                  <c:v>150</c:v>
                </c:pt>
                <c:pt idx="1">
                  <c:v>140</c:v>
                </c:pt>
                <c:pt idx="2">
                  <c:v>145</c:v>
                </c:pt>
                <c:pt idx="3">
                  <c:v>150</c:v>
                </c:pt>
                <c:pt idx="4">
                  <c:v>155</c:v>
                </c:pt>
                <c:pt idx="5">
                  <c:v>170</c:v>
                </c:pt>
                <c:pt idx="6">
                  <c:v>230</c:v>
                </c:pt>
                <c:pt idx="7">
                  <c:v>270</c:v>
                </c:pt>
                <c:pt idx="8">
                  <c:v>165</c:v>
                </c:pt>
                <c:pt idx="9">
                  <c:v>155</c:v>
                </c:pt>
                <c:pt idx="10">
                  <c:v>160</c:v>
                </c:pt>
                <c:pt idx="11">
                  <c:v>160</c:v>
                </c:pt>
              </c:numCache>
            </c:numRef>
          </c:val>
        </c:ser>
        <c:ser>
          <c:idx val="1"/>
          <c:order val="1"/>
          <c:tx>
            <c:strRef>
              <c:f>Sheet1!$C$1</c:f>
              <c:strCache>
                <c:ptCount val="1"/>
                <c:pt idx="0">
                  <c:v>Product B</c:v>
                </c:pt>
              </c:strCache>
            </c:strRef>
          </c:tx>
          <c:spPr>
            <a:solidFill>
              <a:srgbClr val="F29E4C"/>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Sheet1!$C$2:$C$13</c:f>
              <c:numCache>
                <c:formatCode>General</c:formatCode>
                <c:ptCount val="12"/>
                <c:pt idx="0">
                  <c:v>110</c:v>
                </c:pt>
                <c:pt idx="1">
                  <c:v>105</c:v>
                </c:pt>
                <c:pt idx="2">
                  <c:v>105</c:v>
                </c:pt>
                <c:pt idx="3">
                  <c:v>115</c:v>
                </c:pt>
                <c:pt idx="4">
                  <c:v>120</c:v>
                </c:pt>
                <c:pt idx="5">
                  <c:v>135</c:v>
                </c:pt>
                <c:pt idx="6">
                  <c:v>190</c:v>
                </c:pt>
                <c:pt idx="7">
                  <c:v>230</c:v>
                </c:pt>
                <c:pt idx="8">
                  <c:v>125</c:v>
                </c:pt>
                <c:pt idx="9">
                  <c:v>120</c:v>
                </c:pt>
                <c:pt idx="10">
                  <c:v>120</c:v>
                </c:pt>
                <c:pt idx="11">
                  <c:v>125</c:v>
                </c:pt>
              </c:numCache>
            </c:numRef>
          </c:val>
        </c:ser>
        <c:ser>
          <c:idx val="2"/>
          <c:order val="2"/>
          <c:tx>
            <c:strRef>
              <c:f>Sheet1!$D$1</c:f>
              <c:strCache>
                <c:ptCount val="1"/>
                <c:pt idx="0">
                  <c:v>Product C</c:v>
                </c:pt>
              </c:strCache>
            </c:strRef>
          </c:tx>
          <c:spPr>
            <a:solidFill>
              <a:srgbClr val="3A5BA0"/>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Sheet1!$D$2:$D$13</c:f>
              <c:numCache>
                <c:formatCode>General</c:formatCode>
                <c:ptCount val="12"/>
                <c:pt idx="0">
                  <c:v>50</c:v>
                </c:pt>
                <c:pt idx="1">
                  <c:v>50</c:v>
                </c:pt>
                <c:pt idx="2">
                  <c:v>50</c:v>
                </c:pt>
                <c:pt idx="3">
                  <c:v>55</c:v>
                </c:pt>
                <c:pt idx="4">
                  <c:v>60</c:v>
                </c:pt>
                <c:pt idx="5">
                  <c:v>75</c:v>
                </c:pt>
                <c:pt idx="6">
                  <c:v>100</c:v>
                </c:pt>
                <c:pt idx="7">
                  <c:v>110</c:v>
                </c:pt>
                <c:pt idx="8">
                  <c:v>70</c:v>
                </c:pt>
                <c:pt idx="9">
                  <c:v>65</c:v>
                </c:pt>
                <c:pt idx="10">
                  <c:v>65</c:v>
                </c:pt>
                <c:pt idx="11">
                  <c:v>65</c:v>
                </c:pt>
              </c:numCache>
            </c:numRef>
          </c:val>
        </c:ser>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 thousand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line graphs and area charts for data that changes over time. Students learn how to set up a time axis, spot seasonality, smooth noise with a moving average, and avoid the stacked area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when a kirana store sells the most. Diwali, weddings, summer drinks. Those repeating patterns are seasonality, and today we learn to see them in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financial year in India runs April to March, so we start there. Write the 12 values on the board: 310, 295, 300, 320, 335, 380, 520, 610, 360, 340, 345, 350.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charts feel heavier because the filled space draws the eye to volume. That is why a cut-off axis is worse on an area chart than on a line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run Apr to Mar. Ask: what happened in October and November? Festive season. Is it a trend or a seasonal peak? We will answer that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 change is (new - old) / old. Students often divide by the new value by mistake. Watch for it in question 2 of the practice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our single year we cannot prove the October to November peak repeats. A retailer would compare against last year. Ask students how many years of data they would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months have no average, so the line begins at the third month. Note the lag: the moving average peaks lower (503.3 against 610) and stays high longer than the actual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window labels. The value labelled Nov is the mean of Sep, Oct and Nov, which is (380 + 520 + 610) / 3 = 503.3. In Excel, put =AVERAGE(B2:B4) beside the third month and fill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products add to the totals used earlier, for example 270 + 230 + 110 = 610. A stacked area is fine for the total and for the bottom layer. For the upper layers, the reader has to subtract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matters most for business. Month-on-month growth after a festival season looks like a collapse, but year-on-year may be healthy. Ask students which comparison a shop owner should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chart, Product C looks like it barely changes, but its top edge moves because A and B move below it. Product C actually went from 50 to 110, and the chart does not make that easy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dates are real Excel dates, Excel treats the axis as a time axis and spaces missing months correctly. If they are text, every label is equal width. Remind students to format the date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uses 60 / 320 = 0.1875. Question 3 links back to seasonality. Encourage students to say year-on-year.
ANSWERS
1. (380 - 320) / 320 = 18.75%, about 18.8% growth.
2. (300 + 320 + 335) / 3 = 318.3.
3. Not necessarily. Compare with the same month last year. December was still above the April to August level.
4. Only the bottom layer starts at zero. Upper layers float, so heights are hard to compare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7</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Trend Visualization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Choose </a:t>
            </a:r>
            <a:pPr indent="0" marL="0">
              <a:buNone/>
            </a:pPr>
            <a:r>
              <a:rPr lang="en-US" sz="2400" dirty="0">
                <a:solidFill>
                  <a:srgbClr val="2B3A4F"/>
                </a:solidFill>
                <a:latin typeface="Calibri" pitchFamily="34" charset="0"/>
                <a:ea typeface="Calibri" pitchFamily="34" charset="-122"/>
                <a:cs typeface="Calibri" pitchFamily="34" charset="-120"/>
              </a:rPr>
              <a:t>a line graph or an area chart for data over time.</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Set up </a:t>
            </a:r>
            <a:pPr indent="0" marL="0">
              <a:buNone/>
            </a:pPr>
            <a:r>
              <a:rPr lang="en-US" sz="2400" dirty="0">
                <a:solidFill>
                  <a:srgbClr val="2B3A4F"/>
                </a:solidFill>
                <a:latin typeface="Calibri" pitchFamily="34" charset="0"/>
                <a:ea typeface="Calibri" pitchFamily="34" charset="-122"/>
                <a:cs typeface="Calibri" pitchFamily="34" charset="-120"/>
              </a:rPr>
              <a:t>a time axis with equal, ordered intervals.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Separate </a:t>
            </a:r>
            <a:pPr indent="0" marL="0">
              <a:buNone/>
            </a:pPr>
            <a:r>
              <a:rPr lang="en-US" sz="2400" dirty="0">
                <a:solidFill>
                  <a:srgbClr val="2B3A4F"/>
                </a:solidFill>
                <a:latin typeface="Calibri" pitchFamily="34" charset="0"/>
                <a:ea typeface="Calibri" pitchFamily="34" charset="-122"/>
                <a:cs typeface="Calibri" pitchFamily="34" charset="-120"/>
              </a:rPr>
              <a:t>a long-term trend from seasonality and one-off spikes.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Smooth </a:t>
            </a:r>
            <a:pPr indent="0" marL="0">
              <a:buNone/>
            </a:pPr>
            <a:r>
              <a:rPr lang="en-US" sz="2400" dirty="0">
                <a:solidFill>
                  <a:srgbClr val="2B3A4F"/>
                </a:solidFill>
                <a:latin typeface="Calibri" pitchFamily="34" charset="0"/>
                <a:ea typeface="Calibri" pitchFamily="34" charset="-122"/>
                <a:cs typeface="Calibri" pitchFamily="34" charset="-120"/>
              </a:rPr>
              <a:t>noisy data with a 3-month moving average.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Avoid </a:t>
            </a:r>
            <a:pPr indent="0" marL="0">
              <a:buNone/>
            </a:pPr>
            <a:r>
              <a:rPr lang="en-US" sz="2400" dirty="0">
                <a:solidFill>
                  <a:srgbClr val="2B3A4F"/>
                </a:solidFill>
                <a:latin typeface="Calibri" pitchFamily="34" charset="0"/>
                <a:ea typeface="Calibri" pitchFamily="34" charset="-122"/>
                <a:cs typeface="Calibri" pitchFamily="34" charset="-120"/>
              </a:rPr>
              <a:t>the stacked area chart trap and misleading axes.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3</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parts in most business time data: trend, seasonality and random noise.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Time series and the time axis</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Time series: </a:t>
            </a:r>
            <a:pPr indent="0" marL="0">
              <a:buNone/>
            </a:pPr>
            <a:r>
              <a:rPr lang="en-US" sz="2400" dirty="0">
                <a:solidFill>
                  <a:srgbClr val="2B3A4F"/>
                </a:solidFill>
                <a:latin typeface="Calibri" pitchFamily="34" charset="0"/>
                <a:ea typeface="Calibri" pitchFamily="34" charset="-122"/>
                <a:cs typeface="Calibri" pitchFamily="34" charset="-120"/>
              </a:rPr>
              <a:t>values recorded at regular points in time, such as daily or monthly sales.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Time goes on the x axis, </a:t>
            </a:r>
            <a:pPr indent="0" marL="0">
              <a:buNone/>
            </a:pPr>
            <a:r>
              <a:rPr lang="en-US" sz="2400" dirty="0">
                <a:solidFill>
                  <a:srgbClr val="2B3A4F"/>
                </a:solidFill>
                <a:latin typeface="Calibri" pitchFamily="34" charset="0"/>
                <a:ea typeface="Calibri" pitchFamily="34" charset="-122"/>
                <a:cs typeface="Calibri" pitchFamily="34" charset="-120"/>
              </a:rPr>
              <a:t>left to right, oldest to newest.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Equal gaps: </a:t>
            </a:r>
            <a:pPr indent="0" marL="0">
              <a:buNone/>
            </a:pPr>
            <a:r>
              <a:rPr lang="en-US" sz="2400" dirty="0">
                <a:solidFill>
                  <a:srgbClr val="2B3A4F"/>
                </a:solidFill>
                <a:latin typeface="Calibri" pitchFamily="34" charset="0"/>
                <a:ea typeface="Calibri" pitchFamily="34" charset="-122"/>
                <a:cs typeface="Calibri" pitchFamily="34" charset="-120"/>
              </a:rPr>
              <a:t>one point per month, no skipped months and no mixed intervals.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Trend: </a:t>
            </a:r>
            <a:pPr indent="0" marL="0">
              <a:buNone/>
            </a:pPr>
            <a:r>
              <a:rPr lang="en-US" sz="2400" dirty="0">
                <a:solidFill>
                  <a:srgbClr val="2B3A4F"/>
                </a:solidFill>
                <a:latin typeface="Calibri" pitchFamily="34" charset="0"/>
                <a:ea typeface="Calibri" pitchFamily="34" charset="-122"/>
                <a:cs typeface="Calibri" pitchFamily="34" charset="-120"/>
              </a:rPr>
              <a:t>the long-term direction, up, down or flat.</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Seasonality: </a:t>
            </a:r>
            <a:pPr indent="0" marL="0">
              <a:buNone/>
            </a:pPr>
            <a:r>
              <a:rPr lang="en-US" sz="2400" dirty="0">
                <a:solidFill>
                  <a:srgbClr val="2B3A4F"/>
                </a:solidFill>
                <a:latin typeface="Calibri" pitchFamily="34" charset="0"/>
                <a:ea typeface="Calibri" pitchFamily="34" charset="-122"/>
                <a:cs typeface="Calibri" pitchFamily="34" charset="-120"/>
              </a:rPr>
              <a:t>a pattern that repeats every year, week or day.</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DATA USED TODAY</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Monthly sales of a Bhopal retailer in ₹ thousand, April to March. Illustrative figures, total ₹4,465 thousand.</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Line graph and area chart</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Line graph</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Points joined by a line. Best for the shape of change.</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Handles several series on one chart.</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The y axis may start above zero if you say so.</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The default choice for trends.</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Area chart</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A line with the space below it filled in.</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Fill suggests a quantity, so the axis must start at zero.</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Good for one series, or parts of a total when stacked.</a:t>
            </a:r>
            <a:endParaRPr lang="en-US" sz="2100" dirty="0"/>
          </a:p>
          <a:p>
            <a:pPr marL="228600" indent="-228600">
              <a:buSzPct val="100000"/>
              <a:buChar char="•"/>
            </a:pPr>
            <a:r>
              <a:rPr lang="en-US" sz="2100" dirty="0">
                <a:solidFill>
                  <a:srgbClr val="2B3A4F"/>
                </a:solidFill>
                <a:latin typeface="Calibri" pitchFamily="34" charset="0"/>
                <a:ea typeface="Calibri" pitchFamily="34" charset="-122"/>
                <a:cs typeface="Calibri" pitchFamily="34" charset="-120"/>
              </a:rPr>
              <a:t>Several overlapping areas hide each other.</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Start with a line graph. Use an area chart when the size of the total matters as much as its direction.</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Line graph: monthly sales over a year</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Sales are flat to slowly rising from April to September.</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 big jump in October and November, then a sharp fall in December.</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The y axis starts at zero, so the size of the peak is honest.</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Reading growth between months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Use the sales line to measure the festive jump and the fall after it. Values are in ₹ thousand.</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Sep to Oct: </a:t>
            </a:r>
            <a:pPr indent="0" marL="0">
              <a:buNone/>
            </a:pPr>
            <a:r>
              <a:rPr lang="en-US" sz="2200" dirty="0">
                <a:solidFill>
                  <a:srgbClr val="2B3A4F"/>
                </a:solidFill>
                <a:latin typeface="Calibri" pitchFamily="34" charset="0"/>
                <a:ea typeface="Calibri" pitchFamily="34" charset="-122"/>
                <a:cs typeface="Calibri" pitchFamily="34" charset="-120"/>
              </a:rPr>
              <a:t>(520 - 380) / 380 = 36.8% growth.</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Oct to Nov: </a:t>
            </a:r>
            <a:pPr indent="0" marL="0">
              <a:buNone/>
            </a:pPr>
            <a:r>
              <a:rPr lang="en-US" sz="2200" dirty="0">
                <a:solidFill>
                  <a:srgbClr val="2B3A4F"/>
                </a:solidFill>
                <a:latin typeface="Calibri" pitchFamily="34" charset="0"/>
                <a:ea typeface="Calibri" pitchFamily="34" charset="-122"/>
                <a:cs typeface="Calibri" pitchFamily="34" charset="-120"/>
              </a:rPr>
              <a:t>(610 - 520) / 520 = 17.3% growth.</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Nov to Dec: </a:t>
            </a:r>
            <a:pPr indent="0" marL="0">
              <a:buNone/>
            </a:pPr>
            <a:r>
              <a:rPr lang="en-US" sz="2200" dirty="0">
                <a:solidFill>
                  <a:srgbClr val="2B3A4F"/>
                </a:solidFill>
                <a:latin typeface="Calibri" pitchFamily="34" charset="0"/>
                <a:ea typeface="Calibri" pitchFamily="34" charset="-122"/>
                <a:cs typeface="Calibri" pitchFamily="34" charset="-120"/>
              </a:rPr>
              <a:t>(360 - 610) / 610 = -41.0%. A fall of ₹250 thousand.</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Against average: </a:t>
            </a:r>
            <a:pPr indent="0" marL="0">
              <a:buNone/>
            </a:pPr>
            <a:r>
              <a:rPr lang="en-US" sz="2200" dirty="0">
                <a:solidFill>
                  <a:srgbClr val="2B3A4F"/>
                </a:solidFill>
                <a:latin typeface="Calibri" pitchFamily="34" charset="0"/>
                <a:ea typeface="Calibri" pitchFamily="34" charset="-122"/>
                <a:cs typeface="Calibri" pitchFamily="34" charset="-120"/>
              </a:rPr>
              <a:t>mean month = 4,465 / 12 = ₹372.1 thousand. November is 1.64 times that.</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peak is a 1.64 times spike, not a new level. December at ₹360 thousand is still above the April to August range of ₹295 to 335 thousand.</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How to spot seasonality</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Plot enough history</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You need at least two full cycles, so two years of monthly data for yearly seasonality.</a:t>
            </a:r>
            <a:endParaRPr lang="en-US" sz="19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Overlay the years</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Draw each year as its own line on a Jan to Dec axis. Peaks that line up are seasonal.</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Smooth the noise</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3-month moving average shows direction without the spikes.</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Check the calendar</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Match peaks to Diwali, exams, weddings or weather, not just to the chart.</a:t>
            </a:r>
            <a:endParaRPr lang="en-US" sz="20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One year of data can show a peak, but it cannot prove that the peak repeats.</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Actual sales and a 3-month moving average</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average line is smoother and lags behind the actual line.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It still rises, so the festive jump is more than one odd month.</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It peaks lower at 503.3 and falls slowly because it remembers the high months.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Computing a 3-month moving average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The moving average for a month is the mean of that month and the two before it. Use the first months of the data.</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Jun: </a:t>
            </a:r>
            <a:pPr indent="0" marL="0">
              <a:buNone/>
            </a:pPr>
            <a:r>
              <a:rPr lang="en-US" sz="2200" dirty="0">
                <a:solidFill>
                  <a:srgbClr val="2B3A4F"/>
                </a:solidFill>
                <a:latin typeface="Calibri" pitchFamily="34" charset="0"/>
                <a:ea typeface="Calibri" pitchFamily="34" charset="-122"/>
                <a:cs typeface="Calibri" pitchFamily="34" charset="-120"/>
              </a:rPr>
              <a:t>(310 + 295 + 300) / 3 = 301.7.</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Jul: </a:t>
            </a:r>
            <a:pPr indent="0" marL="0">
              <a:buNone/>
            </a:pPr>
            <a:r>
              <a:rPr lang="en-US" sz="2200" dirty="0">
                <a:solidFill>
                  <a:srgbClr val="2B3A4F"/>
                </a:solidFill>
                <a:latin typeface="Calibri" pitchFamily="34" charset="0"/>
                <a:ea typeface="Calibri" pitchFamily="34" charset="-122"/>
                <a:cs typeface="Calibri" pitchFamily="34" charset="-120"/>
              </a:rPr>
              <a:t>(295 + 300 + 320) / 3 = 305.0.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Nov: </a:t>
            </a:r>
            <a:pPr indent="0" marL="0">
              <a:buNone/>
            </a:pPr>
            <a:r>
              <a:rPr lang="en-US" sz="2200" dirty="0">
                <a:solidFill>
                  <a:srgbClr val="2B3A4F"/>
                </a:solidFill>
                <a:latin typeface="Calibri" pitchFamily="34" charset="0"/>
                <a:ea typeface="Calibri" pitchFamily="34" charset="-122"/>
                <a:cs typeface="Calibri" pitchFamily="34" charset="-120"/>
              </a:rPr>
              <a:t>(380 + 520 + 610) / 3 = 503.3, the window of Sep, Oct, Nov.</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Dec: </a:t>
            </a:r>
            <a:pPr indent="0" marL="0">
              <a:buNone/>
            </a:pPr>
            <a:r>
              <a:rPr lang="en-US" sz="2200" dirty="0">
                <a:solidFill>
                  <a:srgbClr val="2B3A4F"/>
                </a:solidFill>
                <a:latin typeface="Calibri" pitchFamily="34" charset="0"/>
                <a:ea typeface="Calibri" pitchFamily="34" charset="-122"/>
                <a:cs typeface="Calibri" pitchFamily="34" charset="-120"/>
              </a:rPr>
              <a:t>(520 + 610 + 360) / 3 = 496.7, the window of Oct, Nov, Dec.</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EDGE CASE</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12 months give only 10 averages, because the first two months lack two earlier values. Never fill them with zero.</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Stacked area: sales by product line</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HOW TO READ IT</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top edge is the total: it peaks at 610 in November.</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Only Product A, the bottom layer, sits on the zero line.</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Product B and C ride on top of the layers below, so their own shape is hard to judge.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Time axis traps and edge cases</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Uneven gaps</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Mixing monthly points with a gap of a quarter, or skipping a month, bends the line. Keep equal steps.</a:t>
            </a:r>
            <a:endParaRPr lang="en-US" sz="17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Missing periods</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blank month is not zero. Show a gap or mark the missing value, do not draw a dip to 0.</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Cut-off axis</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Starting at 290 makes a rise of 20 look huge. Say so on the chart or start at zero.</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Too many lines</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More than 4 lines tangles. Use small charts side by side or highlight one line.</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Dual axes</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Two y axes let you make any two lines look related. Avoid them or label very clearly.</a:t>
            </a:r>
            <a:endParaRPr lang="en-US" sz="2000" dirty="0"/>
          </a:p>
        </p:txBody>
      </p:sp>
      <p:sp>
        <p:nvSpPr>
          <p:cNvPr id="23" name="Shape 21"/>
          <p:cNvSpPr/>
          <p:nvPr/>
        </p:nvSpPr>
        <p:spPr>
          <a:xfrm>
            <a:off x="8125968" y="3977640"/>
            <a:ext cx="3514344" cy="2286000"/>
          </a:xfrm>
          <a:prstGeom prst="roundRect">
            <a:avLst>
              <a:gd name="adj" fmla="val 4800"/>
            </a:avLst>
          </a:prstGeom>
          <a:solidFill>
            <a:srgbClr val="EEF3F6"/>
          </a:solidFill>
          <a:ln w="12700">
            <a:solidFill>
              <a:srgbClr val="EEF3F6"/>
            </a:solidFill>
            <a:prstDash val="solid"/>
          </a:ln>
        </p:spPr>
      </p:sp>
      <p:sp>
        <p:nvSpPr>
          <p:cNvPr id="24" name="Text 22"/>
          <p:cNvSpPr/>
          <p:nvPr/>
        </p:nvSpPr>
        <p:spPr>
          <a:xfrm>
            <a:off x="8354568" y="4206240"/>
            <a:ext cx="457200" cy="457200"/>
          </a:xfrm>
          <a:prstGeom prst="ellipse">
            <a:avLst/>
          </a:prstGeom>
          <a:solidFill>
            <a:srgbClr val="8E6BB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8948928"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Comparing raw months</a:t>
            </a:r>
            <a:endParaRPr lang="en-US" sz="2000" dirty="0"/>
          </a:p>
        </p:txBody>
      </p:sp>
      <p:sp>
        <p:nvSpPr>
          <p:cNvPr id="26" name="Text 24"/>
          <p:cNvSpPr txBox="1"/>
          <p:nvPr/>
        </p:nvSpPr>
        <p:spPr>
          <a:xfrm>
            <a:off x="8354568" y="489204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Compare Oct this year with Oct last year, not with September. Seasonality distorts month to month.</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Stacked area chart: use it or avoid it</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Use it when</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The total is the main message.</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There are 2 to 4 parts.</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Parts are meaningful and always positive.</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The bottom part matters most.</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Avoid it when</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You must compare the parts with each other.</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There are more than 4 parts.</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A part can be negative, such as profit.</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Use separate lines or a small chart for each part.</a:t>
            </a:r>
            <a:endParaRPr lang="en-US" sz="22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A 100% stacked area shows shares instead of amounts. It hides the total, so show the total elsewhere.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Trend charts in Excel and Python</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=AVERAGE(B2:B4)</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=(B3-B2)/B2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=B14/B2-1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Insert &gt; Charts &gt; Line with Markers</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Insert &gt; Charts &gt; Stacked Area</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Moving average: </a:t>
            </a:r>
            <a:pPr indent="0" marL="0">
              <a:buNone/>
            </a:pPr>
            <a:r>
              <a:rPr lang="en-US" sz="2200" dirty="0">
                <a:solidFill>
                  <a:srgbClr val="2B3A4F"/>
                </a:solidFill>
                <a:latin typeface="Calibri" pitchFamily="34" charset="0"/>
                <a:ea typeface="Calibri" pitchFamily="34" charset="-122"/>
                <a:cs typeface="Calibri" pitchFamily="34" charset="-120"/>
              </a:rPr>
              <a:t>AVERAGE of three cells, fill down.</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Percent change: </a:t>
            </a:r>
            <a:pPr indent="0" marL="0">
              <a:buNone/>
            </a:pPr>
            <a:r>
              <a:rPr lang="en-US" sz="2200" dirty="0">
                <a:solidFill>
                  <a:srgbClr val="2B3A4F"/>
                </a:solidFill>
                <a:latin typeface="Calibri" pitchFamily="34" charset="0"/>
                <a:ea typeface="Calibri" pitchFamily="34" charset="-122"/>
                <a:cs typeface="Calibri" pitchFamily="34" charset="-120"/>
              </a:rPr>
              <a:t>(new - old) / old, formatted as %.</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Excel: </a:t>
            </a:r>
            <a:pPr indent="0" marL="0">
              <a:buNone/>
            </a:pPr>
            <a:r>
              <a:rPr lang="en-US" sz="2200" dirty="0">
                <a:solidFill>
                  <a:srgbClr val="2B3A4F"/>
                </a:solidFill>
                <a:latin typeface="Calibri" pitchFamily="34" charset="0"/>
                <a:ea typeface="Calibri" pitchFamily="34" charset="-122"/>
                <a:cs typeface="Calibri" pitchFamily="34" charset="-120"/>
              </a:rPr>
              <a:t>use real dates in the first column so the axis spaces them correctly.</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Python: </a:t>
            </a:r>
            <a:pPr indent="0" marL="0">
              <a:buNone/>
            </a:pPr>
            <a:r>
              <a:rPr lang="en-US" sz="2200" dirty="0">
                <a:solidFill>
                  <a:srgbClr val="2B3A4F"/>
                </a:solidFill>
                <a:latin typeface="Calibri" pitchFamily="34" charset="0"/>
                <a:ea typeface="Calibri" pitchFamily="34" charset="-122"/>
                <a:cs typeface="Calibri" pitchFamily="34" charset="-120"/>
              </a:rPr>
              <a:t>df["sales"].rolling(3).mean() gives the moving average.</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Sales were ₹320 thousand in July and ₹380 thousand in September. What is the percentage change?</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Compute the 3-month moving average for the month of Aug, using Jun 300, Jul 320, Aug 335.</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Sales fall 41% after a festival peak (Nov to Dec). Does this mean the business is shrinking?</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a stacked area chart a poor choice for comparing Product B with Product C?</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Time on the x axis, </a:t>
            </a:r>
            <a:pPr indent="0" marL="0">
              <a:buNone/>
            </a:pPr>
            <a:r>
              <a:rPr lang="en-US" sz="2000" dirty="0">
                <a:solidFill>
                  <a:srgbClr val="FFFFFF"/>
                </a:solidFill>
                <a:latin typeface="Calibri" pitchFamily="34" charset="0"/>
                <a:ea typeface="Calibri" pitchFamily="34" charset="-122"/>
                <a:cs typeface="Calibri" pitchFamily="34" charset="-120"/>
              </a:rPr>
              <a:t>equal steps, oldest on the left.</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Line graph </a:t>
            </a:r>
            <a:pPr indent="0" marL="0">
              <a:buNone/>
            </a:pPr>
            <a:r>
              <a:rPr lang="en-US" sz="2000" dirty="0">
                <a:solidFill>
                  <a:srgbClr val="FFFFFF"/>
                </a:solidFill>
                <a:latin typeface="Calibri" pitchFamily="34" charset="0"/>
                <a:ea typeface="Calibri" pitchFamily="34" charset="-122"/>
                <a:cs typeface="Calibri" pitchFamily="34" charset="-120"/>
              </a:rPr>
              <a:t>for trends. Area chart only when the axis starts at zero.</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Seasonality </a:t>
            </a:r>
            <a:pPr indent="0" marL="0">
              <a:buNone/>
            </a:pPr>
            <a:r>
              <a:rPr lang="en-US" sz="2000" dirty="0">
                <a:solidFill>
                  <a:srgbClr val="FFFFFF"/>
                </a:solidFill>
                <a:latin typeface="Calibri" pitchFamily="34" charset="0"/>
                <a:ea typeface="Calibri" pitchFamily="34" charset="-122"/>
                <a:cs typeface="Calibri" pitchFamily="34" charset="-120"/>
              </a:rPr>
              <a:t>repeats. Compare the same month across years.</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Moving average </a:t>
            </a:r>
            <a:pPr indent="0" marL="0">
              <a:buNone/>
            </a:pPr>
            <a:r>
              <a:rPr lang="en-US" sz="2000" dirty="0">
                <a:solidFill>
                  <a:srgbClr val="FFFFFF"/>
                </a:solidFill>
                <a:latin typeface="Calibri" pitchFamily="34" charset="0"/>
                <a:ea typeface="Calibri" pitchFamily="34" charset="-122"/>
                <a:cs typeface="Calibri" pitchFamily="34" charset="-120"/>
              </a:rPr>
              <a:t>smooths noise and lags behind actual values.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Be careful with stacked areas, cut-off axes and dual axes.</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Comparison and Relationship Charts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 Visualization</dc:title>
  <dc:subject>Business Management Tools I</dc:subject>
  <dc:creator>Sushant Bhargav</dc:creator>
  <cp:lastModifiedBy>Sushant Bhargav</cp:lastModifiedBy>
  <cp:revision>1</cp:revision>
  <dcterms:created xsi:type="dcterms:W3CDTF">2026-10-07T01:36:18Z</dcterms:created>
  <dcterms:modified xsi:type="dcterms:W3CDTF">2026-10-07T01:36:18Z</dcterms:modified>
</cp:coreProperties>
</file>