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3: Introduction to Visualization Tools" id="{aeba533d-2a48-516a-3a1e-3b53cbdcc826}">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Monthly sales (₹ lakh)</a:t>
            </a:r>
          </a:p>
        </c:rich>
      </c:tx>
      <c:layout/>
      <c:overlay val="0"/>
    </c:title>
    <c:autoTitleDeleted val="0"/>
    <c:plotArea>
      <c:layout/>
      <c:barChart>
        <c:barDir val="col"/>
        <c:grouping val="clustered"/>
        <c:varyColors val="0"/>
        <c:ser>
          <c:idx val="0"/>
          <c:order val="0"/>
          <c:tx>
            <c:strRef>
              <c:f>Sheet1!$B$1</c:f>
              <c:strCache>
                <c:ptCount val="1"/>
                <c:pt idx="0">
                  <c:v>Sales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42</c:v>
                </c:pt>
                <c:pt idx="1">
                  <c:v>45</c:v>
                </c:pt>
                <c:pt idx="2">
                  <c:v>51</c:v>
                </c:pt>
                <c:pt idx="3">
                  <c:v>48</c:v>
                </c:pt>
                <c:pt idx="4">
                  <c:v>55</c:v>
                </c:pt>
                <c:pt idx="5">
                  <c:v>60</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Sales (₹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introduces the four tools students will meet most often: Excel, Tableau, Power BI and Python with Matplotlib. The aim is not to master any of them today but to know what each is good at and how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tool they have already used. Most will say Excel, a few will say Canva or Google Sheets. Tell them the skills carry over: every tool needs tidy data and a clear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Unit 1: clean data first, then chart. A tool cannot fix a bad question. The 43% comes from 42 to 60 lakh, which we compute later in the code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rows. Tableau Public is free but everything you publish is visible to everyone, so never use it for private company data. Power BI Desktop is free to build in, but sharing a report with colleagues needs a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best tool, only a best fit. Ask: which tool would you pick for a weekly report that must be emailed as a PDF at 9 am without anyone clicking? That points to 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is a recipe. Anyone can re-run it and get the same chart. A click sequence lives only in the builder's memory. Ask students which they would trust for a monthly board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two quick cases with the class: a kirana owner with 200 bills a month, and a chain with 5 crore transactions. They should reach Excel and Power BI or Python respectively.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for a different tool. The reasoning matters more than the choice. For example, the researcher could use Excel for a first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was run and works with Matplotlib 3.11 and produces six bars. On a server with no screen, add matplotlib.use("Agg") before importing pyplot. Total sales are 301 lakh and June is the maximum at 60. Ask: what happens if the two lists have different lengths? Matplotlib raises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and same chart shape as Excel would give. Point out that the axis starts at zero. Ask students to verify 18 divided by 42 equals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routes take about five steps. The difference shows up in month two: Excel needs the clicks again, or at least manual updates, while the script only needs new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limit of 1,048,576 is a real Excel limit, worth quoting. Ask students how they would find out if an import was cut off: compare the row count with the source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Ask students to justify answers by data size, audience and repeat frequency.
ANSWERS
1. Free to start: Power BI Desktop and Tableau Public (also Excel if already licensed). Needs programming: Matplotlib in Python.
2. Excel. The data is tiny, the owner knows it, and the chart can be pasted into a report in minutes.
3. sum(sales) = 301 (₹ lakh for six months). savefig writes the chart to an image file such as sales.png.
4. A script repeats exactly the same steps each week, can be checked by others, and runs without anyone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13</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Introduction to Visualization Tools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Name </a:t>
            </a:r>
            <a:pPr indent="0" marL="0">
              <a:buNone/>
            </a:pPr>
            <a:r>
              <a:rPr lang="en-US" sz="2400" dirty="0">
                <a:solidFill>
                  <a:srgbClr val="2B3A4F"/>
                </a:solidFill>
                <a:latin typeface="Calibri" pitchFamily="34" charset="0"/>
                <a:ea typeface="Calibri" pitchFamily="34" charset="-122"/>
                <a:cs typeface="Calibri" pitchFamily="34" charset="-120"/>
              </a:rPr>
              <a:t>the main visualization tools: Excel, Tableau, Power BI and Python libraries such as Matplotlib.</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Compare </a:t>
            </a:r>
            <a:pPr indent="0" marL="0">
              <a:buNone/>
            </a:pPr>
            <a:r>
              <a:rPr lang="en-US" sz="2400" dirty="0">
                <a:solidFill>
                  <a:srgbClr val="2B3A4F"/>
                </a:solidFill>
                <a:latin typeface="Calibri" pitchFamily="34" charset="0"/>
                <a:ea typeface="Calibri" pitchFamily="34" charset="-122"/>
                <a:cs typeface="Calibri" pitchFamily="34" charset="-120"/>
              </a:rPr>
              <a:t>them on cost, learning effort, data size and sharing.</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Choose </a:t>
            </a:r>
            <a:pPr indent="0" marL="0">
              <a:buNone/>
            </a:pPr>
            <a:r>
              <a:rPr lang="en-US" sz="2400" dirty="0">
                <a:solidFill>
                  <a:srgbClr val="2B3A4F"/>
                </a:solidFill>
                <a:latin typeface="Calibri" pitchFamily="34" charset="0"/>
                <a:ea typeface="Calibri" pitchFamily="34" charset="-122"/>
                <a:cs typeface="Calibri" pitchFamily="34" charset="-120"/>
              </a:rPr>
              <a:t>the right tool for a given business situation.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Read </a:t>
            </a:r>
            <a:pPr indent="0" marL="0">
              <a:buNone/>
            </a:pPr>
            <a:r>
              <a:rPr lang="en-US" sz="2400" dirty="0">
                <a:solidFill>
                  <a:srgbClr val="2B3A4F"/>
                </a:solidFill>
                <a:latin typeface="Calibri" pitchFamily="34" charset="0"/>
                <a:ea typeface="Calibri" pitchFamily="34" charset="-122"/>
                <a:cs typeface="Calibri" pitchFamily="34" charset="-120"/>
              </a:rPr>
              <a:t>a short Matplotlib program and predict the chart it draws.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common mistakes when picking or switching tools.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4</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tools, one job: turn rows of data into a picture that supports a decision.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we use visualization tools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A visualization tool </a:t>
            </a:r>
            <a:pPr indent="0" marL="0">
              <a:buNone/>
            </a:pPr>
            <a:r>
              <a:rPr lang="en-US" sz="2400" dirty="0">
                <a:solidFill>
                  <a:srgbClr val="2B3A4F"/>
                </a:solidFill>
                <a:latin typeface="Calibri" pitchFamily="34" charset="0"/>
                <a:ea typeface="Calibri" pitchFamily="34" charset="-122"/>
                <a:cs typeface="Calibri" pitchFamily="34" charset="-120"/>
              </a:rPr>
              <a:t>turns data into charts, maps and dashboards without drawing by hand.</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Speed: </a:t>
            </a:r>
            <a:pPr indent="0" marL="0">
              <a:buNone/>
            </a:pPr>
            <a:r>
              <a:rPr lang="en-US" sz="2400" dirty="0">
                <a:solidFill>
                  <a:srgbClr val="2B3A4F"/>
                </a:solidFill>
                <a:latin typeface="Calibri" pitchFamily="34" charset="0"/>
                <a:ea typeface="Calibri" pitchFamily="34" charset="-122"/>
                <a:cs typeface="Calibri" pitchFamily="34" charset="-120"/>
              </a:rPr>
              <a:t>a chart of 10,000 rows takes seconds, a table of the same rows takes hours to read.</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Refresh: </a:t>
            </a:r>
            <a:pPr indent="0" marL="0">
              <a:buNone/>
            </a:pPr>
            <a:r>
              <a:rPr lang="en-US" sz="2400" dirty="0">
                <a:solidFill>
                  <a:srgbClr val="2B3A4F"/>
                </a:solidFill>
                <a:latin typeface="Calibri" pitchFamily="34" charset="0"/>
                <a:ea typeface="Calibri" pitchFamily="34" charset="-122"/>
                <a:cs typeface="Calibri" pitchFamily="34" charset="-120"/>
              </a:rPr>
              <a:t>when new data arrives, the chart updates instead of being redrawn.</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Sharing: </a:t>
            </a:r>
            <a:pPr indent="0" marL="0">
              <a:buNone/>
            </a:pPr>
            <a:r>
              <a:rPr lang="en-US" sz="2400" dirty="0">
                <a:solidFill>
                  <a:srgbClr val="2B3A4F"/>
                </a:solidFill>
                <a:latin typeface="Calibri" pitchFamily="34" charset="0"/>
                <a:ea typeface="Calibri" pitchFamily="34" charset="-122"/>
                <a:cs typeface="Calibri" pitchFamily="34" charset="-120"/>
              </a:rPr>
              <a:t>one dashboard can serve a whole team, not just the person who built it.</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cafe owner checks six monthly totals in a table, then sees in a bar chart that sales grew 43% from January to June.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four tools side by side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584525"/>
                <a:gridCol w="1697705"/>
                <a:gridCol w="2942688"/>
                <a:gridCol w="1697705"/>
                <a:gridCol w="3169049"/>
              </a:tblGrid>
              <a:tr h="7559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Tool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Type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Cost model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Learning effort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Best at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Excel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Spreadsheet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Paid with Microsoft 365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Quick charts, small data</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Tableau</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BI software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Paid, free Public edition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Medium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Interactive exploration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Power BI</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BI software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Desktop free, sharing licensed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Medium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Dashboards, Microsoft stack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Matplotlib</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Python library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Free, open source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Custom, repeatable charts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54254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Prices and licences change, so check the vendor site before you buy.</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When to use each tool</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Excel</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Data is small (up to a few lakh rows), you need a chart today, and the audience will open the file in Excel anyway.</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Tableau</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You want to drag, filter and drill into data visually, and design polished interactive views for others.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Power BI</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Your company already uses Microsoft 365, and you need a shared dashboard that refreshes from a database.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Python and Matplotlib</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You must repeat the same chart every week, process large files, or control every detail of the figure.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Point-and-click tools versus code</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Excel, Tableau, Power BI</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You build by clicking and dragging.</a:t>
            </a:r>
            <a:endParaRPr lang="en-US" sz="2000" dirty="0"/>
          </a:p>
          <a:p>
            <a:pPr marL="228600" indent="-228600">
              <a:spcAft>
                <a:spcPts val="800"/>
              </a:spcAft>
              <a:buSzPct val="100000"/>
              <a:buChar char="•"/>
            </a:pPr>
            <a:r>
              <a:rPr lang="en-US" sz="2000" b="1" dirty="0">
                <a:solidFill>
                  <a:srgbClr val="14213D"/>
                </a:solidFill>
                <a:latin typeface="Calibri" pitchFamily="34" charset="0"/>
                <a:ea typeface="Calibri" pitchFamily="34" charset="-122"/>
                <a:cs typeface="Calibri" pitchFamily="34" charset="-120"/>
              </a:rPr>
              <a:t>Strength: </a:t>
            </a:r>
            <a:pPr indent="0" marL="0">
              <a:buNone/>
            </a:pPr>
            <a:r>
              <a:rPr lang="en-US" sz="2000" dirty="0">
                <a:solidFill>
                  <a:srgbClr val="2B3A4F"/>
                </a:solidFill>
                <a:latin typeface="Calibri" pitchFamily="34" charset="0"/>
                <a:ea typeface="Calibri" pitchFamily="34" charset="-122"/>
                <a:cs typeface="Calibri" pitchFamily="34" charset="-120"/>
              </a:rPr>
              <a:t>fast to learn, instant visual feedback.</a:t>
            </a:r>
            <a:endParaRPr lang="en-US" sz="2000" dirty="0"/>
          </a:p>
          <a:p>
            <a:pPr marL="228600" indent="-228600">
              <a:spcAft>
                <a:spcPts val="800"/>
              </a:spcAft>
              <a:buSzPct val="100000"/>
              <a:buChar char="•"/>
            </a:pPr>
            <a:r>
              <a:rPr lang="en-US" sz="2000" b="1" dirty="0">
                <a:solidFill>
                  <a:srgbClr val="14213D"/>
                </a:solidFill>
                <a:latin typeface="Calibri" pitchFamily="34" charset="0"/>
                <a:ea typeface="Calibri" pitchFamily="34" charset="-122"/>
                <a:cs typeface="Calibri" pitchFamily="34" charset="-120"/>
              </a:rPr>
              <a:t>Weakness: </a:t>
            </a:r>
            <a:pPr indent="0" marL="0">
              <a:buNone/>
            </a:pPr>
            <a:r>
              <a:rPr lang="en-US" sz="2000" dirty="0">
                <a:solidFill>
                  <a:srgbClr val="2B3A4F"/>
                </a:solidFill>
                <a:latin typeface="Calibri" pitchFamily="34" charset="0"/>
                <a:ea typeface="Calibri" pitchFamily="34" charset="-122"/>
                <a:cs typeface="Calibri" pitchFamily="34" charset="-120"/>
              </a:rPr>
              <a:t>repeating a long click sequence is slow and easy to get wrong.</a:t>
            </a:r>
            <a:endParaRPr lang="en-US" sz="2000" dirty="0"/>
          </a:p>
          <a:p>
            <a:pPr marL="228600" indent="-228600">
              <a:buSzPct val="100000"/>
              <a:buChar char="•"/>
            </a:pPr>
            <a:r>
              <a:rPr lang="en-US" sz="2000" b="1" dirty="0">
                <a:solidFill>
                  <a:srgbClr val="14213D"/>
                </a:solidFill>
                <a:latin typeface="Calibri" pitchFamily="34" charset="0"/>
                <a:ea typeface="Calibri" pitchFamily="34" charset="-122"/>
                <a:cs typeface="Calibri" pitchFamily="34" charset="-120"/>
              </a:rPr>
              <a:t>Good for: </a:t>
            </a:r>
            <a:pPr indent="0" marL="0">
              <a:buNone/>
            </a:pPr>
            <a:r>
              <a:rPr lang="en-US" sz="2000" dirty="0">
                <a:solidFill>
                  <a:srgbClr val="2B3A4F"/>
                </a:solidFill>
                <a:latin typeface="Calibri" pitchFamily="34" charset="0"/>
                <a:ea typeface="Calibri" pitchFamily="34" charset="-122"/>
                <a:cs typeface="Calibri" pitchFamily="34" charset="-120"/>
              </a:rPr>
              <a:t>managers, analysts and one-off reports.</a:t>
            </a:r>
            <a:endParaRPr lang="en-US" sz="20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Python with Matplotlib</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You describe the chart in written commands.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Strength: </a:t>
            </a:r>
            <a:pPr indent="0" marL="0">
              <a:buNone/>
            </a:pPr>
            <a:r>
              <a:rPr lang="en-US" sz="2100" dirty="0">
                <a:solidFill>
                  <a:srgbClr val="2B3A4F"/>
                </a:solidFill>
                <a:latin typeface="Calibri" pitchFamily="34" charset="0"/>
                <a:ea typeface="Calibri" pitchFamily="34" charset="-122"/>
                <a:cs typeface="Calibri" pitchFamily="34" charset="-120"/>
              </a:rPr>
              <a:t>repeatable, version controlled, handles big data.</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Weakness: </a:t>
            </a:r>
            <a:pPr indent="0" marL="0">
              <a:buNone/>
            </a:pPr>
            <a:r>
              <a:rPr lang="en-US" sz="2100" dirty="0">
                <a:solidFill>
                  <a:srgbClr val="2B3A4F"/>
                </a:solidFill>
                <a:latin typeface="Calibri" pitchFamily="34" charset="0"/>
                <a:ea typeface="Calibri" pitchFamily="34" charset="-122"/>
                <a:cs typeface="Calibri" pitchFamily="34" charset="-120"/>
              </a:rPr>
              <a:t>needs programming skill before the first chart.</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Good for: </a:t>
            </a:r>
            <a:pPr indent="0" marL="0">
              <a:buNone/>
            </a:pPr>
            <a:r>
              <a:rPr lang="en-US" sz="2100" dirty="0">
                <a:solidFill>
                  <a:srgbClr val="2B3A4F"/>
                </a:solidFill>
                <a:latin typeface="Calibri" pitchFamily="34" charset="0"/>
                <a:ea typeface="Calibri" pitchFamily="34" charset="-122"/>
                <a:cs typeface="Calibri" pitchFamily="34" charset="-120"/>
              </a:rPr>
              <a:t>data teams and automated reports.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Many analysts use both: explore in a GUI tool, then script the final chart that must be repeated.</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How to choose a tool in four questions</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How big is the data?</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Under a few lakh rows: Excel is fine. Millions of rows: BI tool or Python.</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Who is the audience?</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A one-time reader needs an image. A team needs a shared, refreshing dashboard.</a:t>
            </a:r>
            <a:endParaRPr lang="en-US" sz="19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How often will it repeat?</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Once: click. Every week: automate with Power BI refresh or a script.</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What skills and budget?</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what you already have licensed unless it blocks the job.</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Start from the question the audience needs answered, then pick the simplest tool that can answer it.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choosing a tool for three people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Three people need charts. Pick a tool for each and give one reason. All three cases are illustrative.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Kirana owner, 250 bills a month: </a:t>
            </a:r>
            <a:pPr indent="0" marL="0">
              <a:buNone/>
            </a:pPr>
            <a:r>
              <a:rPr lang="en-US" sz="2100" dirty="0">
                <a:solidFill>
                  <a:srgbClr val="2B3A4F"/>
                </a:solidFill>
                <a:latin typeface="Calibri" pitchFamily="34" charset="0"/>
                <a:ea typeface="Calibri" pitchFamily="34" charset="-122"/>
                <a:cs typeface="Calibri" pitchFamily="34" charset="-120"/>
              </a:rPr>
              <a:t>Excel. Data is tiny and she already has it.</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Regional manager, 8 branches, daily sales database: </a:t>
            </a:r>
            <a:pPr indent="0" marL="0">
              <a:buNone/>
            </a:pPr>
            <a:r>
              <a:rPr lang="en-US" sz="2100" dirty="0">
                <a:solidFill>
                  <a:srgbClr val="2B3A4F"/>
                </a:solidFill>
                <a:latin typeface="Calibri" pitchFamily="34" charset="0"/>
                <a:ea typeface="Calibri" pitchFamily="34" charset="-122"/>
                <a:cs typeface="Calibri" pitchFamily="34" charset="-120"/>
              </a:rPr>
              <a:t>Power BI. Refreshes daily and is shared with a link.</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Researcher, 40 survey files, journal figures: </a:t>
            </a:r>
            <a:pPr indent="0" marL="0">
              <a:buNone/>
            </a:pPr>
            <a:r>
              <a:rPr lang="en-US" sz="2100" dirty="0">
                <a:solidFill>
                  <a:srgbClr val="2B3A4F"/>
                </a:solidFill>
                <a:latin typeface="Calibri" pitchFamily="34" charset="0"/>
                <a:ea typeface="Calibri" pitchFamily="34" charset="-122"/>
                <a:cs typeface="Calibri" pitchFamily="34" charset="-120"/>
              </a:rPr>
              <a:t>Python. Same script rebuilds every figure on demand.</a:t>
            </a:r>
            <a:endParaRPr lang="en-US" sz="2100" dirty="0"/>
          </a:p>
          <a:p>
            <a:pPr marL="304800" indent="-304800">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Data journalist with a public dataset: </a:t>
            </a:r>
            <a:pPr indent="0" marL="0">
              <a:buNone/>
            </a:pPr>
            <a:r>
              <a:rPr lang="en-US" sz="2100" dirty="0">
                <a:solidFill>
                  <a:srgbClr val="2B3A4F"/>
                </a:solidFill>
                <a:latin typeface="Calibri" pitchFamily="34" charset="0"/>
                <a:ea typeface="Calibri" pitchFamily="34" charset="-122"/>
                <a:cs typeface="Calibri" pitchFamily="34" charset="-120"/>
              </a:rPr>
              <a:t>Tableau Public. Free and readers can filter it.</a:t>
            </a:r>
            <a:endParaRPr lang="en-US" sz="21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tool follows the need: size of data, audience, repeat frequency. None of the four is wrong, only a poor fit for a given job.</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first Matplotlib chart in 8 lines</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PYTHON</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import matplotlib.pyplot as plt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months = ["Jan","Feb","Mar","Apr","May","Jun"]</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sales = [42, 45, 51, 48, 55, 60]</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fig, ax = plt.subplots()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ax.bar(months, sales)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ax.set_title("Monthly sales (Rs lakh)")</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ax.set_ylabel("Sales (Rs lakh)")</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fig.savefig("sales.png")</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Lines 2 and 3: </a:t>
            </a:r>
            <a:pPr indent="0" marL="0">
              <a:buNone/>
            </a:pPr>
            <a:r>
              <a:rPr lang="en-US" sz="2200" dirty="0">
                <a:solidFill>
                  <a:srgbClr val="2B3A4F"/>
                </a:solidFill>
                <a:latin typeface="Calibri" pitchFamily="34" charset="0"/>
                <a:ea typeface="Calibri" pitchFamily="34" charset="-122"/>
                <a:cs typeface="Calibri" pitchFamily="34" charset="-120"/>
              </a:rPr>
              <a:t>the data, as two lists of equal length.</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plt.subplots(): </a:t>
            </a:r>
            <a:pPr indent="0" marL="0">
              <a:buNone/>
            </a:pPr>
            <a:r>
              <a:rPr lang="en-US" sz="2200" dirty="0">
                <a:solidFill>
                  <a:srgbClr val="2B3A4F"/>
                </a:solidFill>
                <a:latin typeface="Calibri" pitchFamily="34" charset="0"/>
                <a:ea typeface="Calibri" pitchFamily="34" charset="-122"/>
                <a:cs typeface="Calibri" pitchFamily="34" charset="-120"/>
              </a:rPr>
              <a:t>makes an empty figure and one set of axes.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ax.bar: </a:t>
            </a:r>
            <a:pPr indent="0" marL="0">
              <a:buNone/>
            </a:pPr>
            <a:r>
              <a:rPr lang="en-US" sz="2200" dirty="0">
                <a:solidFill>
                  <a:srgbClr val="2B3A4F"/>
                </a:solidFill>
                <a:latin typeface="Calibri" pitchFamily="34" charset="0"/>
                <a:ea typeface="Calibri" pitchFamily="34" charset="-122"/>
                <a:cs typeface="Calibri" pitchFamily="34" charset="-120"/>
              </a:rPr>
              <a:t>draws one bar per month.</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savefig: </a:t>
            </a:r>
            <a:pPr indent="0" marL="0">
              <a:buNone/>
            </a:pPr>
            <a:r>
              <a:rPr lang="en-US" sz="2200" dirty="0">
                <a:solidFill>
                  <a:srgbClr val="2B3A4F"/>
                </a:solidFill>
                <a:latin typeface="Calibri" pitchFamily="34" charset="0"/>
                <a:ea typeface="Calibri" pitchFamily="34" charset="-122"/>
                <a:cs typeface="Calibri" pitchFamily="34" charset="-120"/>
              </a:rPr>
              <a:t>writes the chart to a PNG file you can share.</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what that code draws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READING THE CHART</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Sales rose from 42 to 60 lakh, a gain of 18 lakh or about 43%.</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April dipped to 48 lakh, the only fall in six months.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Total for the half year is 301 lakh, an average of about 50.2 lakh a month.</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Matplotlib versus Excel for the same chart</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Excel steps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584064"/>
                <a:gridCol w="380175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Step</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Type months and sales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Select both columns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Insert &gt; Column chart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Add title and axis title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Copy chart to a report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Matplotlib steps</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857178"/>
                <a:gridCol w="352863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Step</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Write two lists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Call ax.bar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Set title and label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Call savefig</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Re-run next month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Excel is quicker the first time. The script is quicker every time after.</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Tool before question</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Picking a tool because it is fashionable. First write down what the audience must learn from the chart.</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Data too big for Excel</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Excel stops at 1,048,576 rows per sheet. Beyond that it silently cuts data or fails, so use Power BI or Python.</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Private data on public sites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Tableau Public makes your workbook visible to everyone. Never upload customer or salary data.</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Default charts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Every tool has default colours and 3D styles. Check titles, axes and clutter yourself before sharing.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two tools that are free to start with and one that needs programming.</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sweet shop has 300 bills a month and wants a monthly chart for the owner. Which tool and why?</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In the code example, what does sum(sales) give and what does fig.savefig do?</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might a data team prefer a script over clicking for a weekly report?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Excel: </a:t>
            </a:r>
            <a:pPr indent="0" marL="0">
              <a:buNone/>
            </a:pPr>
            <a:r>
              <a:rPr lang="en-US" sz="2000" dirty="0">
                <a:solidFill>
                  <a:srgbClr val="FFFFFF"/>
                </a:solidFill>
                <a:latin typeface="Calibri" pitchFamily="34" charset="0"/>
                <a:ea typeface="Calibri" pitchFamily="34" charset="-122"/>
                <a:cs typeface="Calibri" pitchFamily="34" charset="-120"/>
              </a:rPr>
              <a:t>fastest for small data and one-off charts.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Tableau and Power BI: </a:t>
            </a:r>
            <a:pPr indent="0" marL="0">
              <a:buNone/>
            </a:pPr>
            <a:r>
              <a:rPr lang="en-US" sz="2000" dirty="0">
                <a:solidFill>
                  <a:srgbClr val="FFFFFF"/>
                </a:solidFill>
                <a:latin typeface="Calibri" pitchFamily="34" charset="0"/>
                <a:ea typeface="Calibri" pitchFamily="34" charset="-122"/>
                <a:cs typeface="Calibri" pitchFamily="34" charset="-120"/>
              </a:rPr>
              <a:t>interactive dashboards, shareable with teams.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Matplotlib: </a:t>
            </a:r>
            <a:pPr indent="0" marL="0">
              <a:buNone/>
            </a:pPr>
            <a:r>
              <a:rPr lang="en-US" sz="2000" dirty="0">
                <a:solidFill>
                  <a:srgbClr val="FFFFFF"/>
                </a:solidFill>
                <a:latin typeface="Calibri" pitchFamily="34" charset="0"/>
                <a:ea typeface="Calibri" pitchFamily="34" charset="-122"/>
                <a:cs typeface="Calibri" pitchFamily="34" charset="-120"/>
              </a:rPr>
              <a:t>full control and repeatable charts, but needs code.</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Choose by </a:t>
            </a:r>
            <a:pPr indent="0" marL="0">
              <a:buNone/>
            </a:pPr>
            <a:r>
              <a:rPr lang="en-US" sz="2000" dirty="0">
                <a:solidFill>
                  <a:srgbClr val="FFFFFF"/>
                </a:solidFill>
                <a:latin typeface="Calibri" pitchFamily="34" charset="0"/>
                <a:ea typeface="Calibri" pitchFamily="34" charset="-122"/>
                <a:cs typeface="Calibri" pitchFamily="34" charset="-120"/>
              </a:rPr>
              <a:t>data size, audience, repeat frequency and skills.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No tool fixes bad data or a vague question.</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Basics of Creating Visualizations in Excel</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Visualization Tools</dc:title>
  <dc:subject>Business Management Tools I</dc:subject>
  <dc:creator>Sushant Bhargav</dc:creator>
  <cp:lastModifiedBy>Sushant Bhargav</cp:lastModifiedBy>
  <cp:revision>1</cp:revision>
  <dcterms:created xsi:type="dcterms:W3CDTF">2026-10-07T01:36:21Z</dcterms:created>
  <dcterms:modified xsi:type="dcterms:W3CDTF">2026-10-07T01:36:21Z</dcterms:modified>
</cp:coreProperties>
</file>